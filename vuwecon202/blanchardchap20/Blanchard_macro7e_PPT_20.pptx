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24"/>
  </p:notesMasterIdLst>
  <p:sldIdLst>
    <p:sldId id="256" r:id="rId2"/>
    <p:sldId id="269" r:id="rId3"/>
    <p:sldId id="357" r:id="rId4"/>
    <p:sldId id="453" r:id="rId5"/>
    <p:sldId id="478" r:id="rId6"/>
    <p:sldId id="479" r:id="rId7"/>
    <p:sldId id="480" r:id="rId8"/>
    <p:sldId id="481" r:id="rId9"/>
    <p:sldId id="482" r:id="rId10"/>
    <p:sldId id="483" r:id="rId11"/>
    <p:sldId id="485" r:id="rId12"/>
    <p:sldId id="486" r:id="rId13"/>
    <p:sldId id="484" r:id="rId14"/>
    <p:sldId id="487" r:id="rId15"/>
    <p:sldId id="488" r:id="rId16"/>
    <p:sldId id="490" r:id="rId17"/>
    <p:sldId id="489" r:id="rId18"/>
    <p:sldId id="491" r:id="rId19"/>
    <p:sldId id="492" r:id="rId20"/>
    <p:sldId id="493" r:id="rId21"/>
    <p:sldId id="494" r:id="rId22"/>
    <p:sldId id="495" r:id="rId2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5pPr>
    <a:lvl6pPr marL="22860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6pPr>
    <a:lvl7pPr marL="27432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7pPr>
    <a:lvl8pPr marL="32004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8pPr>
    <a:lvl9pPr marL="36576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599D"/>
    <a:srgbClr val="BBE5FB"/>
    <a:srgbClr val="BFDC42"/>
    <a:srgbClr val="D8F2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69" autoAdjust="0"/>
    <p:restoredTop sz="94690"/>
  </p:normalViewPr>
  <p:slideViewPr>
    <p:cSldViewPr>
      <p:cViewPr varScale="1">
        <p:scale>
          <a:sx n="72" d="100"/>
          <a:sy n="72" d="100"/>
        </p:scale>
        <p:origin x="-96" y="-9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358A83D-3E8E-422B-A1C7-AED542456985}" type="slidenum">
              <a:rPr lang="en-US"/>
              <a:pPr>
                <a:defRPr/>
              </a:pPr>
              <a:t>‹#›</a:t>
            </a:fld>
            <a:endParaRPr lang="en-US"/>
          </a:p>
        </p:txBody>
      </p:sp>
    </p:spTree>
    <p:extLst>
      <p:ext uri="{BB962C8B-B14F-4D97-AF65-F5344CB8AC3E}">
        <p14:creationId xmlns="" xmlns:p14="http://schemas.microsoft.com/office/powerpoint/2010/main" val="304106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ヒラギノ角ゴ Pro W3" pitchFamily="-65"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BBE5FB"/>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gray">
          <a:xfrm>
            <a:off x="0" y="6397625"/>
            <a:ext cx="9144000" cy="457200"/>
          </a:xfrm>
          <a:prstGeom prst="rect">
            <a:avLst/>
          </a:prstGeom>
          <a:solidFill>
            <a:srgbClr val="00599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Verdana" panose="020B0604030504040204" pitchFamily="34" charset="0"/>
            </a:endParaRPr>
          </a:p>
        </p:txBody>
      </p:sp>
      <p:pic>
        <p:nvPicPr>
          <p:cNvPr id="3" name="Picture 3" descr="Pearson_Bound_White"/>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488238" y="6356350"/>
            <a:ext cx="1655762"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 name="Picture 4" descr="Pearson_Strap_Bound_White"/>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0" y="6356350"/>
            <a:ext cx="1908175"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Picture 5"/>
          <p:cNvPicPr>
            <a:picLocks noChangeAspect="1"/>
          </p:cNvPicPr>
          <p:nvPr userDrawn="1"/>
        </p:nvPicPr>
        <p:blipFill>
          <a:blip r:embed="rId4" cstate="print"/>
          <a:stretch>
            <a:fillRect/>
          </a:stretch>
        </p:blipFill>
        <p:spPr>
          <a:xfrm>
            <a:off x="0" y="0"/>
            <a:ext cx="5205590" cy="6400800"/>
          </a:xfrm>
          <a:prstGeom prst="rect">
            <a:avLst/>
          </a:prstGeom>
        </p:spPr>
      </p:pic>
    </p:spTree>
    <p:extLst>
      <p:ext uri="{BB962C8B-B14F-4D97-AF65-F5344CB8AC3E}">
        <p14:creationId xmlns="" xmlns:p14="http://schemas.microsoft.com/office/powerpoint/2010/main" val="3441087217"/>
      </p:ext>
    </p:extLst>
  </p:cSld>
  <p:clrMapOvr>
    <a:masterClrMapping/>
  </p:clrMapOvr>
  <p:timing>
    <p:tnLst>
      <p:par>
        <p:cTn id="1" dur="indefinite" restart="never" nodeType="tmRoot"/>
      </p:par>
    </p:tnLst>
  </p:timing>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494771439"/>
      </p:ext>
    </p:extLst>
  </p:cSld>
  <p:clrMapOvr>
    <a:masterClrMapping/>
  </p:clrMapOvr>
  <p:transition>
    <p:strips dir="l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2352075451"/>
      </p:ext>
    </p:extLst>
  </p:cSld>
  <p:clrMapOvr>
    <a:masterClrMapping/>
  </p:clrMapOvr>
  <p:transition>
    <p:strips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950072493"/>
      </p:ext>
    </p:extLst>
  </p:cSld>
  <p:clrMapOvr>
    <a:masterClrMapping/>
  </p:clrMapOvr>
  <p:transition>
    <p:strips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087435220"/>
      </p:ext>
    </p:extLst>
  </p:cSld>
  <p:clrMapOvr>
    <a:masterClrMapping/>
  </p:clrMapOvr>
  <p:transition>
    <p:strips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724062720"/>
      </p:ext>
    </p:extLst>
  </p:cSld>
  <p:clrMapOvr>
    <a:masterClrMapping/>
  </p:clrMapOvr>
  <p:transition>
    <p:strips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750255790"/>
      </p:ext>
    </p:extLst>
  </p:cSld>
  <p:clrMapOvr>
    <a:masterClrMapping/>
  </p:clrMapOvr>
  <p:transition>
    <p:strips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884679804"/>
      </p:ext>
    </p:extLst>
  </p:cSld>
  <p:clrMapOvr>
    <a:masterClrMapping/>
  </p:clrMapOvr>
  <p:transition>
    <p:strips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337429884"/>
      </p:ext>
    </p:extLst>
  </p:cSld>
  <p:clrMapOvr>
    <a:masterClrMapping/>
  </p:clrMapOvr>
  <p:transition>
    <p:strips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1938792299"/>
      </p:ext>
    </p:extLst>
  </p:cSld>
  <p:clrMapOvr>
    <a:masterClrMapping/>
  </p:clrMapOvr>
  <p:transition>
    <p:strips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0"/>
            <a:ext cx="211455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0"/>
            <a:ext cx="619125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945461388"/>
      </p:ext>
    </p:extLst>
  </p:cSld>
  <p:clrMapOvr>
    <a:masterClrMapping/>
  </p:clrMapOvr>
  <p:transition>
    <p:strips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fld id="{EF38A850-ADD0-4F7D-99F1-C19676CE30E4}" type="datetime1">
              <a:rPr lang="en-US"/>
              <a:pPr>
                <a:defRPr/>
              </a:pPr>
              <a:t>10/6/2016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r>
              <a:rPr lang="en-US"/>
              <a:t>Copyright © 2013 Pearson Education, Inc.</a:t>
            </a:r>
          </a:p>
          <a:p>
            <a:pPr>
              <a:defRPr/>
            </a:pPr>
            <a:r>
              <a:rPr lang="en-US"/>
              <a:t>Publishing as Prentice Hall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anose="020B0604030504040204" pitchFamily="34" charset="0"/>
              </a:defRPr>
            </a:lvl1pPr>
          </a:lstStyle>
          <a:p>
            <a:pPr>
              <a:defRPr/>
            </a:pPr>
            <a:fld id="{2A68BFA4-ED51-4D11-92C9-125F6EFF37D1}" type="slidenum">
              <a:rPr lang="en-US"/>
              <a:pPr>
                <a:defRPr/>
              </a:pPr>
              <a:t>‹#›</a:t>
            </a:fld>
            <a:endParaRPr lang="en-US"/>
          </a:p>
        </p:txBody>
      </p:sp>
    </p:spTree>
    <p:extLst>
      <p:ext uri="{BB962C8B-B14F-4D97-AF65-F5344CB8AC3E}">
        <p14:creationId xmlns="" xmlns:p14="http://schemas.microsoft.com/office/powerpoint/2010/main" val="2178001293"/>
      </p:ext>
    </p:extLst>
  </p:cSld>
  <p:clrMapOvr>
    <a:masterClrMapping/>
  </p:clrMapOvr>
  <p:transition>
    <p:strips dir="ld"/>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userDrawn="1"/>
        </p:nvSpPr>
        <p:spPr bwMode="gray">
          <a:xfrm>
            <a:off x="0" y="6397625"/>
            <a:ext cx="9144000" cy="457200"/>
          </a:xfrm>
          <a:prstGeom prst="rect">
            <a:avLst/>
          </a:prstGeom>
          <a:solidFill>
            <a:srgbClr val="0060A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Arial" panose="020B0604020202020204" pitchFamily="34" charset="0"/>
              <a:cs typeface="Arial" panose="020B0604020202020204" pitchFamily="34" charset="0"/>
            </a:endParaRPr>
          </a:p>
        </p:txBody>
      </p:sp>
      <p:sp>
        <p:nvSpPr>
          <p:cNvPr id="1027" name="Rectangle 4"/>
          <p:cNvSpPr>
            <a:spLocks noGrp="1" noChangeArrowheads="1"/>
          </p:cNvSpPr>
          <p:nvPr>
            <p:ph type="body" idx="1"/>
          </p:nvPr>
        </p:nvSpPr>
        <p:spPr bwMode="auto">
          <a:xfrm>
            <a:off x="381000" y="1447800"/>
            <a:ext cx="8382000" cy="4648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028" name="Rectangle 5"/>
          <p:cNvSpPr>
            <a:spLocks noGrp="1" noChangeArrowheads="1"/>
          </p:cNvSpPr>
          <p:nvPr>
            <p:ph type="title"/>
          </p:nvPr>
        </p:nvSpPr>
        <p:spPr bwMode="auto">
          <a:xfrm>
            <a:off x="381000" y="0"/>
            <a:ext cx="84582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2" name="Rectangle 6"/>
          <p:cNvSpPr>
            <a:spLocks noChangeArrowheads="1"/>
          </p:cNvSpPr>
          <p:nvPr/>
        </p:nvSpPr>
        <p:spPr bwMode="gray">
          <a:xfrm>
            <a:off x="381000" y="6577013"/>
            <a:ext cx="5399088"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US" sz="900" dirty="0" smtClean="0">
                <a:solidFill>
                  <a:schemeClr val="bg1"/>
                </a:solidFill>
                <a:latin typeface="Verdana" panose="020B0604030504040204" pitchFamily="34" charset="0"/>
              </a:rPr>
              <a:t>Copyright ©2017 Pearson Education, Ltd. All rights reserved.</a:t>
            </a:r>
            <a:endParaRPr lang="en-GB" sz="900" dirty="0" smtClean="0">
              <a:solidFill>
                <a:schemeClr val="bg1"/>
              </a:solidFill>
              <a:latin typeface="Verdana" panose="020B0604030504040204" pitchFamily="34" charset="0"/>
            </a:endParaRPr>
          </a:p>
        </p:txBody>
      </p:sp>
      <p:sp>
        <p:nvSpPr>
          <p:cNvPr id="1029" name="Rectangle 7"/>
          <p:cNvSpPr>
            <a:spLocks noChangeArrowheads="1"/>
          </p:cNvSpPr>
          <p:nvPr/>
        </p:nvSpPr>
        <p:spPr bwMode="gray">
          <a:xfrm>
            <a:off x="8402638" y="6577013"/>
            <a:ext cx="360362"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GB" sz="900" dirty="0" smtClean="0">
                <a:solidFill>
                  <a:schemeClr val="bg1"/>
                </a:solidFill>
                <a:latin typeface="Verdana" panose="020B0604030504040204" pitchFamily="34" charset="0"/>
              </a:rPr>
              <a:t>20-</a:t>
            </a:r>
            <a:fld id="{604DE8C7-66CF-465F-9818-9F61582FDCEB}" type="slidenum">
              <a:rPr lang="en-GB" sz="900" smtClean="0">
                <a:solidFill>
                  <a:schemeClr val="bg1"/>
                </a:solidFill>
                <a:latin typeface="Verdana" panose="020B0604030504040204" pitchFamily="34" charset="0"/>
              </a:rPr>
              <a:pPr>
                <a:defRPr/>
              </a:pPr>
              <a:t>‹#›</a:t>
            </a:fld>
            <a:r>
              <a:rPr lang="en-GB" sz="900" dirty="0" smtClean="0">
                <a:solidFill>
                  <a:schemeClr val="bg1"/>
                </a:solidFill>
                <a:latin typeface="Verdana" panose="020B0604030504040204" pitchFamily="34" charset="0"/>
              </a:rPr>
              <a:t> </a:t>
            </a:r>
          </a:p>
        </p:txBody>
      </p:sp>
    </p:spTree>
  </p:cSld>
  <p:clrMap bg1="lt1" tx1="dk1" bg2="lt2" tx2="dk2" accent1="accent1" accent2="accent2" accent3="accent3" accent4="accent4" accent5="accent5" accent6="accent6" hlink="hlink" folHlink="folHlink"/>
  <p:sldLayoutIdLst>
    <p:sldLayoutId id="2147484039"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40" r:id="rId12"/>
  </p:sldLayoutIdLst>
  <p:transition>
    <p:strips dir="ld"/>
  </p:transition>
  <p:timing>
    <p:tnLst>
      <p:par>
        <p:cTn id="1" dur="indefinite" restart="never" nodeType="tmRoot"/>
      </p:par>
    </p:tnLst>
  </p:timing>
  <p:hf hdr="0" dt="0"/>
  <p:txStyles>
    <p:titleStyle>
      <a:lvl1pPr algn="l" rtl="0" eaLnBrk="0" fontAlgn="base" hangingPunct="0">
        <a:spcBef>
          <a:spcPct val="0"/>
        </a:spcBef>
        <a:spcAft>
          <a:spcPct val="0"/>
        </a:spcAft>
        <a:defRPr sz="3200" b="1">
          <a:solidFill>
            <a:schemeClr val="tx1"/>
          </a:solidFill>
          <a:latin typeface="+mj-lt"/>
          <a:ea typeface="ヒラギノ角ゴ Pro W3" pitchFamily="-1" charset="-128"/>
          <a:cs typeface="ヒラギノ角ゴ Pro W3" pitchFamily="-1" charset="-128"/>
        </a:defRPr>
      </a:lvl1pPr>
      <a:lvl2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2pPr>
      <a:lvl3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3pPr>
      <a:lvl4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4pPr>
      <a:lvl5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5pPr>
      <a:lvl6pPr marL="457200" algn="l" rtl="0" eaLnBrk="1" fontAlgn="base" hangingPunct="1">
        <a:spcBef>
          <a:spcPct val="0"/>
        </a:spcBef>
        <a:spcAft>
          <a:spcPct val="0"/>
        </a:spcAft>
        <a:defRPr sz="3200" b="1">
          <a:solidFill>
            <a:schemeClr val="tx1"/>
          </a:solidFill>
          <a:latin typeface="Verdana" pitchFamily="-1" charset="0"/>
        </a:defRPr>
      </a:lvl6pPr>
      <a:lvl7pPr marL="914400" algn="l" rtl="0" eaLnBrk="1" fontAlgn="base" hangingPunct="1">
        <a:spcBef>
          <a:spcPct val="0"/>
        </a:spcBef>
        <a:spcAft>
          <a:spcPct val="0"/>
        </a:spcAft>
        <a:defRPr sz="3200" b="1">
          <a:solidFill>
            <a:schemeClr val="tx1"/>
          </a:solidFill>
          <a:latin typeface="Verdana" pitchFamily="-1" charset="0"/>
        </a:defRPr>
      </a:lvl7pPr>
      <a:lvl8pPr marL="1371600" algn="l" rtl="0" eaLnBrk="1" fontAlgn="base" hangingPunct="1">
        <a:spcBef>
          <a:spcPct val="0"/>
        </a:spcBef>
        <a:spcAft>
          <a:spcPct val="0"/>
        </a:spcAft>
        <a:defRPr sz="3200" b="1">
          <a:solidFill>
            <a:schemeClr val="tx1"/>
          </a:solidFill>
          <a:latin typeface="Verdana" pitchFamily="-1" charset="0"/>
        </a:defRPr>
      </a:lvl8pPr>
      <a:lvl9pPr marL="1828800" algn="l" rtl="0" eaLnBrk="1" fontAlgn="base" hangingPunct="1">
        <a:spcBef>
          <a:spcPct val="0"/>
        </a:spcBef>
        <a:spcAft>
          <a:spcPct val="0"/>
        </a:spcAft>
        <a:defRPr sz="3200" b="1">
          <a:solidFill>
            <a:schemeClr val="tx1"/>
          </a:solidFill>
          <a:latin typeface="Verdana" pitchFamily="-1"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F2FF"/>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idx="4294967295"/>
          </p:nvPr>
        </p:nvSpPr>
        <p:spPr>
          <a:xfrm>
            <a:off x="5257800" y="990600"/>
            <a:ext cx="3733800" cy="2133600"/>
          </a:xfrm>
        </p:spPr>
        <p:txBody>
          <a:bodyPr/>
          <a:lstStyle/>
          <a:p>
            <a:pPr algn="ctr" eaLnBrk="1" hangingPunct="1"/>
            <a:r>
              <a:rPr lang="en-US" sz="2800" dirty="0" smtClean="0">
                <a:ea typeface="ヒラギノ角ゴ Pro W3" pitchFamily="-84" charset="-128"/>
              </a:rPr>
              <a:t>Exchange Rate Regimes</a:t>
            </a:r>
          </a:p>
        </p:txBody>
      </p:sp>
      <p:sp>
        <p:nvSpPr>
          <p:cNvPr id="5123" name="Rectangle 3"/>
          <p:cNvSpPr>
            <a:spLocks noGrp="1" noChangeArrowheads="1"/>
          </p:cNvSpPr>
          <p:nvPr>
            <p:ph type="subTitle" idx="4294967295"/>
          </p:nvPr>
        </p:nvSpPr>
        <p:spPr>
          <a:xfrm>
            <a:off x="4953000" y="3886200"/>
            <a:ext cx="4191000" cy="1752600"/>
          </a:xfrm>
        </p:spPr>
        <p:txBody>
          <a:bodyPr/>
          <a:lstStyle/>
          <a:p>
            <a:pPr algn="ctr" eaLnBrk="1" hangingPunct="1">
              <a:buFontTx/>
              <a:buNone/>
            </a:pPr>
            <a:r>
              <a:rPr lang="en-US" dirty="0" smtClean="0">
                <a:ea typeface="ヒラギノ角ゴ Pro W3" pitchFamily="-84" charset="-128"/>
              </a:rPr>
              <a:t>Chapter 20</a:t>
            </a:r>
          </a:p>
        </p:txBody>
      </p:sp>
    </p:spTree>
  </p:cSld>
  <p:clrMapOvr>
    <a:masterClrMapping/>
  </p:clrMapOvr>
  <p:transition>
    <p:strips dir="l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smtClean="0">
                <a:ea typeface="ヒラギノ角ゴ Pro W3" pitchFamily="-84" charset="-128"/>
              </a:rPr>
              <a:t>Chapter 20 Outline</a:t>
            </a:r>
          </a:p>
        </p:txBody>
      </p:sp>
      <p:sp>
        <p:nvSpPr>
          <p:cNvPr id="3" name="Content Placeholder 2"/>
          <p:cNvSpPr txBox="1">
            <a:spLocks/>
          </p:cNvSpPr>
          <p:nvPr/>
        </p:nvSpPr>
        <p:spPr bwMode="auto">
          <a:xfrm>
            <a:off x="419100" y="1524000"/>
            <a:ext cx="8382000" cy="4937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bIns="0"/>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eaLnBrk="1" hangingPunct="1">
              <a:buFontTx/>
              <a:buNone/>
              <a:defRPr/>
            </a:pPr>
            <a:r>
              <a:rPr lang="en-US" sz="2400" b="1" kern="0" dirty="0" smtClean="0">
                <a:ea typeface="ヒラギノ角ゴ Pro W3" pitchFamily="-84" charset="-128"/>
              </a:rPr>
              <a:t>Exchange Rate Regimes</a:t>
            </a:r>
          </a:p>
          <a:p>
            <a:pPr marL="0" indent="0" eaLnBrk="1" hangingPunct="1">
              <a:buFontTx/>
              <a:buNone/>
              <a:defRPr/>
            </a:pPr>
            <a:endParaRPr lang="en-US" sz="2400" kern="0" dirty="0" smtClean="0">
              <a:ea typeface="ヒラギノ角ゴ Pro W3" pitchFamily="-84" charset="-128"/>
            </a:endParaRPr>
          </a:p>
          <a:p>
            <a:pPr marL="1714500" indent="-1714500" eaLnBrk="1" hangingPunct="1">
              <a:buFontTx/>
              <a:buNone/>
              <a:defRPr/>
            </a:pPr>
            <a:r>
              <a:rPr lang="en-US" sz="2000" kern="0" dirty="0" smtClean="0">
                <a:ea typeface="ヒラギノ角ゴ Pro W3" pitchFamily="-84" charset="-128"/>
              </a:rPr>
              <a:t>20-1	</a:t>
            </a:r>
            <a:r>
              <a:rPr lang="en-US" sz="2000" kern="0" dirty="0">
                <a:ea typeface="ヒラギノ角ゴ Pro W3" pitchFamily="-84" charset="-128"/>
              </a:rPr>
              <a:t>The </a:t>
            </a:r>
            <a:r>
              <a:rPr lang="en-US" sz="2000" kern="0" dirty="0" smtClean="0">
                <a:ea typeface="ヒラギノ角ゴ Pro W3" pitchFamily="-84" charset="-128"/>
              </a:rPr>
              <a:t>Medium Run</a:t>
            </a:r>
          </a:p>
          <a:p>
            <a:pPr marL="1714500" indent="-1714500" eaLnBrk="1" hangingPunct="1">
              <a:buFontTx/>
              <a:buNone/>
              <a:defRPr/>
            </a:pPr>
            <a:r>
              <a:rPr lang="en-US" sz="2000" kern="0" dirty="0" smtClean="0">
                <a:ea typeface="ヒラギノ角ゴ Pro W3" pitchFamily="-84" charset="-128"/>
              </a:rPr>
              <a:t>20-2	Exchange Rate Crises under Fixed Exchange Rates</a:t>
            </a:r>
          </a:p>
          <a:p>
            <a:pPr marL="1714500" indent="-1714500" eaLnBrk="1" hangingPunct="1">
              <a:buFontTx/>
              <a:buNone/>
              <a:defRPr/>
            </a:pPr>
            <a:r>
              <a:rPr lang="en-US" sz="2000" kern="0" dirty="0" smtClean="0">
                <a:ea typeface="ヒラギノ角ゴ Pro W3" pitchFamily="-84" charset="-128"/>
              </a:rPr>
              <a:t>20-3	Exchange Rate Movements under Flexible Exchange Rates</a:t>
            </a:r>
          </a:p>
          <a:p>
            <a:pPr marL="1714500" indent="-1714500" eaLnBrk="1" hangingPunct="1">
              <a:buFontTx/>
              <a:buNone/>
              <a:defRPr/>
            </a:pPr>
            <a:r>
              <a:rPr lang="en-US" sz="2000" kern="0" dirty="0" smtClean="0">
                <a:ea typeface="ヒラギノ角ゴ Pro W3" pitchFamily="-84" charset="-128"/>
              </a:rPr>
              <a:t>20-4	Choosing between Exchange Rate Regimes</a:t>
            </a:r>
          </a:p>
          <a:p>
            <a:pPr marL="1714500" indent="-1714500" eaLnBrk="1" hangingPunct="1">
              <a:buFontTx/>
              <a:buNone/>
              <a:defRPr/>
            </a:pPr>
            <a:r>
              <a:rPr lang="en-US" sz="2000" dirty="0">
                <a:ea typeface="ヒラギノ角ゴ Pro W3" pitchFamily="-65" charset="-128"/>
              </a:rPr>
              <a:t>APPENDIX </a:t>
            </a:r>
            <a:r>
              <a:rPr lang="en-US" sz="2000" dirty="0" smtClean="0">
                <a:ea typeface="ヒラギノ角ゴ Pro W3" pitchFamily="-65" charset="-128"/>
              </a:rPr>
              <a:t>1  Deriving </a:t>
            </a:r>
            <a:r>
              <a:rPr lang="en-US" sz="2000" dirty="0">
                <a:ea typeface="ヒラギノ角ゴ Pro W3" pitchFamily="-65" charset="-128"/>
              </a:rPr>
              <a:t>the IS Relation under Fixed Exchange Rates</a:t>
            </a:r>
            <a:endParaRPr lang="en-US" sz="2000" kern="0" dirty="0" smtClean="0">
              <a:ea typeface="ヒラギノ角ゴ Pro W3" pitchFamily="-84" charset="-128"/>
            </a:endParaRPr>
          </a:p>
          <a:p>
            <a:pPr marL="1714500" indent="-1714500" eaLnBrk="1" hangingPunct="1">
              <a:buFontTx/>
              <a:buNone/>
              <a:defRPr/>
            </a:pPr>
            <a:r>
              <a:rPr lang="en-US" sz="2000" kern="0" dirty="0" smtClean="0">
                <a:ea typeface="ヒラギノ角ゴ Pro W3" pitchFamily="-84" charset="-128"/>
              </a:rPr>
              <a:t>APPENDIX 2  The </a:t>
            </a:r>
            <a:r>
              <a:rPr lang="en-US" sz="2000" kern="0" dirty="0">
                <a:ea typeface="ヒラギノ角ゴ Pro W3" pitchFamily="-84" charset="-128"/>
              </a:rPr>
              <a:t>Real Exchange Rate and Domestic and Foreign Real Interest Rates</a:t>
            </a:r>
            <a:endParaRPr lang="en-US" sz="2000" kern="0" dirty="0" smtClean="0">
              <a:ea typeface="ヒラギノ角ゴ Pro W3" pitchFamily="-84" charset="-128"/>
            </a:endParaRPr>
          </a:p>
        </p:txBody>
      </p:sp>
    </p:spTree>
  </p:cSld>
  <p:clrMapOvr>
    <a:masterClrMapping/>
  </p:clrMapOvr>
  <p:transition>
    <p:strips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smtClean="0">
                <a:ea typeface="ヒラギノ角ゴ Pro W3" pitchFamily="-84" charset="-128"/>
              </a:rPr>
              <a:t>Exchange Rate Regimes</a:t>
            </a:r>
            <a:endParaRPr lang="en-US" dirty="0">
              <a:ea typeface="ヒラギノ角ゴ Pro W3" pitchFamily="-84" charset="-128"/>
            </a:endParaRPr>
          </a:p>
        </p:txBody>
      </p:sp>
      <p:sp>
        <p:nvSpPr>
          <p:cNvPr id="7171" name="Content Placeholder 2"/>
          <p:cNvSpPr>
            <a:spLocks noGrp="1"/>
          </p:cNvSpPr>
          <p:nvPr>
            <p:ph idx="1"/>
          </p:nvPr>
        </p:nvSpPr>
        <p:spPr/>
        <p:txBody>
          <a:bodyPr/>
          <a:lstStyle/>
          <a:p>
            <a:r>
              <a:rPr lang="en-US" sz="2400" dirty="0" smtClean="0">
                <a:ea typeface="ヒラギノ角ゴ Pro W3" pitchFamily="-84" charset="-128"/>
              </a:rPr>
              <a:t>During the Bretton Woods period between 1944 and 1972, a number of countries adopted a system of fixed exchange rates, with all member countries other than the United States fixing the price of their currency in terms of dollar.</a:t>
            </a:r>
          </a:p>
          <a:p>
            <a:r>
              <a:rPr lang="en-US" sz="2400" dirty="0" smtClean="0">
                <a:ea typeface="ヒラギノ角ゴ Pro W3" pitchFamily="-84" charset="-128"/>
              </a:rPr>
              <a:t>Since then, the world has been characterized by many exchange rate arrangements.</a:t>
            </a:r>
          </a:p>
          <a:p>
            <a:r>
              <a:rPr lang="en-US" sz="2400" dirty="0" smtClean="0">
                <a:ea typeface="ヒラギノ角ゴ Pro W3" pitchFamily="-84" charset="-128"/>
              </a:rPr>
              <a:t>Which exchange rate regime to choose is the issue of this chapter.</a:t>
            </a:r>
          </a:p>
        </p:txBody>
      </p:sp>
    </p:spTree>
    <p:extLst>
      <p:ext uri="{BB962C8B-B14F-4D97-AF65-F5344CB8AC3E}">
        <p14:creationId xmlns="" xmlns:p14="http://schemas.microsoft.com/office/powerpoint/2010/main" val="3014208771"/>
      </p:ext>
    </p:extLst>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a typeface="ヒラギノ角ゴ Pro W3" pitchFamily="-65" charset="-128"/>
              </a:rPr>
              <a:t>20-1 The Medium Run</a:t>
            </a:r>
          </a:p>
        </p:txBody>
      </p:sp>
      <p:sp>
        <p:nvSpPr>
          <p:cNvPr id="6" name="Content Placeholder 2"/>
          <p:cNvSpPr>
            <a:spLocks noGrp="1"/>
          </p:cNvSpPr>
          <p:nvPr>
            <p:ph idx="1"/>
          </p:nvPr>
        </p:nvSpPr>
        <p:spPr>
          <a:xfrm>
            <a:off x="381000" y="1447800"/>
            <a:ext cx="7848600" cy="4648200"/>
          </a:xfrm>
        </p:spPr>
        <p:txBody>
          <a:bodyPr/>
          <a:lstStyle/>
          <a:p>
            <a:r>
              <a:rPr lang="en-US" sz="2400" dirty="0" smtClean="0">
                <a:ea typeface="ヒラギノ角ゴ Pro W3" pitchFamily="-84" charset="-128"/>
              </a:rPr>
              <a:t>The real exchange rate is:</a:t>
            </a:r>
          </a:p>
          <a:p>
            <a:endParaRPr lang="en-US" sz="2400" dirty="0" smtClean="0">
              <a:ea typeface="ヒラギノ角ゴ Pro W3" pitchFamily="-84" charset="-128"/>
            </a:endParaRPr>
          </a:p>
          <a:p>
            <a:pPr marL="0" indent="0">
              <a:buNone/>
            </a:pPr>
            <a:endParaRPr lang="en-US" sz="2400" dirty="0" smtClean="0">
              <a:ea typeface="ヒラギノ角ゴ Pro W3" pitchFamily="-84" charset="-128"/>
            </a:endParaRPr>
          </a:p>
          <a:p>
            <a:pPr marL="0" indent="0">
              <a:buNone/>
            </a:pPr>
            <a:r>
              <a:rPr lang="en-US" sz="2400" dirty="0">
                <a:ea typeface="ヒラギノ角ゴ Pro W3" pitchFamily="-84" charset="-128"/>
              </a:rPr>
              <a:t> </a:t>
            </a:r>
            <a:r>
              <a:rPr lang="en-US" sz="2400" dirty="0" smtClean="0">
                <a:ea typeface="ヒラギノ角ゴ Pro W3" pitchFamily="-84" charset="-128"/>
              </a:rPr>
              <a:t>  which can adjust either:</a:t>
            </a:r>
          </a:p>
          <a:p>
            <a:pPr lvl="1"/>
            <a:r>
              <a:rPr lang="en-US" sz="1800" dirty="0" smtClean="0">
                <a:ea typeface="ヒラギノ角ゴ Pro W3" pitchFamily="-84" charset="-128"/>
              </a:rPr>
              <a:t>through a change in the nominal exchange rate, </a:t>
            </a:r>
            <a:r>
              <a:rPr lang="en-US" sz="1800" i="1" dirty="0" smtClean="0">
                <a:ea typeface="ヒラギノ角ゴ Pro W3" pitchFamily="-84" charset="-128"/>
              </a:rPr>
              <a:t>E</a:t>
            </a:r>
            <a:r>
              <a:rPr lang="en-US" sz="1800" dirty="0" smtClean="0">
                <a:ea typeface="ヒラギノ角ゴ Pro W3" pitchFamily="-84" charset="-128"/>
              </a:rPr>
              <a:t>: If the domestic price level and foreign price level do not change in the short run, this is the only way to adjust the real exchange rate in the short run.</a:t>
            </a:r>
          </a:p>
          <a:p>
            <a:pPr lvl="1"/>
            <a:r>
              <a:rPr lang="en-US" sz="1800" dirty="0" smtClean="0">
                <a:ea typeface="ヒラギノ角ゴ Pro W3" pitchFamily="-84" charset="-128"/>
              </a:rPr>
              <a:t>through a change in the domestic price level relative to the foreign price level: In the medium run, as prices adjust, this option is open even to a country with a fixed nominal exchange rate.</a:t>
            </a:r>
          </a:p>
        </p:txBody>
      </p:sp>
      <p:pic>
        <p:nvPicPr>
          <p:cNvPr id="3" name="Picture 2"/>
          <p:cNvPicPr>
            <a:picLocks noChangeAspect="1"/>
          </p:cNvPicPr>
          <p:nvPr/>
        </p:nvPicPr>
        <p:blipFill>
          <a:blip r:embed="rId2" cstate="print"/>
          <a:stretch>
            <a:fillRect/>
          </a:stretch>
        </p:blipFill>
        <p:spPr>
          <a:xfrm>
            <a:off x="3429000" y="1981200"/>
            <a:ext cx="1076325" cy="676275"/>
          </a:xfrm>
          <a:prstGeom prst="rect">
            <a:avLst/>
          </a:prstGeom>
        </p:spPr>
      </p:pic>
    </p:spTree>
    <p:extLst>
      <p:ext uri="{BB962C8B-B14F-4D97-AF65-F5344CB8AC3E}">
        <p14:creationId xmlns="" xmlns:p14="http://schemas.microsoft.com/office/powerpoint/2010/main" val="866562305"/>
      </p:ext>
    </p:extLst>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a typeface="ヒラギノ角ゴ Pro W3" pitchFamily="-65" charset="-128"/>
              </a:rPr>
              <a:t>20-1 The Medium Run</a:t>
            </a:r>
          </a:p>
        </p:txBody>
      </p:sp>
      <p:sp>
        <p:nvSpPr>
          <p:cNvPr id="6" name="Content Placeholder 2"/>
          <p:cNvSpPr>
            <a:spLocks noGrp="1"/>
          </p:cNvSpPr>
          <p:nvPr>
            <p:ph idx="1"/>
          </p:nvPr>
        </p:nvSpPr>
        <p:spPr>
          <a:xfrm>
            <a:off x="381000" y="1447800"/>
            <a:ext cx="7848600" cy="4648200"/>
          </a:xfrm>
        </p:spPr>
        <p:txBody>
          <a:bodyPr/>
          <a:lstStyle/>
          <a:p>
            <a:r>
              <a:rPr lang="en-US" sz="2400" dirty="0" smtClean="0">
                <a:ea typeface="ヒラギノ角ゴ Pro W3" pitchFamily="-84" charset="-128"/>
              </a:rPr>
              <a:t>The </a:t>
            </a:r>
            <a:r>
              <a:rPr lang="en-US" sz="2400" i="1" dirty="0" smtClean="0">
                <a:ea typeface="ヒラギノ角ゴ Pro W3" pitchFamily="-84" charset="-128"/>
              </a:rPr>
              <a:t>IS</a:t>
            </a:r>
            <a:r>
              <a:rPr lang="en-US" sz="2400" dirty="0" smtClean="0">
                <a:ea typeface="ヒラギノ角ゴ Pro W3" pitchFamily="-84" charset="-128"/>
              </a:rPr>
              <a:t> relation in an open economy with fixed exchange rates:</a:t>
            </a:r>
          </a:p>
          <a:p>
            <a:endParaRPr lang="en-US" sz="2400" dirty="0" smtClean="0">
              <a:ea typeface="ヒラギノ角ゴ Pro W3" pitchFamily="-84" charset="-128"/>
            </a:endParaRPr>
          </a:p>
          <a:p>
            <a:pPr marL="0" indent="0">
              <a:buNone/>
            </a:pPr>
            <a:endParaRPr lang="en-US" sz="2400" dirty="0" smtClean="0">
              <a:ea typeface="ヒラギノ角ゴ Pro W3" pitchFamily="-84" charset="-128"/>
            </a:endParaRPr>
          </a:p>
          <a:p>
            <a:pPr marL="0" indent="0">
              <a:buNone/>
            </a:pPr>
            <a:r>
              <a:rPr lang="en-US" sz="2400" dirty="0">
                <a:ea typeface="ヒラギノ角ゴ Pro W3" pitchFamily="-84" charset="-128"/>
              </a:rPr>
              <a:t> </a:t>
            </a:r>
            <a:r>
              <a:rPr lang="en-US" sz="2400" dirty="0" smtClean="0">
                <a:ea typeface="ヒラギノ角ゴ Pro W3" pitchFamily="-84" charset="-128"/>
              </a:rPr>
              <a:t>  </a:t>
            </a:r>
          </a:p>
          <a:p>
            <a:pPr>
              <a:spcBef>
                <a:spcPts val="1200"/>
              </a:spcBef>
            </a:pPr>
            <a:r>
              <a:rPr lang="en-US" sz="2400" dirty="0" smtClean="0">
                <a:ea typeface="ヒラギノ角ゴ Pro W3" pitchFamily="-84" charset="-128"/>
              </a:rPr>
              <a:t>Demand and output depend:</a:t>
            </a:r>
          </a:p>
          <a:p>
            <a:pPr lvl="1"/>
            <a:r>
              <a:rPr lang="en-US" sz="1800" dirty="0" smtClean="0">
                <a:ea typeface="ヒラギノ角ゴ Pro W3" pitchFamily="-84" charset="-128"/>
              </a:rPr>
              <a:t>negatively on the real exchange rate</a:t>
            </a:r>
          </a:p>
          <a:p>
            <a:pPr lvl="1"/>
            <a:r>
              <a:rPr lang="en-US" sz="1800" dirty="0" smtClean="0">
                <a:ea typeface="ヒラギノ角ゴ Pro W3" pitchFamily="-84" charset="-128"/>
              </a:rPr>
              <a:t>positively on government spending and negatively on taxes</a:t>
            </a:r>
          </a:p>
          <a:p>
            <a:pPr lvl="1"/>
            <a:r>
              <a:rPr lang="en-US" sz="1800" dirty="0" smtClean="0">
                <a:ea typeface="ヒラギノ角ゴ Pro W3" pitchFamily="-84" charset="-128"/>
              </a:rPr>
              <a:t>negatively on the domestic real interest rate</a:t>
            </a:r>
          </a:p>
          <a:p>
            <a:pPr lvl="1"/>
            <a:r>
              <a:rPr lang="en-US" sz="1800" dirty="0" smtClean="0">
                <a:ea typeface="ヒラギノ角ゴ Pro W3" pitchFamily="-84" charset="-128"/>
              </a:rPr>
              <a:t>positively on foreign output through the effect on exports</a:t>
            </a:r>
          </a:p>
        </p:txBody>
      </p:sp>
      <p:pic>
        <p:nvPicPr>
          <p:cNvPr id="4" name="Picture 3"/>
          <p:cNvPicPr>
            <a:picLocks noChangeAspect="1"/>
          </p:cNvPicPr>
          <p:nvPr/>
        </p:nvPicPr>
        <p:blipFill>
          <a:blip r:embed="rId2" cstate="print"/>
          <a:stretch>
            <a:fillRect/>
          </a:stretch>
        </p:blipFill>
        <p:spPr>
          <a:xfrm>
            <a:off x="1524000" y="2362200"/>
            <a:ext cx="7029450" cy="1165551"/>
          </a:xfrm>
          <a:prstGeom prst="rect">
            <a:avLst/>
          </a:prstGeom>
        </p:spPr>
      </p:pic>
    </p:spTree>
    <p:extLst>
      <p:ext uri="{BB962C8B-B14F-4D97-AF65-F5344CB8AC3E}">
        <p14:creationId xmlns="" xmlns:p14="http://schemas.microsoft.com/office/powerpoint/2010/main" val="157355366"/>
      </p:ext>
    </p:extLst>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a typeface="ヒラギノ角ゴ Pro W3" pitchFamily="-65" charset="-128"/>
              </a:rPr>
              <a:t>20-1 The Medium Run</a:t>
            </a:r>
          </a:p>
        </p:txBody>
      </p:sp>
      <p:sp>
        <p:nvSpPr>
          <p:cNvPr id="6" name="Content Placeholder 2"/>
          <p:cNvSpPr>
            <a:spLocks noGrp="1"/>
          </p:cNvSpPr>
          <p:nvPr>
            <p:ph idx="1"/>
          </p:nvPr>
        </p:nvSpPr>
        <p:spPr>
          <a:xfrm>
            <a:off x="381000" y="1447800"/>
            <a:ext cx="8153400" cy="4648200"/>
          </a:xfrm>
        </p:spPr>
        <p:txBody>
          <a:bodyPr/>
          <a:lstStyle/>
          <a:p>
            <a:r>
              <a:rPr lang="en-US" sz="2200" dirty="0" smtClean="0">
                <a:ea typeface="ヒラギノ角ゴ Pro W3" pitchFamily="-84" charset="-128"/>
              </a:rPr>
              <a:t>The Phillips curve relation in the medium run (Chapter 9):</a:t>
            </a:r>
          </a:p>
          <a:p>
            <a:endParaRPr lang="en-US" sz="2200" dirty="0" smtClean="0">
              <a:ea typeface="ヒラギノ角ゴ Pro W3" pitchFamily="-84" charset="-128"/>
            </a:endParaRPr>
          </a:p>
          <a:p>
            <a:pPr>
              <a:spcBef>
                <a:spcPts val="1800"/>
              </a:spcBef>
            </a:pPr>
            <a:r>
              <a:rPr lang="en-US" sz="2200" dirty="0" smtClean="0">
                <a:ea typeface="ヒラギノ角ゴ Pro W3" pitchFamily="-84" charset="-128"/>
              </a:rPr>
              <a:t>Assume constant expected inflation so that :</a:t>
            </a:r>
          </a:p>
          <a:p>
            <a:pPr>
              <a:spcBef>
                <a:spcPts val="1800"/>
              </a:spcBef>
            </a:pPr>
            <a:endParaRPr lang="en-US" sz="2200" dirty="0">
              <a:ea typeface="ヒラギノ角ゴ Pro W3" pitchFamily="-84" charset="-128"/>
            </a:endParaRPr>
          </a:p>
          <a:p>
            <a:pPr marL="341313" indent="0">
              <a:spcBef>
                <a:spcPts val="1800"/>
              </a:spcBef>
              <a:buNone/>
            </a:pPr>
            <a:r>
              <a:rPr lang="en-US" sz="2200" dirty="0" smtClean="0">
                <a:ea typeface="ヒラギノ角ゴ Pro W3" pitchFamily="-84" charset="-128"/>
              </a:rPr>
              <a:t>which implies that, if two economies are operating at potential, inflation rates would be the same, relative prices would remain constant, and so would the real exchange rate.</a:t>
            </a:r>
          </a:p>
          <a:p>
            <a:pPr>
              <a:spcBef>
                <a:spcPts val="600"/>
              </a:spcBef>
            </a:pPr>
            <a:r>
              <a:rPr lang="en-US" sz="2200" dirty="0" smtClean="0">
                <a:ea typeface="ヒラギノ角ゴ Pro W3" pitchFamily="-84" charset="-128"/>
              </a:rPr>
              <a:t>In the medium run, if domestic and foreign inflation being equal, the real exchange rate is constant.  </a:t>
            </a:r>
          </a:p>
        </p:txBody>
      </p:sp>
      <p:pic>
        <p:nvPicPr>
          <p:cNvPr id="3" name="Picture 2"/>
          <p:cNvPicPr>
            <a:picLocks noChangeAspect="1"/>
          </p:cNvPicPr>
          <p:nvPr/>
        </p:nvPicPr>
        <p:blipFill>
          <a:blip r:embed="rId2" cstate="print"/>
          <a:stretch>
            <a:fillRect/>
          </a:stretch>
        </p:blipFill>
        <p:spPr>
          <a:xfrm>
            <a:off x="2209800" y="2286000"/>
            <a:ext cx="3343275" cy="342900"/>
          </a:xfrm>
          <a:prstGeom prst="rect">
            <a:avLst/>
          </a:prstGeom>
        </p:spPr>
      </p:pic>
      <p:pic>
        <p:nvPicPr>
          <p:cNvPr id="5" name="Picture 4"/>
          <p:cNvPicPr>
            <a:picLocks noChangeAspect="1"/>
          </p:cNvPicPr>
          <p:nvPr/>
        </p:nvPicPr>
        <p:blipFill>
          <a:blip r:embed="rId3" cstate="print"/>
          <a:stretch>
            <a:fillRect/>
          </a:stretch>
        </p:blipFill>
        <p:spPr>
          <a:xfrm>
            <a:off x="1600200" y="3383492"/>
            <a:ext cx="7124700" cy="371475"/>
          </a:xfrm>
          <a:prstGeom prst="rect">
            <a:avLst/>
          </a:prstGeom>
        </p:spPr>
      </p:pic>
    </p:spTree>
    <p:extLst>
      <p:ext uri="{BB962C8B-B14F-4D97-AF65-F5344CB8AC3E}">
        <p14:creationId xmlns="" xmlns:p14="http://schemas.microsoft.com/office/powerpoint/2010/main" val="3392325586"/>
      </p:ext>
    </p:extLst>
  </p:cSld>
  <p:clrMapOvr>
    <a:masterClrMapping/>
  </p:clrMapOvr>
  <p:transition>
    <p:strips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a typeface="ヒラギノ角ゴ Pro W3" pitchFamily="-65" charset="-128"/>
              </a:rPr>
              <a:t>20-1 The Medium Run</a:t>
            </a:r>
          </a:p>
        </p:txBody>
      </p:sp>
      <p:sp>
        <p:nvSpPr>
          <p:cNvPr id="6" name="Content Placeholder 2"/>
          <p:cNvSpPr>
            <a:spLocks noGrp="1"/>
          </p:cNvSpPr>
          <p:nvPr>
            <p:ph idx="1"/>
          </p:nvPr>
        </p:nvSpPr>
        <p:spPr>
          <a:xfrm>
            <a:off x="381000" y="1447800"/>
            <a:ext cx="7848600" cy="4648200"/>
          </a:xfrm>
        </p:spPr>
        <p:txBody>
          <a:bodyPr/>
          <a:lstStyle/>
          <a:p>
            <a:r>
              <a:rPr lang="en-US" sz="2400" dirty="0" smtClean="0">
                <a:ea typeface="ヒラギノ角ゴ Pro W3" pitchFamily="-84" charset="-128"/>
              </a:rPr>
              <a:t>In the short run, a fixed nominal exchange rate implies a fixed real exchange rate.</a:t>
            </a:r>
          </a:p>
          <a:p>
            <a:r>
              <a:rPr lang="en-US" sz="2400" dirty="0" smtClean="0">
                <a:ea typeface="ヒラギノ角ゴ Pro W3" pitchFamily="-84" charset="-128"/>
              </a:rPr>
              <a:t>In the medium run, the real exchange rate can adjust even if the nominal exchange rate is fixed.</a:t>
            </a:r>
          </a:p>
          <a:p>
            <a:r>
              <a:rPr lang="en-US" sz="2400" dirty="0" smtClean="0">
                <a:ea typeface="ヒラギノ角ゴ Pro W3" pitchFamily="-84" charset="-128"/>
              </a:rPr>
              <a:t>This adjustment is achieved through movements in the relative price levels over time.</a:t>
            </a:r>
          </a:p>
        </p:txBody>
      </p:sp>
    </p:spTree>
    <p:extLst>
      <p:ext uri="{BB962C8B-B14F-4D97-AF65-F5344CB8AC3E}">
        <p14:creationId xmlns="" xmlns:p14="http://schemas.microsoft.com/office/powerpoint/2010/main" val="1746038411"/>
      </p:ext>
    </p:extLst>
  </p:cSld>
  <p:clrMapOvr>
    <a:masterClrMapping/>
  </p:clrMapOvr>
  <p:transition>
    <p:strips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ea typeface="ヒラギノ角ゴ Pro W3" pitchFamily="-65" charset="-128"/>
              </a:rPr>
              <a:t>FOCUS: The Return of Britain to the Gold Standard: Keynes versus Churchill</a:t>
            </a:r>
          </a:p>
        </p:txBody>
      </p:sp>
      <p:sp>
        <p:nvSpPr>
          <p:cNvPr id="6" name="Content Placeholder 2"/>
          <p:cNvSpPr>
            <a:spLocks noGrp="1"/>
          </p:cNvSpPr>
          <p:nvPr>
            <p:ph idx="1"/>
          </p:nvPr>
        </p:nvSpPr>
        <p:spPr>
          <a:xfrm>
            <a:off x="381000" y="1447800"/>
            <a:ext cx="7848600" cy="4648200"/>
          </a:xfrm>
        </p:spPr>
        <p:txBody>
          <a:bodyPr/>
          <a:lstStyle/>
          <a:p>
            <a:r>
              <a:rPr lang="en-US" sz="2200" dirty="0" smtClean="0">
                <a:ea typeface="ヒラギノ角ゴ Pro W3" pitchFamily="-84" charset="-128"/>
              </a:rPr>
              <a:t>The </a:t>
            </a:r>
            <a:r>
              <a:rPr lang="en-US" sz="2200" b="1" dirty="0" smtClean="0">
                <a:ea typeface="ヒラギノ角ゴ Pro W3" pitchFamily="-84" charset="-128"/>
              </a:rPr>
              <a:t>gold standard </a:t>
            </a:r>
            <a:r>
              <a:rPr lang="en-US" sz="2200" dirty="0" smtClean="0">
                <a:ea typeface="ヒラギノ角ゴ Pro W3" pitchFamily="-84" charset="-128"/>
              </a:rPr>
              <a:t>was a system in which each country fixed the price of its currency in terms of gold and stood ready to exchange gold for currency at the stated parity.</a:t>
            </a:r>
          </a:p>
          <a:p>
            <a:r>
              <a:rPr lang="en-US" sz="2200" dirty="0" smtClean="0">
                <a:ea typeface="ヒラギノ角ゴ Pro W3" pitchFamily="-84" charset="-128"/>
              </a:rPr>
              <a:t>In 1925, Britain decided to return to the gold standard, which was in place from 1870 until World War I.</a:t>
            </a:r>
          </a:p>
          <a:p>
            <a:r>
              <a:rPr lang="en-US" sz="2200" dirty="0" smtClean="0">
                <a:ea typeface="ヒラギノ角ゴ Pro W3" pitchFamily="-84" charset="-128"/>
              </a:rPr>
              <a:t>As Keynes predicted, because the prices of British goods had increased more than the foreign price level, Britain faced a real appreciation at a given nominal exchange rate and remained in recession for the rest of the decade while other countries were growing.</a:t>
            </a:r>
          </a:p>
        </p:txBody>
      </p:sp>
    </p:spTree>
    <p:extLst>
      <p:ext uri="{BB962C8B-B14F-4D97-AF65-F5344CB8AC3E}">
        <p14:creationId xmlns="" xmlns:p14="http://schemas.microsoft.com/office/powerpoint/2010/main" val="776519214"/>
      </p:ext>
    </p:extLst>
  </p:cSld>
  <p:clrMapOvr>
    <a:masterClrMapping/>
  </p:clrMapOvr>
  <p:transition>
    <p:strips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pitchFamily="-65" charset="-128"/>
              </a:rPr>
              <a:t>20-2 Exchange Rate Crises under Fixed Exchange Rates</a:t>
            </a:r>
          </a:p>
        </p:txBody>
      </p:sp>
      <p:sp>
        <p:nvSpPr>
          <p:cNvPr id="6" name="Content Placeholder 2"/>
          <p:cNvSpPr>
            <a:spLocks noGrp="1"/>
          </p:cNvSpPr>
          <p:nvPr>
            <p:ph idx="1"/>
          </p:nvPr>
        </p:nvSpPr>
        <p:spPr>
          <a:xfrm>
            <a:off x="381000" y="1447800"/>
            <a:ext cx="7848600" cy="4648200"/>
          </a:xfrm>
        </p:spPr>
        <p:txBody>
          <a:bodyPr/>
          <a:lstStyle/>
          <a:p>
            <a:r>
              <a:rPr lang="en-US" sz="2200" dirty="0" smtClean="0">
                <a:ea typeface="ヒラギノ角ゴ Pro W3" pitchFamily="-84" charset="-128"/>
              </a:rPr>
              <a:t>To let a currency </a:t>
            </a:r>
            <a:r>
              <a:rPr lang="en-US" sz="2200" b="1" dirty="0" smtClean="0">
                <a:ea typeface="ヒラギノ角ゴ Pro W3" pitchFamily="-84" charset="-128"/>
              </a:rPr>
              <a:t>float</a:t>
            </a:r>
            <a:r>
              <a:rPr lang="en-US" sz="2200" dirty="0" smtClean="0">
                <a:ea typeface="ヒラギノ角ゴ Pro W3" pitchFamily="-84" charset="-128"/>
              </a:rPr>
              <a:t> is to allow a move from a fixed to a flexible exchange rate regime.</a:t>
            </a:r>
          </a:p>
          <a:p>
            <a:r>
              <a:rPr lang="en-US" sz="2200" dirty="0" smtClean="0">
                <a:ea typeface="ヒラギノ角ゴ Pro W3" pitchFamily="-84" charset="-128"/>
              </a:rPr>
              <a:t>Given the interest rate condition (Chapter 17):</a:t>
            </a:r>
          </a:p>
          <a:p>
            <a:endParaRPr lang="en-US" sz="2200" dirty="0" smtClean="0">
              <a:ea typeface="ヒラギノ角ゴ Pro W3" pitchFamily="-84" charset="-128"/>
            </a:endParaRPr>
          </a:p>
          <a:p>
            <a:endParaRPr lang="en-US" sz="2200" dirty="0">
              <a:ea typeface="ヒラギノ角ゴ Pro W3" pitchFamily="-84" charset="-128"/>
            </a:endParaRPr>
          </a:p>
          <a:p>
            <a:pPr marL="341313" indent="0">
              <a:spcBef>
                <a:spcPts val="1200"/>
              </a:spcBef>
              <a:buNone/>
            </a:pPr>
            <a:r>
              <a:rPr lang="en-US" sz="2200" dirty="0" smtClean="0">
                <a:ea typeface="ヒラギノ角ゴ Pro W3" pitchFamily="-84" charset="-128"/>
              </a:rPr>
              <a:t>which implies that as soon as financial markets believe a devaluation may be coming, maintaining the exchange rate requires an increase in the domestic interest rate.</a:t>
            </a:r>
          </a:p>
          <a:p>
            <a:r>
              <a:rPr lang="en-US" sz="2200" dirty="0" smtClean="0">
                <a:ea typeface="ヒラギノ角ゴ Pro W3" pitchFamily="-84" charset="-128"/>
              </a:rPr>
              <a:t>Expectations that a devaluation may be coming can trigger an exchange rate crisis.</a:t>
            </a:r>
          </a:p>
          <a:p>
            <a:endParaRPr lang="en-US" sz="2200" dirty="0" smtClean="0">
              <a:ea typeface="ヒラギノ角ゴ Pro W3" pitchFamily="-84" charset="-128"/>
            </a:endParaRPr>
          </a:p>
        </p:txBody>
      </p:sp>
      <p:pic>
        <p:nvPicPr>
          <p:cNvPr id="3" name="Picture 2"/>
          <p:cNvPicPr>
            <a:picLocks noChangeAspect="1"/>
          </p:cNvPicPr>
          <p:nvPr/>
        </p:nvPicPr>
        <p:blipFill>
          <a:blip r:embed="rId2" cstate="print"/>
          <a:stretch>
            <a:fillRect/>
          </a:stretch>
        </p:blipFill>
        <p:spPr>
          <a:xfrm>
            <a:off x="1952625" y="2647950"/>
            <a:ext cx="6886575" cy="781050"/>
          </a:xfrm>
          <a:prstGeom prst="rect">
            <a:avLst/>
          </a:prstGeom>
        </p:spPr>
      </p:pic>
    </p:spTree>
    <p:extLst>
      <p:ext uri="{BB962C8B-B14F-4D97-AF65-F5344CB8AC3E}">
        <p14:creationId xmlns="" xmlns:p14="http://schemas.microsoft.com/office/powerpoint/2010/main" val="3279830062"/>
      </p:ext>
    </p:extLst>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ヒラギノ角ゴ Pro W3" pitchFamily="-65" charset="-128"/>
              </a:rPr>
              <a:t>20-2 Exchange Rate Crises under Fixed Exchange Rates</a:t>
            </a:r>
          </a:p>
        </p:txBody>
      </p:sp>
      <p:sp>
        <p:nvSpPr>
          <p:cNvPr id="6" name="Content Placeholder 2"/>
          <p:cNvSpPr>
            <a:spLocks noGrp="1"/>
          </p:cNvSpPr>
          <p:nvPr>
            <p:ph idx="1"/>
          </p:nvPr>
        </p:nvSpPr>
        <p:spPr>
          <a:xfrm>
            <a:off x="381000" y="1447800"/>
            <a:ext cx="7848600" cy="4648200"/>
          </a:xfrm>
        </p:spPr>
        <p:txBody>
          <a:bodyPr/>
          <a:lstStyle/>
          <a:p>
            <a:r>
              <a:rPr lang="en-US" sz="2400" dirty="0" smtClean="0">
                <a:ea typeface="ヒラギノ角ゴ Pro W3" pitchFamily="-84" charset="-128"/>
              </a:rPr>
              <a:t>Faced with the expectations of devaluation, the government has two options:</a:t>
            </a:r>
          </a:p>
          <a:p>
            <a:pPr lvl="1"/>
            <a:r>
              <a:rPr lang="en-US" sz="2000" dirty="0" smtClean="0">
                <a:ea typeface="ヒラギノ角ゴ Pro W3" pitchFamily="-84" charset="-128"/>
              </a:rPr>
              <a:t>Give in and devalue, or</a:t>
            </a:r>
          </a:p>
          <a:p>
            <a:pPr lvl="1"/>
            <a:r>
              <a:rPr lang="en-US" sz="2000" dirty="0" smtClean="0">
                <a:ea typeface="ヒラギノ角ゴ Pro W3" pitchFamily="-84" charset="-128"/>
              </a:rPr>
              <a:t>Fight and maintain the parity, at the cost of high interest rates and a potential recession.</a:t>
            </a:r>
          </a:p>
          <a:p>
            <a:endParaRPr lang="en-US" dirty="0" smtClean="0">
              <a:ea typeface="ヒラギノ角ゴ Pro W3" pitchFamily="-84" charset="-128"/>
            </a:endParaRPr>
          </a:p>
        </p:txBody>
      </p:sp>
    </p:spTree>
    <p:extLst>
      <p:ext uri="{BB962C8B-B14F-4D97-AF65-F5344CB8AC3E}">
        <p14:creationId xmlns="" xmlns:p14="http://schemas.microsoft.com/office/powerpoint/2010/main" val="3528888091"/>
      </p:ext>
    </p:extLst>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sz="2800" dirty="0" smtClean="0">
                <a:ea typeface="ヒラギノ角ゴ Pro W3" pitchFamily="-65" charset="-128"/>
              </a:rPr>
              <a:t>FOCUS: The 1992 EMS Crisis</a:t>
            </a:r>
          </a:p>
        </p:txBody>
      </p:sp>
      <p:pic>
        <p:nvPicPr>
          <p:cNvPr id="21507" name="Picture 3" descr="figure_01.gif"/>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209800" y="2757607"/>
            <a:ext cx="4572000" cy="356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1508" name="TextBox 4"/>
          <p:cNvSpPr txBox="1">
            <a:spLocks noChangeArrowheads="1"/>
          </p:cNvSpPr>
          <p:nvPr/>
        </p:nvSpPr>
        <p:spPr bwMode="auto">
          <a:xfrm>
            <a:off x="381000" y="2158425"/>
            <a:ext cx="8001000" cy="584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600" b="1" dirty="0">
                <a:latin typeface="Verdana" panose="020B0604030504040204" pitchFamily="34" charset="0"/>
              </a:rPr>
              <a:t>Figure 1  </a:t>
            </a:r>
            <a:r>
              <a:rPr lang="en-US" sz="1600" dirty="0">
                <a:latin typeface="Verdana" panose="020B0604030504040204" pitchFamily="34" charset="0"/>
              </a:rPr>
              <a:t>Exchange Rates of Selected European Countries Relative to the Deutsche Mark, January 1992 to December 1993</a:t>
            </a:r>
          </a:p>
        </p:txBody>
      </p:sp>
      <p:sp>
        <p:nvSpPr>
          <p:cNvPr id="5" name="TextBox 4"/>
          <p:cNvSpPr txBox="1">
            <a:spLocks noChangeArrowheads="1"/>
          </p:cNvSpPr>
          <p:nvPr/>
        </p:nvSpPr>
        <p:spPr bwMode="auto">
          <a:xfrm>
            <a:off x="381000" y="1066800"/>
            <a:ext cx="8001000" cy="1077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sz="1600" dirty="0" smtClean="0">
                <a:latin typeface="Verdana" panose="020B0604030504040204" pitchFamily="34" charset="0"/>
              </a:rPr>
              <a:t>In September 1992, financial markets became convinced realignments of the EMS’s fixed exchange parities with bands were coming soon. </a:t>
            </a:r>
          </a:p>
          <a:p>
            <a:pPr marL="285750" indent="-285750">
              <a:buFont typeface="Arial" panose="020B0604020202020204" pitchFamily="34" charset="0"/>
              <a:buChar char="•"/>
            </a:pPr>
            <a:r>
              <a:rPr lang="en-US" sz="1600" dirty="0">
                <a:latin typeface="Verdana" panose="020B0604030504040204" pitchFamily="34" charset="0"/>
              </a:rPr>
              <a:t>S</a:t>
            </a:r>
            <a:r>
              <a:rPr lang="en-US" sz="1600" dirty="0" smtClean="0">
                <a:latin typeface="Verdana" panose="020B0604030504040204" pitchFamily="34" charset="0"/>
              </a:rPr>
              <a:t>peculative attacks led to ensuring depreciations/devaluations of different countries. </a:t>
            </a:r>
            <a:endParaRPr lang="en-US" sz="1600" dirty="0">
              <a:latin typeface="Verdana" panose="020B0604030504040204" pitchFamily="34" charset="0"/>
            </a:endParaRPr>
          </a:p>
        </p:txBody>
      </p:sp>
    </p:spTree>
    <p:extLst>
      <p:ext uri="{BB962C8B-B14F-4D97-AF65-F5344CB8AC3E}">
        <p14:creationId xmlns="" xmlns:p14="http://schemas.microsoft.com/office/powerpoint/2010/main" val="3197854365"/>
      </p:ext>
    </p:extLst>
  </p:cSld>
  <p:clrMapOvr>
    <a:masterClrMapping/>
  </p:clrMapOvr>
  <p:transition>
    <p:strips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ea typeface="ヒラギノ角ゴ Pro W3" pitchFamily="-65" charset="-128"/>
              </a:rPr>
              <a:t>20-3 Exchange Rate Movements under Flexible Exchange Rates</a:t>
            </a:r>
          </a:p>
        </p:txBody>
      </p:sp>
      <p:sp>
        <p:nvSpPr>
          <p:cNvPr id="6" name="Content Placeholder 2"/>
          <p:cNvSpPr>
            <a:spLocks noGrp="1"/>
          </p:cNvSpPr>
          <p:nvPr>
            <p:ph idx="1"/>
          </p:nvPr>
        </p:nvSpPr>
        <p:spPr>
          <a:xfrm>
            <a:off x="381000" y="1295400"/>
            <a:ext cx="7848600" cy="5105400"/>
          </a:xfrm>
        </p:spPr>
        <p:txBody>
          <a:bodyPr/>
          <a:lstStyle/>
          <a:p>
            <a:r>
              <a:rPr lang="en-US" sz="2200" dirty="0" smtClean="0">
                <a:ea typeface="ヒラギノ角ゴ Pro W3" pitchFamily="-84" charset="-128"/>
              </a:rPr>
              <a:t>Recall the interest parity condition (Chapter 17.2):</a:t>
            </a:r>
          </a:p>
          <a:p>
            <a:endParaRPr lang="en-US" sz="2200" dirty="0">
              <a:ea typeface="ヒラギノ角ゴ Pro W3" pitchFamily="-84" charset="-128"/>
            </a:endParaRPr>
          </a:p>
          <a:p>
            <a:endParaRPr lang="en-US" sz="2200" dirty="0" smtClean="0">
              <a:ea typeface="ヒラギノ角ゴ Pro W3" pitchFamily="-84" charset="-128"/>
            </a:endParaRPr>
          </a:p>
          <a:p>
            <a:pPr>
              <a:spcBef>
                <a:spcPts val="0"/>
              </a:spcBef>
            </a:pPr>
            <a:r>
              <a:rPr lang="en-US" sz="2200" dirty="0" smtClean="0">
                <a:ea typeface="ヒラギノ角ゴ Pro W3" pitchFamily="-84" charset="-128"/>
              </a:rPr>
              <a:t>Multiply both sides by       gives:</a:t>
            </a:r>
          </a:p>
          <a:p>
            <a:endParaRPr lang="en-US" sz="2200" dirty="0" smtClean="0">
              <a:ea typeface="ヒラギノ角ゴ Pro W3" pitchFamily="-84" charset="-128"/>
            </a:endParaRPr>
          </a:p>
          <a:p>
            <a:endParaRPr lang="en-US" sz="2200" dirty="0">
              <a:ea typeface="ヒラギノ角ゴ Pro W3" pitchFamily="-84" charset="-128"/>
            </a:endParaRPr>
          </a:p>
          <a:p>
            <a:r>
              <a:rPr lang="en-US" sz="2200" dirty="0" smtClean="0">
                <a:ea typeface="ヒラギノ角ゴ Pro W3" pitchFamily="-84" charset="-128"/>
              </a:rPr>
              <a:t>Continue to solve forward in time for the expected exchange rate:</a:t>
            </a:r>
          </a:p>
          <a:p>
            <a:endParaRPr lang="en-US" sz="2200" dirty="0">
              <a:ea typeface="ヒラギノ角ゴ Pro W3" pitchFamily="-84" charset="-128"/>
            </a:endParaRPr>
          </a:p>
          <a:p>
            <a:endParaRPr lang="en-US" sz="2200" dirty="0" smtClean="0">
              <a:ea typeface="ヒラギノ角ゴ Pro W3" pitchFamily="-84" charset="-128"/>
            </a:endParaRPr>
          </a:p>
          <a:p>
            <a:endParaRPr lang="en-US" sz="2200" dirty="0" smtClean="0">
              <a:ea typeface="ヒラギノ角ゴ Pro W3" pitchFamily="-84" charset="-128"/>
            </a:endParaRPr>
          </a:p>
          <a:p>
            <a:endParaRPr lang="en-US" sz="2200" dirty="0">
              <a:ea typeface="ヒラギノ角ゴ Pro W3" pitchFamily="-84" charset="-128"/>
            </a:endParaRPr>
          </a:p>
          <a:p>
            <a:endParaRPr lang="en-US" sz="2200" dirty="0" smtClean="0">
              <a:ea typeface="ヒラギノ角ゴ Pro W3" pitchFamily="-84" charset="-128"/>
            </a:endParaRPr>
          </a:p>
          <a:p>
            <a:endParaRPr lang="en-US" sz="2200" dirty="0">
              <a:ea typeface="ヒラギノ角ゴ Pro W3" pitchFamily="-84" charset="-128"/>
            </a:endParaRPr>
          </a:p>
          <a:p>
            <a:endParaRPr lang="en-US" sz="2200" dirty="0" smtClean="0">
              <a:ea typeface="ヒラギノ角ゴ Pro W3" pitchFamily="-84" charset="-128"/>
            </a:endParaRPr>
          </a:p>
          <a:p>
            <a:endParaRPr lang="en-US" sz="2200" dirty="0" smtClean="0">
              <a:ea typeface="ヒラギノ角ゴ Pro W3" pitchFamily="-84" charset="-128"/>
            </a:endParaRPr>
          </a:p>
          <a:p>
            <a:endParaRPr lang="en-US" sz="2200" dirty="0" smtClean="0">
              <a:ea typeface="ヒラギノ角ゴ Pro W3" pitchFamily="-84" charset="-128"/>
            </a:endParaRPr>
          </a:p>
        </p:txBody>
      </p:sp>
      <p:pic>
        <p:nvPicPr>
          <p:cNvPr id="3" name="Picture 2"/>
          <p:cNvPicPr>
            <a:picLocks noChangeAspect="1"/>
          </p:cNvPicPr>
          <p:nvPr/>
        </p:nvPicPr>
        <p:blipFill>
          <a:blip r:embed="rId2" cstate="print"/>
          <a:stretch>
            <a:fillRect/>
          </a:stretch>
        </p:blipFill>
        <p:spPr>
          <a:xfrm>
            <a:off x="2209800" y="1699862"/>
            <a:ext cx="3505200" cy="719488"/>
          </a:xfrm>
          <a:prstGeom prst="rect">
            <a:avLst/>
          </a:prstGeom>
        </p:spPr>
      </p:pic>
      <p:pic>
        <p:nvPicPr>
          <p:cNvPr id="4" name="Picture 3"/>
          <p:cNvPicPr>
            <a:picLocks noChangeAspect="1"/>
          </p:cNvPicPr>
          <p:nvPr/>
        </p:nvPicPr>
        <p:blipFill>
          <a:blip r:embed="rId3" cstate="print"/>
          <a:stretch>
            <a:fillRect/>
          </a:stretch>
        </p:blipFill>
        <p:spPr>
          <a:xfrm>
            <a:off x="2314575" y="2912508"/>
            <a:ext cx="6372225" cy="706991"/>
          </a:xfrm>
          <a:prstGeom prst="rect">
            <a:avLst/>
          </a:prstGeom>
        </p:spPr>
      </p:pic>
      <p:pic>
        <p:nvPicPr>
          <p:cNvPr id="7" name="Picture 6"/>
          <p:cNvPicPr>
            <a:picLocks noChangeAspect="1"/>
          </p:cNvPicPr>
          <p:nvPr/>
        </p:nvPicPr>
        <p:blipFill>
          <a:blip r:embed="rId4" cstate="print"/>
          <a:stretch>
            <a:fillRect/>
          </a:stretch>
        </p:blipFill>
        <p:spPr>
          <a:xfrm>
            <a:off x="3886200" y="2495550"/>
            <a:ext cx="533400" cy="323850"/>
          </a:xfrm>
          <a:prstGeom prst="rect">
            <a:avLst/>
          </a:prstGeom>
        </p:spPr>
      </p:pic>
      <p:pic>
        <p:nvPicPr>
          <p:cNvPr id="8" name="Picture 7"/>
          <p:cNvPicPr>
            <a:picLocks noChangeAspect="1"/>
          </p:cNvPicPr>
          <p:nvPr/>
        </p:nvPicPr>
        <p:blipFill>
          <a:blip r:embed="rId5" cstate="print"/>
          <a:stretch>
            <a:fillRect/>
          </a:stretch>
        </p:blipFill>
        <p:spPr>
          <a:xfrm>
            <a:off x="457200" y="4555041"/>
            <a:ext cx="8305800" cy="756771"/>
          </a:xfrm>
          <a:prstGeom prst="rect">
            <a:avLst/>
          </a:prstGeom>
        </p:spPr>
      </p:pic>
    </p:spTree>
    <p:extLst>
      <p:ext uri="{BB962C8B-B14F-4D97-AF65-F5344CB8AC3E}">
        <p14:creationId xmlns="" xmlns:p14="http://schemas.microsoft.com/office/powerpoint/2010/main" val="621565070"/>
      </p:ext>
    </p:extLst>
  </p:cSld>
  <p:clrMapOvr>
    <a:masterClrMapping/>
  </p:clrMapOvr>
  <p:transition>
    <p:strips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ea typeface="ヒラギノ角ゴ Pro W3" pitchFamily="-65" charset="-128"/>
              </a:rPr>
              <a:t>20-3 Exchange Rate Movements under Flexible Exchange Rates</a:t>
            </a:r>
          </a:p>
        </p:txBody>
      </p:sp>
      <p:sp>
        <p:nvSpPr>
          <p:cNvPr id="6" name="Content Placeholder 2"/>
          <p:cNvSpPr>
            <a:spLocks noGrp="1"/>
          </p:cNvSpPr>
          <p:nvPr>
            <p:ph idx="1"/>
          </p:nvPr>
        </p:nvSpPr>
        <p:spPr>
          <a:xfrm>
            <a:off x="381000" y="1295400"/>
            <a:ext cx="8153400" cy="5105400"/>
          </a:xfrm>
        </p:spPr>
        <p:txBody>
          <a:bodyPr/>
          <a:lstStyle/>
          <a:p>
            <a:r>
              <a:rPr lang="en-US" sz="2400" dirty="0" smtClean="0">
                <a:ea typeface="ヒラギノ角ゴ Pro W3" pitchFamily="-84" charset="-128"/>
              </a:rPr>
              <a:t>Implications of Equation (20.5):</a:t>
            </a:r>
          </a:p>
          <a:p>
            <a:pPr lvl="1"/>
            <a:r>
              <a:rPr lang="en-US" sz="2000" dirty="0" smtClean="0">
                <a:ea typeface="ヒラギノ角ゴ Pro W3" pitchFamily="-84" charset="-128"/>
              </a:rPr>
              <a:t>The level of today’s exchange rate will move one-for-one with the future expected exchange rate.</a:t>
            </a:r>
          </a:p>
          <a:p>
            <a:pPr lvl="1"/>
            <a:r>
              <a:rPr lang="en-US" sz="2000" dirty="0" smtClean="0">
                <a:ea typeface="ヒラギノ角ゴ Pro W3" pitchFamily="-84" charset="-128"/>
              </a:rPr>
              <a:t>Today’s exchange rate will move when future expected interest rates move in either country.</a:t>
            </a:r>
          </a:p>
          <a:p>
            <a:pPr lvl="1"/>
            <a:r>
              <a:rPr lang="en-US" sz="2000" dirty="0" smtClean="0">
                <a:ea typeface="ヒラギノ角ゴ Pro W3" pitchFamily="-84" charset="-128"/>
              </a:rPr>
              <a:t>Because today’s exchange rate moves with any change in expectations, the exchange rate will be volatile, i.e., move frequently and perhaps by large amounts.</a:t>
            </a:r>
            <a:endParaRPr lang="en-US" sz="2000" dirty="0">
              <a:ea typeface="ヒラギノ角ゴ Pro W3" pitchFamily="-84" charset="-128"/>
            </a:endParaRPr>
          </a:p>
          <a:p>
            <a:r>
              <a:rPr lang="en-US" sz="2200" dirty="0" smtClean="0">
                <a:ea typeface="ヒラギノ角ゴ Pro W3" pitchFamily="-84" charset="-128"/>
              </a:rPr>
              <a:t>A country that decides to operate under flexible exchange rates must accept the fact that it will be exposed to substantial exchange rate fluctuations over time.</a:t>
            </a:r>
          </a:p>
        </p:txBody>
      </p:sp>
    </p:spTree>
    <p:extLst>
      <p:ext uri="{BB962C8B-B14F-4D97-AF65-F5344CB8AC3E}">
        <p14:creationId xmlns="" xmlns:p14="http://schemas.microsoft.com/office/powerpoint/2010/main" val="2777716561"/>
      </p:ext>
    </p:extLst>
  </p:cSld>
  <p:clrMapOvr>
    <a:masterClrMapping/>
  </p:clrMapOvr>
  <p:transition>
    <p:strips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ea typeface="ヒラギノ角ゴ Pro W3" pitchFamily="-65" charset="-128"/>
              </a:rPr>
              <a:t>20-4 Choosing between Exchange Rates Regimes</a:t>
            </a:r>
          </a:p>
        </p:txBody>
      </p:sp>
      <p:sp>
        <p:nvSpPr>
          <p:cNvPr id="6" name="Content Placeholder 2"/>
          <p:cNvSpPr>
            <a:spLocks noGrp="1"/>
          </p:cNvSpPr>
          <p:nvPr>
            <p:ph idx="1"/>
          </p:nvPr>
        </p:nvSpPr>
        <p:spPr>
          <a:xfrm>
            <a:off x="381000" y="1295400"/>
            <a:ext cx="8153400" cy="5105400"/>
          </a:xfrm>
        </p:spPr>
        <p:txBody>
          <a:bodyPr/>
          <a:lstStyle/>
          <a:p>
            <a:r>
              <a:rPr lang="en-US" sz="2400" dirty="0" smtClean="0">
                <a:ea typeface="ヒラギノ角ゴ Pro W3" pitchFamily="-84" charset="-128"/>
              </a:rPr>
              <a:t>According to Robert </a:t>
            </a:r>
            <a:r>
              <a:rPr lang="en-US" sz="2400" dirty="0" err="1" smtClean="0">
                <a:ea typeface="ヒラギノ角ゴ Pro W3" pitchFamily="-84" charset="-128"/>
              </a:rPr>
              <a:t>Mundell</a:t>
            </a:r>
            <a:r>
              <a:rPr lang="en-US" sz="2400" dirty="0" smtClean="0">
                <a:ea typeface="ヒラギノ角ゴ Pro W3" pitchFamily="-84" charset="-128"/>
              </a:rPr>
              <a:t>, an </a:t>
            </a:r>
            <a:r>
              <a:rPr lang="en-US" sz="2400" b="1" dirty="0" smtClean="0">
                <a:ea typeface="ヒラギノ角ゴ Pro W3" pitchFamily="-84" charset="-128"/>
              </a:rPr>
              <a:t>optimal currency area </a:t>
            </a:r>
            <a:r>
              <a:rPr lang="en-US" sz="2400" dirty="0" smtClean="0">
                <a:ea typeface="ヒラギノ角ゴ Pro W3" pitchFamily="-84" charset="-128"/>
              </a:rPr>
              <a:t>needs to satisfy one of the two conditions</a:t>
            </a:r>
            <a:r>
              <a:rPr lang="en-US" sz="2200" dirty="0" smtClean="0">
                <a:ea typeface="ヒラギノ角ゴ Pro W3" pitchFamily="-84" charset="-128"/>
              </a:rPr>
              <a:t>:</a:t>
            </a:r>
          </a:p>
          <a:p>
            <a:pPr lvl="1"/>
            <a:r>
              <a:rPr lang="en-US" sz="2000" dirty="0" smtClean="0">
                <a:ea typeface="ヒラギノ角ゴ Pro W3" pitchFamily="-84" charset="-128"/>
              </a:rPr>
              <a:t>The countries have to experience similar shocks.</a:t>
            </a:r>
          </a:p>
          <a:p>
            <a:pPr lvl="1"/>
            <a:r>
              <a:rPr lang="en-US" sz="2000" dirty="0" smtClean="0">
                <a:ea typeface="ヒラギノ角ゴ Pro W3" pitchFamily="-84" charset="-128"/>
              </a:rPr>
              <a:t>If the countries experience different shocks, they must have high factor mobility.</a:t>
            </a:r>
          </a:p>
          <a:p>
            <a:pPr>
              <a:spcBef>
                <a:spcPts val="1200"/>
              </a:spcBef>
            </a:pPr>
            <a:r>
              <a:rPr lang="en-US" sz="2200" dirty="0" smtClean="0">
                <a:ea typeface="ヒラギノ角ゴ Pro W3" pitchFamily="-84" charset="-128"/>
              </a:rPr>
              <a:t>The common currency area composed of the 50 states of the United States is close to an optimal currency area, which has high factor mobility, although different states are affected by different shocks.</a:t>
            </a:r>
          </a:p>
        </p:txBody>
      </p:sp>
    </p:spTree>
    <p:extLst>
      <p:ext uri="{BB962C8B-B14F-4D97-AF65-F5344CB8AC3E}">
        <p14:creationId xmlns="" xmlns:p14="http://schemas.microsoft.com/office/powerpoint/2010/main" val="1388549435"/>
      </p:ext>
    </p:extLst>
  </p:cSld>
  <p:clrMapOvr>
    <a:masterClrMapping/>
  </p:clrMapOvr>
  <p:transition>
    <p:strips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ea typeface="ヒラギノ角ゴ Pro W3" pitchFamily="-65" charset="-128"/>
              </a:rPr>
              <a:t>20-4 Choosing between Exchange Rates Regimes</a:t>
            </a:r>
          </a:p>
        </p:txBody>
      </p:sp>
      <p:sp>
        <p:nvSpPr>
          <p:cNvPr id="6" name="Content Placeholder 2"/>
          <p:cNvSpPr>
            <a:spLocks noGrp="1"/>
          </p:cNvSpPr>
          <p:nvPr>
            <p:ph idx="1"/>
          </p:nvPr>
        </p:nvSpPr>
        <p:spPr>
          <a:xfrm>
            <a:off x="387927" y="2293504"/>
            <a:ext cx="8305800" cy="457200"/>
          </a:xfrm>
        </p:spPr>
        <p:txBody>
          <a:bodyPr/>
          <a:lstStyle/>
          <a:p>
            <a:pPr marL="0" indent="0">
              <a:buNone/>
            </a:pPr>
            <a:r>
              <a:rPr lang="en-US" sz="1800" b="1" dirty="0" smtClean="0">
                <a:ea typeface="ヒラギノ角ゴ Pro W3" pitchFamily="-84" charset="-128"/>
              </a:rPr>
              <a:t>Figure 20-1  </a:t>
            </a:r>
            <a:r>
              <a:rPr lang="en-US" sz="1800" dirty="0" smtClean="0">
                <a:ea typeface="ヒラギノ角ゴ Pro W3" pitchFamily="-84" charset="-128"/>
              </a:rPr>
              <a:t>The Evolution of the Real Exchange Rate in Spain since 2000</a:t>
            </a:r>
          </a:p>
        </p:txBody>
      </p:sp>
      <p:pic>
        <p:nvPicPr>
          <p:cNvPr id="3" name="Picture 2"/>
          <p:cNvPicPr>
            <a:picLocks noChangeAspect="1"/>
          </p:cNvPicPr>
          <p:nvPr/>
        </p:nvPicPr>
        <p:blipFill>
          <a:blip r:embed="rId2" cstate="print"/>
          <a:stretch>
            <a:fillRect/>
          </a:stretch>
        </p:blipFill>
        <p:spPr>
          <a:xfrm>
            <a:off x="2590800" y="2819400"/>
            <a:ext cx="5848350" cy="3409088"/>
          </a:xfrm>
          <a:prstGeom prst="rect">
            <a:avLst/>
          </a:prstGeom>
        </p:spPr>
      </p:pic>
      <p:sp>
        <p:nvSpPr>
          <p:cNvPr id="5" name="Content Placeholder 2"/>
          <p:cNvSpPr txBox="1">
            <a:spLocks/>
          </p:cNvSpPr>
          <p:nvPr/>
        </p:nvSpPr>
        <p:spPr bwMode="auto">
          <a:xfrm>
            <a:off x="457200" y="3581400"/>
            <a:ext cx="1752600" cy="26470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buFontTx/>
              <a:buNone/>
            </a:pPr>
            <a:r>
              <a:rPr lang="en-US" sz="1600" kern="0" dirty="0" smtClean="0">
                <a:ea typeface="ヒラギノ角ゴ Pro W3" pitchFamily="-84" charset="-128"/>
              </a:rPr>
              <a:t>A steady real appreciation from 2000 to 2008 has been followed by a long real depreciation since then.</a:t>
            </a:r>
          </a:p>
        </p:txBody>
      </p:sp>
      <p:sp>
        <p:nvSpPr>
          <p:cNvPr id="7" name="Content Placeholder 2"/>
          <p:cNvSpPr txBox="1">
            <a:spLocks/>
          </p:cNvSpPr>
          <p:nvPr/>
        </p:nvSpPr>
        <p:spPr bwMode="auto">
          <a:xfrm>
            <a:off x="381000" y="1252682"/>
            <a:ext cx="830580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r>
              <a:rPr lang="en-US" sz="2000" kern="0" dirty="0" smtClean="0">
                <a:ea typeface="ヒラギノ角ゴ Pro W3" pitchFamily="-84" charset="-128"/>
              </a:rPr>
              <a:t>There is less agreement on whether Europe constitutes an optimal currency area.</a:t>
            </a:r>
          </a:p>
        </p:txBody>
      </p:sp>
    </p:spTree>
    <p:extLst>
      <p:ext uri="{BB962C8B-B14F-4D97-AF65-F5344CB8AC3E}">
        <p14:creationId xmlns="" xmlns:p14="http://schemas.microsoft.com/office/powerpoint/2010/main" val="222178951"/>
      </p:ext>
    </p:extLst>
  </p:cSld>
  <p:clrMapOvr>
    <a:masterClrMapping/>
  </p:clrMapOvr>
  <p:transition>
    <p:strips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ea typeface="ヒラギノ角ゴ Pro W3" pitchFamily="-65" charset="-128"/>
              </a:rPr>
              <a:t>FOCUS: The Euro: A Short History</a:t>
            </a:r>
          </a:p>
        </p:txBody>
      </p:sp>
      <p:sp>
        <p:nvSpPr>
          <p:cNvPr id="6" name="Content Placeholder 2"/>
          <p:cNvSpPr>
            <a:spLocks noGrp="1"/>
          </p:cNvSpPr>
          <p:nvPr>
            <p:ph idx="1"/>
          </p:nvPr>
        </p:nvSpPr>
        <p:spPr>
          <a:xfrm>
            <a:off x="381000" y="1295400"/>
            <a:ext cx="8153400" cy="5105400"/>
          </a:xfrm>
        </p:spPr>
        <p:txBody>
          <a:bodyPr/>
          <a:lstStyle/>
          <a:p>
            <a:r>
              <a:rPr lang="en-US" sz="2400" dirty="0" smtClean="0">
                <a:ea typeface="ヒラギノ角ゴ Pro W3" pitchFamily="-84" charset="-128"/>
              </a:rPr>
              <a:t>Stages moving to a European Monetary Union (EMU):</a:t>
            </a:r>
          </a:p>
          <a:p>
            <a:pPr lvl="1"/>
            <a:r>
              <a:rPr lang="en-US" sz="2000" dirty="0" smtClean="0">
                <a:ea typeface="ヒラギノ角ゴ Pro W3" pitchFamily="-84" charset="-128"/>
              </a:rPr>
              <a:t>Stage I: Beginning in 1990, capital controls were abolished.</a:t>
            </a:r>
          </a:p>
          <a:p>
            <a:pPr lvl="1"/>
            <a:r>
              <a:rPr lang="en-US" sz="2000" dirty="0" smtClean="0">
                <a:ea typeface="ヒラギノ角ゴ Pro W3" pitchFamily="-84" charset="-128"/>
              </a:rPr>
              <a:t>Stage II: Beginning in 1994, fixed parities of the exchange rate were maintained.</a:t>
            </a:r>
          </a:p>
          <a:p>
            <a:pPr lvl="1"/>
            <a:r>
              <a:rPr lang="en-US" sz="2000" dirty="0" smtClean="0">
                <a:ea typeface="ヒラギノ角ゴ Pro W3" pitchFamily="-84" charset="-128"/>
              </a:rPr>
              <a:t>Stage III: Beginning in 1999, parities between the currencies and a common currency, the euro, were “irrevocably” fixed; the new </a:t>
            </a:r>
            <a:r>
              <a:rPr lang="en-US" sz="2000" b="1" dirty="0" smtClean="0">
                <a:ea typeface="ヒラギノ角ゴ Pro W3" pitchFamily="-84" charset="-128"/>
              </a:rPr>
              <a:t>European Central Bank </a:t>
            </a:r>
            <a:r>
              <a:rPr lang="en-US" sz="2000" dirty="0" smtClean="0">
                <a:ea typeface="ヒラギノ角ゴ Pro W3" pitchFamily="-84" charset="-128"/>
              </a:rPr>
              <a:t>(ECB) became responsible for monetary policy for the Euro area.</a:t>
            </a:r>
          </a:p>
        </p:txBody>
      </p:sp>
    </p:spTree>
    <p:extLst>
      <p:ext uri="{BB962C8B-B14F-4D97-AF65-F5344CB8AC3E}">
        <p14:creationId xmlns="" xmlns:p14="http://schemas.microsoft.com/office/powerpoint/2010/main" val="3449092783"/>
      </p:ext>
    </p:extLst>
  </p:cSld>
  <p:clrMapOvr>
    <a:masterClrMapping/>
  </p:clrMapOvr>
  <p:transition>
    <p:strips dir="l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ea typeface="ヒラギノ角ゴ Pro W3" pitchFamily="-65" charset="-128"/>
              </a:rPr>
              <a:t>20-4 Choosing between Exchange Rates Regimes</a:t>
            </a:r>
          </a:p>
        </p:txBody>
      </p:sp>
      <p:sp>
        <p:nvSpPr>
          <p:cNvPr id="6" name="Content Placeholder 2"/>
          <p:cNvSpPr>
            <a:spLocks noGrp="1"/>
          </p:cNvSpPr>
          <p:nvPr>
            <p:ph idx="1"/>
          </p:nvPr>
        </p:nvSpPr>
        <p:spPr>
          <a:xfrm>
            <a:off x="381000" y="1295400"/>
            <a:ext cx="8153400" cy="5105400"/>
          </a:xfrm>
        </p:spPr>
        <p:txBody>
          <a:bodyPr/>
          <a:lstStyle/>
          <a:p>
            <a:r>
              <a:rPr lang="en-US" sz="2400" dirty="0" smtClean="0">
                <a:ea typeface="ヒラギノ角ゴ Pro W3" pitchFamily="-84" charset="-128"/>
              </a:rPr>
              <a:t>Ways to fix the exchange rate and convince financial investors that the exchange rate is fixed today and also in the future:</a:t>
            </a:r>
          </a:p>
          <a:p>
            <a:pPr lvl="1"/>
            <a:r>
              <a:rPr lang="en-US" sz="2000" dirty="0" smtClean="0">
                <a:ea typeface="ヒラギノ角ゴ Pro W3" pitchFamily="-84" charset="-128"/>
              </a:rPr>
              <a:t>Make the fixed exchange rate be part of a more general macroeconomic package</a:t>
            </a:r>
            <a:endParaRPr lang="en-US" sz="2000" dirty="0">
              <a:ea typeface="ヒラギノ角ゴ Pro W3" pitchFamily="-84" charset="-128"/>
            </a:endParaRPr>
          </a:p>
          <a:p>
            <a:pPr lvl="1"/>
            <a:r>
              <a:rPr lang="en-US" sz="2000" dirty="0" smtClean="0">
                <a:ea typeface="ヒラギノ角ゴ Pro W3" pitchFamily="-84" charset="-128"/>
              </a:rPr>
              <a:t>Make a </a:t>
            </a:r>
            <a:r>
              <a:rPr lang="en-US" sz="2000" b="1" dirty="0" smtClean="0">
                <a:ea typeface="ヒラギノ角ゴ Pro W3" pitchFamily="-84" charset="-128"/>
              </a:rPr>
              <a:t>hard peg </a:t>
            </a:r>
            <a:r>
              <a:rPr lang="en-US" sz="2000" dirty="0" smtClean="0">
                <a:ea typeface="ヒラギノ角ゴ Pro W3" pitchFamily="-84" charset="-128"/>
              </a:rPr>
              <a:t>so that it is symbolically or technically harder to change the parity</a:t>
            </a:r>
          </a:p>
          <a:p>
            <a:pPr>
              <a:spcBef>
                <a:spcPts val="1200"/>
              </a:spcBef>
            </a:pPr>
            <a:r>
              <a:rPr lang="en-US" sz="2400" dirty="0" smtClean="0">
                <a:ea typeface="ヒラギノ角ゴ Pro W3" pitchFamily="-84" charset="-128"/>
              </a:rPr>
              <a:t>Examples of a hard peg:</a:t>
            </a:r>
          </a:p>
          <a:p>
            <a:pPr lvl="1"/>
            <a:r>
              <a:rPr lang="en-US" sz="2000" b="1" dirty="0" smtClean="0">
                <a:ea typeface="ヒラギノ角ゴ Pro W3" pitchFamily="-84" charset="-128"/>
              </a:rPr>
              <a:t>Dollarization</a:t>
            </a:r>
            <a:r>
              <a:rPr lang="en-US" sz="2000" dirty="0" smtClean="0">
                <a:ea typeface="ヒラギノ角ゴ Pro W3" pitchFamily="-84" charset="-128"/>
              </a:rPr>
              <a:t>: Replace the domestic currency with the dollar</a:t>
            </a:r>
          </a:p>
          <a:p>
            <a:pPr lvl="1"/>
            <a:r>
              <a:rPr lang="en-US" sz="2000" b="1" dirty="0" smtClean="0">
                <a:ea typeface="ヒラギノ角ゴ Pro W3" pitchFamily="-84" charset="-128"/>
              </a:rPr>
              <a:t>Currency board</a:t>
            </a:r>
            <a:r>
              <a:rPr lang="en-US" sz="2000" dirty="0" smtClean="0">
                <a:ea typeface="ヒラギノ角ゴ Pro W3" pitchFamily="-84" charset="-128"/>
              </a:rPr>
              <a:t>: A central bank stands ready to exchange foreign currency for domestic currency at the official exchange rate set  by the government</a:t>
            </a:r>
            <a:endParaRPr lang="en-US" dirty="0" smtClean="0">
              <a:ea typeface="ヒラギノ角ゴ Pro W3" pitchFamily="-84" charset="-128"/>
            </a:endParaRPr>
          </a:p>
        </p:txBody>
      </p:sp>
    </p:spTree>
    <p:extLst>
      <p:ext uri="{BB962C8B-B14F-4D97-AF65-F5344CB8AC3E}">
        <p14:creationId xmlns="" xmlns:p14="http://schemas.microsoft.com/office/powerpoint/2010/main" val="2048676654"/>
      </p:ext>
    </p:extLst>
  </p:cSld>
  <p:clrMapOvr>
    <a:masterClrMapping/>
  </p:clrMapOvr>
  <p:transition>
    <p:strips dir="l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ea typeface="ヒラギノ角ゴ Pro W3" pitchFamily="-65" charset="-128"/>
              </a:rPr>
              <a:t>FOCUS: Lessons from Argentina’s Currency Board</a:t>
            </a:r>
          </a:p>
        </p:txBody>
      </p:sp>
      <p:sp>
        <p:nvSpPr>
          <p:cNvPr id="6" name="Content Placeholder 2"/>
          <p:cNvSpPr>
            <a:spLocks noGrp="1"/>
          </p:cNvSpPr>
          <p:nvPr>
            <p:ph idx="1"/>
          </p:nvPr>
        </p:nvSpPr>
        <p:spPr>
          <a:xfrm>
            <a:off x="381000" y="1295400"/>
            <a:ext cx="8153400" cy="5105400"/>
          </a:xfrm>
        </p:spPr>
        <p:txBody>
          <a:bodyPr/>
          <a:lstStyle/>
          <a:p>
            <a:r>
              <a:rPr lang="en-US" sz="2200" dirty="0" smtClean="0">
                <a:ea typeface="ヒラギノ角ゴ Pro W3" pitchFamily="-84" charset="-128"/>
              </a:rPr>
              <a:t>In 1991, the Argentina’s president </a:t>
            </a:r>
            <a:r>
              <a:rPr lang="en-US" sz="2200" dirty="0">
                <a:ea typeface="ヒラギノ角ゴ Pro W3" pitchFamily="-84" charset="-128"/>
              </a:rPr>
              <a:t>of </a:t>
            </a:r>
            <a:r>
              <a:rPr lang="en-US" sz="2200" dirty="0" smtClean="0">
                <a:ea typeface="ヒラギノ角ゴ Pro W3" pitchFamily="-84" charset="-128"/>
              </a:rPr>
              <a:t>announced the adoption of a currency board that would stand ready to exchange its pesos for dollars on demand.</a:t>
            </a:r>
          </a:p>
          <a:p>
            <a:r>
              <a:rPr lang="en-US" sz="2200" dirty="0" smtClean="0">
                <a:ea typeface="ヒラギノ角ゴ Pro W3" pitchFamily="-84" charset="-128"/>
              </a:rPr>
              <a:t>The currency board appeared to work well for a while as inflation fell from 2,300% in 1990 to 4% in 1994.</a:t>
            </a:r>
          </a:p>
          <a:p>
            <a:r>
              <a:rPr lang="en-US" sz="2200" dirty="0" smtClean="0">
                <a:ea typeface="ヒラギノ角ゴ Pro W3" pitchFamily="-84" charset="-128"/>
              </a:rPr>
              <a:t>However, as appreciation of the dollar in the second half of the 1990s led to a decrease in demand for Argentina’s goods, leading to declines in output.  </a:t>
            </a:r>
          </a:p>
          <a:p>
            <a:r>
              <a:rPr lang="en-US" sz="2200" dirty="0" smtClean="0">
                <a:ea typeface="ヒラギノ角ゴ Pro W3" pitchFamily="-84" charset="-128"/>
              </a:rPr>
              <a:t>In early 2002, Argentina gave up the currency board and let the peso float.</a:t>
            </a:r>
          </a:p>
          <a:p>
            <a:endParaRPr lang="en-US" sz="2200" dirty="0" smtClean="0">
              <a:ea typeface="ヒラギノ角ゴ Pro W3" pitchFamily="-84" charset="-128"/>
            </a:endParaRPr>
          </a:p>
        </p:txBody>
      </p:sp>
    </p:spTree>
    <p:extLst>
      <p:ext uri="{BB962C8B-B14F-4D97-AF65-F5344CB8AC3E}">
        <p14:creationId xmlns="" xmlns:p14="http://schemas.microsoft.com/office/powerpoint/2010/main" val="1677134156"/>
      </p:ext>
    </p:extLst>
  </p:cSld>
  <p:clrMapOvr>
    <a:masterClrMapping/>
  </p:clrMapOvr>
  <p:transition>
    <p:strips dir="l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ea typeface="ヒラギノ角ゴ Pro W3" pitchFamily="-65" charset="-128"/>
              </a:rPr>
              <a:t>APPENDIX 1: Deriving the IS Relation under Fixed Exchange Rates</a:t>
            </a:r>
          </a:p>
        </p:txBody>
      </p:sp>
      <mc:AlternateContent xmlns:mc="http://schemas.openxmlformats.org/markup-compatibility/2006">
        <mc:Choice xmlns="" xmlns:a14="http://schemas.microsoft.com/office/drawing/2010/main" Requires="a14">
          <p:sp>
            <p:nvSpPr>
              <p:cNvPr id="6" name="Content Placeholder 2"/>
              <p:cNvSpPr>
                <a:spLocks noGrp="1"/>
              </p:cNvSpPr>
              <p:nvPr>
                <p:ph idx="1"/>
              </p:nvPr>
            </p:nvSpPr>
            <p:spPr>
              <a:xfrm>
                <a:off x="381000" y="1295400"/>
                <a:ext cx="8153400" cy="5105400"/>
              </a:xfrm>
            </p:spPr>
            <p:txBody>
              <a:bodyPr/>
              <a:lstStyle/>
              <a:p>
                <a:r>
                  <a:rPr lang="en-US" sz="2200" dirty="0" smtClean="0">
                    <a:ea typeface="ヒラギノ角ゴ Pro W3" pitchFamily="-84" charset="-128"/>
                  </a:rPr>
                  <a:t>Goods-market equilibrium in equation (19.1):</a:t>
                </a:r>
              </a:p>
              <a:p>
                <a:endParaRPr lang="en-US" sz="2200" dirty="0">
                  <a:ea typeface="ヒラギノ角ゴ Pro W3" pitchFamily="-84" charset="-128"/>
                </a:endParaRPr>
              </a:p>
              <a:p>
                <a:endParaRPr lang="en-US" sz="2200" dirty="0" smtClean="0">
                  <a:ea typeface="ヒラギノ角ゴ Pro W3" pitchFamily="-84" charset="-128"/>
                </a:endParaRPr>
              </a:p>
              <a:p>
                <a:r>
                  <a:rPr lang="en-US" sz="2200" dirty="0" smtClean="0">
                    <a:ea typeface="ヒラギノ角ゴ Pro W3" pitchFamily="-84" charset="-128"/>
                  </a:rPr>
                  <a:t>Given the notion of the real interest rate (Chapter 14), real exchange rate (Chapter 17), then under a fixed nominal exchange rate </a:t>
                </a:r>
                <a14:m>
                  <m:oMath xmlns:m="http://schemas.openxmlformats.org/officeDocument/2006/math">
                    <m:acc>
                      <m:accPr>
                        <m:chr m:val="̅"/>
                        <m:ctrlPr>
                          <a:rPr lang="en-US" sz="2200" i="1" smtClean="0">
                            <a:latin typeface="Cambria Math" charset="0"/>
                            <a:ea typeface="ヒラギノ角ゴ Pro W3" pitchFamily="-84" charset="-128"/>
                          </a:rPr>
                        </m:ctrlPr>
                      </m:accPr>
                      <m:e>
                        <m:r>
                          <a:rPr lang="en-US" sz="2200" b="0" i="1" smtClean="0">
                            <a:latin typeface="Cambria Math" panose="02040503050406030204" pitchFamily="18" charset="0"/>
                            <a:ea typeface="ヒラギノ角ゴ Pro W3" pitchFamily="-84" charset="-128"/>
                          </a:rPr>
                          <m:t>𝐸</m:t>
                        </m:r>
                      </m:e>
                    </m:acc>
                  </m:oMath>
                </a14:m>
                <a:r>
                  <a:rPr lang="en-US" sz="2200" dirty="0" smtClean="0">
                    <a:ea typeface="ヒラギノ角ゴ Pro W3" pitchFamily="-84" charset="-128"/>
                  </a:rPr>
                  <a:t> with perfect capital mobility, the domestic interest rate </a:t>
                </a:r>
                <a:r>
                  <a:rPr lang="en-US" sz="2200" i="1" dirty="0" err="1">
                    <a:latin typeface="Times New Roman" panose="02020603050405020304" pitchFamily="18" charset="0"/>
                    <a:ea typeface="ヒラギノ角ゴ Pro W3" pitchFamily="-84" charset="-128"/>
                    <a:cs typeface="Times New Roman" panose="02020603050405020304" pitchFamily="18" charset="0"/>
                  </a:rPr>
                  <a:t>i</a:t>
                </a:r>
                <a:r>
                  <a:rPr lang="en-US" sz="2200" dirty="0" smtClean="0">
                    <a:ea typeface="ヒラギノ角ゴ Pro W3" pitchFamily="-84" charset="-128"/>
                  </a:rPr>
                  <a:t> must be equal to the foreign interest rate </a:t>
                </a:r>
                <a:r>
                  <a:rPr lang="en-US" sz="2200" i="1" dirty="0" err="1" smtClean="0">
                    <a:latin typeface="Times New Roman" panose="02020603050405020304" pitchFamily="18" charset="0"/>
                    <a:ea typeface="ヒラギノ角ゴ Pro W3" pitchFamily="-84" charset="-128"/>
                    <a:cs typeface="Times New Roman" panose="02020603050405020304" pitchFamily="18" charset="0"/>
                  </a:rPr>
                  <a:t>i</a:t>
                </a:r>
                <a:r>
                  <a:rPr lang="en-US" sz="2200" i="1" dirty="0" smtClean="0">
                    <a:latin typeface="Times New Roman" panose="02020603050405020304" pitchFamily="18" charset="0"/>
                    <a:ea typeface="ヒラギノ角ゴ Pro W3" pitchFamily="-84" charset="-128"/>
                    <a:cs typeface="Times New Roman" panose="02020603050405020304" pitchFamily="18" charset="0"/>
                  </a:rPr>
                  <a:t>*</a:t>
                </a:r>
                <a:r>
                  <a:rPr lang="en-US" sz="2200" dirty="0" smtClean="0">
                    <a:ea typeface="ヒラギノ角ゴ Pro W3" pitchFamily="-84" charset="-128"/>
                  </a:rPr>
                  <a:t>, then the above equation can be expressed as:</a:t>
                </a:r>
              </a:p>
              <a:p>
                <a:endParaRPr lang="en-US" sz="2200" dirty="0">
                  <a:ea typeface="ヒラギノ角ゴ Pro W3" pitchFamily="-84" charset="-128"/>
                </a:endParaRPr>
              </a:p>
              <a:p>
                <a:endParaRPr lang="en-US" sz="2200" dirty="0" smtClean="0">
                  <a:ea typeface="ヒラギノ角ゴ Pro W3" pitchFamily="-84" charset="-128"/>
                </a:endParaRPr>
              </a:p>
              <a:p>
                <a:pPr marL="0" indent="0">
                  <a:buNone/>
                </a:pPr>
                <a:r>
                  <a:rPr lang="en-US" sz="2200" dirty="0" smtClean="0">
                    <a:ea typeface="ヒラギノ角ゴ Pro W3" pitchFamily="-84" charset="-128"/>
                  </a:rPr>
                  <a:t>   which can be written as equation (20.1) in the text.</a:t>
                </a:r>
              </a:p>
              <a:p>
                <a:endParaRPr lang="en-US" sz="2200" dirty="0" smtClean="0">
                  <a:ea typeface="ヒラギノ角ゴ Pro W3" pitchFamily="-84" charset="-128"/>
                </a:endParaRPr>
              </a:p>
            </p:txBody>
          </p:sp>
        </mc:Choice>
        <mc:Fallback>
          <p:sp>
            <p:nvSpPr>
              <p:cNvPr id="6" name="Content Placeholder 2"/>
              <p:cNvSpPr>
                <a:spLocks noGrp="1" noRot="1" noChangeAspect="1" noMove="1" noResize="1" noEditPoints="1" noAdjustHandles="1" noChangeArrowheads="1" noChangeShapeType="1" noTextEdit="1"/>
              </p:cNvSpPr>
              <p:nvPr>
                <p:ph idx="1"/>
              </p:nvPr>
            </p:nvSpPr>
            <p:spPr>
              <a:xfrm>
                <a:off x="381000" y="1295400"/>
                <a:ext cx="8153400" cy="5105400"/>
              </a:xfrm>
              <a:blipFill rotWithShape="0">
                <a:blip r:embed="rId2" cstate="print"/>
                <a:stretch>
                  <a:fillRect l="-2169" t="-1792" r="-3067"/>
                </a:stretch>
              </a:blipFill>
            </p:spPr>
            <p:txBody>
              <a:bodyPr/>
              <a:lstStyle/>
              <a:p>
                <a:r>
                  <a:rPr lang="en-US">
                    <a:noFill/>
                  </a:rPr>
                  <a:t> </a:t>
                </a:r>
              </a:p>
            </p:txBody>
          </p:sp>
        </mc:Fallback>
      </mc:AlternateContent>
      <p:pic>
        <p:nvPicPr>
          <p:cNvPr id="3" name="Picture 2"/>
          <p:cNvPicPr>
            <a:picLocks noChangeAspect="1"/>
          </p:cNvPicPr>
          <p:nvPr/>
        </p:nvPicPr>
        <p:blipFill>
          <a:blip r:embed="rId3" cstate="print"/>
          <a:stretch>
            <a:fillRect/>
          </a:stretch>
        </p:blipFill>
        <p:spPr>
          <a:xfrm>
            <a:off x="1905000" y="1905000"/>
            <a:ext cx="5210175" cy="371475"/>
          </a:xfrm>
          <a:prstGeom prst="rect">
            <a:avLst/>
          </a:prstGeom>
        </p:spPr>
      </p:pic>
      <p:pic>
        <p:nvPicPr>
          <p:cNvPr id="5" name="Picture 4"/>
          <p:cNvPicPr>
            <a:picLocks noChangeAspect="1"/>
          </p:cNvPicPr>
          <p:nvPr/>
        </p:nvPicPr>
        <p:blipFill>
          <a:blip r:embed="rId4" cstate="print"/>
          <a:stretch>
            <a:fillRect/>
          </a:stretch>
        </p:blipFill>
        <p:spPr>
          <a:xfrm>
            <a:off x="1471612" y="4572000"/>
            <a:ext cx="6276975" cy="733425"/>
          </a:xfrm>
          <a:prstGeom prst="rect">
            <a:avLst/>
          </a:prstGeom>
        </p:spPr>
      </p:pic>
    </p:spTree>
    <p:extLst>
      <p:ext uri="{BB962C8B-B14F-4D97-AF65-F5344CB8AC3E}">
        <p14:creationId xmlns="" xmlns:p14="http://schemas.microsoft.com/office/powerpoint/2010/main" val="1893006427"/>
      </p:ext>
    </p:extLst>
  </p:cSld>
  <p:clrMapOvr>
    <a:masterClrMapping/>
  </p:clrMapOvr>
  <p:transition>
    <p:strips dir="l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ea typeface="ヒラギノ角ゴ Pro W3" pitchFamily="-65" charset="-128"/>
              </a:rPr>
              <a:t>APPENDIX 2: The Real Exchange Rate and Domestic and Foreign Real Interest Rates</a:t>
            </a:r>
          </a:p>
        </p:txBody>
      </p:sp>
      <p:sp>
        <p:nvSpPr>
          <p:cNvPr id="6" name="Content Placeholder 2"/>
          <p:cNvSpPr>
            <a:spLocks noGrp="1"/>
          </p:cNvSpPr>
          <p:nvPr>
            <p:ph idx="1"/>
          </p:nvPr>
        </p:nvSpPr>
        <p:spPr>
          <a:xfrm>
            <a:off x="381000" y="1295400"/>
            <a:ext cx="8153400" cy="5105400"/>
          </a:xfrm>
        </p:spPr>
        <p:txBody>
          <a:bodyPr/>
          <a:lstStyle/>
          <a:p>
            <a:r>
              <a:rPr lang="en-US" sz="2200" dirty="0" smtClean="0">
                <a:ea typeface="ヒラギノ角ゴ Pro W3" pitchFamily="-84" charset="-128"/>
              </a:rPr>
              <a:t>Recall the nominal interest rate parity condition of equation (19.2)</a:t>
            </a:r>
          </a:p>
          <a:p>
            <a:endParaRPr lang="en-US" sz="2200" dirty="0" smtClean="0">
              <a:ea typeface="ヒラギノ角ゴ Pro W3" pitchFamily="-84" charset="-128"/>
            </a:endParaRPr>
          </a:p>
          <a:p>
            <a:endParaRPr lang="en-US" sz="2200" dirty="0">
              <a:ea typeface="ヒラギノ角ゴ Pro W3" pitchFamily="-84" charset="-128"/>
            </a:endParaRPr>
          </a:p>
          <a:p>
            <a:r>
              <a:rPr lang="en-US" sz="2200" dirty="0" smtClean="0">
                <a:ea typeface="ヒラギノ角ゴ Pro W3" pitchFamily="-84" charset="-128"/>
              </a:rPr>
              <a:t>and the real interest rate of equation (6.3):</a:t>
            </a:r>
          </a:p>
          <a:p>
            <a:endParaRPr lang="en-US" sz="2200" dirty="0">
              <a:ea typeface="ヒラギノ角ゴ Pro W3" pitchFamily="-84" charset="-128"/>
            </a:endParaRPr>
          </a:p>
          <a:p>
            <a:endParaRPr lang="en-US" sz="2200" dirty="0" smtClean="0">
              <a:ea typeface="ヒラギノ角ゴ Pro W3" pitchFamily="-84" charset="-128"/>
            </a:endParaRPr>
          </a:p>
          <a:p>
            <a:r>
              <a:rPr lang="en-US" sz="2200" dirty="0" smtClean="0">
                <a:ea typeface="ヒラギノ角ゴ Pro W3" pitchFamily="-84" charset="-128"/>
              </a:rPr>
              <a:t>Use this relation to eliminate the domestic nominal interest rate (</a:t>
            </a:r>
            <a:r>
              <a:rPr lang="en-US" sz="2200" i="1" dirty="0" err="1">
                <a:latin typeface="Times New Roman" panose="02020603050405020304" pitchFamily="18" charset="0"/>
                <a:ea typeface="ヒラギノ角ゴ Pro W3" pitchFamily="-84" charset="-128"/>
                <a:cs typeface="Times New Roman" panose="02020603050405020304" pitchFamily="18" charset="0"/>
              </a:rPr>
              <a:t>i</a:t>
            </a:r>
            <a:r>
              <a:rPr lang="en-US" sz="2200" dirty="0" smtClean="0">
                <a:ea typeface="ヒラギノ角ゴ Pro W3" pitchFamily="-84" charset="-128"/>
              </a:rPr>
              <a:t>) and foreign nominal interest rate (</a:t>
            </a:r>
            <a:r>
              <a:rPr lang="en-US" sz="2200" i="1" dirty="0" err="1" smtClean="0">
                <a:latin typeface="Times New Roman" panose="02020603050405020304" pitchFamily="18" charset="0"/>
                <a:ea typeface="ヒラギノ角ゴ Pro W3" pitchFamily="-84" charset="-128"/>
                <a:cs typeface="Times New Roman" panose="02020603050405020304" pitchFamily="18" charset="0"/>
              </a:rPr>
              <a:t>i</a:t>
            </a:r>
            <a:r>
              <a:rPr lang="en-US" sz="2200" i="1" dirty="0" smtClean="0">
                <a:latin typeface="Times New Roman" panose="02020603050405020304" pitchFamily="18" charset="0"/>
                <a:ea typeface="ヒラギノ角ゴ Pro W3" pitchFamily="-84" charset="-128"/>
                <a:cs typeface="Times New Roman" panose="02020603050405020304" pitchFamily="18" charset="0"/>
              </a:rPr>
              <a:t>*</a:t>
            </a:r>
            <a:r>
              <a:rPr lang="en-US" sz="2200" dirty="0" smtClean="0">
                <a:ea typeface="ヒラギノ角ゴ Pro W3" pitchFamily="-84" charset="-128"/>
              </a:rPr>
              <a:t>) in the interest parity condition:</a:t>
            </a:r>
          </a:p>
          <a:p>
            <a:endParaRPr lang="en-US" sz="2200" dirty="0">
              <a:ea typeface="ヒラギノ角ゴ Pro W3" pitchFamily="-84" charset="-128"/>
            </a:endParaRPr>
          </a:p>
          <a:p>
            <a:endParaRPr lang="en-US" sz="2200" dirty="0" smtClean="0">
              <a:ea typeface="ヒラギノ角ゴ Pro W3" pitchFamily="-84" charset="-128"/>
            </a:endParaRPr>
          </a:p>
          <a:p>
            <a:endParaRPr lang="en-US" sz="2200" dirty="0" smtClean="0">
              <a:ea typeface="ヒラギノ角ゴ Pro W3" pitchFamily="-84" charset="-128"/>
            </a:endParaRPr>
          </a:p>
          <a:p>
            <a:endParaRPr lang="en-US" sz="2200" dirty="0" smtClean="0">
              <a:ea typeface="ヒラギノ角ゴ Pro W3" pitchFamily="-84" charset="-128"/>
            </a:endParaRPr>
          </a:p>
        </p:txBody>
      </p:sp>
      <p:pic>
        <p:nvPicPr>
          <p:cNvPr id="3" name="Picture 2"/>
          <p:cNvPicPr>
            <a:picLocks noChangeAspect="1"/>
          </p:cNvPicPr>
          <p:nvPr/>
        </p:nvPicPr>
        <p:blipFill>
          <a:blip r:embed="rId2" cstate="print"/>
          <a:stretch>
            <a:fillRect/>
          </a:stretch>
        </p:blipFill>
        <p:spPr>
          <a:xfrm>
            <a:off x="2895600" y="2090737"/>
            <a:ext cx="2924175" cy="714375"/>
          </a:xfrm>
          <a:prstGeom prst="rect">
            <a:avLst/>
          </a:prstGeom>
        </p:spPr>
      </p:pic>
      <p:pic>
        <p:nvPicPr>
          <p:cNvPr id="4" name="Picture 3"/>
          <p:cNvPicPr>
            <a:picLocks noChangeAspect="1"/>
          </p:cNvPicPr>
          <p:nvPr/>
        </p:nvPicPr>
        <p:blipFill>
          <a:blip r:embed="rId3" cstate="print"/>
          <a:stretch>
            <a:fillRect/>
          </a:stretch>
        </p:blipFill>
        <p:spPr>
          <a:xfrm>
            <a:off x="2438400" y="3276600"/>
            <a:ext cx="2790825" cy="723900"/>
          </a:xfrm>
          <a:prstGeom prst="rect">
            <a:avLst/>
          </a:prstGeom>
        </p:spPr>
      </p:pic>
      <p:pic>
        <p:nvPicPr>
          <p:cNvPr id="5" name="Picture 4"/>
          <p:cNvPicPr>
            <a:picLocks noChangeAspect="1"/>
          </p:cNvPicPr>
          <p:nvPr/>
        </p:nvPicPr>
        <p:blipFill>
          <a:blip r:embed="rId4" cstate="print"/>
          <a:stretch>
            <a:fillRect/>
          </a:stretch>
        </p:blipFill>
        <p:spPr>
          <a:xfrm>
            <a:off x="2286000" y="5181600"/>
            <a:ext cx="6286500" cy="800100"/>
          </a:xfrm>
          <a:prstGeom prst="rect">
            <a:avLst/>
          </a:prstGeom>
        </p:spPr>
      </p:pic>
    </p:spTree>
    <p:extLst>
      <p:ext uri="{BB962C8B-B14F-4D97-AF65-F5344CB8AC3E}">
        <p14:creationId xmlns="" xmlns:p14="http://schemas.microsoft.com/office/powerpoint/2010/main" val="2840782455"/>
      </p:ext>
    </p:extLst>
  </p:cSld>
  <p:clrMapOvr>
    <a:masterClrMapping/>
  </p:clrMapOvr>
  <p:transition>
    <p:strips dir="l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ea typeface="ヒラギノ角ゴ Pro W3" pitchFamily="-65" charset="-128"/>
              </a:rPr>
              <a:t>APPENDIX 2: The Real Exchange Rate and Domestic and Foreign Real Interest Rates</a:t>
            </a:r>
          </a:p>
        </p:txBody>
      </p:sp>
      <p:sp>
        <p:nvSpPr>
          <p:cNvPr id="6" name="Content Placeholder 2"/>
          <p:cNvSpPr>
            <a:spLocks noGrp="1"/>
          </p:cNvSpPr>
          <p:nvPr>
            <p:ph idx="1"/>
          </p:nvPr>
        </p:nvSpPr>
        <p:spPr>
          <a:xfrm>
            <a:off x="381000" y="1295400"/>
            <a:ext cx="8153400" cy="5105400"/>
          </a:xfrm>
        </p:spPr>
        <p:txBody>
          <a:bodyPr/>
          <a:lstStyle/>
          <a:p>
            <a:r>
              <a:rPr lang="en-US" sz="2200" dirty="0" smtClean="0">
                <a:ea typeface="ヒラギノ角ゴ Pro W3" pitchFamily="-84" charset="-128"/>
              </a:rPr>
              <a:t>Replace the definition of the real exchange rate:</a:t>
            </a:r>
          </a:p>
          <a:p>
            <a:endParaRPr lang="en-US" sz="2200" dirty="0">
              <a:ea typeface="ヒラギノ角ゴ Pro W3" pitchFamily="-84" charset="-128"/>
            </a:endParaRPr>
          </a:p>
          <a:p>
            <a:endParaRPr lang="en-US" sz="2200" dirty="0" smtClean="0">
              <a:ea typeface="ヒラギノ角ゴ Pro W3" pitchFamily="-84" charset="-128"/>
            </a:endParaRPr>
          </a:p>
          <a:p>
            <a:pPr marL="347663" indent="0">
              <a:buNone/>
            </a:pPr>
            <a:r>
              <a:rPr lang="en-US" sz="2200" dirty="0" smtClean="0">
                <a:ea typeface="ヒラギノ角ゴ Pro W3" pitchFamily="-84" charset="-128"/>
              </a:rPr>
              <a:t>in equation (20.A1) gives the real interest rate parity condition:</a:t>
            </a:r>
          </a:p>
          <a:p>
            <a:pPr marL="347663" indent="0"/>
            <a:endParaRPr lang="en-US" sz="2200" dirty="0" smtClean="0">
              <a:ea typeface="ヒラギノ角ゴ Pro W3" pitchFamily="-84" charset="-128"/>
            </a:endParaRPr>
          </a:p>
          <a:p>
            <a:pPr marL="347663" indent="0"/>
            <a:endParaRPr lang="en-US" sz="2200" dirty="0">
              <a:ea typeface="ヒラギノ角ゴ Pro W3" pitchFamily="-84" charset="-128"/>
            </a:endParaRPr>
          </a:p>
          <a:p>
            <a:pPr marL="347663" indent="0">
              <a:buNone/>
            </a:pPr>
            <a:r>
              <a:rPr lang="en-US" sz="2200" dirty="0" smtClean="0">
                <a:ea typeface="ヒラギノ角ゴ Pro W3" pitchFamily="-84" charset="-128"/>
              </a:rPr>
              <a:t>or, equivalently,</a:t>
            </a:r>
          </a:p>
          <a:p>
            <a:endParaRPr lang="en-US" sz="2200" dirty="0">
              <a:ea typeface="ヒラギノ角ゴ Pro W3" pitchFamily="-84" charset="-128"/>
            </a:endParaRPr>
          </a:p>
        </p:txBody>
      </p:sp>
      <p:pic>
        <p:nvPicPr>
          <p:cNvPr id="3" name="Picture 2"/>
          <p:cNvPicPr>
            <a:picLocks noChangeAspect="1"/>
          </p:cNvPicPr>
          <p:nvPr/>
        </p:nvPicPr>
        <p:blipFill>
          <a:blip r:embed="rId2" cstate="print"/>
          <a:stretch>
            <a:fillRect/>
          </a:stretch>
        </p:blipFill>
        <p:spPr>
          <a:xfrm>
            <a:off x="2819400" y="1676400"/>
            <a:ext cx="2695575" cy="742950"/>
          </a:xfrm>
          <a:prstGeom prst="rect">
            <a:avLst/>
          </a:prstGeom>
        </p:spPr>
      </p:pic>
      <p:pic>
        <p:nvPicPr>
          <p:cNvPr id="4" name="Picture 3"/>
          <p:cNvPicPr>
            <a:picLocks noChangeAspect="1"/>
          </p:cNvPicPr>
          <p:nvPr/>
        </p:nvPicPr>
        <p:blipFill>
          <a:blip r:embed="rId3" cstate="print"/>
          <a:stretch>
            <a:fillRect/>
          </a:stretch>
        </p:blipFill>
        <p:spPr>
          <a:xfrm>
            <a:off x="2895600" y="3352800"/>
            <a:ext cx="2952750" cy="638175"/>
          </a:xfrm>
          <a:prstGeom prst="rect">
            <a:avLst/>
          </a:prstGeom>
        </p:spPr>
      </p:pic>
      <p:pic>
        <p:nvPicPr>
          <p:cNvPr id="5" name="Picture 4"/>
          <p:cNvPicPr>
            <a:picLocks noChangeAspect="1"/>
          </p:cNvPicPr>
          <p:nvPr/>
        </p:nvPicPr>
        <p:blipFill>
          <a:blip r:embed="rId4" cstate="print"/>
          <a:stretch>
            <a:fillRect/>
          </a:stretch>
        </p:blipFill>
        <p:spPr>
          <a:xfrm>
            <a:off x="2836333" y="4852987"/>
            <a:ext cx="5724525" cy="685800"/>
          </a:xfrm>
          <a:prstGeom prst="rect">
            <a:avLst/>
          </a:prstGeom>
        </p:spPr>
      </p:pic>
    </p:spTree>
    <p:extLst>
      <p:ext uri="{BB962C8B-B14F-4D97-AF65-F5344CB8AC3E}">
        <p14:creationId xmlns="" xmlns:p14="http://schemas.microsoft.com/office/powerpoint/2010/main" val="1518123710"/>
      </p:ext>
    </p:extLst>
  </p:cSld>
  <p:clrMapOvr>
    <a:masterClrMapping/>
  </p:clrMapOvr>
  <p:transition>
    <p:strips dir="l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ea typeface="ヒラギノ角ゴ Pro W3" pitchFamily="-65" charset="-128"/>
              </a:rPr>
              <a:t>APPENDIX 2: The Real Exchange Rate and Domestic and Foreign Real Interest Rates</a:t>
            </a:r>
          </a:p>
        </p:txBody>
      </p:sp>
      <p:sp>
        <p:nvSpPr>
          <p:cNvPr id="6" name="Content Placeholder 2"/>
          <p:cNvSpPr>
            <a:spLocks noGrp="1"/>
          </p:cNvSpPr>
          <p:nvPr>
            <p:ph idx="1"/>
          </p:nvPr>
        </p:nvSpPr>
        <p:spPr>
          <a:xfrm>
            <a:off x="381000" y="1295400"/>
            <a:ext cx="8153400" cy="5105400"/>
          </a:xfrm>
        </p:spPr>
        <p:txBody>
          <a:bodyPr/>
          <a:lstStyle/>
          <a:p>
            <a:r>
              <a:rPr lang="en-US" sz="2200" dirty="0" smtClean="0">
                <a:ea typeface="ヒラギノ角ゴ Pro W3" pitchFamily="-84" charset="-128"/>
              </a:rPr>
              <a:t>Equation (20.A2) implies that the real exchange rate in year </a:t>
            </a:r>
            <a:r>
              <a:rPr lang="en-US" sz="2200" i="1" dirty="0" smtClean="0">
                <a:ea typeface="ヒラギノ角ゴ Pro W3" pitchFamily="-84" charset="-128"/>
              </a:rPr>
              <a:t>t</a:t>
            </a:r>
            <a:r>
              <a:rPr lang="en-US" sz="2200" dirty="0" smtClean="0">
                <a:ea typeface="ヒラギノ角ゴ Pro W3" pitchFamily="-84" charset="-128"/>
              </a:rPr>
              <a:t> + 1 is given by:</a:t>
            </a:r>
          </a:p>
          <a:p>
            <a:endParaRPr lang="en-US" sz="2200" dirty="0">
              <a:ea typeface="ヒラギノ角ゴ Pro W3" pitchFamily="-84" charset="-128"/>
            </a:endParaRPr>
          </a:p>
          <a:p>
            <a:endParaRPr lang="en-US" sz="2200" dirty="0" smtClean="0">
              <a:ea typeface="ヒラギノ角ゴ Pro W3" pitchFamily="-84" charset="-128"/>
            </a:endParaRPr>
          </a:p>
          <a:p>
            <a:r>
              <a:rPr lang="en-US" sz="2200" dirty="0" smtClean="0">
                <a:ea typeface="ヒラギノ角ゴ Pro W3" pitchFamily="-84" charset="-128"/>
              </a:rPr>
              <a:t>Take expectations as of year </a:t>
            </a:r>
            <a:r>
              <a:rPr lang="en-US" sz="2200" i="1" dirty="0" smtClean="0">
                <a:ea typeface="ヒラギノ角ゴ Pro W3" pitchFamily="-84" charset="-128"/>
              </a:rPr>
              <a:t>t</a:t>
            </a:r>
            <a:r>
              <a:rPr lang="en-US" sz="2200" dirty="0" smtClean="0">
                <a:ea typeface="ヒラギノ角ゴ Pro W3" pitchFamily="-84" charset="-128"/>
              </a:rPr>
              <a:t>:</a:t>
            </a:r>
          </a:p>
          <a:p>
            <a:endParaRPr lang="en-US" sz="2200" dirty="0" smtClean="0">
              <a:ea typeface="ヒラギノ角ゴ Pro W3" pitchFamily="-84" charset="-128"/>
            </a:endParaRPr>
          </a:p>
          <a:p>
            <a:endParaRPr lang="en-US" sz="2200" dirty="0" smtClean="0">
              <a:ea typeface="ヒラギノ角ゴ Pro W3" pitchFamily="-84" charset="-128"/>
            </a:endParaRPr>
          </a:p>
          <a:p>
            <a:r>
              <a:rPr lang="en-US" sz="2200" dirty="0" smtClean="0">
                <a:ea typeface="ヒラギノ角ゴ Pro W3" pitchFamily="-84" charset="-128"/>
              </a:rPr>
              <a:t>Solving for       and so on gives a function of current and expected future domestic and foreign real interest rates and of the expected real exchange rate in year </a:t>
            </a:r>
            <a:r>
              <a:rPr lang="en-US" sz="2200" i="1" dirty="0" err="1" smtClean="0">
                <a:ea typeface="ヒラギノ角ゴ Pro W3" pitchFamily="-84" charset="-128"/>
              </a:rPr>
              <a:t>t+n</a:t>
            </a:r>
            <a:r>
              <a:rPr lang="en-US" sz="2200" dirty="0" smtClean="0">
                <a:ea typeface="ヒラギノ角ゴ Pro W3" pitchFamily="-84" charset="-128"/>
              </a:rPr>
              <a:t>:</a:t>
            </a:r>
            <a:endParaRPr lang="en-US" sz="2200" dirty="0">
              <a:ea typeface="ヒラギノ角ゴ Pro W3" pitchFamily="-84" charset="-128"/>
            </a:endParaRPr>
          </a:p>
        </p:txBody>
      </p:sp>
      <p:pic>
        <p:nvPicPr>
          <p:cNvPr id="7" name="Picture 6"/>
          <p:cNvPicPr>
            <a:picLocks noChangeAspect="1"/>
          </p:cNvPicPr>
          <p:nvPr/>
        </p:nvPicPr>
        <p:blipFill>
          <a:blip r:embed="rId2" cstate="print"/>
          <a:stretch>
            <a:fillRect/>
          </a:stretch>
        </p:blipFill>
        <p:spPr>
          <a:xfrm>
            <a:off x="2590799" y="1987020"/>
            <a:ext cx="2667000" cy="723900"/>
          </a:xfrm>
          <a:prstGeom prst="rect">
            <a:avLst/>
          </a:prstGeom>
        </p:spPr>
      </p:pic>
      <p:pic>
        <p:nvPicPr>
          <p:cNvPr id="8" name="Picture 7"/>
          <p:cNvPicPr>
            <a:picLocks noChangeAspect="1"/>
          </p:cNvPicPr>
          <p:nvPr/>
        </p:nvPicPr>
        <p:blipFill>
          <a:blip r:embed="rId3" cstate="print"/>
          <a:stretch>
            <a:fillRect/>
          </a:stretch>
        </p:blipFill>
        <p:spPr>
          <a:xfrm>
            <a:off x="2438400" y="3225010"/>
            <a:ext cx="2628900" cy="742950"/>
          </a:xfrm>
          <a:prstGeom prst="rect">
            <a:avLst/>
          </a:prstGeom>
        </p:spPr>
      </p:pic>
      <p:pic>
        <p:nvPicPr>
          <p:cNvPr id="9" name="Picture 8"/>
          <p:cNvPicPr>
            <a:picLocks noChangeAspect="1"/>
          </p:cNvPicPr>
          <p:nvPr/>
        </p:nvPicPr>
        <p:blipFill>
          <a:blip r:embed="rId4" cstate="print"/>
          <a:stretch>
            <a:fillRect/>
          </a:stretch>
        </p:blipFill>
        <p:spPr>
          <a:xfrm>
            <a:off x="2319336" y="4068765"/>
            <a:ext cx="542925" cy="314325"/>
          </a:xfrm>
          <a:prstGeom prst="rect">
            <a:avLst/>
          </a:prstGeom>
        </p:spPr>
      </p:pic>
      <p:pic>
        <p:nvPicPr>
          <p:cNvPr id="10" name="Picture 9"/>
          <p:cNvPicPr>
            <a:picLocks noChangeAspect="1"/>
          </p:cNvPicPr>
          <p:nvPr/>
        </p:nvPicPr>
        <p:blipFill>
          <a:blip r:embed="rId5" cstate="print"/>
          <a:stretch>
            <a:fillRect/>
          </a:stretch>
        </p:blipFill>
        <p:spPr>
          <a:xfrm>
            <a:off x="1724025" y="5327651"/>
            <a:ext cx="5467350" cy="742950"/>
          </a:xfrm>
          <a:prstGeom prst="rect">
            <a:avLst/>
          </a:prstGeom>
        </p:spPr>
      </p:pic>
    </p:spTree>
    <p:extLst>
      <p:ext uri="{BB962C8B-B14F-4D97-AF65-F5344CB8AC3E}">
        <p14:creationId xmlns="" xmlns:p14="http://schemas.microsoft.com/office/powerpoint/2010/main" val="1638916756"/>
      </p:ext>
    </p:extLst>
  </p:cSld>
  <p:clrMapOvr>
    <a:masterClrMapping/>
  </p:clrMapOvr>
  <p:transition>
    <p:strips dir="ld"/>
  </p:transition>
</p:sld>
</file>

<file path=ppt/theme/theme1.xml><?xml version="1.0" encoding="utf-8"?>
<a:theme xmlns:a="http://schemas.openxmlformats.org/drawingml/2006/main" name="template_LN01Brooks671956_02_LN01">
  <a:themeElements>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earson_PowerPoint_Template_Bekaer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earson_PowerPoint_Template_Bekaer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earson_PowerPoint_Template_Bekaer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earson_PowerPoint_Template_Bekaer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earson_PowerPoint_Template_Bekaer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earson_PowerPoint_Template_Bekaer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earson_PowerPoint_Template_Bekaert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earson_PowerPoint_Template_Bekaer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earson_PowerPoint_Template_Bekaer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earson_PowerPoint_Template_Bekaer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earson_PowerPoint_Template_Bekaer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earson_PowerPoint_Template_Bekaer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LN01Folland832739_07_LN01.pot</Template>
  <TotalTime>6126</TotalTime>
  <Words>1404</Words>
  <Application>Microsoft Office PowerPoint</Application>
  <PresentationFormat>On-screen Show (4:3)</PresentationFormat>
  <Paragraphs>137</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template_LN01Brooks671956_02_LN01</vt:lpstr>
      <vt:lpstr>Exchange Rate Regimes</vt:lpstr>
      <vt:lpstr>Chapter 20 Outline</vt:lpstr>
      <vt:lpstr>Exchange Rate Regimes</vt:lpstr>
      <vt:lpstr>20-1 The Medium Run</vt:lpstr>
      <vt:lpstr>20-1 The Medium Run</vt:lpstr>
      <vt:lpstr>20-1 The Medium Run</vt:lpstr>
      <vt:lpstr>20-1 The Medium Run</vt:lpstr>
      <vt:lpstr>FOCUS: The Return of Britain to the Gold Standard: Keynes versus Churchill</vt:lpstr>
      <vt:lpstr>20-2 Exchange Rate Crises under Fixed Exchange Rates</vt:lpstr>
      <vt:lpstr>20-2 Exchange Rate Crises under Fixed Exchange Rates</vt:lpstr>
      <vt:lpstr>FOCUS: The 1992 EMS Crisis</vt:lpstr>
      <vt:lpstr>20-3 Exchange Rate Movements under Flexible Exchange Rates</vt:lpstr>
      <vt:lpstr>20-3 Exchange Rate Movements under Flexible Exchange Rates</vt:lpstr>
      <vt:lpstr>20-4 Choosing between Exchange Rates Regimes</vt:lpstr>
      <vt:lpstr>20-4 Choosing between Exchange Rates Regimes</vt:lpstr>
      <vt:lpstr>FOCUS: The Euro: A Short History</vt:lpstr>
      <vt:lpstr>20-4 Choosing between Exchange Rates Regimes</vt:lpstr>
      <vt:lpstr>FOCUS: Lessons from Argentina’s Currency Board</vt:lpstr>
      <vt:lpstr>APPENDIX 1: Deriving the IS Relation under Fixed Exchange Rates</vt:lpstr>
      <vt:lpstr>APPENDIX 2: The Real Exchange Rate and Domestic and Foreign Real Interest Rates</vt:lpstr>
      <vt:lpstr>APPENDIX 2: The Real Exchange Rate and Domestic and Foreign Real Interest Rates</vt:lpstr>
      <vt:lpstr>APPENDIX 2: The Real Exchange Rate and Domestic and Foreign Real Interest Rates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Oliver Blanchard</dc:creator>
  <cp:lastModifiedBy>Paromita</cp:lastModifiedBy>
  <cp:revision>289</cp:revision>
  <dcterms:created xsi:type="dcterms:W3CDTF">2012-08-09T20:37:31Z</dcterms:created>
  <dcterms:modified xsi:type="dcterms:W3CDTF">2016-10-06T06:15:24Z</dcterms:modified>
</cp:coreProperties>
</file>