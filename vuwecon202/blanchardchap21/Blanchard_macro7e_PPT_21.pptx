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9"/>
  </p:notesMasterIdLst>
  <p:sldIdLst>
    <p:sldId id="256" r:id="rId2"/>
    <p:sldId id="269" r:id="rId3"/>
    <p:sldId id="357" r:id="rId4"/>
    <p:sldId id="478" r:id="rId5"/>
    <p:sldId id="479" r:id="rId6"/>
    <p:sldId id="485" r:id="rId7"/>
    <p:sldId id="480" r:id="rId8"/>
    <p:sldId id="486" r:id="rId9"/>
    <p:sldId id="487" r:id="rId10"/>
    <p:sldId id="488" r:id="rId11"/>
    <p:sldId id="481" r:id="rId12"/>
    <p:sldId id="489" r:id="rId13"/>
    <p:sldId id="482" r:id="rId14"/>
    <p:sldId id="483" r:id="rId15"/>
    <p:sldId id="490" r:id="rId16"/>
    <p:sldId id="484" r:id="rId17"/>
    <p:sldId id="491" r:id="rId1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5pPr>
    <a:lvl6pPr marL="22860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6pPr>
    <a:lvl7pPr marL="27432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7pPr>
    <a:lvl8pPr marL="32004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8pPr>
    <a:lvl9pPr marL="36576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599D"/>
    <a:srgbClr val="BBE5FB"/>
    <a:srgbClr val="BFDC42"/>
    <a:srgbClr val="D8F2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17" autoAdjust="0"/>
    <p:restoredTop sz="94690"/>
  </p:normalViewPr>
  <p:slideViewPr>
    <p:cSldViewPr>
      <p:cViewPr varScale="1">
        <p:scale>
          <a:sx n="76" d="100"/>
          <a:sy n="76" d="100"/>
        </p:scale>
        <p:origin x="-102" y="-9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358A83D-3E8E-422B-A1C7-AED542456985}" type="slidenum">
              <a:rPr lang="en-US"/>
              <a:pPr>
                <a:defRPr/>
              </a:pPr>
              <a:t>‹#›</a:t>
            </a:fld>
            <a:endParaRPr lang="en-US"/>
          </a:p>
        </p:txBody>
      </p:sp>
    </p:spTree>
    <p:extLst>
      <p:ext uri="{BB962C8B-B14F-4D97-AF65-F5344CB8AC3E}">
        <p14:creationId xmlns="" xmlns:p14="http://schemas.microsoft.com/office/powerpoint/2010/main" val="304106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ヒラギノ角ゴ Pro W3" pitchFamily="-65"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BBE5FB"/>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gray">
          <a:xfrm>
            <a:off x="0" y="6397625"/>
            <a:ext cx="9144000" cy="457200"/>
          </a:xfrm>
          <a:prstGeom prst="rect">
            <a:avLst/>
          </a:prstGeom>
          <a:solidFill>
            <a:srgbClr val="00599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Verdana" panose="020B0604030504040204" pitchFamily="34" charset="0"/>
            </a:endParaRPr>
          </a:p>
        </p:txBody>
      </p:sp>
      <p:pic>
        <p:nvPicPr>
          <p:cNvPr id="3" name="Picture 3" descr="Pearson_Bound_White"/>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488238" y="6356350"/>
            <a:ext cx="1655762" cy="493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 name="Picture 4" descr="Pearson_Strap_Bound_White"/>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0" y="6356350"/>
            <a:ext cx="1908175" cy="493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 name="Picture 5"/>
          <p:cNvPicPr>
            <a:picLocks noChangeAspect="1"/>
          </p:cNvPicPr>
          <p:nvPr userDrawn="1"/>
        </p:nvPicPr>
        <p:blipFill>
          <a:blip r:embed="rId4" cstate="print"/>
          <a:stretch>
            <a:fillRect/>
          </a:stretch>
        </p:blipFill>
        <p:spPr>
          <a:xfrm>
            <a:off x="0" y="0"/>
            <a:ext cx="5205590" cy="6400800"/>
          </a:xfrm>
          <a:prstGeom prst="rect">
            <a:avLst/>
          </a:prstGeom>
        </p:spPr>
      </p:pic>
    </p:spTree>
    <p:extLst>
      <p:ext uri="{BB962C8B-B14F-4D97-AF65-F5344CB8AC3E}">
        <p14:creationId xmlns="" xmlns:p14="http://schemas.microsoft.com/office/powerpoint/2010/main" val="3441087217"/>
      </p:ext>
    </p:extLst>
  </p:cSld>
  <p:clrMapOvr>
    <a:masterClrMapping/>
  </p:clrMapOvr>
  <p:timing>
    <p:tnLst>
      <p:par>
        <p:cTn id="1" dur="indefinite" restart="never" nodeType="tmRoot"/>
      </p:par>
    </p:tnLst>
  </p:timing>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494771439"/>
      </p:ext>
    </p:extLst>
  </p:cSld>
  <p:clrMapOvr>
    <a:masterClrMapping/>
  </p:clrMapOvr>
  <p:transition>
    <p:strips dir="ld"/>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352075451"/>
      </p:ext>
    </p:extLst>
  </p:cSld>
  <p:clrMapOvr>
    <a:masterClrMapping/>
  </p:clrMapOvr>
  <p:transition>
    <p:strips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950072493"/>
      </p:ext>
    </p:extLst>
  </p:cSld>
  <p:clrMapOvr>
    <a:masterClrMapping/>
  </p:clrMapOvr>
  <p:transition>
    <p:strips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087435220"/>
      </p:ext>
    </p:extLst>
  </p:cSld>
  <p:clrMapOvr>
    <a:masterClrMapping/>
  </p:clrMapOvr>
  <p:transition>
    <p:strips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724062720"/>
      </p:ext>
    </p:extLst>
  </p:cSld>
  <p:clrMapOvr>
    <a:masterClrMapping/>
  </p:clrMapOvr>
  <p:transition>
    <p:strips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750255790"/>
      </p:ext>
    </p:extLst>
  </p:cSld>
  <p:clrMapOvr>
    <a:masterClrMapping/>
  </p:clrMapOvr>
  <p:transition>
    <p:strips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884679804"/>
      </p:ext>
    </p:extLst>
  </p:cSld>
  <p:clrMapOvr>
    <a:masterClrMapping/>
  </p:clrMapOvr>
  <p:transition>
    <p:strips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337429884"/>
      </p:ext>
    </p:extLst>
  </p:cSld>
  <p:clrMapOvr>
    <a:masterClrMapping/>
  </p:clrMapOvr>
  <p:transition>
    <p:strips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1938792299"/>
      </p:ext>
    </p:extLst>
  </p:cSld>
  <p:clrMapOvr>
    <a:masterClrMapping/>
  </p:clrMapOvr>
  <p:transition>
    <p:strips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0"/>
            <a:ext cx="2114550"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0"/>
            <a:ext cx="619125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945461388"/>
      </p:ext>
    </p:extLst>
  </p:cSld>
  <p:clrMapOvr>
    <a:masterClrMapping/>
  </p:clrMapOvr>
  <p:transition>
    <p:strips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fld id="{EF38A850-ADD0-4F7D-99F1-C19676CE30E4}" type="datetime1">
              <a:rPr lang="en-US"/>
              <a:pPr>
                <a:defRPr/>
              </a:pPr>
              <a:t>10/6/2016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r>
              <a:rPr lang="en-US"/>
              <a:t>Copyright © 2013 Pearson Education, Inc.</a:t>
            </a:r>
          </a:p>
          <a:p>
            <a:pPr>
              <a:defRPr/>
            </a:pPr>
            <a:r>
              <a:rPr lang="en-US"/>
              <a:t>Publishing as Prentice Hall</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anose="020B0604030504040204" pitchFamily="34" charset="0"/>
              </a:defRPr>
            </a:lvl1pPr>
          </a:lstStyle>
          <a:p>
            <a:pPr>
              <a:defRPr/>
            </a:pPr>
            <a:fld id="{2A68BFA4-ED51-4D11-92C9-125F6EFF37D1}" type="slidenum">
              <a:rPr lang="en-US"/>
              <a:pPr>
                <a:defRPr/>
              </a:pPr>
              <a:t>‹#›</a:t>
            </a:fld>
            <a:endParaRPr lang="en-US"/>
          </a:p>
        </p:txBody>
      </p:sp>
    </p:spTree>
    <p:extLst>
      <p:ext uri="{BB962C8B-B14F-4D97-AF65-F5344CB8AC3E}">
        <p14:creationId xmlns="" xmlns:p14="http://schemas.microsoft.com/office/powerpoint/2010/main" val="2178001293"/>
      </p:ext>
    </p:extLst>
  </p:cSld>
  <p:clrMapOvr>
    <a:masterClrMapping/>
  </p:clrMapOvr>
  <p:transition>
    <p:strips dir="ld"/>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userDrawn="1"/>
        </p:nvSpPr>
        <p:spPr bwMode="gray">
          <a:xfrm>
            <a:off x="0" y="6397625"/>
            <a:ext cx="9144000" cy="457200"/>
          </a:xfrm>
          <a:prstGeom prst="rect">
            <a:avLst/>
          </a:prstGeom>
          <a:solidFill>
            <a:srgbClr val="0060A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Arial" panose="020B0604020202020204" pitchFamily="34" charset="0"/>
              <a:cs typeface="Arial" panose="020B0604020202020204" pitchFamily="34" charset="0"/>
            </a:endParaRPr>
          </a:p>
        </p:txBody>
      </p:sp>
      <p:sp>
        <p:nvSpPr>
          <p:cNvPr id="1027" name="Rectangle 4"/>
          <p:cNvSpPr>
            <a:spLocks noGrp="1" noChangeArrowheads="1"/>
          </p:cNvSpPr>
          <p:nvPr>
            <p:ph type="body" idx="1"/>
          </p:nvPr>
        </p:nvSpPr>
        <p:spPr bwMode="auto">
          <a:xfrm>
            <a:off x="381000" y="1447800"/>
            <a:ext cx="8382000" cy="4648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5"/>
          <p:cNvSpPr>
            <a:spLocks noGrp="1" noChangeArrowheads="1"/>
          </p:cNvSpPr>
          <p:nvPr>
            <p:ph type="title"/>
          </p:nvPr>
        </p:nvSpPr>
        <p:spPr bwMode="auto">
          <a:xfrm>
            <a:off x="381000" y="0"/>
            <a:ext cx="84582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smtClean="0"/>
              <a:t>Click to edit Master title style</a:t>
            </a:r>
          </a:p>
        </p:txBody>
      </p:sp>
      <p:sp>
        <p:nvSpPr>
          <p:cNvPr id="2" name="Rectangle 6"/>
          <p:cNvSpPr>
            <a:spLocks noChangeArrowheads="1"/>
          </p:cNvSpPr>
          <p:nvPr/>
        </p:nvSpPr>
        <p:spPr bwMode="gray">
          <a:xfrm>
            <a:off x="381000" y="6577013"/>
            <a:ext cx="5399088" cy="17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US" sz="900" dirty="0" smtClean="0">
                <a:solidFill>
                  <a:schemeClr val="bg1"/>
                </a:solidFill>
                <a:latin typeface="Verdana" panose="020B0604030504040204" pitchFamily="34" charset="0"/>
              </a:rPr>
              <a:t>Copyright ©2017 Pearson Education, Ltd. All rights reserved.</a:t>
            </a:r>
            <a:endParaRPr lang="en-GB" sz="900" dirty="0" smtClean="0">
              <a:solidFill>
                <a:schemeClr val="bg1"/>
              </a:solidFill>
              <a:latin typeface="Verdana" panose="020B0604030504040204" pitchFamily="34" charset="0"/>
            </a:endParaRPr>
          </a:p>
        </p:txBody>
      </p:sp>
      <p:sp>
        <p:nvSpPr>
          <p:cNvPr id="1029" name="Rectangle 7"/>
          <p:cNvSpPr>
            <a:spLocks noChangeArrowheads="1"/>
          </p:cNvSpPr>
          <p:nvPr/>
        </p:nvSpPr>
        <p:spPr bwMode="gray">
          <a:xfrm>
            <a:off x="8402638" y="6577013"/>
            <a:ext cx="360362" cy="17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GB" sz="900" dirty="0" smtClean="0">
                <a:solidFill>
                  <a:schemeClr val="bg1"/>
                </a:solidFill>
                <a:latin typeface="Verdana" panose="020B0604030504040204" pitchFamily="34" charset="0"/>
              </a:rPr>
              <a:t>21-</a:t>
            </a:r>
            <a:fld id="{604DE8C7-66CF-465F-9818-9F61582FDCEB}" type="slidenum">
              <a:rPr lang="en-GB" sz="900" smtClean="0">
                <a:solidFill>
                  <a:schemeClr val="bg1"/>
                </a:solidFill>
                <a:latin typeface="Verdana" panose="020B0604030504040204" pitchFamily="34" charset="0"/>
              </a:rPr>
              <a:pPr>
                <a:defRPr/>
              </a:pPr>
              <a:t>‹#›</a:t>
            </a:fld>
            <a:r>
              <a:rPr lang="en-GB" sz="900" dirty="0" smtClean="0">
                <a:solidFill>
                  <a:schemeClr val="bg1"/>
                </a:solidFill>
                <a:latin typeface="Verdana" panose="020B0604030504040204" pitchFamily="34" charset="0"/>
              </a:rPr>
              <a:t> </a:t>
            </a:r>
          </a:p>
        </p:txBody>
      </p:sp>
    </p:spTree>
  </p:cSld>
  <p:clrMap bg1="lt1" tx1="dk1" bg2="lt2" tx2="dk2" accent1="accent1" accent2="accent2" accent3="accent3" accent4="accent4" accent5="accent5" accent6="accent6" hlink="hlink" folHlink="folHlink"/>
  <p:sldLayoutIdLst>
    <p:sldLayoutId id="2147484039"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40" r:id="rId12"/>
  </p:sldLayoutIdLst>
  <p:transition>
    <p:strips dir="ld"/>
  </p:transition>
  <p:timing>
    <p:tnLst>
      <p:par>
        <p:cTn id="1" dur="indefinite" restart="never" nodeType="tmRoot"/>
      </p:par>
    </p:tnLst>
  </p:timing>
  <p:hf hdr="0" dt="0"/>
  <p:txStyles>
    <p:titleStyle>
      <a:lvl1pPr algn="l" rtl="0" eaLnBrk="0" fontAlgn="base" hangingPunct="0">
        <a:spcBef>
          <a:spcPct val="0"/>
        </a:spcBef>
        <a:spcAft>
          <a:spcPct val="0"/>
        </a:spcAft>
        <a:defRPr sz="3200" b="1">
          <a:solidFill>
            <a:schemeClr val="tx1"/>
          </a:solidFill>
          <a:latin typeface="+mj-lt"/>
          <a:ea typeface="ヒラギノ角ゴ Pro W3" pitchFamily="-1" charset="-128"/>
          <a:cs typeface="ヒラギノ角ゴ Pro W3" pitchFamily="-1" charset="-128"/>
        </a:defRPr>
      </a:lvl1pPr>
      <a:lvl2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2pPr>
      <a:lvl3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3pPr>
      <a:lvl4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4pPr>
      <a:lvl5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5pPr>
      <a:lvl6pPr marL="457200" algn="l" rtl="0" eaLnBrk="1" fontAlgn="base" hangingPunct="1">
        <a:spcBef>
          <a:spcPct val="0"/>
        </a:spcBef>
        <a:spcAft>
          <a:spcPct val="0"/>
        </a:spcAft>
        <a:defRPr sz="3200" b="1">
          <a:solidFill>
            <a:schemeClr val="tx1"/>
          </a:solidFill>
          <a:latin typeface="Verdana" pitchFamily="-1" charset="0"/>
        </a:defRPr>
      </a:lvl6pPr>
      <a:lvl7pPr marL="914400" algn="l" rtl="0" eaLnBrk="1" fontAlgn="base" hangingPunct="1">
        <a:spcBef>
          <a:spcPct val="0"/>
        </a:spcBef>
        <a:spcAft>
          <a:spcPct val="0"/>
        </a:spcAft>
        <a:defRPr sz="3200" b="1">
          <a:solidFill>
            <a:schemeClr val="tx1"/>
          </a:solidFill>
          <a:latin typeface="Verdana" pitchFamily="-1" charset="0"/>
        </a:defRPr>
      </a:lvl7pPr>
      <a:lvl8pPr marL="1371600" algn="l" rtl="0" eaLnBrk="1" fontAlgn="base" hangingPunct="1">
        <a:spcBef>
          <a:spcPct val="0"/>
        </a:spcBef>
        <a:spcAft>
          <a:spcPct val="0"/>
        </a:spcAft>
        <a:defRPr sz="3200" b="1">
          <a:solidFill>
            <a:schemeClr val="tx1"/>
          </a:solidFill>
          <a:latin typeface="Verdana" pitchFamily="-1" charset="0"/>
        </a:defRPr>
      </a:lvl8pPr>
      <a:lvl9pPr marL="1828800" algn="l" rtl="0" eaLnBrk="1" fontAlgn="base" hangingPunct="1">
        <a:spcBef>
          <a:spcPct val="0"/>
        </a:spcBef>
        <a:spcAft>
          <a:spcPct val="0"/>
        </a:spcAft>
        <a:defRPr sz="3200" b="1">
          <a:solidFill>
            <a:schemeClr val="tx1"/>
          </a:solidFill>
          <a:latin typeface="Verdana" pitchFamily="-1"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F2FF"/>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idx="4294967295"/>
          </p:nvPr>
        </p:nvSpPr>
        <p:spPr>
          <a:xfrm>
            <a:off x="5257800" y="990600"/>
            <a:ext cx="3733800" cy="2133600"/>
          </a:xfrm>
        </p:spPr>
        <p:txBody>
          <a:bodyPr/>
          <a:lstStyle/>
          <a:p>
            <a:pPr algn="ctr" eaLnBrk="1" hangingPunct="1"/>
            <a:r>
              <a:rPr lang="en-US" sz="2800" dirty="0" smtClean="0">
                <a:ea typeface="ヒラギノ角ゴ Pro W3" pitchFamily="-84" charset="-128"/>
              </a:rPr>
              <a:t>Should Policy Makers Be Restrained?</a:t>
            </a:r>
          </a:p>
        </p:txBody>
      </p:sp>
      <p:sp>
        <p:nvSpPr>
          <p:cNvPr id="5123" name="Rectangle 3"/>
          <p:cNvSpPr>
            <a:spLocks noGrp="1" noChangeArrowheads="1"/>
          </p:cNvSpPr>
          <p:nvPr>
            <p:ph type="subTitle" idx="4294967295"/>
          </p:nvPr>
        </p:nvSpPr>
        <p:spPr>
          <a:xfrm>
            <a:off x="4953000" y="3886200"/>
            <a:ext cx="4191000" cy="1752600"/>
          </a:xfrm>
        </p:spPr>
        <p:txBody>
          <a:bodyPr/>
          <a:lstStyle/>
          <a:p>
            <a:pPr algn="ctr" eaLnBrk="1" hangingPunct="1">
              <a:buFontTx/>
              <a:buNone/>
            </a:pPr>
            <a:r>
              <a:rPr lang="en-US" dirty="0" smtClean="0">
                <a:ea typeface="ヒラギノ角ゴ Pro W3" pitchFamily="-84" charset="-128"/>
              </a:rPr>
              <a:t>Chapter 21</a:t>
            </a:r>
          </a:p>
        </p:txBody>
      </p:sp>
    </p:spTree>
  </p:cSld>
  <p:clrMapOvr>
    <a:masterClrMapping/>
  </p:clrMapOvr>
  <p:transition>
    <p:strips dir="l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smtClean="0">
                <a:ea typeface="ヒラギノ角ゴ Pro W3" pitchFamily="-84" charset="-128"/>
              </a:rPr>
              <a:t>Chapter 21 Outline</a:t>
            </a:r>
          </a:p>
        </p:txBody>
      </p:sp>
      <p:sp>
        <p:nvSpPr>
          <p:cNvPr id="3" name="Content Placeholder 2"/>
          <p:cNvSpPr txBox="1">
            <a:spLocks/>
          </p:cNvSpPr>
          <p:nvPr/>
        </p:nvSpPr>
        <p:spPr bwMode="auto">
          <a:xfrm>
            <a:off x="419100" y="1524000"/>
            <a:ext cx="8382000" cy="4937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bIns="0"/>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eaLnBrk="1" hangingPunct="1">
              <a:buFontTx/>
              <a:buNone/>
              <a:defRPr/>
            </a:pPr>
            <a:r>
              <a:rPr lang="en-US" sz="2400" b="1" kern="0" dirty="0">
                <a:ea typeface="ヒラギノ角ゴ Pro W3" pitchFamily="-84" charset="-128"/>
              </a:rPr>
              <a:t>Should Policy Makers Be Restrained</a:t>
            </a:r>
            <a:r>
              <a:rPr lang="en-US" sz="2400" b="1" kern="0" dirty="0" smtClean="0">
                <a:ea typeface="ヒラギノ角ゴ Pro W3" pitchFamily="-84" charset="-128"/>
              </a:rPr>
              <a:t>?</a:t>
            </a:r>
          </a:p>
          <a:p>
            <a:pPr marL="0" indent="0" eaLnBrk="1" hangingPunct="1">
              <a:buFontTx/>
              <a:buNone/>
              <a:defRPr/>
            </a:pPr>
            <a:endParaRPr lang="en-US" sz="2400" kern="0" dirty="0" smtClean="0">
              <a:ea typeface="ヒラギノ角ゴ Pro W3" pitchFamily="-84" charset="-128"/>
            </a:endParaRPr>
          </a:p>
          <a:p>
            <a:pPr marL="1714500" indent="-1714500" eaLnBrk="1" hangingPunct="1">
              <a:buFontTx/>
              <a:buNone/>
              <a:defRPr/>
            </a:pPr>
            <a:r>
              <a:rPr lang="en-US" sz="2400" kern="0" dirty="0" smtClean="0">
                <a:ea typeface="ヒラギノ角ゴ Pro W3" pitchFamily="-84" charset="-128"/>
              </a:rPr>
              <a:t>21-1	Uncertainty and Policy</a:t>
            </a:r>
          </a:p>
          <a:p>
            <a:pPr marL="1714500" indent="-1714500" eaLnBrk="1" hangingPunct="1">
              <a:buFontTx/>
              <a:buNone/>
              <a:defRPr/>
            </a:pPr>
            <a:r>
              <a:rPr lang="en-US" sz="2400" kern="0" dirty="0" smtClean="0">
                <a:ea typeface="ヒラギノ角ゴ Pro W3" pitchFamily="-84" charset="-128"/>
              </a:rPr>
              <a:t>21-2	Expectations and Policy</a:t>
            </a:r>
          </a:p>
          <a:p>
            <a:pPr marL="1714500" indent="-1714500" eaLnBrk="1" hangingPunct="1">
              <a:buFontTx/>
              <a:buNone/>
              <a:defRPr/>
            </a:pPr>
            <a:r>
              <a:rPr lang="en-US" sz="2400" kern="0" dirty="0" smtClean="0">
                <a:ea typeface="ヒラギノ角ゴ Pro W3" pitchFamily="-84" charset="-128"/>
              </a:rPr>
              <a:t>21-3	Politics and Policy</a:t>
            </a:r>
          </a:p>
        </p:txBody>
      </p:sp>
    </p:spTree>
  </p:cSld>
  <p:clrMapOvr>
    <a:masterClrMapping/>
  </p:clrMapOvr>
  <p:transition>
    <p:strips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a:ea typeface="ヒラギノ角ゴ Pro W3" pitchFamily="-84" charset="-128"/>
              </a:rPr>
              <a:t>Should Policy Makers Be Restrained?</a:t>
            </a:r>
          </a:p>
        </p:txBody>
      </p:sp>
      <p:sp>
        <p:nvSpPr>
          <p:cNvPr id="7171" name="Content Placeholder 2"/>
          <p:cNvSpPr>
            <a:spLocks noGrp="1"/>
          </p:cNvSpPr>
          <p:nvPr>
            <p:ph idx="1"/>
          </p:nvPr>
        </p:nvSpPr>
        <p:spPr/>
        <p:txBody>
          <a:bodyPr/>
          <a:lstStyle/>
          <a:p>
            <a:r>
              <a:rPr lang="en-US" sz="2400" dirty="0" smtClean="0">
                <a:ea typeface="ヒラギノ角ゴ Pro W3" pitchFamily="-84" charset="-128"/>
              </a:rPr>
              <a:t>We have seen how the right mix of fiscal and monetary policies could potentially help an economy.</a:t>
            </a:r>
          </a:p>
          <a:p>
            <a:r>
              <a:rPr lang="en-US" sz="2400" dirty="0" smtClean="0">
                <a:ea typeface="ヒラギノ角ゴ Pro W3" pitchFamily="-84" charset="-128"/>
              </a:rPr>
              <a:t>This conclusion, however, appears to be at odds with frequent demands that policy markets be tightly restrained.</a:t>
            </a:r>
          </a:p>
          <a:p>
            <a:r>
              <a:rPr lang="en-US" sz="2400" dirty="0" smtClean="0">
                <a:ea typeface="ヒラギノ角ゴ Pro W3" pitchFamily="-84" charset="-128"/>
              </a:rPr>
              <a:t>This chapter looks at the case for such restraints on macroeconomic policy.</a:t>
            </a:r>
          </a:p>
        </p:txBody>
      </p:sp>
    </p:spTree>
    <p:extLst>
      <p:ext uri="{BB962C8B-B14F-4D97-AF65-F5344CB8AC3E}">
        <p14:creationId xmlns="" xmlns:p14="http://schemas.microsoft.com/office/powerpoint/2010/main" val="3014208771"/>
      </p:ext>
    </p:extLst>
  </p:cSld>
  <p:clrMapOvr>
    <a:masterClrMapping/>
  </p:clrMapOvr>
  <p:transition>
    <p:strips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380206" y="168564"/>
            <a:ext cx="8458200" cy="1143000"/>
          </a:xfrm>
        </p:spPr>
        <p:txBody>
          <a:bodyPr/>
          <a:lstStyle/>
          <a:p>
            <a:r>
              <a:rPr lang="en-US" sz="2400" dirty="0" smtClean="0">
                <a:ea typeface="ヒラギノ角ゴ Pro W3" pitchFamily="-65" charset="-128"/>
              </a:rPr>
              <a:t>Figure 21-1  </a:t>
            </a:r>
            <a:r>
              <a:rPr lang="en-US" sz="2400" b="0" dirty="0" smtClean="0">
                <a:ea typeface="ヒラギノ角ゴ Pro W3" pitchFamily="-65" charset="-128"/>
              </a:rPr>
              <a:t>The Contract with America</a:t>
            </a:r>
          </a:p>
        </p:txBody>
      </p:sp>
      <p:pic>
        <p:nvPicPr>
          <p:cNvPr id="16387" name="Picture 3" descr="fig22_01.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85800" y="1295400"/>
            <a:ext cx="7847013" cy="4800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1435057958"/>
      </p:ext>
    </p:extLst>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smtClean="0">
                <a:ea typeface="ヒラギノ角ゴ Pro W3" pitchFamily="-65" charset="-128"/>
              </a:rPr>
              <a:t>21-1 Uncertainty and Policy</a:t>
            </a:r>
          </a:p>
        </p:txBody>
      </p:sp>
      <p:sp>
        <p:nvSpPr>
          <p:cNvPr id="17412" name="TextBox 4"/>
          <p:cNvSpPr txBox="1">
            <a:spLocks noChangeArrowheads="1"/>
          </p:cNvSpPr>
          <p:nvPr/>
        </p:nvSpPr>
        <p:spPr bwMode="auto">
          <a:xfrm>
            <a:off x="401782" y="1143000"/>
            <a:ext cx="8305800"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21-2  </a:t>
            </a:r>
            <a:r>
              <a:rPr lang="en-US" sz="1800" dirty="0">
                <a:latin typeface="Verdana" panose="020B0604030504040204" pitchFamily="34" charset="0"/>
              </a:rPr>
              <a:t>The Response of Output to a Monetary Expansion. Predictions from </a:t>
            </a:r>
            <a:r>
              <a:rPr lang="en-US" sz="1800" dirty="0" smtClean="0">
                <a:latin typeface="Verdana" panose="020B0604030504040204" pitchFamily="34" charset="0"/>
              </a:rPr>
              <a:t>10 </a:t>
            </a:r>
            <a:r>
              <a:rPr lang="en-US" sz="1800" dirty="0">
                <a:latin typeface="Verdana" panose="020B0604030504040204" pitchFamily="34" charset="0"/>
              </a:rPr>
              <a:t>Models</a:t>
            </a:r>
          </a:p>
        </p:txBody>
      </p:sp>
      <p:pic>
        <p:nvPicPr>
          <p:cNvPr id="2" name="Picture 1"/>
          <p:cNvPicPr>
            <a:picLocks noChangeAspect="1"/>
          </p:cNvPicPr>
          <p:nvPr/>
        </p:nvPicPr>
        <p:blipFill>
          <a:blip r:embed="rId2" cstate="print"/>
          <a:stretch>
            <a:fillRect/>
          </a:stretch>
        </p:blipFill>
        <p:spPr>
          <a:xfrm>
            <a:off x="2895600" y="1905000"/>
            <a:ext cx="6029325" cy="3792358"/>
          </a:xfrm>
          <a:prstGeom prst="rect">
            <a:avLst/>
          </a:prstGeom>
        </p:spPr>
      </p:pic>
      <p:sp>
        <p:nvSpPr>
          <p:cNvPr id="6" name="TextBox 4"/>
          <p:cNvSpPr txBox="1">
            <a:spLocks noChangeArrowheads="1"/>
          </p:cNvSpPr>
          <p:nvPr/>
        </p:nvSpPr>
        <p:spPr bwMode="auto">
          <a:xfrm>
            <a:off x="401782" y="2128982"/>
            <a:ext cx="2286000" cy="3046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600" dirty="0">
                <a:latin typeface="Verdana" panose="020B0604030504040204" pitchFamily="34" charset="0"/>
              </a:rPr>
              <a:t>Although all </a:t>
            </a:r>
            <a:r>
              <a:rPr lang="en-US" sz="1600" dirty="0" smtClean="0">
                <a:latin typeface="Verdana" panose="020B0604030504040204" pitchFamily="34" charset="0"/>
              </a:rPr>
              <a:t>10 models predict that </a:t>
            </a:r>
            <a:r>
              <a:rPr lang="en-US" sz="1600" dirty="0">
                <a:latin typeface="Verdana" panose="020B0604030504040204" pitchFamily="34" charset="0"/>
              </a:rPr>
              <a:t>output will </a:t>
            </a:r>
            <a:r>
              <a:rPr lang="en-US" sz="1600" dirty="0" smtClean="0">
                <a:latin typeface="Verdana" panose="020B0604030504040204" pitchFamily="34" charset="0"/>
              </a:rPr>
              <a:t>increase for </a:t>
            </a:r>
            <a:r>
              <a:rPr lang="en-US" sz="1600" dirty="0">
                <a:latin typeface="Verdana" panose="020B0604030504040204" pitchFamily="34" charset="0"/>
              </a:rPr>
              <a:t>some time in response </a:t>
            </a:r>
            <a:r>
              <a:rPr lang="en-US" sz="1600" dirty="0" smtClean="0">
                <a:latin typeface="Verdana" panose="020B0604030504040204" pitchFamily="34" charset="0"/>
              </a:rPr>
              <a:t>to a monetary expansion</a:t>
            </a:r>
            <a:r>
              <a:rPr lang="en-US" sz="1600" dirty="0">
                <a:latin typeface="Verdana" panose="020B0604030504040204" pitchFamily="34" charset="0"/>
              </a:rPr>
              <a:t>, </a:t>
            </a:r>
            <a:r>
              <a:rPr lang="en-US" sz="1600" dirty="0" smtClean="0">
                <a:latin typeface="Verdana" panose="020B0604030504040204" pitchFamily="34" charset="0"/>
              </a:rPr>
              <a:t>the range </a:t>
            </a:r>
            <a:r>
              <a:rPr lang="en-US" sz="1600" dirty="0">
                <a:latin typeface="Verdana" panose="020B0604030504040204" pitchFamily="34" charset="0"/>
              </a:rPr>
              <a:t>of answers </a:t>
            </a:r>
            <a:r>
              <a:rPr lang="en-US" sz="1600" dirty="0" smtClean="0">
                <a:latin typeface="Verdana" panose="020B0604030504040204" pitchFamily="34" charset="0"/>
              </a:rPr>
              <a:t>regarding the </a:t>
            </a:r>
            <a:r>
              <a:rPr lang="en-US" sz="1600" dirty="0">
                <a:latin typeface="Verdana" panose="020B0604030504040204" pitchFamily="34" charset="0"/>
              </a:rPr>
              <a:t>size and the length of </a:t>
            </a:r>
            <a:r>
              <a:rPr lang="en-US" sz="1600" dirty="0" smtClean="0">
                <a:latin typeface="Verdana" panose="020B0604030504040204" pitchFamily="34" charset="0"/>
              </a:rPr>
              <a:t>the output </a:t>
            </a:r>
            <a:r>
              <a:rPr lang="en-US" sz="1600" dirty="0">
                <a:latin typeface="Verdana" panose="020B0604030504040204" pitchFamily="34" charset="0"/>
              </a:rPr>
              <a:t>response is large.</a:t>
            </a:r>
          </a:p>
        </p:txBody>
      </p:sp>
    </p:spTree>
    <p:extLst>
      <p:ext uri="{BB962C8B-B14F-4D97-AF65-F5344CB8AC3E}">
        <p14:creationId xmlns="" xmlns:p14="http://schemas.microsoft.com/office/powerpoint/2010/main" val="415324295"/>
      </p:ext>
    </p:extLst>
  </p:cSld>
  <p:clrMapOvr>
    <a:masterClrMapping/>
  </p:clrMapOvr>
  <p:transition>
    <p:strips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smtClean="0">
                <a:ea typeface="ヒラギノ角ゴ Pro W3" pitchFamily="-65" charset="-128"/>
              </a:rPr>
              <a:t>21-1 Uncertainty and Policy</a:t>
            </a:r>
          </a:p>
        </p:txBody>
      </p:sp>
      <p:sp>
        <p:nvSpPr>
          <p:cNvPr id="5" name="Content Placeholder 2"/>
          <p:cNvSpPr>
            <a:spLocks noGrp="1"/>
          </p:cNvSpPr>
          <p:nvPr>
            <p:ph idx="1"/>
          </p:nvPr>
        </p:nvSpPr>
        <p:spPr>
          <a:xfrm>
            <a:off x="381000" y="1447800"/>
            <a:ext cx="7848600" cy="4648200"/>
          </a:xfrm>
        </p:spPr>
        <p:txBody>
          <a:bodyPr/>
          <a:lstStyle/>
          <a:p>
            <a:r>
              <a:rPr lang="en-US" sz="2200" dirty="0" smtClean="0">
                <a:ea typeface="ヒラギノ角ゴ Pro W3" pitchFamily="-84" charset="-128"/>
              </a:rPr>
              <a:t>There </a:t>
            </a:r>
            <a:r>
              <a:rPr lang="en-US" sz="2200" dirty="0">
                <a:ea typeface="ヒラギノ角ゴ Pro W3" pitchFamily="-84" charset="-128"/>
              </a:rPr>
              <a:t>is </a:t>
            </a:r>
            <a:r>
              <a:rPr lang="en-US" sz="2200" dirty="0" smtClean="0">
                <a:ea typeface="ヒラギノ角ゴ Pro W3" pitchFamily="-84" charset="-128"/>
              </a:rPr>
              <a:t>substantial </a:t>
            </a:r>
            <a:r>
              <a:rPr lang="en-US" sz="2200" dirty="0">
                <a:ea typeface="ヒラギノ角ゴ Pro W3" pitchFamily="-84" charset="-128"/>
              </a:rPr>
              <a:t>uncertainty about the effects of </a:t>
            </a:r>
            <a:r>
              <a:rPr lang="en-US" sz="2200" dirty="0" smtClean="0">
                <a:ea typeface="ヒラギノ角ゴ Pro W3" pitchFamily="-84" charset="-128"/>
              </a:rPr>
              <a:t>macroeconomic policies</a:t>
            </a:r>
            <a:r>
              <a:rPr lang="en-US" sz="2200" dirty="0">
                <a:ea typeface="ヒラギノ角ゴ Pro W3" pitchFamily="-84" charset="-128"/>
              </a:rPr>
              <a:t>. </a:t>
            </a:r>
            <a:endParaRPr lang="en-US" sz="2200" dirty="0" smtClean="0">
              <a:ea typeface="ヒラギノ角ゴ Pro W3" pitchFamily="-84" charset="-128"/>
            </a:endParaRPr>
          </a:p>
          <a:p>
            <a:r>
              <a:rPr lang="en-US" sz="2200" dirty="0" smtClean="0">
                <a:ea typeface="ヒラギノ角ゴ Pro W3" pitchFamily="-84" charset="-128"/>
              </a:rPr>
              <a:t>This </a:t>
            </a:r>
            <a:r>
              <a:rPr lang="en-US" sz="2200" dirty="0">
                <a:ea typeface="ヒラギノ角ゴ Pro W3" pitchFamily="-84" charset="-128"/>
              </a:rPr>
              <a:t>uncertainty should lead policy makers to be cautious and to limit the use </a:t>
            </a:r>
            <a:r>
              <a:rPr lang="en-US" sz="2200" dirty="0" smtClean="0">
                <a:ea typeface="ヒラギノ角ゴ Pro W3" pitchFamily="-84" charset="-128"/>
              </a:rPr>
              <a:t>of active </a:t>
            </a:r>
            <a:r>
              <a:rPr lang="en-US" sz="2200" dirty="0">
                <a:ea typeface="ヒラギノ角ゴ Pro W3" pitchFamily="-84" charset="-128"/>
              </a:rPr>
              <a:t>policies. </a:t>
            </a:r>
            <a:endParaRPr lang="en-US" sz="2200" dirty="0" smtClean="0">
              <a:ea typeface="ヒラギノ角ゴ Pro W3" pitchFamily="-84" charset="-128"/>
            </a:endParaRPr>
          </a:p>
          <a:p>
            <a:r>
              <a:rPr lang="en-US" sz="2200" dirty="0" smtClean="0">
                <a:ea typeface="ヒラギノ角ゴ Pro W3" pitchFamily="-84" charset="-128"/>
              </a:rPr>
              <a:t>Policies </a:t>
            </a:r>
            <a:r>
              <a:rPr lang="en-US" sz="2200" dirty="0">
                <a:ea typeface="ヒラギノ角ゴ Pro W3" pitchFamily="-84" charset="-128"/>
              </a:rPr>
              <a:t>should be broadly aimed at avoiding large prolonged recessions</a:t>
            </a:r>
            <a:r>
              <a:rPr lang="en-US" sz="2200" dirty="0" smtClean="0">
                <a:ea typeface="ヒラギノ角ゴ Pro W3" pitchFamily="-84" charset="-128"/>
              </a:rPr>
              <a:t>, slowing </a:t>
            </a:r>
            <a:r>
              <a:rPr lang="en-US" sz="2200" dirty="0">
                <a:ea typeface="ヒラギノ角ゴ Pro W3" pitchFamily="-84" charset="-128"/>
              </a:rPr>
              <a:t>down booms, and avoiding inflationary pressure. </a:t>
            </a:r>
            <a:endParaRPr lang="en-US" sz="2200" dirty="0" smtClean="0">
              <a:ea typeface="ヒラギノ角ゴ Pro W3" pitchFamily="-84" charset="-128"/>
            </a:endParaRPr>
          </a:p>
          <a:p>
            <a:r>
              <a:rPr lang="en-US" sz="2200" dirty="0" smtClean="0">
                <a:ea typeface="ヒラギノ角ゴ Pro W3" pitchFamily="-84" charset="-128"/>
              </a:rPr>
              <a:t>The </a:t>
            </a:r>
            <a:r>
              <a:rPr lang="en-US" sz="2200" dirty="0">
                <a:ea typeface="ヒラギノ角ゴ Pro W3" pitchFamily="-84" charset="-128"/>
              </a:rPr>
              <a:t>higher unemployment </a:t>
            </a:r>
            <a:r>
              <a:rPr lang="en-US" sz="2200" dirty="0" smtClean="0">
                <a:ea typeface="ヒラギノ角ゴ Pro W3" pitchFamily="-84" charset="-128"/>
              </a:rPr>
              <a:t>or the </a:t>
            </a:r>
            <a:r>
              <a:rPr lang="en-US" sz="2200" dirty="0">
                <a:ea typeface="ヒラギノ角ゴ Pro W3" pitchFamily="-84" charset="-128"/>
              </a:rPr>
              <a:t>higher inflation, the more active the policies should be</a:t>
            </a:r>
            <a:r>
              <a:rPr lang="en-US" sz="2200" dirty="0" smtClean="0">
                <a:ea typeface="ヒラギノ角ゴ Pro W3" pitchFamily="-84" charset="-128"/>
              </a:rPr>
              <a:t>.</a:t>
            </a:r>
          </a:p>
          <a:p>
            <a:r>
              <a:rPr lang="en-US" sz="2200" dirty="0" smtClean="0">
                <a:ea typeface="ヒラギノ角ゴ Pro W3" pitchFamily="-84" charset="-128"/>
              </a:rPr>
              <a:t>In normal times, macroeconomic policies should stop well short of </a:t>
            </a:r>
            <a:r>
              <a:rPr lang="en-US" sz="2200" b="1" dirty="0" smtClean="0">
                <a:ea typeface="ヒラギノ角ゴ Pro W3" pitchFamily="-84" charset="-128"/>
              </a:rPr>
              <a:t>fine tuning</a:t>
            </a:r>
            <a:r>
              <a:rPr lang="en-US" sz="2200" dirty="0" smtClean="0">
                <a:ea typeface="ヒラギノ角ゴ Pro W3" pitchFamily="-84" charset="-128"/>
              </a:rPr>
              <a:t>—trying to achieve constant unemployment or constant output growth.</a:t>
            </a:r>
            <a:endParaRPr lang="en-US" sz="2200" dirty="0">
              <a:ea typeface="ヒラギノ角ゴ Pro W3" pitchFamily="-84" charset="-128"/>
            </a:endParaRPr>
          </a:p>
        </p:txBody>
      </p:sp>
    </p:spTree>
    <p:extLst>
      <p:ext uri="{BB962C8B-B14F-4D97-AF65-F5344CB8AC3E}">
        <p14:creationId xmlns="" xmlns:p14="http://schemas.microsoft.com/office/powerpoint/2010/main" val="828256316"/>
      </p:ext>
    </p:extLst>
  </p:cSld>
  <p:clrMapOvr>
    <a:masterClrMapping/>
  </p:clrMapOvr>
  <p:transition>
    <p:strips dir="l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ea typeface="ヒラギノ角ゴ Pro W3" pitchFamily="-65" charset="-128"/>
              </a:rPr>
              <a:t>21-2 Expectations and Policy</a:t>
            </a:r>
          </a:p>
        </p:txBody>
      </p:sp>
      <p:sp>
        <p:nvSpPr>
          <p:cNvPr id="5" name="Content Placeholder 2"/>
          <p:cNvSpPr>
            <a:spLocks noGrp="1"/>
          </p:cNvSpPr>
          <p:nvPr>
            <p:ph idx="1"/>
          </p:nvPr>
        </p:nvSpPr>
        <p:spPr>
          <a:xfrm>
            <a:off x="381000" y="1447800"/>
            <a:ext cx="8153400" cy="4648200"/>
          </a:xfrm>
        </p:spPr>
        <p:txBody>
          <a:bodyPr/>
          <a:lstStyle/>
          <a:p>
            <a:r>
              <a:rPr lang="en-US" sz="2200" dirty="0" smtClean="0">
                <a:ea typeface="ヒラギノ角ゴ Pro W3" pitchFamily="-84" charset="-128"/>
              </a:rPr>
              <a:t>Rather than </a:t>
            </a:r>
            <a:r>
              <a:rPr lang="en-US" sz="2200" b="1" dirty="0" smtClean="0">
                <a:ea typeface="ヒラギノ角ゴ Pro W3" pitchFamily="-84" charset="-128"/>
              </a:rPr>
              <a:t>optimal control theory</a:t>
            </a:r>
            <a:r>
              <a:rPr lang="en-US" sz="2200" dirty="0" smtClean="0">
                <a:ea typeface="ヒラギノ角ゴ Pro W3" pitchFamily="-84" charset="-128"/>
              </a:rPr>
              <a:t>, macroeconomic policy must be thought of as a </a:t>
            </a:r>
            <a:r>
              <a:rPr lang="en-US" sz="2200" b="1" dirty="0" smtClean="0">
                <a:ea typeface="ヒラギノ角ゴ Pro W3" pitchFamily="-84" charset="-128"/>
              </a:rPr>
              <a:t>game</a:t>
            </a:r>
            <a:r>
              <a:rPr lang="en-US" sz="2200" dirty="0" smtClean="0">
                <a:ea typeface="ヒラギノ角ゴ Pro W3" pitchFamily="-84" charset="-128"/>
              </a:rPr>
              <a:t> between the policy makers and the people and the firms in the economy—</a:t>
            </a:r>
            <a:r>
              <a:rPr lang="en-US" sz="2200" b="1" dirty="0" smtClean="0">
                <a:ea typeface="ヒラギノ角ゴ Pro W3" pitchFamily="-84" charset="-128"/>
              </a:rPr>
              <a:t>game theory</a:t>
            </a:r>
            <a:r>
              <a:rPr lang="en-US" sz="2200" dirty="0" smtClean="0">
                <a:ea typeface="ヒラギノ角ゴ Pro W3" pitchFamily="-84" charset="-128"/>
              </a:rPr>
              <a:t>.</a:t>
            </a:r>
          </a:p>
          <a:p>
            <a:r>
              <a:rPr lang="en-US" sz="2200" dirty="0" smtClean="0">
                <a:ea typeface="ヒラギノ角ゴ Pro W3" pitchFamily="-84" charset="-128"/>
              </a:rPr>
              <a:t>In economics, </a:t>
            </a:r>
            <a:r>
              <a:rPr lang="en-US" sz="2200" i="1" dirty="0" smtClean="0">
                <a:ea typeface="ヒラギノ角ゴ Pro W3" pitchFamily="-84" charset="-128"/>
              </a:rPr>
              <a:t>games</a:t>
            </a:r>
            <a:r>
              <a:rPr lang="en-US" sz="2200" dirty="0" smtClean="0">
                <a:ea typeface="ヒラギノ角ゴ Pro W3" pitchFamily="-84" charset="-128"/>
              </a:rPr>
              <a:t> are </a:t>
            </a:r>
            <a:r>
              <a:rPr lang="en-US" sz="2200" b="1" dirty="0" smtClean="0">
                <a:ea typeface="ヒラギノ角ゴ Pro W3" pitchFamily="-84" charset="-128"/>
              </a:rPr>
              <a:t>strategic interactions </a:t>
            </a:r>
            <a:r>
              <a:rPr lang="en-US" sz="2200" dirty="0" smtClean="0">
                <a:ea typeface="ヒラギノ角ゴ Pro W3" pitchFamily="-84" charset="-128"/>
              </a:rPr>
              <a:t>between </a:t>
            </a:r>
            <a:r>
              <a:rPr lang="en-US" sz="2200" b="1" dirty="0" smtClean="0">
                <a:ea typeface="ヒラギノ角ゴ Pro W3" pitchFamily="-84" charset="-128"/>
              </a:rPr>
              <a:t>players</a:t>
            </a:r>
            <a:r>
              <a:rPr lang="en-US" sz="2200" dirty="0" smtClean="0">
                <a:ea typeface="ヒラギノ角ゴ Pro W3" pitchFamily="-84" charset="-128"/>
              </a:rPr>
              <a:t>.</a:t>
            </a:r>
          </a:p>
          <a:p>
            <a:endParaRPr lang="en-US" sz="2200" dirty="0" smtClean="0">
              <a:ea typeface="ヒラギノ角ゴ Pro W3" pitchFamily="-84" charset="-128"/>
            </a:endParaRPr>
          </a:p>
          <a:p>
            <a:endParaRPr lang="en-US" sz="2200" dirty="0">
              <a:ea typeface="ヒラギノ角ゴ Pro W3" pitchFamily="-84" charset="-128"/>
            </a:endParaRPr>
          </a:p>
        </p:txBody>
      </p:sp>
    </p:spTree>
    <p:extLst>
      <p:ext uri="{BB962C8B-B14F-4D97-AF65-F5344CB8AC3E}">
        <p14:creationId xmlns="" xmlns:p14="http://schemas.microsoft.com/office/powerpoint/2010/main" val="1810836018"/>
      </p:ext>
    </p:extLst>
  </p:cSld>
  <p:clrMapOvr>
    <a:masterClrMapping/>
  </p:clrMapOvr>
  <p:transition>
    <p:strips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ea typeface="ヒラギノ角ゴ Pro W3" pitchFamily="-65" charset="-128"/>
              </a:rPr>
              <a:t>21-2 Expectations and Policy</a:t>
            </a:r>
          </a:p>
        </p:txBody>
      </p:sp>
      <p:sp>
        <p:nvSpPr>
          <p:cNvPr id="5" name="Content Placeholder 2"/>
          <p:cNvSpPr>
            <a:spLocks noGrp="1"/>
          </p:cNvSpPr>
          <p:nvPr>
            <p:ph idx="1"/>
          </p:nvPr>
        </p:nvSpPr>
        <p:spPr>
          <a:xfrm>
            <a:off x="381000" y="1447800"/>
            <a:ext cx="8305800" cy="4648200"/>
          </a:xfrm>
        </p:spPr>
        <p:txBody>
          <a:bodyPr/>
          <a:lstStyle/>
          <a:p>
            <a:r>
              <a:rPr lang="en-US" sz="2200" dirty="0" smtClean="0">
                <a:ea typeface="ヒラギノ角ゴ Pro W3" pitchFamily="-84" charset="-128"/>
              </a:rPr>
              <a:t>Recall the relation between inflation and unemployment in Chapter 8 (without the time index):</a:t>
            </a:r>
          </a:p>
          <a:p>
            <a:endParaRPr lang="en-US" sz="2200" dirty="0">
              <a:ea typeface="ヒラギノ角ゴ Pro W3" pitchFamily="-84" charset="-128"/>
            </a:endParaRPr>
          </a:p>
          <a:p>
            <a:pPr>
              <a:spcBef>
                <a:spcPts val="1800"/>
              </a:spcBef>
            </a:pPr>
            <a:r>
              <a:rPr lang="en-US" sz="2200" dirty="0" smtClean="0">
                <a:ea typeface="ヒラギノ角ゴ Pro W3" pitchFamily="-84" charset="-128"/>
              </a:rPr>
              <a:t>Suppose the Fed announces a monetary policy consistent with zero inflation, and if expected inflation is zero, then equation (21.1) becomes:</a:t>
            </a:r>
          </a:p>
          <a:p>
            <a:pPr>
              <a:spcBef>
                <a:spcPts val="1800"/>
              </a:spcBef>
            </a:pPr>
            <a:endParaRPr lang="en-US" sz="2200" dirty="0">
              <a:ea typeface="ヒラギノ角ゴ Pro W3" pitchFamily="-84" charset="-128"/>
            </a:endParaRPr>
          </a:p>
          <a:p>
            <a:pPr>
              <a:spcBef>
                <a:spcPts val="1800"/>
              </a:spcBef>
            </a:pPr>
            <a:r>
              <a:rPr lang="en-US" sz="2200" dirty="0" smtClean="0">
                <a:ea typeface="ヒラギノ角ゴ Pro W3" pitchFamily="-84" charset="-128"/>
              </a:rPr>
              <a:t>If the Fed follows through with its announced policy, inflation will be equal to zero.</a:t>
            </a:r>
          </a:p>
          <a:p>
            <a:endParaRPr lang="en-US" sz="2200" dirty="0" smtClean="0">
              <a:ea typeface="ヒラギノ角ゴ Pro W3" pitchFamily="-84" charset="-128"/>
            </a:endParaRPr>
          </a:p>
          <a:p>
            <a:endParaRPr lang="en-US" sz="2200" dirty="0">
              <a:ea typeface="ヒラギノ角ゴ Pro W3" pitchFamily="-84" charset="-128"/>
            </a:endParaRPr>
          </a:p>
        </p:txBody>
      </p:sp>
      <p:pic>
        <p:nvPicPr>
          <p:cNvPr id="2" name="Picture 1"/>
          <p:cNvPicPr>
            <a:picLocks noChangeAspect="1"/>
          </p:cNvPicPr>
          <p:nvPr/>
        </p:nvPicPr>
        <p:blipFill>
          <a:blip r:embed="rId2" cstate="print"/>
          <a:stretch>
            <a:fillRect/>
          </a:stretch>
        </p:blipFill>
        <p:spPr>
          <a:xfrm>
            <a:off x="2061730" y="2286000"/>
            <a:ext cx="6791325" cy="371475"/>
          </a:xfrm>
          <a:prstGeom prst="rect">
            <a:avLst/>
          </a:prstGeom>
        </p:spPr>
      </p:pic>
      <p:pic>
        <p:nvPicPr>
          <p:cNvPr id="3" name="Picture 2"/>
          <p:cNvPicPr>
            <a:picLocks noChangeAspect="1"/>
          </p:cNvPicPr>
          <p:nvPr/>
        </p:nvPicPr>
        <p:blipFill>
          <a:blip r:embed="rId3" cstate="print"/>
          <a:stretch>
            <a:fillRect/>
          </a:stretch>
        </p:blipFill>
        <p:spPr>
          <a:xfrm>
            <a:off x="2219325" y="3895725"/>
            <a:ext cx="6619875" cy="371475"/>
          </a:xfrm>
          <a:prstGeom prst="rect">
            <a:avLst/>
          </a:prstGeom>
        </p:spPr>
      </p:pic>
    </p:spTree>
    <p:extLst>
      <p:ext uri="{BB962C8B-B14F-4D97-AF65-F5344CB8AC3E}">
        <p14:creationId xmlns="" xmlns:p14="http://schemas.microsoft.com/office/powerpoint/2010/main" val="2470711046"/>
      </p:ext>
    </p:extLst>
  </p:cSld>
  <p:clrMapOvr>
    <a:masterClrMapping/>
  </p:clrMapOvr>
  <p:transition>
    <p:strips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ea typeface="ヒラギノ角ゴ Pro W3" pitchFamily="-65" charset="-128"/>
              </a:rPr>
              <a:t>21-2 Expectations and Policy</a:t>
            </a:r>
          </a:p>
        </p:txBody>
      </p:sp>
      <p:sp>
        <p:nvSpPr>
          <p:cNvPr id="5" name="Content Placeholder 2"/>
          <p:cNvSpPr>
            <a:spLocks noGrp="1"/>
          </p:cNvSpPr>
          <p:nvPr>
            <p:ph idx="1"/>
          </p:nvPr>
        </p:nvSpPr>
        <p:spPr>
          <a:xfrm>
            <a:off x="381000" y="1295400"/>
            <a:ext cx="8305800" cy="4648200"/>
          </a:xfrm>
        </p:spPr>
        <p:txBody>
          <a:bodyPr/>
          <a:lstStyle/>
          <a:p>
            <a:r>
              <a:rPr lang="en-US" sz="2200" dirty="0" smtClean="0">
                <a:ea typeface="ヒラギノ角ゴ Pro W3" pitchFamily="-84" charset="-128"/>
              </a:rPr>
              <a:t>Recall from Chapter 8 that </a:t>
            </a:r>
            <a:r>
              <a:rPr lang="el-GR" sz="2400" i="1" dirty="0" smtClean="0">
                <a:latin typeface="Times New Roman" panose="02020603050405020304" pitchFamily="18" charset="0"/>
                <a:ea typeface="ヒラギノ角ゴ Pro W3" pitchFamily="-84" charset="-128"/>
                <a:cs typeface="Times New Roman" panose="02020603050405020304" pitchFamily="18" charset="0"/>
              </a:rPr>
              <a:t>α</a:t>
            </a:r>
            <a:r>
              <a:rPr lang="en-US" sz="2400" i="1" dirty="0" smtClean="0">
                <a:latin typeface="Times New Roman" panose="02020603050405020304" pitchFamily="18" charset="0"/>
                <a:ea typeface="ヒラギノ角ゴ Pro W3" pitchFamily="-84" charset="-128"/>
                <a:cs typeface="Times New Roman" panose="02020603050405020304" pitchFamily="18" charset="0"/>
              </a:rPr>
              <a:t> </a:t>
            </a:r>
            <a:r>
              <a:rPr lang="en-US" sz="2200" dirty="0" smtClean="0">
                <a:ea typeface="ヒラギノ角ゴ Pro W3" pitchFamily="-84" charset="-128"/>
                <a:cs typeface="Times New Roman" panose="02020603050405020304" pitchFamily="18" charset="0"/>
              </a:rPr>
              <a:t>is roughly equal to 0.5, i.e., the Fed can accept just 1% if it achieves an unemployment rate of 2% below the natural rate of unemployment.</a:t>
            </a:r>
          </a:p>
          <a:p>
            <a:r>
              <a:rPr lang="en-US" sz="2200" b="1" dirty="0" smtClean="0">
                <a:ea typeface="ヒラギノ角ゴ Pro W3" pitchFamily="-84" charset="-128"/>
                <a:cs typeface="Times New Roman" panose="02020603050405020304" pitchFamily="18" charset="0"/>
              </a:rPr>
              <a:t>Time inconsistency </a:t>
            </a:r>
            <a:r>
              <a:rPr lang="en-US" sz="2200" dirty="0" smtClean="0">
                <a:ea typeface="ヒラギノ角ゴ Pro W3" pitchFamily="-84" charset="-128"/>
                <a:cs typeface="Times New Roman" panose="02020603050405020304" pitchFamily="18" charset="0"/>
              </a:rPr>
              <a:t>of optimal policy: An incentive to deviate from the announced policy once the other player has made his move.</a:t>
            </a:r>
          </a:p>
          <a:p>
            <a:r>
              <a:rPr lang="en-US" sz="2200" dirty="0" smtClean="0">
                <a:ea typeface="ヒラギノ角ゴ Pro W3" pitchFamily="-84" charset="-128"/>
                <a:cs typeface="Times New Roman" panose="02020603050405020304" pitchFamily="18" charset="0"/>
              </a:rPr>
              <a:t>The end result is an economy with the </a:t>
            </a:r>
            <a:r>
              <a:rPr lang="en-US" sz="2200" i="1" dirty="0" smtClean="0">
                <a:ea typeface="ヒラギノ角ゴ Pro W3" pitchFamily="-84" charset="-128"/>
                <a:cs typeface="Times New Roman" panose="02020603050405020304" pitchFamily="18" charset="0"/>
              </a:rPr>
              <a:t>same unemployment rate </a:t>
            </a:r>
            <a:r>
              <a:rPr lang="en-US" sz="2200" dirty="0" smtClean="0">
                <a:ea typeface="ヒラギノ角ゴ Pro W3" pitchFamily="-84" charset="-128"/>
                <a:cs typeface="Times New Roman" panose="02020603050405020304" pitchFamily="18" charset="0"/>
              </a:rPr>
              <a:t>that would have prevailed if he Fed had followed its announced policy, but with </a:t>
            </a:r>
            <a:r>
              <a:rPr lang="en-US" sz="2200" i="1" dirty="0" smtClean="0">
                <a:ea typeface="ヒラギノ角ゴ Pro W3" pitchFamily="-84" charset="-128"/>
                <a:cs typeface="Times New Roman" panose="02020603050405020304" pitchFamily="18" charset="0"/>
              </a:rPr>
              <a:t>much higher inflation</a:t>
            </a:r>
            <a:r>
              <a:rPr lang="en-US" sz="2200" dirty="0" smtClean="0">
                <a:ea typeface="ヒラギノ角ゴ Pro W3" pitchFamily="-84" charset="-128"/>
                <a:cs typeface="Times New Roman" panose="02020603050405020304" pitchFamily="18" charset="0"/>
              </a:rPr>
              <a:t>.</a:t>
            </a:r>
          </a:p>
          <a:p>
            <a:r>
              <a:rPr lang="en-US" sz="2200" dirty="0" smtClean="0">
                <a:ea typeface="ヒラギノ角ゴ Pro W3" pitchFamily="-84" charset="-128"/>
                <a:cs typeface="Times New Roman" panose="02020603050405020304" pitchFamily="18" charset="0"/>
              </a:rPr>
              <a:t>Attempts by the Fed to make things better lead in the end to things being worse. </a:t>
            </a:r>
          </a:p>
          <a:p>
            <a:endParaRPr lang="en-US" sz="2200" i="1" dirty="0" smtClean="0">
              <a:ea typeface="ヒラギノ角ゴ Pro W3" pitchFamily="-84" charset="-128"/>
            </a:endParaRPr>
          </a:p>
          <a:p>
            <a:endParaRPr lang="en-US" sz="2200" dirty="0" smtClean="0">
              <a:ea typeface="ヒラギノ角ゴ Pro W3" pitchFamily="-84" charset="-128"/>
            </a:endParaRPr>
          </a:p>
          <a:p>
            <a:endParaRPr lang="en-US" sz="2200" dirty="0">
              <a:ea typeface="ヒラギノ角ゴ Pro W3" pitchFamily="-84" charset="-128"/>
            </a:endParaRPr>
          </a:p>
        </p:txBody>
      </p:sp>
    </p:spTree>
    <p:extLst>
      <p:ext uri="{BB962C8B-B14F-4D97-AF65-F5344CB8AC3E}">
        <p14:creationId xmlns="" xmlns:p14="http://schemas.microsoft.com/office/powerpoint/2010/main" val="1704616926"/>
      </p:ext>
    </p:extLst>
  </p:cSld>
  <p:clrMapOvr>
    <a:masterClrMapping/>
  </p:clrMapOvr>
  <p:transition>
    <p:strips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ea typeface="ヒラギノ角ゴ Pro W3" pitchFamily="-65" charset="-128"/>
              </a:rPr>
              <a:t>21-2 Expectations and Policy</a:t>
            </a:r>
          </a:p>
        </p:txBody>
      </p:sp>
      <p:sp>
        <p:nvSpPr>
          <p:cNvPr id="5" name="Content Placeholder 2"/>
          <p:cNvSpPr>
            <a:spLocks noGrp="1"/>
          </p:cNvSpPr>
          <p:nvPr>
            <p:ph idx="1"/>
          </p:nvPr>
        </p:nvSpPr>
        <p:spPr>
          <a:xfrm>
            <a:off x="381000" y="1295400"/>
            <a:ext cx="8305800" cy="4648200"/>
          </a:xfrm>
        </p:spPr>
        <p:txBody>
          <a:bodyPr/>
          <a:lstStyle/>
          <a:p>
            <a:r>
              <a:rPr lang="en-US" sz="2200" dirty="0" smtClean="0">
                <a:ea typeface="ヒラギノ角ゴ Pro W3" pitchFamily="-84" charset="-128"/>
                <a:cs typeface="Times New Roman" panose="02020603050405020304" pitchFamily="18" charset="0"/>
              </a:rPr>
              <a:t>One </a:t>
            </a:r>
            <a:r>
              <a:rPr lang="en-US" sz="2200" dirty="0">
                <a:ea typeface="ヒラギノ角ゴ Pro W3" pitchFamily="-84" charset="-128"/>
                <a:cs typeface="Times New Roman" panose="02020603050405020304" pitchFamily="18" charset="0"/>
              </a:rPr>
              <a:t>w</a:t>
            </a:r>
            <a:r>
              <a:rPr lang="en-US" sz="2200" dirty="0" smtClean="0">
                <a:ea typeface="ヒラギノ角ゴ Pro W3" pitchFamily="-84" charset="-128"/>
                <a:cs typeface="Times New Roman" panose="02020603050405020304" pitchFamily="18" charset="0"/>
              </a:rPr>
              <a:t>ay for a central bank to establish its credibility not to deviate from its announced policy is to give up its policy-making power as defined by law.</a:t>
            </a:r>
          </a:p>
          <a:p>
            <a:r>
              <a:rPr lang="en-US" sz="2200" dirty="0" smtClean="0">
                <a:ea typeface="ヒラギノ角ゴ Pro W3" pitchFamily="-84" charset="-128"/>
                <a:cs typeface="Times New Roman" panose="02020603050405020304" pitchFamily="18" charset="0"/>
              </a:rPr>
              <a:t>A first step to deal with the problem of time inconsistency is to set up an </a:t>
            </a:r>
            <a:r>
              <a:rPr lang="en-US" sz="2200" b="1" dirty="0" smtClean="0">
                <a:ea typeface="ヒラギノ角ゴ Pro W3" pitchFamily="-84" charset="-128"/>
                <a:cs typeface="Times New Roman" panose="02020603050405020304" pitchFamily="18" charset="0"/>
              </a:rPr>
              <a:t>independent central bank</a:t>
            </a:r>
            <a:r>
              <a:rPr lang="en-US" sz="2200" dirty="0" smtClean="0">
                <a:ea typeface="ヒラギノ角ゴ Pro W3" pitchFamily="-84" charset="-128"/>
                <a:cs typeface="Times New Roman" panose="02020603050405020304" pitchFamily="18" charset="0"/>
              </a:rPr>
              <a:t>, where interest rate and money supply decisions are made independent of the influence of the currently elected politicians.</a:t>
            </a:r>
          </a:p>
          <a:p>
            <a:r>
              <a:rPr lang="en-US" sz="2200" dirty="0" smtClean="0">
                <a:ea typeface="ヒラギノ角ゴ Pro W3" pitchFamily="-84" charset="-128"/>
                <a:cs typeface="Times New Roman" panose="02020603050405020304" pitchFamily="18" charset="0"/>
              </a:rPr>
              <a:t>A second step is to give incentives to the central banks to take the long view about the costs from higher inflation.</a:t>
            </a:r>
          </a:p>
          <a:p>
            <a:r>
              <a:rPr lang="en-US" sz="2200" dirty="0" smtClean="0">
                <a:ea typeface="ヒラギノ角ゴ Pro W3" pitchFamily="-84" charset="-128"/>
                <a:cs typeface="Times New Roman" panose="02020603050405020304" pitchFamily="18" charset="0"/>
              </a:rPr>
              <a:t>A third step may be to appoint a “conservative” central banker, who dislikes inflation very much.</a:t>
            </a:r>
          </a:p>
          <a:p>
            <a:endParaRPr lang="en-US" sz="2200" i="1" dirty="0" smtClean="0">
              <a:ea typeface="ヒラギノ角ゴ Pro W3" pitchFamily="-84" charset="-128"/>
            </a:endParaRPr>
          </a:p>
          <a:p>
            <a:endParaRPr lang="en-US" sz="2200" dirty="0" smtClean="0">
              <a:ea typeface="ヒラギノ角ゴ Pro W3" pitchFamily="-84" charset="-128"/>
            </a:endParaRPr>
          </a:p>
          <a:p>
            <a:endParaRPr lang="en-US" sz="2200" dirty="0">
              <a:ea typeface="ヒラギノ角ゴ Pro W3" pitchFamily="-84" charset="-128"/>
            </a:endParaRPr>
          </a:p>
        </p:txBody>
      </p:sp>
    </p:spTree>
    <p:extLst>
      <p:ext uri="{BB962C8B-B14F-4D97-AF65-F5344CB8AC3E}">
        <p14:creationId xmlns="" xmlns:p14="http://schemas.microsoft.com/office/powerpoint/2010/main" val="2032753316"/>
      </p:ext>
    </p:extLst>
  </p:cSld>
  <p:clrMapOvr>
    <a:masterClrMapping/>
  </p:clrMapOvr>
  <p:transition>
    <p:strips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smtClean="0">
                <a:ea typeface="ヒラギノ角ゴ Pro W3" pitchFamily="-65" charset="-128"/>
              </a:rPr>
              <a:t>21-2 Expectations and Policy</a:t>
            </a:r>
          </a:p>
        </p:txBody>
      </p:sp>
      <p:pic>
        <p:nvPicPr>
          <p:cNvPr id="19459" name="Picture 5" descr="fig22_03.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57200" y="1828800"/>
            <a:ext cx="7602127" cy="4106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9460" name="TextBox 6"/>
          <p:cNvSpPr txBox="1">
            <a:spLocks noChangeArrowheads="1"/>
          </p:cNvSpPr>
          <p:nvPr/>
        </p:nvSpPr>
        <p:spPr bwMode="auto">
          <a:xfrm>
            <a:off x="381000" y="1300956"/>
            <a:ext cx="8382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21-3  </a:t>
            </a:r>
            <a:r>
              <a:rPr lang="en-US" sz="1800" dirty="0">
                <a:latin typeface="Verdana" panose="020B0604030504040204" pitchFamily="34" charset="0"/>
              </a:rPr>
              <a:t>Inflation and Central Bank Independence</a:t>
            </a:r>
          </a:p>
        </p:txBody>
      </p:sp>
      <p:sp>
        <p:nvSpPr>
          <p:cNvPr id="2" name="Rectangle 1"/>
          <p:cNvSpPr/>
          <p:nvPr/>
        </p:nvSpPr>
        <p:spPr>
          <a:xfrm>
            <a:off x="6324600" y="3352800"/>
            <a:ext cx="2057400" cy="1815882"/>
          </a:xfrm>
          <a:prstGeom prst="rect">
            <a:avLst/>
          </a:prstGeom>
        </p:spPr>
        <p:txBody>
          <a:bodyPr wrap="square">
            <a:spAutoFit/>
          </a:bodyPr>
          <a:lstStyle/>
          <a:p>
            <a:r>
              <a:rPr lang="en-US" sz="1600" dirty="0">
                <a:latin typeface="+mn-lt"/>
              </a:rPr>
              <a:t>Across OECD countries, </a:t>
            </a:r>
            <a:r>
              <a:rPr lang="en-US" sz="1600" dirty="0" smtClean="0">
                <a:latin typeface="+mn-lt"/>
              </a:rPr>
              <a:t>the higher </a:t>
            </a:r>
            <a:r>
              <a:rPr lang="en-US" sz="1600" dirty="0">
                <a:latin typeface="+mn-lt"/>
              </a:rPr>
              <a:t>the degree of </a:t>
            </a:r>
            <a:r>
              <a:rPr lang="en-US" sz="1600" dirty="0" smtClean="0">
                <a:latin typeface="+mn-lt"/>
              </a:rPr>
              <a:t>central bank </a:t>
            </a:r>
            <a:r>
              <a:rPr lang="en-US" sz="1600" dirty="0">
                <a:latin typeface="+mn-lt"/>
              </a:rPr>
              <a:t>independence, the </a:t>
            </a:r>
            <a:r>
              <a:rPr lang="en-US" sz="1600" dirty="0" smtClean="0">
                <a:latin typeface="+mn-lt"/>
              </a:rPr>
              <a:t>lower the </a:t>
            </a:r>
            <a:r>
              <a:rPr lang="en-US" sz="1600" dirty="0">
                <a:latin typeface="+mn-lt"/>
              </a:rPr>
              <a:t>rate of inflation.</a:t>
            </a:r>
          </a:p>
        </p:txBody>
      </p:sp>
    </p:spTree>
    <p:extLst>
      <p:ext uri="{BB962C8B-B14F-4D97-AF65-F5344CB8AC3E}">
        <p14:creationId xmlns="" xmlns:p14="http://schemas.microsoft.com/office/powerpoint/2010/main" val="4023427966"/>
      </p:ext>
    </p:extLst>
  </p:cSld>
  <p:clrMapOvr>
    <a:masterClrMapping/>
  </p:clrMapOvr>
  <p:transition>
    <p:strips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2800" dirty="0" smtClean="0">
                <a:ea typeface="ヒラギノ角ゴ Pro W3" pitchFamily="-65" charset="-128"/>
              </a:rPr>
              <a:t>FOCUS: Was Alan Blinder Wrong in Speaking the Truth?</a:t>
            </a:r>
          </a:p>
        </p:txBody>
      </p:sp>
      <p:sp>
        <p:nvSpPr>
          <p:cNvPr id="5" name="Content Placeholder 2"/>
          <p:cNvSpPr>
            <a:spLocks noGrp="1"/>
          </p:cNvSpPr>
          <p:nvPr>
            <p:ph idx="1"/>
          </p:nvPr>
        </p:nvSpPr>
        <p:spPr>
          <a:xfrm>
            <a:off x="381000" y="1295400"/>
            <a:ext cx="8305800" cy="4648200"/>
          </a:xfrm>
        </p:spPr>
        <p:txBody>
          <a:bodyPr/>
          <a:lstStyle/>
          <a:p>
            <a:r>
              <a:rPr lang="en-US" sz="2200" dirty="0" smtClean="0">
                <a:ea typeface="ヒラギノ角ゴ Pro W3" pitchFamily="-84" charset="-128"/>
                <a:cs typeface="Times New Roman" panose="02020603050405020304" pitchFamily="18" charset="0"/>
              </a:rPr>
              <a:t>In 1994, Alan Blinder, vice-chairman of the Federal Reserve Board, indicated his belief that the Fed has both the responsibility and ability to use monetary policy to help the economy recover when unemployment is high.</a:t>
            </a:r>
          </a:p>
          <a:p>
            <a:r>
              <a:rPr lang="en-US" sz="2200" dirty="0" smtClean="0">
                <a:ea typeface="ヒラギノ角ゴ Pro W3" pitchFamily="-84" charset="-128"/>
                <a:cs typeface="Times New Roman" panose="02020603050405020304" pitchFamily="18" charset="0"/>
              </a:rPr>
              <a:t>Bond prices fell in response because Blinder was perceived to be not a conservative central banker and higher expected inflation would lead to higher interest rates.</a:t>
            </a:r>
          </a:p>
          <a:p>
            <a:endParaRPr lang="en-US" sz="2200" i="1" dirty="0" smtClean="0">
              <a:ea typeface="ヒラギノ角ゴ Pro W3" pitchFamily="-84" charset="-128"/>
            </a:endParaRPr>
          </a:p>
          <a:p>
            <a:endParaRPr lang="en-US" sz="2200" dirty="0" smtClean="0">
              <a:ea typeface="ヒラギノ角ゴ Pro W3" pitchFamily="-84" charset="-128"/>
            </a:endParaRPr>
          </a:p>
          <a:p>
            <a:endParaRPr lang="en-US" sz="2200" dirty="0">
              <a:ea typeface="ヒラギノ角ゴ Pro W3" pitchFamily="-84" charset="-128"/>
            </a:endParaRPr>
          </a:p>
        </p:txBody>
      </p:sp>
    </p:spTree>
    <p:extLst>
      <p:ext uri="{BB962C8B-B14F-4D97-AF65-F5344CB8AC3E}">
        <p14:creationId xmlns="" xmlns:p14="http://schemas.microsoft.com/office/powerpoint/2010/main" val="2394142424"/>
      </p:ext>
    </p:extLst>
  </p:cSld>
  <p:clrMapOvr>
    <a:masterClrMapping/>
  </p:clrMapOvr>
  <p:transition>
    <p:strips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smtClean="0">
                <a:ea typeface="ヒラギノ角ゴ Pro W3" pitchFamily="-65" charset="-128"/>
              </a:rPr>
              <a:t>21-3 Politics and Policy</a:t>
            </a:r>
          </a:p>
        </p:txBody>
      </p:sp>
      <p:sp>
        <p:nvSpPr>
          <p:cNvPr id="20483" name="TextBox 3"/>
          <p:cNvSpPr txBox="1">
            <a:spLocks noChangeArrowheads="1"/>
          </p:cNvSpPr>
          <p:nvPr/>
        </p:nvSpPr>
        <p:spPr bwMode="auto">
          <a:xfrm>
            <a:off x="414867" y="1411500"/>
            <a:ext cx="84582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21-4  </a:t>
            </a:r>
            <a:r>
              <a:rPr lang="en-US" sz="1800" dirty="0">
                <a:latin typeface="Verdana" panose="020B0604030504040204" pitchFamily="34" charset="0"/>
              </a:rPr>
              <a:t>The Evolution of the U.S. Debt to GDP Ratio since 1900</a:t>
            </a:r>
          </a:p>
        </p:txBody>
      </p:sp>
      <p:pic>
        <p:nvPicPr>
          <p:cNvPr id="2" name="Picture 1"/>
          <p:cNvPicPr>
            <a:picLocks noChangeAspect="1"/>
          </p:cNvPicPr>
          <p:nvPr/>
        </p:nvPicPr>
        <p:blipFill>
          <a:blip r:embed="rId2" cstate="print"/>
          <a:stretch>
            <a:fillRect/>
          </a:stretch>
        </p:blipFill>
        <p:spPr>
          <a:xfrm>
            <a:off x="2666048" y="2057400"/>
            <a:ext cx="6173152" cy="3453512"/>
          </a:xfrm>
          <a:prstGeom prst="rect">
            <a:avLst/>
          </a:prstGeom>
        </p:spPr>
      </p:pic>
      <p:pic>
        <p:nvPicPr>
          <p:cNvPr id="3" name="Picture 2"/>
          <p:cNvPicPr>
            <a:picLocks noChangeAspect="1"/>
          </p:cNvPicPr>
          <p:nvPr/>
        </p:nvPicPr>
        <p:blipFill>
          <a:blip r:embed="rId3" cstate="print"/>
          <a:stretch>
            <a:fillRect/>
          </a:stretch>
        </p:blipFill>
        <p:spPr>
          <a:xfrm>
            <a:off x="515923" y="5024225"/>
            <a:ext cx="2028825" cy="333375"/>
          </a:xfrm>
          <a:prstGeom prst="rect">
            <a:avLst/>
          </a:prstGeom>
        </p:spPr>
      </p:pic>
      <p:sp>
        <p:nvSpPr>
          <p:cNvPr id="4" name="Rectangle 3"/>
          <p:cNvSpPr/>
          <p:nvPr/>
        </p:nvSpPr>
        <p:spPr>
          <a:xfrm>
            <a:off x="424643" y="2286000"/>
            <a:ext cx="2211387" cy="2462213"/>
          </a:xfrm>
          <a:prstGeom prst="rect">
            <a:avLst/>
          </a:prstGeom>
        </p:spPr>
        <p:txBody>
          <a:bodyPr wrap="square">
            <a:spAutoFit/>
          </a:bodyPr>
          <a:lstStyle/>
          <a:p>
            <a:r>
              <a:rPr lang="en-US" sz="1400" dirty="0">
                <a:latin typeface="+mn-lt"/>
              </a:rPr>
              <a:t>The three major buildups </a:t>
            </a:r>
            <a:r>
              <a:rPr lang="en-US" sz="1400" dirty="0" smtClean="0">
                <a:latin typeface="+mn-lt"/>
              </a:rPr>
              <a:t>of debt </a:t>
            </a:r>
            <a:r>
              <a:rPr lang="en-US" sz="1400" dirty="0">
                <a:latin typeface="+mn-lt"/>
              </a:rPr>
              <a:t>since 1900 have </a:t>
            </a:r>
            <a:r>
              <a:rPr lang="en-US" sz="1400" dirty="0" smtClean="0">
                <a:latin typeface="+mn-lt"/>
              </a:rPr>
              <a:t>been associated </a:t>
            </a:r>
            <a:r>
              <a:rPr lang="en-US" sz="1400" dirty="0">
                <a:latin typeface="+mn-lt"/>
              </a:rPr>
              <a:t>with World </a:t>
            </a:r>
            <a:r>
              <a:rPr lang="en-US" sz="1400" dirty="0" smtClean="0">
                <a:latin typeface="+mn-lt"/>
              </a:rPr>
              <a:t>War I</a:t>
            </a:r>
            <a:r>
              <a:rPr lang="en-US" sz="1400" dirty="0">
                <a:latin typeface="+mn-lt"/>
              </a:rPr>
              <a:t>, the Great Depression, </a:t>
            </a:r>
            <a:r>
              <a:rPr lang="en-US" sz="1400" dirty="0" smtClean="0">
                <a:latin typeface="+mn-lt"/>
              </a:rPr>
              <a:t>and World </a:t>
            </a:r>
            <a:r>
              <a:rPr lang="en-US" sz="1400" dirty="0">
                <a:latin typeface="+mn-lt"/>
              </a:rPr>
              <a:t>War II. The </a:t>
            </a:r>
            <a:r>
              <a:rPr lang="en-US" sz="1400" dirty="0" smtClean="0">
                <a:latin typeface="+mn-lt"/>
              </a:rPr>
              <a:t>buildup since </a:t>
            </a:r>
            <a:r>
              <a:rPr lang="en-US" sz="1400" dirty="0">
                <a:latin typeface="+mn-lt"/>
              </a:rPr>
              <a:t>1980 has not </a:t>
            </a:r>
            <a:r>
              <a:rPr lang="en-US" sz="1400" dirty="0" smtClean="0">
                <a:latin typeface="+mn-lt"/>
              </a:rPr>
              <a:t>been caused </a:t>
            </a:r>
            <a:r>
              <a:rPr lang="en-US" sz="1400" dirty="0">
                <a:latin typeface="+mn-lt"/>
              </a:rPr>
              <a:t>by either wars or </a:t>
            </a:r>
            <a:r>
              <a:rPr lang="en-US" sz="1400" dirty="0" smtClean="0">
                <a:latin typeface="+mn-lt"/>
              </a:rPr>
              <a:t>adverse economic </a:t>
            </a:r>
            <a:r>
              <a:rPr lang="en-US" sz="1400" dirty="0">
                <a:latin typeface="+mn-lt"/>
              </a:rPr>
              <a:t>shocks.</a:t>
            </a:r>
          </a:p>
        </p:txBody>
      </p:sp>
    </p:spTree>
    <p:extLst>
      <p:ext uri="{BB962C8B-B14F-4D97-AF65-F5344CB8AC3E}">
        <p14:creationId xmlns="" xmlns:p14="http://schemas.microsoft.com/office/powerpoint/2010/main" val="1534208993"/>
      </p:ext>
    </p:extLst>
  </p:cSld>
  <p:clrMapOvr>
    <a:masterClrMapping/>
  </p:clrMapOvr>
  <p:transition>
    <p:strips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ea typeface="ヒラギノ角ゴ Pro W3" pitchFamily="-65" charset="-128"/>
              </a:rPr>
              <a:t>21-3 Politics and Policy</a:t>
            </a:r>
          </a:p>
        </p:txBody>
      </p:sp>
      <p:sp>
        <p:nvSpPr>
          <p:cNvPr id="21507" name="TextBox 3"/>
          <p:cNvSpPr txBox="1">
            <a:spLocks noChangeArrowheads="1"/>
          </p:cNvSpPr>
          <p:nvPr/>
        </p:nvSpPr>
        <p:spPr bwMode="auto">
          <a:xfrm>
            <a:off x="381000" y="3468687"/>
            <a:ext cx="8458200"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Table </a:t>
            </a:r>
            <a:r>
              <a:rPr lang="en-US" sz="1800" b="1" dirty="0" smtClean="0">
                <a:latin typeface="Verdana" panose="020B0604030504040204" pitchFamily="34" charset="0"/>
              </a:rPr>
              <a:t>21-1  </a:t>
            </a:r>
            <a:r>
              <a:rPr lang="en-US" sz="1800" dirty="0">
                <a:latin typeface="Verdana" panose="020B0604030504040204" pitchFamily="34" charset="0"/>
              </a:rPr>
              <a:t>Growth during Democratic and Republican Presidential</a:t>
            </a:r>
          </a:p>
          <a:p>
            <a:r>
              <a:rPr lang="en-US" sz="1800" dirty="0" smtClean="0">
                <a:latin typeface="Verdana" panose="020B0604030504040204" pitchFamily="34" charset="0"/>
              </a:rPr>
              <a:t>Administrations: 1948−2012</a:t>
            </a:r>
            <a:endParaRPr lang="en-US" sz="1800" dirty="0">
              <a:latin typeface="Verdana" panose="020B0604030504040204" pitchFamily="34" charset="0"/>
            </a:endParaRPr>
          </a:p>
        </p:txBody>
      </p:sp>
      <p:pic>
        <p:nvPicPr>
          <p:cNvPr id="2" name="Picture 1"/>
          <p:cNvPicPr>
            <a:picLocks noChangeAspect="1"/>
          </p:cNvPicPr>
          <p:nvPr/>
        </p:nvPicPr>
        <p:blipFill>
          <a:blip r:embed="rId2" cstate="print"/>
          <a:stretch>
            <a:fillRect/>
          </a:stretch>
        </p:blipFill>
        <p:spPr>
          <a:xfrm>
            <a:off x="533400" y="4114800"/>
            <a:ext cx="7705883" cy="1981200"/>
          </a:xfrm>
          <a:prstGeom prst="rect">
            <a:avLst/>
          </a:prstGeom>
        </p:spPr>
      </p:pic>
      <p:sp>
        <p:nvSpPr>
          <p:cNvPr id="6" name="Rectangle 5"/>
          <p:cNvSpPr/>
          <p:nvPr/>
        </p:nvSpPr>
        <p:spPr>
          <a:xfrm>
            <a:off x="415636" y="1448232"/>
            <a:ext cx="8079739" cy="1015663"/>
          </a:xfrm>
          <a:prstGeom prst="rect">
            <a:avLst/>
          </a:prstGeom>
        </p:spPr>
        <p:txBody>
          <a:bodyPr wrap="square">
            <a:spAutoFit/>
          </a:bodyPr>
          <a:lstStyle/>
          <a:p>
            <a:pPr marL="285750" indent="-285750">
              <a:buFont typeface="Arial" panose="020B0604020202020204" pitchFamily="34" charset="0"/>
              <a:buChar char="•"/>
            </a:pPr>
            <a:r>
              <a:rPr lang="en-US" sz="2000" b="1" dirty="0" smtClean="0">
                <a:latin typeface="+mn-lt"/>
              </a:rPr>
              <a:t>Political business cycle</a:t>
            </a:r>
            <a:r>
              <a:rPr lang="en-US" sz="2000" dirty="0" smtClean="0">
                <a:latin typeface="+mn-lt"/>
              </a:rPr>
              <a:t>: Economic fluctuations induced by political elections, resulting in higher growth on average before elections than after elections.</a:t>
            </a:r>
            <a:endParaRPr lang="en-US" sz="2000" dirty="0">
              <a:latin typeface="+mn-lt"/>
            </a:endParaRPr>
          </a:p>
        </p:txBody>
      </p:sp>
    </p:spTree>
    <p:extLst>
      <p:ext uri="{BB962C8B-B14F-4D97-AF65-F5344CB8AC3E}">
        <p14:creationId xmlns="" xmlns:p14="http://schemas.microsoft.com/office/powerpoint/2010/main" val="416110168"/>
      </p:ext>
    </p:extLst>
  </p:cSld>
  <p:clrMapOvr>
    <a:masterClrMapping/>
  </p:clrMapOvr>
  <p:transition>
    <p:strips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ea typeface="ヒラギノ角ゴ Pro W3" pitchFamily="-65" charset="-128"/>
              </a:rPr>
              <a:t>21-3 Politics and Policy</a:t>
            </a:r>
          </a:p>
        </p:txBody>
      </p:sp>
      <p:sp>
        <p:nvSpPr>
          <p:cNvPr id="6" name="Rectangle 5"/>
          <p:cNvSpPr/>
          <p:nvPr/>
        </p:nvSpPr>
        <p:spPr>
          <a:xfrm>
            <a:off x="415636" y="1448232"/>
            <a:ext cx="8079739" cy="2385268"/>
          </a:xfrm>
          <a:prstGeom prst="rect">
            <a:avLst/>
          </a:prstGeom>
        </p:spPr>
        <p:txBody>
          <a:bodyPr wrap="square">
            <a:spAutoFit/>
          </a:bodyPr>
          <a:lstStyle/>
          <a:p>
            <a:pPr marL="285750" indent="-285750">
              <a:spcBef>
                <a:spcPts val="600"/>
              </a:spcBef>
              <a:buFont typeface="Arial" panose="020B0604020202020204" pitchFamily="34" charset="0"/>
              <a:buChar char="•"/>
            </a:pPr>
            <a:r>
              <a:rPr lang="en-US" sz="2400" b="1" dirty="0" smtClean="0">
                <a:latin typeface="+mn-lt"/>
              </a:rPr>
              <a:t>Wars of attrition: </a:t>
            </a:r>
            <a:r>
              <a:rPr lang="en-US" sz="2400" dirty="0" smtClean="0">
                <a:latin typeface="+mn-lt"/>
              </a:rPr>
              <a:t>The hope in that the other side will give in leads to long and often costly delays.</a:t>
            </a:r>
          </a:p>
          <a:p>
            <a:pPr marL="285750" indent="-285750">
              <a:spcBef>
                <a:spcPts val="600"/>
              </a:spcBef>
              <a:buFont typeface="Arial" panose="020B0604020202020204" pitchFamily="34" charset="0"/>
              <a:buChar char="•"/>
            </a:pPr>
            <a:r>
              <a:rPr lang="en-US" sz="2400" dirty="0" smtClean="0">
                <a:latin typeface="+mn-lt"/>
              </a:rPr>
              <a:t>Wars of attrition happen often in the context of fiscal policy in </a:t>
            </a:r>
            <a:r>
              <a:rPr lang="en-US" sz="2400" dirty="0">
                <a:latin typeface="+mn-lt"/>
              </a:rPr>
              <a:t>games between policy </a:t>
            </a:r>
            <a:r>
              <a:rPr lang="en-US" sz="2400" dirty="0" smtClean="0">
                <a:latin typeface="+mn-lt"/>
              </a:rPr>
              <a:t>makers, and deficit reduction occurs long after it should.</a:t>
            </a:r>
            <a:endParaRPr lang="en-US" sz="2400" dirty="0">
              <a:latin typeface="+mn-lt"/>
            </a:endParaRPr>
          </a:p>
        </p:txBody>
      </p:sp>
    </p:spTree>
    <p:extLst>
      <p:ext uri="{BB962C8B-B14F-4D97-AF65-F5344CB8AC3E}">
        <p14:creationId xmlns="" xmlns:p14="http://schemas.microsoft.com/office/powerpoint/2010/main" val="2045559970"/>
      </p:ext>
    </p:extLst>
  </p:cSld>
  <p:clrMapOvr>
    <a:masterClrMapping/>
  </p:clrMapOvr>
  <p:transition>
    <p:strips dir="l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381000" y="0"/>
            <a:ext cx="8458200" cy="1143000"/>
          </a:xfrm>
        </p:spPr>
        <p:txBody>
          <a:bodyPr/>
          <a:lstStyle/>
          <a:p>
            <a:r>
              <a:rPr lang="en-US" sz="2800" dirty="0" smtClean="0">
                <a:ea typeface="ヒラギノ角ゴ Pro W3" pitchFamily="-65" charset="-128"/>
              </a:rPr>
              <a:t>FOCUS: Euro Area Fiscal Rules: A Short History</a:t>
            </a:r>
          </a:p>
        </p:txBody>
      </p:sp>
      <p:sp>
        <p:nvSpPr>
          <p:cNvPr id="22531" name="TextBox 3"/>
          <p:cNvSpPr txBox="1">
            <a:spLocks noChangeArrowheads="1"/>
          </p:cNvSpPr>
          <p:nvPr/>
        </p:nvSpPr>
        <p:spPr bwMode="auto">
          <a:xfrm>
            <a:off x="397164" y="2144890"/>
            <a:ext cx="8763000"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600" b="1" dirty="0">
                <a:latin typeface="Verdana" panose="020B0604030504040204" pitchFamily="34" charset="0"/>
              </a:rPr>
              <a:t>Figure 1  </a:t>
            </a:r>
            <a:r>
              <a:rPr lang="en-US" sz="1600" dirty="0">
                <a:latin typeface="Verdana" panose="020B0604030504040204" pitchFamily="34" charset="0"/>
              </a:rPr>
              <a:t>Euro Area Budget Deficits as a Percentage of GDP, since </a:t>
            </a:r>
            <a:r>
              <a:rPr lang="en-US" sz="1600" dirty="0" smtClean="0">
                <a:latin typeface="Verdana" panose="020B0604030504040204" pitchFamily="34" charset="0"/>
              </a:rPr>
              <a:t>1995</a:t>
            </a:r>
            <a:endParaRPr lang="en-US" sz="1600" dirty="0">
              <a:latin typeface="Verdana" panose="020B0604030504040204" pitchFamily="34" charset="0"/>
            </a:endParaRPr>
          </a:p>
        </p:txBody>
      </p:sp>
      <p:pic>
        <p:nvPicPr>
          <p:cNvPr id="2" name="Picture 1"/>
          <p:cNvPicPr>
            <a:picLocks noChangeAspect="1"/>
          </p:cNvPicPr>
          <p:nvPr/>
        </p:nvPicPr>
        <p:blipFill>
          <a:blip r:embed="rId2" cstate="print"/>
          <a:stretch>
            <a:fillRect/>
          </a:stretch>
        </p:blipFill>
        <p:spPr>
          <a:xfrm>
            <a:off x="1066800" y="2483444"/>
            <a:ext cx="6810375" cy="3667125"/>
          </a:xfrm>
          <a:prstGeom prst="rect">
            <a:avLst/>
          </a:prstGeom>
        </p:spPr>
      </p:pic>
      <p:pic>
        <p:nvPicPr>
          <p:cNvPr id="3" name="Picture 2"/>
          <p:cNvPicPr>
            <a:picLocks noChangeAspect="1"/>
          </p:cNvPicPr>
          <p:nvPr/>
        </p:nvPicPr>
        <p:blipFill>
          <a:blip r:embed="rId3" cstate="print"/>
          <a:stretch>
            <a:fillRect/>
          </a:stretch>
        </p:blipFill>
        <p:spPr>
          <a:xfrm>
            <a:off x="1066800" y="6150569"/>
            <a:ext cx="1800225" cy="133350"/>
          </a:xfrm>
          <a:prstGeom prst="rect">
            <a:avLst/>
          </a:prstGeom>
        </p:spPr>
      </p:pic>
      <p:sp>
        <p:nvSpPr>
          <p:cNvPr id="7" name="TextBox 3"/>
          <p:cNvSpPr txBox="1">
            <a:spLocks noChangeArrowheads="1"/>
          </p:cNvSpPr>
          <p:nvPr/>
        </p:nvSpPr>
        <p:spPr bwMode="auto">
          <a:xfrm>
            <a:off x="359064" y="1170735"/>
            <a:ext cx="8502072" cy="923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sz="1800" dirty="0" smtClean="0">
                <a:latin typeface="Verdana" panose="020B0604030504040204" pitchFamily="34" charset="0"/>
              </a:rPr>
              <a:t>The Stability and Growth Pact was signed in 1997 by would be members of the Euro area aimed to reduce excessive budget deficits.</a:t>
            </a:r>
          </a:p>
          <a:p>
            <a:pPr marL="285750" indent="-285750">
              <a:buFont typeface="Arial" panose="020B0604020202020204" pitchFamily="34" charset="0"/>
              <a:buChar char="•"/>
            </a:pPr>
            <a:r>
              <a:rPr lang="en-US" sz="1800" dirty="0" smtClean="0">
                <a:latin typeface="Verdana" panose="020B0604030504040204" pitchFamily="34" charset="0"/>
              </a:rPr>
              <a:t>The ratio of deficit to GDP indeed declined through 2007.</a:t>
            </a:r>
            <a:endParaRPr lang="en-US" sz="1800" dirty="0">
              <a:latin typeface="Verdana" panose="020B0604030504040204" pitchFamily="34" charset="0"/>
            </a:endParaRPr>
          </a:p>
        </p:txBody>
      </p:sp>
    </p:spTree>
    <p:extLst>
      <p:ext uri="{BB962C8B-B14F-4D97-AF65-F5344CB8AC3E}">
        <p14:creationId xmlns="" xmlns:p14="http://schemas.microsoft.com/office/powerpoint/2010/main" val="3012095330"/>
      </p:ext>
    </p:extLst>
  </p:cSld>
  <p:clrMapOvr>
    <a:masterClrMapping/>
  </p:clrMapOvr>
  <p:transition>
    <p:strips dir="l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ea typeface="ヒラギノ角ゴ Pro W3" pitchFamily="-65" charset="-128"/>
              </a:rPr>
              <a:t>21-3 Politics and Policy</a:t>
            </a:r>
          </a:p>
        </p:txBody>
      </p:sp>
      <p:sp>
        <p:nvSpPr>
          <p:cNvPr id="6" name="Rectangle 5"/>
          <p:cNvSpPr/>
          <p:nvPr/>
        </p:nvSpPr>
        <p:spPr>
          <a:xfrm>
            <a:off x="415636" y="1448232"/>
            <a:ext cx="8194964" cy="4216539"/>
          </a:xfrm>
          <a:prstGeom prst="rect">
            <a:avLst/>
          </a:prstGeom>
        </p:spPr>
        <p:txBody>
          <a:bodyPr wrap="square">
            <a:spAutoFit/>
          </a:bodyPr>
          <a:lstStyle/>
          <a:p>
            <a:pPr marL="285750" indent="-285750">
              <a:spcBef>
                <a:spcPts val="600"/>
              </a:spcBef>
              <a:buFont typeface="Arial" panose="020B0604020202020204" pitchFamily="34" charset="0"/>
              <a:buChar char="•"/>
            </a:pPr>
            <a:r>
              <a:rPr lang="en-US" sz="2400" dirty="0" smtClean="0">
                <a:latin typeface="+mn-lt"/>
              </a:rPr>
              <a:t>To eliminate the problem of deficits, the U.S. government can pass a constitutional amendment to balance the budget each year.</a:t>
            </a:r>
          </a:p>
          <a:p>
            <a:pPr marL="285750" indent="-285750">
              <a:spcBef>
                <a:spcPts val="600"/>
              </a:spcBef>
              <a:buFont typeface="Arial" panose="020B0604020202020204" pitchFamily="34" charset="0"/>
              <a:buChar char="•"/>
            </a:pPr>
            <a:r>
              <a:rPr lang="en-US" sz="2400" dirty="0" smtClean="0">
                <a:latin typeface="+mn-lt"/>
              </a:rPr>
              <a:t>A better approach is to put in place rules that put limits either on deficits or on debt.</a:t>
            </a:r>
          </a:p>
          <a:p>
            <a:pPr marL="285750" indent="-285750">
              <a:spcBef>
                <a:spcPts val="600"/>
              </a:spcBef>
              <a:buFont typeface="Arial" panose="020B0604020202020204" pitchFamily="34" charset="0"/>
              <a:buChar char="•"/>
            </a:pPr>
            <a:r>
              <a:rPr lang="en-US" sz="2400" dirty="0" smtClean="0">
                <a:latin typeface="+mn-lt"/>
              </a:rPr>
              <a:t>The Budget Enforcement Act passed in 1990 introduced two main rules:</a:t>
            </a:r>
          </a:p>
          <a:p>
            <a:pPr marL="800100" lvl="1" indent="-342900">
              <a:spcBef>
                <a:spcPts val="600"/>
              </a:spcBef>
              <a:buFont typeface="Verdana" panose="020B0604030504040204" pitchFamily="34" charset="0"/>
              <a:buChar char="−"/>
            </a:pPr>
            <a:r>
              <a:rPr lang="en-US" sz="2000" b="1" dirty="0" smtClean="0">
                <a:latin typeface="+mn-lt"/>
              </a:rPr>
              <a:t>Spending caps</a:t>
            </a:r>
            <a:r>
              <a:rPr lang="en-US" sz="2000" dirty="0" smtClean="0">
                <a:latin typeface="+mn-lt"/>
              </a:rPr>
              <a:t>: Constraints on discretionary spending.</a:t>
            </a:r>
          </a:p>
          <a:p>
            <a:pPr marL="800100" lvl="1" indent="-342900">
              <a:spcBef>
                <a:spcPts val="600"/>
              </a:spcBef>
              <a:buFont typeface="Verdana" panose="020B0604030504040204" pitchFamily="34" charset="0"/>
              <a:buChar char="−"/>
            </a:pPr>
            <a:r>
              <a:rPr lang="en-US" sz="2000" b="1" dirty="0" smtClean="0">
                <a:latin typeface="+mn-lt"/>
              </a:rPr>
              <a:t>PAYGO rule </a:t>
            </a:r>
            <a:r>
              <a:rPr lang="en-US" sz="2000" dirty="0" smtClean="0">
                <a:latin typeface="+mn-lt"/>
              </a:rPr>
              <a:t>(pay-as-you-go): A new transfer program could only be adopted if it could be shown not to increase deficits in the future.</a:t>
            </a:r>
            <a:endParaRPr lang="en-US" sz="2000" dirty="0">
              <a:latin typeface="+mn-lt"/>
            </a:endParaRPr>
          </a:p>
        </p:txBody>
      </p:sp>
    </p:spTree>
    <p:extLst>
      <p:ext uri="{BB962C8B-B14F-4D97-AF65-F5344CB8AC3E}">
        <p14:creationId xmlns="" xmlns:p14="http://schemas.microsoft.com/office/powerpoint/2010/main" val="188988138"/>
      </p:ext>
    </p:extLst>
  </p:cSld>
  <p:clrMapOvr>
    <a:masterClrMapping/>
  </p:clrMapOvr>
  <p:transition>
    <p:strips dir="ld"/>
  </p:transition>
</p:sld>
</file>

<file path=ppt/theme/theme1.xml><?xml version="1.0" encoding="utf-8"?>
<a:theme xmlns:a="http://schemas.openxmlformats.org/drawingml/2006/main" name="template_LN01Brooks671956_02_LN01">
  <a:themeElements>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earson_PowerPoint_Template_Bekaer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earson_PowerPoint_Template_Bekaer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earson_PowerPoint_Template_Bekaer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earson_PowerPoint_Template_Bekaer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earson_PowerPoint_Template_Bekaer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earson_PowerPoint_Template_Bekaer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earson_PowerPoint_Template_Bekaert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earson_PowerPoint_Template_Bekaer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earson_PowerPoint_Template_Bekaer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earson_PowerPoint_Template_Bekaer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earson_PowerPoint_Template_Bekaer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earson_PowerPoint_Template_Bekaer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LN01Folland832739_07_LN01.pot</Template>
  <TotalTime>5979</TotalTime>
  <Words>970</Words>
  <Application>Microsoft Office PowerPoint</Application>
  <PresentationFormat>On-screen Show (4:3)</PresentationFormat>
  <Paragraphs>70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template_LN01Brooks671956_02_LN01</vt:lpstr>
      <vt:lpstr>Should Policy Makers Be Restrained?</vt:lpstr>
      <vt:lpstr>Chapter 21 Outline</vt:lpstr>
      <vt:lpstr>Should Policy Makers Be Restrained?</vt:lpstr>
      <vt:lpstr>Figure 21-1  The Contract with America</vt:lpstr>
      <vt:lpstr>21-1 Uncertainty and Policy</vt:lpstr>
      <vt:lpstr>21-1 Uncertainty and Policy</vt:lpstr>
      <vt:lpstr>21-2 Expectations and Policy</vt:lpstr>
      <vt:lpstr>21-2 Expectations and Policy</vt:lpstr>
      <vt:lpstr>21-2 Expectations and Policy</vt:lpstr>
      <vt:lpstr>21-2 Expectations and Policy</vt:lpstr>
      <vt:lpstr>21-2 Expectations and Policy</vt:lpstr>
      <vt:lpstr>FOCUS: Was Alan Blinder Wrong in Speaking the Truth?</vt:lpstr>
      <vt:lpstr>21-3 Politics and Policy</vt:lpstr>
      <vt:lpstr>21-3 Politics and Policy</vt:lpstr>
      <vt:lpstr>21-3 Politics and Policy</vt:lpstr>
      <vt:lpstr>FOCUS: Euro Area Fiscal Rules: A Short History</vt:lpstr>
      <vt:lpstr>21-3 Politics and Policy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Oliver Blanchard</dc:creator>
  <cp:lastModifiedBy>Paromita</cp:lastModifiedBy>
  <cp:revision>282</cp:revision>
  <dcterms:created xsi:type="dcterms:W3CDTF">2012-08-09T20:37:31Z</dcterms:created>
  <dcterms:modified xsi:type="dcterms:W3CDTF">2016-10-06T06:16:48Z</dcterms:modified>
</cp:coreProperties>
</file>