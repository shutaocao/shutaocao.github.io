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21"/>
  </p:notesMasterIdLst>
  <p:sldIdLst>
    <p:sldId id="256" r:id="rId2"/>
    <p:sldId id="269" r:id="rId3"/>
    <p:sldId id="357" r:id="rId4"/>
    <p:sldId id="517" r:id="rId5"/>
    <p:sldId id="518" r:id="rId6"/>
    <p:sldId id="509" r:id="rId7"/>
    <p:sldId id="519" r:id="rId8"/>
    <p:sldId id="520" r:id="rId9"/>
    <p:sldId id="521" r:id="rId10"/>
    <p:sldId id="508" r:id="rId11"/>
    <p:sldId id="523" r:id="rId12"/>
    <p:sldId id="510" r:id="rId13"/>
    <p:sldId id="524" r:id="rId14"/>
    <p:sldId id="525" r:id="rId15"/>
    <p:sldId id="526" r:id="rId16"/>
    <p:sldId id="499" r:id="rId17"/>
    <p:sldId id="527" r:id="rId18"/>
    <p:sldId id="528" r:id="rId19"/>
    <p:sldId id="506" r:id="rId2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599D"/>
    <a:srgbClr val="BBE5FB"/>
    <a:srgbClr val="BFDC42"/>
    <a:srgbClr val="D8F2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8" autoAdjust="0"/>
    <p:restoredTop sz="94690"/>
  </p:normalViewPr>
  <p:slideViewPr>
    <p:cSldViewPr>
      <p:cViewPr varScale="1">
        <p:scale>
          <a:sx n="76" d="100"/>
          <a:sy n="76" d="100"/>
        </p:scale>
        <p:origin x="-84" y="-9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58A83D-3E8E-422B-A1C7-AED542456985}" type="slidenum">
              <a:rPr lang="en-US"/>
              <a:pPr>
                <a:defRPr/>
              </a:pPr>
              <a:t>‹#›</a:t>
            </a:fld>
            <a:endParaRPr lang="en-US"/>
          </a:p>
        </p:txBody>
      </p:sp>
    </p:spTree>
    <p:extLst>
      <p:ext uri="{BB962C8B-B14F-4D97-AF65-F5344CB8AC3E}">
        <p14:creationId xmlns="" xmlns:p14="http://schemas.microsoft.com/office/powerpoint/2010/main" val="30410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488238" y="6356350"/>
            <a:ext cx="1655762"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6356350"/>
            <a:ext cx="1908175"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5"/>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 xmlns:p14="http://schemas.microsoft.com/office/powerpoint/2010/main" val="3441087217"/>
      </p:ext>
    </p:extLst>
  </p:cSld>
  <p:clrMapOvr>
    <a:masterClrMapping/>
  </p:clrMapOvr>
  <p:timing>
    <p:tnLst>
      <p:par>
        <p:cTn id="1" dur="indefinite" restart="never" nodeType="tmRoot"/>
      </p:par>
    </p:tnLst>
  </p:timing>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494771439"/>
      </p:ext>
    </p:extLst>
  </p:cSld>
  <p:clrMapOvr>
    <a:masterClrMapping/>
  </p:clrMapOvr>
  <p:transition>
    <p:strips dir="l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52075451"/>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50072493"/>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087435220"/>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24062720"/>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750255790"/>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8467980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37429884"/>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1938792299"/>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45461388"/>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EF38A850-ADD0-4F7D-99F1-C19676CE30E4}" type="datetime1">
              <a:rPr lang="en-US"/>
              <a:pPr>
                <a:defRPr/>
              </a:pPr>
              <a:t>10/6/2016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2A68BFA4-ED51-4D11-92C9-125F6EFF37D1}" type="slidenum">
              <a:rPr lang="en-US"/>
              <a:pPr>
                <a:defRPr/>
              </a:pPr>
              <a:t>‹#›</a:t>
            </a:fld>
            <a:endParaRPr lang="en-US"/>
          </a:p>
        </p:txBody>
      </p:sp>
    </p:spTree>
    <p:extLst>
      <p:ext uri="{BB962C8B-B14F-4D97-AF65-F5344CB8AC3E}">
        <p14:creationId xmlns="" xmlns:p14="http://schemas.microsoft.com/office/powerpoint/2010/main" val="2178001293"/>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23-</a:t>
            </a:r>
            <a:fld id="{604DE8C7-66CF-465F-9818-9F61582FDCEB}"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39"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40"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5257800" y="990600"/>
            <a:ext cx="3733800" cy="2133600"/>
          </a:xfrm>
        </p:spPr>
        <p:txBody>
          <a:bodyPr/>
          <a:lstStyle/>
          <a:p>
            <a:pPr algn="ctr" eaLnBrk="1" hangingPunct="1"/>
            <a:r>
              <a:rPr lang="en-US" sz="2800" dirty="0" smtClean="0">
                <a:ea typeface="ヒラギノ角ゴ Pro W3" pitchFamily="-84" charset="-128"/>
              </a:rPr>
              <a:t>Monetary Policy: A Summing Up</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dirty="0" smtClean="0">
                <a:ea typeface="ヒラギノ角ゴ Pro W3" pitchFamily="-84" charset="-128"/>
              </a:rPr>
              <a:t>Chapter 23</a:t>
            </a:r>
          </a:p>
        </p:txBody>
      </p:sp>
    </p:spTree>
  </p:cSld>
  <p:clrMapOvr>
    <a:masterClrMapping/>
  </p:clrMapOvr>
  <p:transition>
    <p:strips dir="l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ea typeface="ヒラギノ角ゴ Pro W3" pitchFamily="-84" charset="-128"/>
              </a:rPr>
              <a:t>Chapter 23 Outline</a:t>
            </a:r>
          </a:p>
        </p:txBody>
      </p:sp>
      <p:sp>
        <p:nvSpPr>
          <p:cNvPr id="3" name="Content Placeholder 2"/>
          <p:cNvSpPr txBox="1">
            <a:spLocks/>
          </p:cNvSpPr>
          <p:nvPr/>
        </p:nvSpPr>
        <p:spPr bwMode="auto">
          <a:xfrm>
            <a:off x="419100" y="1524000"/>
            <a:ext cx="8382000" cy="4937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eaLnBrk="1" hangingPunct="1">
              <a:buFontTx/>
              <a:buNone/>
              <a:defRPr/>
            </a:pPr>
            <a:r>
              <a:rPr lang="en-US" sz="2400" b="1" kern="0" dirty="0" smtClean="0">
                <a:ea typeface="ヒラギノ角ゴ Pro W3" pitchFamily="-84" charset="-128"/>
              </a:rPr>
              <a:t>Monetary </a:t>
            </a:r>
            <a:r>
              <a:rPr lang="en-US" sz="2400" b="1" kern="0" dirty="0">
                <a:ea typeface="ヒラギノ角ゴ Pro W3" pitchFamily="-84" charset="-128"/>
              </a:rPr>
              <a:t>Policy: A Summing </a:t>
            </a:r>
            <a:r>
              <a:rPr lang="en-US" sz="2400" b="1" kern="0" dirty="0" smtClean="0">
                <a:ea typeface="ヒラギノ角ゴ Pro W3" pitchFamily="-84" charset="-128"/>
              </a:rPr>
              <a:t>Up</a:t>
            </a:r>
          </a:p>
          <a:p>
            <a:pPr marL="0" indent="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23-1	What We Have Learned</a:t>
            </a:r>
          </a:p>
          <a:p>
            <a:pPr marL="1714500" indent="-1714500" eaLnBrk="1" hangingPunct="1">
              <a:buFontTx/>
              <a:buNone/>
              <a:defRPr/>
            </a:pPr>
            <a:r>
              <a:rPr lang="en-US" sz="2400" kern="0" dirty="0" smtClean="0">
                <a:ea typeface="ヒラギノ角ゴ Pro W3" pitchFamily="-84" charset="-128"/>
              </a:rPr>
              <a:t>23-2	From Monetary Targeting to Inflation Targeting</a:t>
            </a:r>
          </a:p>
          <a:p>
            <a:pPr marL="1714500" indent="-1714500" eaLnBrk="1" hangingPunct="1">
              <a:buFontTx/>
              <a:buNone/>
              <a:defRPr/>
            </a:pPr>
            <a:r>
              <a:rPr lang="en-US" sz="2400" kern="0" dirty="0" smtClean="0">
                <a:ea typeface="ヒラギノ角ゴ Pro W3" pitchFamily="-84" charset="-128"/>
              </a:rPr>
              <a:t>23-3	The Optimal Inflation Rate</a:t>
            </a:r>
          </a:p>
          <a:p>
            <a:pPr marL="1714500" indent="-1714500" eaLnBrk="1" hangingPunct="1">
              <a:buFontTx/>
              <a:buNone/>
              <a:defRPr/>
            </a:pPr>
            <a:r>
              <a:rPr lang="en-US" sz="2400" kern="0" dirty="0" smtClean="0">
                <a:ea typeface="ヒラギノ角ゴ Pro W3" pitchFamily="-84" charset="-128"/>
              </a:rPr>
              <a:t>23-4</a:t>
            </a:r>
            <a:r>
              <a:rPr lang="en-US" sz="2400" kern="0" dirty="0">
                <a:ea typeface="ヒラギノ角ゴ Pro W3" pitchFamily="-84" charset="-128"/>
              </a:rPr>
              <a:t>	</a:t>
            </a:r>
            <a:r>
              <a:rPr lang="en-US" sz="2400" kern="0" dirty="0" smtClean="0">
                <a:ea typeface="ヒラギノ角ゴ Pro W3" pitchFamily="-84" charset="-128"/>
              </a:rPr>
              <a:t>Unconventional Monetary Policy</a:t>
            </a: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84" charset="-128"/>
              </a:rPr>
              <a:t>Monetary </a:t>
            </a:r>
            <a:r>
              <a:rPr lang="en-US" dirty="0">
                <a:ea typeface="ヒラギノ角ゴ Pro W3" pitchFamily="-84" charset="-128"/>
              </a:rPr>
              <a:t>Policy: A Summing Up</a:t>
            </a:r>
          </a:p>
        </p:txBody>
      </p:sp>
      <p:sp>
        <p:nvSpPr>
          <p:cNvPr id="7171" name="Content Placeholder 2"/>
          <p:cNvSpPr>
            <a:spLocks noGrp="1"/>
          </p:cNvSpPr>
          <p:nvPr>
            <p:ph idx="1"/>
          </p:nvPr>
        </p:nvSpPr>
        <p:spPr/>
        <p:txBody>
          <a:bodyPr/>
          <a:lstStyle/>
          <a:p>
            <a:r>
              <a:rPr lang="en-US" sz="2400" dirty="0" smtClean="0">
                <a:ea typeface="ヒラギノ角ゴ Pro W3" pitchFamily="-84" charset="-128"/>
              </a:rPr>
              <a:t>For the two decades (a period known as the </a:t>
            </a:r>
            <a:r>
              <a:rPr lang="en-US" sz="2400" b="1" dirty="0" smtClean="0">
                <a:ea typeface="ヒラギノ角ゴ Pro W3" pitchFamily="-84" charset="-128"/>
              </a:rPr>
              <a:t>Great Moderation</a:t>
            </a:r>
            <a:r>
              <a:rPr lang="en-US" sz="2400" dirty="0" smtClean="0">
                <a:ea typeface="ヒラギノ角ゴ Pro W3" pitchFamily="-84" charset="-128"/>
              </a:rPr>
              <a:t>) before the crisis, most central banks had converged toward a framework for monetary policy, called inflation targeting.</a:t>
            </a:r>
          </a:p>
          <a:p>
            <a:r>
              <a:rPr lang="en-US" sz="2400" dirty="0" smtClean="0">
                <a:ea typeface="ヒラギノ角ゴ Pro W3" pitchFamily="-84" charset="-128"/>
              </a:rPr>
              <a:t>The </a:t>
            </a:r>
            <a:r>
              <a:rPr lang="en-US" sz="2400" b="1" dirty="0" smtClean="0">
                <a:ea typeface="ヒラギノ角ゴ Pro W3" pitchFamily="-84" charset="-128"/>
              </a:rPr>
              <a:t>inflation targeting </a:t>
            </a:r>
            <a:r>
              <a:rPr lang="en-US" sz="2400" dirty="0" smtClean="0">
                <a:ea typeface="ヒラギノ角ゴ Pro W3" pitchFamily="-84" charset="-128"/>
              </a:rPr>
              <a:t>framework has two principles: (1) Keep inflation stable and low; and (2) follow, explicitly and implicitly, an </a:t>
            </a:r>
            <a:r>
              <a:rPr lang="en-US" sz="2400" b="1" dirty="0" smtClean="0">
                <a:ea typeface="ヒラギノ角ゴ Pro W3" pitchFamily="-84" charset="-128"/>
              </a:rPr>
              <a:t>interest rate rule</a:t>
            </a:r>
            <a:r>
              <a:rPr lang="en-US" sz="2400" dirty="0" smtClean="0">
                <a:ea typeface="ヒラギノ角ゴ Pro W3" pitchFamily="-84" charset="-128"/>
              </a:rPr>
              <a:t>.</a:t>
            </a:r>
          </a:p>
          <a:p>
            <a:r>
              <a:rPr lang="en-US" sz="2400" dirty="0" smtClean="0">
                <a:ea typeface="ヒラギノ角ゴ Pro W3" pitchFamily="-84" charset="-128"/>
              </a:rPr>
              <a:t>This chapter reviews what we have learned about monetary policy so far, and describe the logic of inflation targeting and the use of an interest rate rule.</a:t>
            </a:r>
          </a:p>
        </p:txBody>
      </p:sp>
    </p:spTree>
    <p:extLst>
      <p:ext uri="{BB962C8B-B14F-4D97-AF65-F5344CB8AC3E}">
        <p14:creationId xmlns="" xmlns:p14="http://schemas.microsoft.com/office/powerpoint/2010/main" val="3014208771"/>
      </p:ext>
    </p:extLst>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a:ea typeface="ヒラギノ角ゴ Pro W3" pitchFamily="-84" charset="-128"/>
              </a:rPr>
              <a:t>23-1 What We Have Learned</a:t>
            </a:r>
          </a:p>
        </p:txBody>
      </p:sp>
      <p:sp>
        <p:nvSpPr>
          <p:cNvPr id="7171" name="Content Placeholder 2"/>
          <p:cNvSpPr>
            <a:spLocks noGrp="1"/>
          </p:cNvSpPr>
          <p:nvPr>
            <p:ph idx="1"/>
          </p:nvPr>
        </p:nvSpPr>
        <p:spPr/>
        <p:txBody>
          <a:bodyPr/>
          <a:lstStyle/>
          <a:p>
            <a:r>
              <a:rPr lang="en-US" sz="2200" dirty="0" smtClean="0">
                <a:ea typeface="ヒラギノ角ゴ Pro W3" pitchFamily="-84" charset="-128"/>
              </a:rPr>
              <a:t>Chapter 4: Money demand and money supply and the determination of the interest rate</a:t>
            </a:r>
          </a:p>
          <a:p>
            <a:r>
              <a:rPr lang="en-US" sz="2200" dirty="0" smtClean="0">
                <a:ea typeface="ヒラギノ角ゴ Pro W3" pitchFamily="-84" charset="-128"/>
              </a:rPr>
              <a:t>Chapter 5: The short-run effects of monetary policy on output</a:t>
            </a:r>
          </a:p>
          <a:p>
            <a:r>
              <a:rPr lang="en-US" sz="2200" dirty="0" smtClean="0">
                <a:ea typeface="ヒラギノ角ゴ Pro W3" pitchFamily="-84" charset="-128"/>
              </a:rPr>
              <a:t>Chapter 6: The distinction between the nominal and real interest rate, and between the borrowing rate and the policy rate</a:t>
            </a:r>
          </a:p>
          <a:p>
            <a:r>
              <a:rPr lang="en-US" sz="2200" dirty="0" smtClean="0">
                <a:ea typeface="ヒラギノ角ゴ Pro W3" pitchFamily="-84" charset="-128"/>
              </a:rPr>
              <a:t>Chapter 9: The effects of monetary policy in the medium run</a:t>
            </a:r>
          </a:p>
          <a:p>
            <a:r>
              <a:rPr lang="en-US" sz="2200" dirty="0" smtClean="0">
                <a:ea typeface="ヒラギノ角ゴ Pro W3" pitchFamily="-84" charset="-128"/>
              </a:rPr>
              <a:t>Chapter 14: The distinction between short- and long-term interest rates</a:t>
            </a:r>
          </a:p>
          <a:p>
            <a:endParaRPr lang="en-US" sz="2200" dirty="0" smtClean="0">
              <a:ea typeface="ヒラギノ角ゴ Pro W3" pitchFamily="-84" charset="-128"/>
            </a:endParaRPr>
          </a:p>
        </p:txBody>
      </p:sp>
    </p:spTree>
    <p:extLst>
      <p:ext uri="{BB962C8B-B14F-4D97-AF65-F5344CB8AC3E}">
        <p14:creationId xmlns="" xmlns:p14="http://schemas.microsoft.com/office/powerpoint/2010/main" val="2455893981"/>
      </p:ext>
    </p:extLst>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dirty="0">
                <a:ea typeface="ヒラギノ角ゴ Pro W3" pitchFamily="-84" charset="-128"/>
              </a:rPr>
              <a:t>23-1 What We Have Learned</a:t>
            </a:r>
          </a:p>
        </p:txBody>
      </p:sp>
      <p:sp>
        <p:nvSpPr>
          <p:cNvPr id="7171" name="Content Placeholder 2"/>
          <p:cNvSpPr>
            <a:spLocks noGrp="1"/>
          </p:cNvSpPr>
          <p:nvPr>
            <p:ph idx="1"/>
          </p:nvPr>
        </p:nvSpPr>
        <p:spPr/>
        <p:txBody>
          <a:bodyPr/>
          <a:lstStyle/>
          <a:p>
            <a:r>
              <a:rPr lang="en-US" sz="2200" dirty="0" smtClean="0">
                <a:ea typeface="ヒラギノ角ゴ Pro W3" pitchFamily="-84" charset="-128"/>
              </a:rPr>
              <a:t>Chapter 16: The effects of expectations on spending and output, and the </a:t>
            </a:r>
            <a:r>
              <a:rPr lang="en-US" sz="2200" dirty="0">
                <a:ea typeface="ヒラギノ角ゴ Pro W3" pitchFamily="-84" charset="-128"/>
              </a:rPr>
              <a:t>r</a:t>
            </a:r>
            <a:r>
              <a:rPr lang="en-US" sz="2200" dirty="0" smtClean="0">
                <a:ea typeface="ヒラギノ角ゴ Pro W3" pitchFamily="-84" charset="-128"/>
              </a:rPr>
              <a:t>ole of monetary policy in this context</a:t>
            </a:r>
          </a:p>
          <a:p>
            <a:r>
              <a:rPr lang="en-US" sz="2200" dirty="0" smtClean="0">
                <a:ea typeface="ヒラギノ角ゴ Pro W3" pitchFamily="-84" charset="-128"/>
              </a:rPr>
              <a:t>Chapter 19: The effects of monetary policy in an economy open in both goods markets and financial markets</a:t>
            </a:r>
          </a:p>
          <a:p>
            <a:r>
              <a:rPr lang="en-US" sz="2200" dirty="0" smtClean="0">
                <a:ea typeface="ヒラギノ角ゴ Pro W3" pitchFamily="-84" charset="-128"/>
              </a:rPr>
              <a:t>Chapter 20: The pros and cons of different monetary policy regimes, namely flexible exchange rates versus fixed exchange rates</a:t>
            </a:r>
          </a:p>
          <a:p>
            <a:r>
              <a:rPr lang="en-US" sz="2200" dirty="0" smtClean="0">
                <a:ea typeface="ヒラギノ角ゴ Pro W3" pitchFamily="-84" charset="-128"/>
              </a:rPr>
              <a:t>Chapter 21: The problems facing macroeconomic policy and monetary policy</a:t>
            </a:r>
          </a:p>
        </p:txBody>
      </p:sp>
    </p:spTree>
    <p:extLst>
      <p:ext uri="{BB962C8B-B14F-4D97-AF65-F5344CB8AC3E}">
        <p14:creationId xmlns="" xmlns:p14="http://schemas.microsoft.com/office/powerpoint/2010/main" val="1294965501"/>
      </p:ext>
    </p:extLst>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ea typeface="ヒラギノ角ゴ Pro W3" pitchFamily="-65" charset="-128"/>
              </a:rPr>
              <a:t>23-2 From Money Targeting to Inflation Targeting</a:t>
            </a:r>
          </a:p>
        </p:txBody>
      </p:sp>
      <p:sp>
        <p:nvSpPr>
          <p:cNvPr id="17411" name="TextBox 3"/>
          <p:cNvSpPr txBox="1">
            <a:spLocks noChangeArrowheads="1"/>
          </p:cNvSpPr>
          <p:nvPr/>
        </p:nvSpPr>
        <p:spPr bwMode="auto">
          <a:xfrm>
            <a:off x="490333" y="2139424"/>
            <a:ext cx="80010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23-1  </a:t>
            </a:r>
            <a:r>
              <a:rPr lang="en-US" sz="1800" dirty="0">
                <a:latin typeface="Verdana" panose="020B0604030504040204" pitchFamily="34" charset="0"/>
              </a:rPr>
              <a:t>M1 Growth and Inflation: 10-Year Averages, 1970 to the crisis</a:t>
            </a:r>
          </a:p>
        </p:txBody>
      </p:sp>
      <p:pic>
        <p:nvPicPr>
          <p:cNvPr id="2" name="Picture 1"/>
          <p:cNvPicPr>
            <a:picLocks noChangeAspect="1"/>
          </p:cNvPicPr>
          <p:nvPr/>
        </p:nvPicPr>
        <p:blipFill>
          <a:blip r:embed="rId2" cstate="print"/>
          <a:stretch>
            <a:fillRect/>
          </a:stretch>
        </p:blipFill>
        <p:spPr>
          <a:xfrm>
            <a:off x="2773100" y="2586377"/>
            <a:ext cx="6022458" cy="3652549"/>
          </a:xfrm>
          <a:prstGeom prst="rect">
            <a:avLst/>
          </a:prstGeom>
        </p:spPr>
      </p:pic>
      <p:pic>
        <p:nvPicPr>
          <p:cNvPr id="3" name="Picture 2"/>
          <p:cNvPicPr>
            <a:picLocks noChangeAspect="1"/>
          </p:cNvPicPr>
          <p:nvPr/>
        </p:nvPicPr>
        <p:blipFill>
          <a:blip r:embed="rId3" cstate="print"/>
          <a:stretch>
            <a:fillRect/>
          </a:stretch>
        </p:blipFill>
        <p:spPr>
          <a:xfrm>
            <a:off x="571500" y="5105400"/>
            <a:ext cx="2019300" cy="695325"/>
          </a:xfrm>
          <a:prstGeom prst="rect">
            <a:avLst/>
          </a:prstGeom>
        </p:spPr>
      </p:pic>
      <p:sp>
        <p:nvSpPr>
          <p:cNvPr id="7" name="TextBox 3"/>
          <p:cNvSpPr txBox="1">
            <a:spLocks noChangeArrowheads="1"/>
          </p:cNvSpPr>
          <p:nvPr/>
        </p:nvSpPr>
        <p:spPr bwMode="auto">
          <a:xfrm>
            <a:off x="490333" y="3089213"/>
            <a:ext cx="1968500"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dirty="0" smtClean="0">
                <a:latin typeface="Verdana" panose="020B0604030504040204" pitchFamily="34" charset="0"/>
              </a:rPr>
              <a:t>There is no tight relation between M1 growth and inflation, even in the medium run</a:t>
            </a:r>
            <a:endParaRPr lang="en-US" sz="1600" dirty="0">
              <a:latin typeface="Verdana" panose="020B0604030504040204" pitchFamily="34" charset="0"/>
            </a:endParaRPr>
          </a:p>
        </p:txBody>
      </p:sp>
      <p:sp>
        <p:nvSpPr>
          <p:cNvPr id="8" name="Content Placeholder 2"/>
          <p:cNvSpPr>
            <a:spLocks noGrp="1"/>
          </p:cNvSpPr>
          <p:nvPr>
            <p:ph idx="1"/>
          </p:nvPr>
        </p:nvSpPr>
        <p:spPr>
          <a:xfrm>
            <a:off x="419100" y="1375369"/>
            <a:ext cx="8382000" cy="665212"/>
          </a:xfrm>
        </p:spPr>
        <p:txBody>
          <a:bodyPr/>
          <a:lstStyle/>
          <a:p>
            <a:r>
              <a:rPr lang="en-US" sz="2000" b="1" dirty="0" smtClean="0">
                <a:ea typeface="ヒラギノ角ゴ Pro W3" pitchFamily="-84" charset="-128"/>
              </a:rPr>
              <a:t>M1: </a:t>
            </a:r>
            <a:r>
              <a:rPr lang="en-US" sz="2000" dirty="0" smtClean="0">
                <a:ea typeface="ヒラギノ角ゴ Pro W3" pitchFamily="-84" charset="-128"/>
              </a:rPr>
              <a:t>The measure of money stock equal to the sum of currency and checkable deposits.</a:t>
            </a:r>
          </a:p>
        </p:txBody>
      </p:sp>
    </p:spTree>
    <p:extLst>
      <p:ext uri="{BB962C8B-B14F-4D97-AF65-F5344CB8AC3E}">
        <p14:creationId xmlns="" xmlns:p14="http://schemas.microsoft.com/office/powerpoint/2010/main" val="409186501"/>
      </p:ext>
    </p:extLst>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a:ea typeface="ヒラギノ角ゴ Pro W3" pitchFamily="-65" charset="-128"/>
              </a:rPr>
              <a:t>23-2 From Money Targeting to Inflation Targeting</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200" dirty="0" smtClean="0">
                <a:ea typeface="ヒラギノ角ゴ Pro W3" pitchFamily="-84" charset="-128"/>
              </a:rPr>
              <a:t>Recall the Phillips curve equation (8.9):</a:t>
            </a:r>
          </a:p>
          <a:p>
            <a:endParaRPr lang="en-US" sz="2200" dirty="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Let the inflation target be </a:t>
            </a:r>
            <a:r>
              <a:rPr lang="el-GR" sz="2200" i="1" dirty="0" smtClean="0">
                <a:latin typeface="Times New Roman" panose="02020603050405020304" pitchFamily="18" charset="0"/>
                <a:ea typeface="ヒラギノ角ゴ Pro W3" pitchFamily="-84" charset="-128"/>
                <a:cs typeface="Times New Roman" panose="02020603050405020304" pitchFamily="18" charset="0"/>
              </a:rPr>
              <a:t>π</a:t>
            </a:r>
            <a:r>
              <a:rPr lang="en-US" sz="2200" dirty="0" smtClean="0">
                <a:latin typeface="Times New Roman" panose="02020603050405020304" pitchFamily="18" charset="0"/>
                <a:ea typeface="ヒラギノ角ゴ Pro W3" pitchFamily="-84" charset="-128"/>
                <a:cs typeface="Times New Roman" panose="02020603050405020304" pitchFamily="18" charset="0"/>
              </a:rPr>
              <a:t>* </a:t>
            </a:r>
            <a:r>
              <a:rPr lang="en-US" sz="2200" dirty="0">
                <a:ea typeface="ヒラギノ角ゴ Pro W3" pitchFamily="-84" charset="-128"/>
              </a:rPr>
              <a:t>that is also credible, so that people expect inflation to be equal t o the target.  The Phillips curve becomes</a:t>
            </a:r>
            <a:r>
              <a:rPr lang="en-US" sz="2200" dirty="0" smtClean="0">
                <a:ea typeface="ヒラギノ角ゴ Pro W3" pitchFamily="-84" charset="-128"/>
              </a:rPr>
              <a:t>:</a:t>
            </a:r>
          </a:p>
          <a:p>
            <a:endParaRPr lang="en-US" sz="2200" dirty="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If the central bank is able to hit its inflation target, unemployment will be equal to its natural rate.</a:t>
            </a:r>
            <a:endParaRPr lang="en-US" sz="2200" dirty="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2667000" y="1981200"/>
            <a:ext cx="2819400" cy="400050"/>
          </a:xfrm>
          <a:prstGeom prst="rect">
            <a:avLst/>
          </a:prstGeom>
        </p:spPr>
      </p:pic>
      <p:pic>
        <p:nvPicPr>
          <p:cNvPr id="3" name="Picture 2"/>
          <p:cNvPicPr>
            <a:picLocks noChangeAspect="1"/>
          </p:cNvPicPr>
          <p:nvPr/>
        </p:nvPicPr>
        <p:blipFill>
          <a:blip r:embed="rId3" cstate="print"/>
          <a:stretch>
            <a:fillRect/>
          </a:stretch>
        </p:blipFill>
        <p:spPr>
          <a:xfrm>
            <a:off x="3048000" y="3876329"/>
            <a:ext cx="2809875" cy="419100"/>
          </a:xfrm>
          <a:prstGeom prst="rect">
            <a:avLst/>
          </a:prstGeom>
        </p:spPr>
      </p:pic>
    </p:spTree>
    <p:extLst>
      <p:ext uri="{BB962C8B-B14F-4D97-AF65-F5344CB8AC3E}">
        <p14:creationId xmlns="" xmlns:p14="http://schemas.microsoft.com/office/powerpoint/2010/main" val="3122738648"/>
      </p:ext>
    </p:extLst>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a:ea typeface="ヒラギノ角ゴ Pro W3" pitchFamily="-65" charset="-128"/>
              </a:rPr>
              <a:t>23-2 From Money Targeting to Inflation Targeting</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200" b="1" dirty="0" smtClean="0">
                <a:ea typeface="ヒラギノ角ゴ Pro W3" pitchFamily="-84" charset="-128"/>
              </a:rPr>
              <a:t>Divine coincidence</a:t>
            </a:r>
            <a:r>
              <a:rPr lang="en-US" sz="2200" dirty="0" smtClean="0">
                <a:ea typeface="ヒラギノ角ゴ Pro W3" pitchFamily="-84" charset="-128"/>
              </a:rPr>
              <a:t>: Keeping inflation stable is a way of keeping output at potential. </a:t>
            </a:r>
          </a:p>
          <a:p>
            <a:r>
              <a:rPr lang="en-US" sz="2200" dirty="0" smtClean="0">
                <a:ea typeface="ヒラギノ角ゴ Pro W3" pitchFamily="-84" charset="-128"/>
              </a:rPr>
              <a:t>A focus on keeping stable inflation is the right approach to monetary policy, both in the short and the medium run.</a:t>
            </a:r>
          </a:p>
          <a:p>
            <a:r>
              <a:rPr lang="en-US" sz="2200" b="1" dirty="0" smtClean="0">
                <a:ea typeface="ヒラギノ角ゴ Pro W3" pitchFamily="-84" charset="-128"/>
              </a:rPr>
              <a:t>Flexible inflation targeting</a:t>
            </a:r>
            <a:r>
              <a:rPr lang="en-US" sz="2200" dirty="0" smtClean="0">
                <a:ea typeface="ヒラギノ角ゴ Pro W3" pitchFamily="-84" charset="-128"/>
              </a:rPr>
              <a:t>: Central banks adjust the interest rate to return to the target inflation rate over time, rather than right away.</a:t>
            </a:r>
          </a:p>
        </p:txBody>
      </p:sp>
    </p:spTree>
    <p:extLst>
      <p:ext uri="{BB962C8B-B14F-4D97-AF65-F5344CB8AC3E}">
        <p14:creationId xmlns="" xmlns:p14="http://schemas.microsoft.com/office/powerpoint/2010/main" val="4238519417"/>
      </p:ext>
    </p:extLst>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a:ea typeface="ヒラギノ角ゴ Pro W3" pitchFamily="-65" charset="-128"/>
              </a:rPr>
              <a:t>23-2 From Money Targeting to Inflation Targeting</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200" dirty="0" smtClean="0">
                <a:ea typeface="ヒラギノ角ゴ Pro W3" pitchFamily="-84" charset="-128"/>
              </a:rPr>
              <a:t>In the 1990s, John Taylor suggested a rule of the policy rate </a:t>
            </a:r>
            <a:r>
              <a:rPr lang="en-US" sz="2200" i="1" dirty="0" smtClean="0">
                <a:ea typeface="ヒラギノ角ゴ Pro W3" pitchFamily="-84" charset="-128"/>
              </a:rPr>
              <a:t>i</a:t>
            </a:r>
            <a:r>
              <a:rPr lang="en-US" sz="2200" i="1" baseline="-25000" dirty="0" smtClean="0">
                <a:ea typeface="ヒラギノ角ゴ Pro W3" pitchFamily="-84" charset="-128"/>
              </a:rPr>
              <a:t>t</a:t>
            </a:r>
            <a:r>
              <a:rPr lang="en-US" sz="2200" dirty="0" smtClean="0">
                <a:ea typeface="ヒラギノ角ゴ Pro W3" pitchFamily="-84" charset="-128"/>
              </a:rPr>
              <a:t>, now known as the Taylor rule:</a:t>
            </a:r>
          </a:p>
          <a:p>
            <a:endParaRPr lang="en-US" sz="2200" dirty="0">
              <a:ea typeface="ヒラギノ角ゴ Pro W3" pitchFamily="-84" charset="-128"/>
            </a:endParaRPr>
          </a:p>
          <a:p>
            <a:pPr marL="349250" indent="0">
              <a:spcBef>
                <a:spcPts val="1800"/>
              </a:spcBef>
              <a:buNone/>
            </a:pPr>
            <a:r>
              <a:rPr lang="en-US" sz="2200" dirty="0" smtClean="0">
                <a:ea typeface="ヒラギノ角ゴ Pro W3" pitchFamily="-84" charset="-128"/>
              </a:rPr>
              <a:t>where </a:t>
            </a:r>
            <a:r>
              <a:rPr lang="en-US" sz="2200" i="1" dirty="0" err="1" smtClean="0">
                <a:latin typeface="Times New Roman" panose="02020603050405020304" pitchFamily="18" charset="0"/>
                <a:ea typeface="ヒラギノ角ゴ Pro W3" pitchFamily="-84" charset="-128"/>
                <a:cs typeface="Times New Roman" panose="02020603050405020304" pitchFamily="18" charset="0"/>
              </a:rPr>
              <a:t>i</a:t>
            </a:r>
            <a:r>
              <a:rPr lang="en-US" sz="2200" i="1" dirty="0" smtClean="0">
                <a:latin typeface="Times New Roman" panose="02020603050405020304" pitchFamily="18" charset="0"/>
                <a:ea typeface="ヒラギノ角ゴ Pro W3" pitchFamily="-84" charset="-128"/>
                <a:cs typeface="Times New Roman" panose="02020603050405020304" pitchFamily="18" charset="0"/>
              </a:rPr>
              <a:t>* = </a:t>
            </a:r>
            <a:r>
              <a:rPr lang="en-US" sz="2200" i="1" dirty="0" err="1" smtClean="0">
                <a:latin typeface="Times New Roman" panose="02020603050405020304" pitchFamily="18" charset="0"/>
                <a:ea typeface="ヒラギノ角ゴ Pro W3" pitchFamily="-84" charset="-128"/>
                <a:cs typeface="Times New Roman" panose="02020603050405020304" pitchFamily="18" charset="0"/>
              </a:rPr>
              <a:t>r</a:t>
            </a:r>
            <a:r>
              <a:rPr lang="en-US" sz="2200" i="1" baseline="-25000" dirty="0" err="1" smtClean="0">
                <a:latin typeface="Times New Roman" panose="02020603050405020304" pitchFamily="18" charset="0"/>
                <a:ea typeface="ヒラギノ角ゴ Pro W3" pitchFamily="-84" charset="-128"/>
                <a:cs typeface="Times New Roman" panose="02020603050405020304" pitchFamily="18" charset="0"/>
              </a:rPr>
              <a:t>n</a:t>
            </a:r>
            <a:r>
              <a:rPr lang="en-US" sz="2200" i="1" dirty="0" smtClean="0">
                <a:latin typeface="Times New Roman" panose="02020603050405020304" pitchFamily="18" charset="0"/>
                <a:ea typeface="ヒラギノ角ゴ Pro W3" pitchFamily="-84" charset="-128"/>
                <a:cs typeface="Times New Roman" panose="02020603050405020304" pitchFamily="18" charset="0"/>
              </a:rPr>
              <a:t> </a:t>
            </a:r>
            <a:r>
              <a:rPr lang="en-US" sz="2200" dirty="0" smtClean="0">
                <a:ea typeface="ヒラギノ角ゴ Pro W3" pitchFamily="-84" charset="-128"/>
              </a:rPr>
              <a:t>+ </a:t>
            </a:r>
            <a:r>
              <a:rPr lang="el-GR" sz="2200" i="1" dirty="0" smtClean="0">
                <a:latin typeface="Times New Roman" panose="02020603050405020304" pitchFamily="18" charset="0"/>
                <a:ea typeface="ヒラギノ角ゴ Pro W3" pitchFamily="-84" charset="-128"/>
                <a:cs typeface="Times New Roman" panose="02020603050405020304" pitchFamily="18" charset="0"/>
              </a:rPr>
              <a:t>π</a:t>
            </a:r>
            <a:r>
              <a:rPr lang="en-US" sz="2200" dirty="0" smtClean="0">
                <a:latin typeface="Times New Roman" panose="02020603050405020304" pitchFamily="18" charset="0"/>
                <a:ea typeface="ヒラギノ角ゴ Pro W3" pitchFamily="-84" charset="-128"/>
                <a:cs typeface="Times New Roman" panose="02020603050405020304" pitchFamily="18" charset="0"/>
              </a:rPr>
              <a:t>*</a:t>
            </a:r>
            <a:r>
              <a:rPr lang="en-US" sz="2200" dirty="0" smtClean="0">
                <a:ea typeface="ヒラギノ角ゴ Pro W3" pitchFamily="-84" charset="-128"/>
                <a:cs typeface="Times New Roman" panose="02020603050405020304" pitchFamily="18" charset="0"/>
              </a:rPr>
              <a:t>, which is the neutral rate of interest plus the target inflation rate; and a and b are coefficient chosen by the central bank.</a:t>
            </a:r>
          </a:p>
          <a:p>
            <a:r>
              <a:rPr lang="en-US" sz="2200" dirty="0" smtClean="0">
                <a:ea typeface="ヒラギノ角ゴ Pro W3" pitchFamily="-84" charset="-128"/>
                <a:cs typeface="Times New Roman" panose="02020603050405020304" pitchFamily="18" charset="0"/>
              </a:rPr>
              <a:t>If </a:t>
            </a:r>
            <a:r>
              <a:rPr lang="el-GR" sz="2200" i="1" dirty="0" smtClean="0">
                <a:latin typeface="Times New Roman" panose="02020603050405020304" pitchFamily="18" charset="0"/>
                <a:ea typeface="ヒラギノ角ゴ Pro W3" pitchFamily="-84" charset="-128"/>
                <a:cs typeface="Times New Roman" panose="02020603050405020304" pitchFamily="18" charset="0"/>
              </a:rPr>
              <a:t>π</a:t>
            </a:r>
            <a:r>
              <a:rPr lang="en-US" sz="2200" i="1" baseline="-25000" dirty="0" smtClean="0">
                <a:latin typeface="Times New Roman" panose="02020603050405020304" pitchFamily="18" charset="0"/>
                <a:ea typeface="ヒラギノ角ゴ Pro W3" pitchFamily="-84" charset="-128"/>
                <a:cs typeface="Times New Roman" panose="02020603050405020304" pitchFamily="18" charset="0"/>
              </a:rPr>
              <a:t>t</a:t>
            </a:r>
            <a:r>
              <a:rPr lang="en-US" sz="2200" i="1" dirty="0" smtClean="0">
                <a:latin typeface="Times New Roman" panose="02020603050405020304" pitchFamily="18" charset="0"/>
                <a:ea typeface="ヒラギノ角ゴ Pro W3" pitchFamily="-84" charset="-128"/>
                <a:cs typeface="Times New Roman" panose="02020603050405020304" pitchFamily="18" charset="0"/>
              </a:rPr>
              <a:t> = </a:t>
            </a:r>
            <a:r>
              <a:rPr lang="el-GR" sz="2200" i="1" dirty="0" smtClean="0">
                <a:latin typeface="Times New Roman" panose="02020603050405020304" pitchFamily="18" charset="0"/>
                <a:ea typeface="ヒラギノ角ゴ Pro W3" pitchFamily="-84" charset="-128"/>
                <a:cs typeface="Times New Roman" panose="02020603050405020304" pitchFamily="18" charset="0"/>
              </a:rPr>
              <a:t>π</a:t>
            </a:r>
            <a:r>
              <a:rPr lang="en-US" sz="2200" dirty="0" smtClean="0">
                <a:latin typeface="Times New Roman" panose="02020603050405020304" pitchFamily="18" charset="0"/>
                <a:ea typeface="ヒラギノ角ゴ Pro W3" pitchFamily="-84" charset="-128"/>
                <a:cs typeface="Times New Roman" panose="02020603050405020304" pitchFamily="18" charset="0"/>
              </a:rPr>
              <a:t>*</a:t>
            </a:r>
            <a:r>
              <a:rPr lang="en-US" sz="2200" dirty="0" smtClean="0">
                <a:ea typeface="ヒラギノ角ゴ Pro W3" pitchFamily="-84" charset="-128"/>
                <a:cs typeface="Times New Roman" panose="02020603050405020304" pitchFamily="18" charset="0"/>
              </a:rPr>
              <a:t>, the central bank should set </a:t>
            </a:r>
            <a:r>
              <a:rPr lang="en-US" sz="2200" i="1" dirty="0" smtClean="0">
                <a:latin typeface="Times New Roman" panose="02020603050405020304" pitchFamily="18" charset="0"/>
                <a:ea typeface="ヒラギノ角ゴ Pro W3" pitchFamily="-84" charset="-128"/>
                <a:cs typeface="Times New Roman" panose="02020603050405020304" pitchFamily="18" charset="0"/>
              </a:rPr>
              <a:t>i</a:t>
            </a:r>
            <a:r>
              <a:rPr lang="en-US" sz="2200" i="1" baseline="-25000" dirty="0" smtClean="0">
                <a:latin typeface="Times New Roman" panose="02020603050405020304" pitchFamily="18" charset="0"/>
                <a:ea typeface="ヒラギノ角ゴ Pro W3" pitchFamily="-84" charset="-128"/>
                <a:cs typeface="Times New Roman" panose="02020603050405020304" pitchFamily="18" charset="0"/>
              </a:rPr>
              <a:t>t</a:t>
            </a:r>
            <a:r>
              <a:rPr lang="en-US" sz="2200" i="1" dirty="0" smtClean="0">
                <a:latin typeface="Times New Roman" panose="02020603050405020304" pitchFamily="18" charset="0"/>
                <a:ea typeface="ヒラギノ角ゴ Pro W3" pitchFamily="-84" charset="-128"/>
                <a:cs typeface="Times New Roman" panose="02020603050405020304" pitchFamily="18" charset="0"/>
              </a:rPr>
              <a:t> </a:t>
            </a:r>
            <a:r>
              <a:rPr lang="en-US" sz="2200" i="1" dirty="0">
                <a:latin typeface="Times New Roman" panose="02020603050405020304" pitchFamily="18" charset="0"/>
                <a:ea typeface="ヒラギノ角ゴ Pro W3" pitchFamily="-84" charset="-128"/>
                <a:cs typeface="Times New Roman" panose="02020603050405020304" pitchFamily="18" charset="0"/>
              </a:rPr>
              <a:t>= </a:t>
            </a:r>
            <a:r>
              <a:rPr lang="en-US" sz="2200" i="1" dirty="0" err="1" smtClean="0">
                <a:latin typeface="Times New Roman" panose="02020603050405020304" pitchFamily="18" charset="0"/>
                <a:ea typeface="ヒラギノ角ゴ Pro W3" pitchFamily="-84" charset="-128"/>
                <a:cs typeface="Times New Roman" panose="02020603050405020304" pitchFamily="18" charset="0"/>
              </a:rPr>
              <a:t>i</a:t>
            </a:r>
            <a:r>
              <a:rPr lang="en-US" sz="2200" dirty="0" smtClean="0">
                <a:latin typeface="Times New Roman" panose="02020603050405020304" pitchFamily="18" charset="0"/>
                <a:ea typeface="ヒラギノ角ゴ Pro W3" pitchFamily="-84" charset="-128"/>
                <a:cs typeface="Times New Roman" panose="02020603050405020304" pitchFamily="18" charset="0"/>
              </a:rPr>
              <a:t>*</a:t>
            </a:r>
            <a:r>
              <a:rPr lang="en-US" sz="2200" dirty="0" smtClean="0">
                <a:ea typeface="ヒラギノ角ゴ Pro W3" pitchFamily="-84" charset="-128"/>
                <a:cs typeface="Times New Roman" panose="02020603050405020304" pitchFamily="18" charset="0"/>
              </a:rPr>
              <a:t>.</a:t>
            </a:r>
            <a:endParaRPr lang="en-US" sz="2200" dirty="0">
              <a:ea typeface="ヒラギノ角ゴ Pro W3" pitchFamily="-84" charset="-128"/>
              <a:cs typeface="Times New Roman" panose="02020603050405020304" pitchFamily="18" charset="0"/>
            </a:endParaRPr>
          </a:p>
          <a:p>
            <a:r>
              <a:rPr lang="en-US" sz="2200" dirty="0">
                <a:ea typeface="ヒラギノ角ゴ Pro W3" pitchFamily="-84" charset="-128"/>
                <a:cs typeface="Times New Roman" panose="02020603050405020304" pitchFamily="18" charset="0"/>
              </a:rPr>
              <a:t>If </a:t>
            </a:r>
            <a:r>
              <a:rPr lang="el-GR" sz="2200" i="1" dirty="0">
                <a:latin typeface="Times New Roman" panose="02020603050405020304" pitchFamily="18" charset="0"/>
                <a:ea typeface="ヒラギノ角ゴ Pro W3" pitchFamily="-84" charset="-128"/>
                <a:cs typeface="Times New Roman" panose="02020603050405020304" pitchFamily="18" charset="0"/>
              </a:rPr>
              <a:t>π</a:t>
            </a:r>
            <a:r>
              <a:rPr lang="en-US" sz="2200" i="1" baseline="-25000" dirty="0">
                <a:latin typeface="Times New Roman" panose="02020603050405020304" pitchFamily="18" charset="0"/>
                <a:ea typeface="ヒラギノ角ゴ Pro W3" pitchFamily="-84" charset="-128"/>
                <a:cs typeface="Times New Roman" panose="02020603050405020304" pitchFamily="18" charset="0"/>
              </a:rPr>
              <a:t>t</a:t>
            </a:r>
            <a:r>
              <a:rPr lang="en-US" sz="2200" i="1" dirty="0">
                <a:latin typeface="Times New Roman" panose="02020603050405020304" pitchFamily="18" charset="0"/>
                <a:ea typeface="ヒラギノ角ゴ Pro W3" pitchFamily="-84" charset="-128"/>
                <a:cs typeface="Times New Roman" panose="02020603050405020304" pitchFamily="18" charset="0"/>
              </a:rPr>
              <a:t> </a:t>
            </a:r>
            <a:r>
              <a:rPr lang="en-US" sz="2200" i="1" dirty="0" smtClean="0">
                <a:latin typeface="Times New Roman" panose="02020603050405020304" pitchFamily="18" charset="0"/>
                <a:ea typeface="ヒラギノ角ゴ Pro W3" pitchFamily="-84" charset="-128"/>
                <a:cs typeface="Times New Roman" panose="02020603050405020304" pitchFamily="18" charset="0"/>
              </a:rPr>
              <a:t>&gt; </a:t>
            </a:r>
            <a:r>
              <a:rPr lang="el-GR" sz="2200" i="1" dirty="0">
                <a:latin typeface="Times New Roman" panose="02020603050405020304" pitchFamily="18" charset="0"/>
                <a:ea typeface="ヒラギノ角ゴ Pro W3" pitchFamily="-84" charset="-128"/>
                <a:cs typeface="Times New Roman" panose="02020603050405020304" pitchFamily="18" charset="0"/>
              </a:rPr>
              <a:t>π</a:t>
            </a:r>
            <a:r>
              <a:rPr lang="en-US" sz="2200" dirty="0">
                <a:latin typeface="Times New Roman" panose="02020603050405020304" pitchFamily="18" charset="0"/>
                <a:ea typeface="ヒラギノ角ゴ Pro W3" pitchFamily="-84" charset="-128"/>
                <a:cs typeface="Times New Roman" panose="02020603050405020304" pitchFamily="18" charset="0"/>
              </a:rPr>
              <a:t>*</a:t>
            </a:r>
            <a:r>
              <a:rPr lang="en-US" sz="2200" dirty="0">
                <a:ea typeface="ヒラギノ角ゴ Pro W3" pitchFamily="-84" charset="-128"/>
                <a:cs typeface="Times New Roman" panose="02020603050405020304" pitchFamily="18" charset="0"/>
              </a:rPr>
              <a:t>, the central bank should </a:t>
            </a:r>
            <a:r>
              <a:rPr lang="en-US" sz="2200" dirty="0" smtClean="0">
                <a:ea typeface="ヒラギノ角ゴ Pro W3" pitchFamily="-84" charset="-128"/>
                <a:cs typeface="Times New Roman" panose="02020603050405020304" pitchFamily="18" charset="0"/>
              </a:rPr>
              <a:t>increase </a:t>
            </a:r>
            <a:r>
              <a:rPr lang="en-US" sz="2200" i="1" dirty="0" smtClean="0">
                <a:latin typeface="Times New Roman" panose="02020603050405020304" pitchFamily="18" charset="0"/>
                <a:ea typeface="ヒラギノ角ゴ Pro W3" pitchFamily="-84" charset="-128"/>
                <a:cs typeface="Times New Roman" panose="02020603050405020304" pitchFamily="18" charset="0"/>
              </a:rPr>
              <a:t>i</a:t>
            </a:r>
            <a:r>
              <a:rPr lang="en-US" sz="2200" i="1" baseline="-25000" dirty="0" smtClean="0">
                <a:latin typeface="Times New Roman" panose="02020603050405020304" pitchFamily="18" charset="0"/>
                <a:ea typeface="ヒラギノ角ゴ Pro W3" pitchFamily="-84" charset="-128"/>
                <a:cs typeface="Times New Roman" panose="02020603050405020304" pitchFamily="18" charset="0"/>
              </a:rPr>
              <a:t>t</a:t>
            </a:r>
            <a:r>
              <a:rPr lang="en-US" sz="2200" i="1" dirty="0" smtClean="0">
                <a:latin typeface="Times New Roman" panose="02020603050405020304" pitchFamily="18" charset="0"/>
                <a:ea typeface="ヒラギノ角ゴ Pro W3" pitchFamily="-84" charset="-128"/>
                <a:cs typeface="Times New Roman" panose="02020603050405020304" pitchFamily="18" charset="0"/>
              </a:rPr>
              <a:t> </a:t>
            </a:r>
            <a:r>
              <a:rPr lang="en-US" sz="2200" dirty="0">
                <a:ea typeface="ヒラギノ角ゴ Pro W3" pitchFamily="-84" charset="-128"/>
                <a:cs typeface="Times New Roman" panose="02020603050405020304" pitchFamily="18" charset="0"/>
              </a:rPr>
              <a:t>above </a:t>
            </a:r>
            <a:r>
              <a:rPr lang="en-US" sz="2200" i="1" dirty="0" err="1">
                <a:latin typeface="Times New Roman" panose="02020603050405020304" pitchFamily="18" charset="0"/>
                <a:ea typeface="ヒラギノ角ゴ Pro W3" pitchFamily="-84" charset="-128"/>
                <a:cs typeface="Times New Roman" panose="02020603050405020304" pitchFamily="18" charset="0"/>
              </a:rPr>
              <a:t>i</a:t>
            </a:r>
            <a:r>
              <a:rPr lang="en-US" sz="2200" dirty="0" smtClean="0">
                <a:latin typeface="Times New Roman" panose="02020603050405020304" pitchFamily="18" charset="0"/>
                <a:ea typeface="ヒラギノ角ゴ Pro W3" pitchFamily="-84" charset="-128"/>
                <a:cs typeface="Times New Roman" panose="02020603050405020304" pitchFamily="18" charset="0"/>
              </a:rPr>
              <a:t>*</a:t>
            </a:r>
            <a:r>
              <a:rPr lang="en-US" sz="2200" dirty="0" smtClean="0">
                <a:ea typeface="ヒラギノ角ゴ Pro W3" pitchFamily="-84" charset="-128"/>
                <a:cs typeface="Times New Roman" panose="02020603050405020304" pitchFamily="18" charset="0"/>
              </a:rPr>
              <a:t>.</a:t>
            </a:r>
          </a:p>
          <a:p>
            <a:r>
              <a:rPr lang="en-US" sz="2200" dirty="0" smtClean="0">
                <a:ea typeface="ヒラギノ角ゴ Pro W3" pitchFamily="-84" charset="-128"/>
                <a:cs typeface="Times New Roman" panose="02020603050405020304" pitchFamily="18" charset="0"/>
              </a:rPr>
              <a:t>If </a:t>
            </a:r>
            <a:r>
              <a:rPr lang="en-US" sz="2200" i="1" dirty="0" err="1" smtClean="0">
                <a:latin typeface="Times New Roman" panose="02020603050405020304" pitchFamily="18" charset="0"/>
                <a:ea typeface="ヒラギノ角ゴ Pro W3" pitchFamily="-84" charset="-128"/>
                <a:cs typeface="Times New Roman" panose="02020603050405020304" pitchFamily="18" charset="0"/>
              </a:rPr>
              <a:t>u</a:t>
            </a:r>
            <a:r>
              <a:rPr lang="en-US" sz="2200"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sz="2200" i="1" dirty="0" smtClean="0">
                <a:latin typeface="Times New Roman" panose="02020603050405020304" pitchFamily="18" charset="0"/>
                <a:ea typeface="ヒラギノ角ゴ Pro W3" pitchFamily="-84" charset="-128"/>
                <a:cs typeface="Times New Roman" panose="02020603050405020304" pitchFamily="18" charset="0"/>
              </a:rPr>
              <a:t> &gt; u</a:t>
            </a:r>
            <a:r>
              <a:rPr lang="en-US" sz="2200" i="1" baseline="-25000" dirty="0" smtClean="0">
                <a:latin typeface="Times New Roman" panose="02020603050405020304" pitchFamily="18" charset="0"/>
                <a:ea typeface="ヒラギノ角ゴ Pro W3" pitchFamily="-84" charset="-128"/>
                <a:cs typeface="Times New Roman" panose="02020603050405020304" pitchFamily="18" charset="0"/>
              </a:rPr>
              <a:t>n</a:t>
            </a:r>
            <a:r>
              <a:rPr lang="en-US" sz="2200" dirty="0" smtClean="0">
                <a:ea typeface="ヒラギノ角ゴ Pro W3" pitchFamily="-84" charset="-128"/>
                <a:cs typeface="Times New Roman" panose="02020603050405020304" pitchFamily="18" charset="0"/>
              </a:rPr>
              <a:t>, the central bank should decrease the nominal interest rate.</a:t>
            </a:r>
          </a:p>
          <a:p>
            <a:r>
              <a:rPr lang="en-US" sz="2200" dirty="0" smtClean="0">
                <a:ea typeface="ヒラギノ角ゴ Pro W3" pitchFamily="-84" charset="-128"/>
                <a:cs typeface="Times New Roman" panose="02020603050405020304" pitchFamily="18" charset="0"/>
              </a:rPr>
              <a:t>The coefficient </a:t>
            </a:r>
            <a:r>
              <a:rPr lang="en-US" sz="2200" i="1" dirty="0" smtClean="0">
                <a:latin typeface="Times New Roman" panose="02020603050405020304" pitchFamily="18" charset="0"/>
                <a:ea typeface="ヒラギノ角ゴ Pro W3" pitchFamily="-84" charset="-128"/>
                <a:cs typeface="Times New Roman" panose="02020603050405020304" pitchFamily="18" charset="0"/>
              </a:rPr>
              <a:t>b</a:t>
            </a:r>
            <a:r>
              <a:rPr lang="en-US" sz="2200" dirty="0" smtClean="0">
                <a:ea typeface="ヒラギノ角ゴ Pro W3" pitchFamily="-84" charset="-128"/>
                <a:cs typeface="Times New Roman" panose="02020603050405020304" pitchFamily="18" charset="0"/>
              </a:rPr>
              <a:t> reflects how much the central bank cares about unemployment.</a:t>
            </a:r>
            <a:endParaRPr lang="en-US" sz="2200" dirty="0">
              <a:ea typeface="ヒラギノ角ゴ Pro W3" pitchFamily="-84" charset="-128"/>
              <a:cs typeface="Times New Roman" panose="02020603050405020304" pitchFamily="18" charset="0"/>
            </a:endParaRPr>
          </a:p>
          <a:p>
            <a:endParaRPr lang="en-US" sz="2200" dirty="0">
              <a:ea typeface="ヒラギノ角ゴ Pro W3" pitchFamily="-84" charset="-128"/>
              <a:cs typeface="Times New Roman" panose="02020603050405020304" pitchFamily="18" charset="0"/>
            </a:endParaRPr>
          </a:p>
        </p:txBody>
      </p:sp>
      <p:pic>
        <p:nvPicPr>
          <p:cNvPr id="7" name="Picture 6"/>
          <p:cNvPicPr>
            <a:picLocks noChangeAspect="1"/>
          </p:cNvPicPr>
          <p:nvPr/>
        </p:nvPicPr>
        <p:blipFill>
          <a:blip r:embed="rId2" cstate="print"/>
          <a:stretch>
            <a:fillRect/>
          </a:stretch>
        </p:blipFill>
        <p:spPr>
          <a:xfrm>
            <a:off x="1676400" y="2286000"/>
            <a:ext cx="4600575" cy="410051"/>
          </a:xfrm>
          <a:prstGeom prst="rect">
            <a:avLst/>
          </a:prstGeom>
        </p:spPr>
      </p:pic>
    </p:spTree>
    <p:extLst>
      <p:ext uri="{BB962C8B-B14F-4D97-AF65-F5344CB8AC3E}">
        <p14:creationId xmlns="" xmlns:p14="http://schemas.microsoft.com/office/powerpoint/2010/main" val="493550873"/>
      </p:ext>
    </p:extLst>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ea typeface="ヒラギノ角ゴ Pro W3" pitchFamily="-65" charset="-128"/>
              </a:rPr>
              <a:t>23-3 The Optimal Inflation Rate</a:t>
            </a:r>
            <a:endParaRPr lang="en-US" dirty="0" smtClean="0">
              <a:ea typeface="ヒラギノ角ゴ Pro W3" pitchFamily="-65" charset="-128"/>
            </a:endParaRPr>
          </a:p>
        </p:txBody>
      </p:sp>
      <p:sp>
        <p:nvSpPr>
          <p:cNvPr id="16387" name="TextBox 4"/>
          <p:cNvSpPr txBox="1">
            <a:spLocks noChangeArrowheads="1"/>
          </p:cNvSpPr>
          <p:nvPr/>
        </p:nvSpPr>
        <p:spPr bwMode="auto">
          <a:xfrm>
            <a:off x="457200" y="3592512"/>
            <a:ext cx="77724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Table </a:t>
            </a:r>
            <a:r>
              <a:rPr lang="en-US" sz="1800" b="1" dirty="0" smtClean="0">
                <a:latin typeface="Verdana" panose="020B0604030504040204" pitchFamily="34" charset="0"/>
              </a:rPr>
              <a:t>23-1  </a:t>
            </a:r>
            <a:r>
              <a:rPr lang="en-US" sz="1800" dirty="0">
                <a:latin typeface="Verdana" panose="020B0604030504040204" pitchFamily="34" charset="0"/>
              </a:rPr>
              <a:t>Inflation Rates in the OECD, </a:t>
            </a:r>
            <a:r>
              <a:rPr lang="en-US" sz="1800" dirty="0" smtClean="0">
                <a:latin typeface="Verdana" panose="020B0604030504040204" pitchFamily="34" charset="0"/>
              </a:rPr>
              <a:t>1981–2014</a:t>
            </a:r>
            <a:endParaRPr lang="en-US" sz="1800" dirty="0">
              <a:latin typeface="Verdana" panose="020B0604030504040204" pitchFamily="34" charset="0"/>
            </a:endParaRPr>
          </a:p>
        </p:txBody>
      </p:sp>
      <p:pic>
        <p:nvPicPr>
          <p:cNvPr id="2" name="Picture 1"/>
          <p:cNvPicPr>
            <a:picLocks noChangeAspect="1"/>
          </p:cNvPicPr>
          <p:nvPr/>
        </p:nvPicPr>
        <p:blipFill>
          <a:blip r:embed="rId2" cstate="print"/>
          <a:stretch>
            <a:fillRect/>
          </a:stretch>
        </p:blipFill>
        <p:spPr>
          <a:xfrm>
            <a:off x="1057275" y="3962400"/>
            <a:ext cx="6724650" cy="1495425"/>
          </a:xfrm>
          <a:prstGeom prst="rect">
            <a:avLst/>
          </a:prstGeom>
        </p:spPr>
      </p:pic>
      <p:sp>
        <p:nvSpPr>
          <p:cNvPr id="5" name="TextBox 4"/>
          <p:cNvSpPr txBox="1">
            <a:spLocks noChangeArrowheads="1"/>
          </p:cNvSpPr>
          <p:nvPr/>
        </p:nvSpPr>
        <p:spPr bwMode="auto">
          <a:xfrm>
            <a:off x="381000" y="1492984"/>
            <a:ext cx="7772400" cy="1631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342900" indent="-342900">
              <a:buFont typeface="Arial" panose="020B0604020202020204" pitchFamily="34" charset="0"/>
              <a:buChar char="•"/>
            </a:pPr>
            <a:r>
              <a:rPr lang="en-US" sz="2000" dirty="0" smtClean="0">
                <a:latin typeface="Verdana" panose="020B0604030504040204" pitchFamily="34" charset="0"/>
              </a:rPr>
              <a:t>Inflation steadily decreased in advanced economics from the early 1980s.</a:t>
            </a:r>
          </a:p>
          <a:p>
            <a:pPr marL="342900" indent="-342900">
              <a:buFont typeface="Arial" panose="020B0604020202020204" pitchFamily="34" charset="0"/>
              <a:buChar char="•"/>
            </a:pPr>
            <a:r>
              <a:rPr lang="en-US" sz="2000" dirty="0" smtClean="0">
                <a:latin typeface="Verdana" panose="020B0604030504040204" pitchFamily="34" charset="0"/>
              </a:rPr>
              <a:t>Whether central banks should have aimed for an inflation rate of about 2% depends on the costs and benefits of inflation.</a:t>
            </a:r>
            <a:endParaRPr lang="en-US" sz="2000" dirty="0">
              <a:latin typeface="Verdana" panose="020B0604030504040204" pitchFamily="34" charset="0"/>
            </a:endParaRPr>
          </a:p>
        </p:txBody>
      </p:sp>
    </p:spTree>
    <p:extLst>
      <p:ext uri="{BB962C8B-B14F-4D97-AF65-F5344CB8AC3E}">
        <p14:creationId xmlns="" xmlns:p14="http://schemas.microsoft.com/office/powerpoint/2010/main" val="4195374950"/>
      </p:ext>
    </p:extLst>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65" charset="-128"/>
              </a:rPr>
              <a:t>23-3 The Optimal Inflation Rate</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Four main costs of inflation:</a:t>
            </a:r>
          </a:p>
          <a:p>
            <a:pPr lvl="1"/>
            <a:r>
              <a:rPr lang="en-US" sz="2000" b="1" dirty="0" smtClean="0">
                <a:ea typeface="ヒラギノ角ゴ Pro W3" pitchFamily="-84" charset="-128"/>
                <a:cs typeface="Times New Roman" panose="02020603050405020304" pitchFamily="18" charset="0"/>
              </a:rPr>
              <a:t>Shoe-leather costs</a:t>
            </a:r>
            <a:r>
              <a:rPr lang="en-US" sz="2000" dirty="0" smtClean="0">
                <a:ea typeface="ヒラギノ角ゴ Pro W3" pitchFamily="-84" charset="-128"/>
                <a:cs typeface="Times New Roman" panose="02020603050405020304" pitchFamily="18" charset="0"/>
              </a:rPr>
              <a:t>: Costs associated with more trips to the bank as people reduce their money balances.</a:t>
            </a:r>
          </a:p>
          <a:p>
            <a:pPr lvl="1"/>
            <a:r>
              <a:rPr lang="en-US" sz="2000" dirty="0" smtClean="0">
                <a:ea typeface="ヒラギノ角ゴ Pro W3" pitchFamily="-84" charset="-128"/>
                <a:cs typeface="Times New Roman" panose="02020603050405020304" pitchFamily="18" charset="0"/>
              </a:rPr>
              <a:t>Tax distortions: High inflation leads to more higher capital gains taxes and higher income tax (</a:t>
            </a:r>
            <a:r>
              <a:rPr lang="en-US" sz="2000" b="1" dirty="0" smtClean="0">
                <a:ea typeface="ヒラギノ角ゴ Pro W3" pitchFamily="-84" charset="-128"/>
                <a:cs typeface="Times New Roman" panose="02020603050405020304" pitchFamily="18" charset="0"/>
              </a:rPr>
              <a:t>bracket creep </a:t>
            </a:r>
            <a:r>
              <a:rPr lang="en-US" sz="2000" dirty="0" smtClean="0">
                <a:ea typeface="ヒラギノ角ゴ Pro W3" pitchFamily="-84" charset="-128"/>
                <a:cs typeface="Times New Roman" panose="02020603050405020304" pitchFamily="18" charset="0"/>
              </a:rPr>
              <a:t>that pushes people into higher tax brackets)</a:t>
            </a:r>
          </a:p>
          <a:p>
            <a:pPr lvl="1"/>
            <a:r>
              <a:rPr lang="en-US" sz="2000" b="1" dirty="0" smtClean="0">
                <a:ea typeface="ヒラギノ角ゴ Pro W3" pitchFamily="-84" charset="-128"/>
                <a:cs typeface="Times New Roman" panose="02020603050405020304" pitchFamily="18" charset="0"/>
              </a:rPr>
              <a:t>Money illusion</a:t>
            </a:r>
            <a:r>
              <a:rPr lang="en-US" sz="2000" dirty="0" smtClean="0">
                <a:ea typeface="ヒラギノ角ゴ Pro W3" pitchFamily="-84" charset="-128"/>
                <a:cs typeface="Times New Roman" panose="02020603050405020304" pitchFamily="18" charset="0"/>
              </a:rPr>
              <a:t>: People appear to make systematic mistakes in assessing nominal versus real changes in incomes and interest rates.</a:t>
            </a:r>
          </a:p>
          <a:p>
            <a:pPr lvl="1"/>
            <a:r>
              <a:rPr lang="en-US" sz="2000" dirty="0" smtClean="0">
                <a:ea typeface="ヒラギノ角ゴ Pro W3" pitchFamily="-84" charset="-128"/>
                <a:cs typeface="Times New Roman" panose="02020603050405020304" pitchFamily="18" charset="0"/>
              </a:rPr>
              <a:t>Inflation variability: Higher inflation is typically associated with </a:t>
            </a:r>
            <a:r>
              <a:rPr lang="en-US" sz="2000" i="1" dirty="0" smtClean="0">
                <a:ea typeface="ヒラギノ角ゴ Pro W3" pitchFamily="-84" charset="-128"/>
                <a:cs typeface="Times New Roman" panose="02020603050405020304" pitchFamily="18" charset="0"/>
              </a:rPr>
              <a:t>more variable inflation</a:t>
            </a:r>
            <a:r>
              <a:rPr lang="en-US" sz="2000" dirty="0" smtClean="0">
                <a:ea typeface="ヒラギノ角ゴ Pro W3" pitchFamily="-84" charset="-128"/>
                <a:cs typeface="Times New Roman" panose="02020603050405020304" pitchFamily="18" charset="0"/>
              </a:rPr>
              <a:t>, which increases the risk of financial assets that promise fixed nominal payments in the future.</a:t>
            </a:r>
            <a:endParaRPr lang="en-US" sz="2000" dirty="0">
              <a:ea typeface="ヒラギノ角ゴ Pro W3" pitchFamily="-84" charset="-128"/>
              <a:cs typeface="Times New Roman" panose="02020603050405020304" pitchFamily="18" charset="0"/>
            </a:endParaRPr>
          </a:p>
          <a:p>
            <a:endParaRPr lang="en-US" sz="2200" dirty="0">
              <a:ea typeface="ヒラギノ角ゴ Pro W3" pitchFamily="-84" charset="-128"/>
              <a:cs typeface="Times New Roman" panose="02020603050405020304" pitchFamily="18" charset="0"/>
            </a:endParaRPr>
          </a:p>
        </p:txBody>
      </p:sp>
    </p:spTree>
    <p:extLst>
      <p:ext uri="{BB962C8B-B14F-4D97-AF65-F5344CB8AC3E}">
        <p14:creationId xmlns="" xmlns:p14="http://schemas.microsoft.com/office/powerpoint/2010/main" val="678121893"/>
      </p:ext>
    </p:extLst>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FOCUS: Money Illusion</a:t>
            </a:r>
          </a:p>
        </p:txBody>
      </p:sp>
      <p:sp>
        <p:nvSpPr>
          <p:cNvPr id="18435" name="TextBox 3"/>
          <p:cNvSpPr txBox="1">
            <a:spLocks noChangeArrowheads="1"/>
          </p:cNvSpPr>
          <p:nvPr/>
        </p:nvSpPr>
        <p:spPr bwMode="auto">
          <a:xfrm>
            <a:off x="375458" y="1524000"/>
            <a:ext cx="8001000" cy="41549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342900" indent="-342900">
              <a:buFont typeface="Arial" panose="020B0604020202020204" pitchFamily="34" charset="0"/>
              <a:buChar char="•"/>
            </a:pPr>
            <a:r>
              <a:rPr lang="en-US" dirty="0" smtClean="0">
                <a:latin typeface="Verdana" panose="020B0604030504040204" pitchFamily="34" charset="0"/>
              </a:rPr>
              <a:t>There is a lot of anecdotal evidence that people fail to properly adjust for inflation in their financial computations.</a:t>
            </a:r>
          </a:p>
          <a:p>
            <a:pPr marL="342900" indent="-342900">
              <a:buFont typeface="Arial" panose="020B0604020202020204" pitchFamily="34" charset="0"/>
              <a:buChar char="•"/>
            </a:pPr>
            <a:r>
              <a:rPr lang="en-US" dirty="0" smtClean="0">
                <a:latin typeface="Verdana" panose="020B0604030504040204" pitchFamily="34" charset="0"/>
              </a:rPr>
              <a:t>Two psychologists designed a survey aimed at finding how prevalent money illusion is.</a:t>
            </a:r>
          </a:p>
          <a:p>
            <a:pPr marL="342900" indent="-342900">
              <a:buFont typeface="Arial" panose="020B0604020202020204" pitchFamily="34" charset="0"/>
              <a:buChar char="•"/>
            </a:pPr>
            <a:r>
              <a:rPr lang="en-US" dirty="0" smtClean="0">
                <a:latin typeface="Verdana" panose="020B0604030504040204" pitchFamily="34" charset="0"/>
              </a:rPr>
              <a:t>The survey, which asked respondents to ranks their preference of three financial conditions.</a:t>
            </a:r>
          </a:p>
          <a:p>
            <a:pPr marL="342900" indent="-342900">
              <a:buFont typeface="Arial" panose="020B0604020202020204" pitchFamily="34" charset="0"/>
              <a:buChar char="•"/>
            </a:pPr>
            <a:r>
              <a:rPr lang="en-US" dirty="0" smtClean="0">
                <a:latin typeface="Verdana" panose="020B0604030504040204" pitchFamily="34" charset="0"/>
              </a:rPr>
              <a:t>Money illusion was prevalent: More people preferred more about situations better in nominal terms as opposed to situations in real terms.</a:t>
            </a:r>
            <a:endParaRPr lang="en-US" dirty="0">
              <a:latin typeface="Verdana" panose="020B0604030504040204" pitchFamily="34" charset="0"/>
            </a:endParaRPr>
          </a:p>
        </p:txBody>
      </p:sp>
    </p:spTree>
    <p:extLst>
      <p:ext uri="{BB962C8B-B14F-4D97-AF65-F5344CB8AC3E}">
        <p14:creationId xmlns="" xmlns:p14="http://schemas.microsoft.com/office/powerpoint/2010/main" val="2473895291"/>
      </p:ext>
    </p:extLst>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65" charset="-128"/>
              </a:rPr>
              <a:t>23-3 The Optimal Inflation Rate</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Three benefits of inflation:</a:t>
            </a:r>
          </a:p>
          <a:p>
            <a:pPr lvl="1"/>
            <a:r>
              <a:rPr lang="en-US" sz="2000" b="1" dirty="0" err="1" smtClean="0">
                <a:ea typeface="ヒラギノ角ゴ Pro W3" pitchFamily="-84" charset="-128"/>
                <a:cs typeface="Times New Roman" panose="02020603050405020304" pitchFamily="18" charset="0"/>
              </a:rPr>
              <a:t>Seignorage</a:t>
            </a:r>
            <a:r>
              <a:rPr lang="en-US" sz="2000" dirty="0" smtClean="0">
                <a:ea typeface="ヒラギノ角ゴ Pro W3" pitchFamily="-84" charset="-128"/>
                <a:cs typeface="Times New Roman" panose="02020603050405020304" pitchFamily="18" charset="0"/>
              </a:rPr>
              <a:t>: Money creation—the ultimate source of inflation—is one way in which the government can finance its spending.</a:t>
            </a:r>
          </a:p>
          <a:p>
            <a:pPr lvl="1"/>
            <a:r>
              <a:rPr lang="en-US" sz="2000" dirty="0" smtClean="0">
                <a:ea typeface="ヒラギノ角ゴ Pro W3" pitchFamily="-84" charset="-128"/>
                <a:cs typeface="Times New Roman" panose="02020603050405020304" pitchFamily="18" charset="0"/>
              </a:rPr>
              <a:t>The use of the interaction between money illusion and inflation in facilitating real wage adjustments.</a:t>
            </a:r>
          </a:p>
          <a:p>
            <a:pPr lvl="1"/>
            <a:r>
              <a:rPr lang="en-US" sz="2000" dirty="0" smtClean="0">
                <a:ea typeface="ヒラギノ角ゴ Pro W3" pitchFamily="-84" charset="-128"/>
                <a:cs typeface="Times New Roman" panose="02020603050405020304" pitchFamily="18" charset="0"/>
              </a:rPr>
              <a:t>The option of negative real interest rates for macroeconomic policy: High inflation decreases the probability of hitting the zero lower bound.</a:t>
            </a:r>
            <a:endParaRPr lang="en-US" sz="2000" dirty="0">
              <a:ea typeface="ヒラギノ角ゴ Pro W3" pitchFamily="-84" charset="-128"/>
              <a:cs typeface="Times New Roman" panose="02020603050405020304" pitchFamily="18" charset="0"/>
            </a:endParaRPr>
          </a:p>
          <a:p>
            <a:endParaRPr lang="en-US" sz="2200" dirty="0">
              <a:ea typeface="ヒラギノ角ゴ Pro W3" pitchFamily="-84" charset="-128"/>
              <a:cs typeface="Times New Roman" panose="02020603050405020304" pitchFamily="18" charset="0"/>
            </a:endParaRPr>
          </a:p>
        </p:txBody>
      </p:sp>
    </p:spTree>
    <p:extLst>
      <p:ext uri="{BB962C8B-B14F-4D97-AF65-F5344CB8AC3E}">
        <p14:creationId xmlns="" xmlns:p14="http://schemas.microsoft.com/office/powerpoint/2010/main" val="1568724270"/>
      </p:ext>
    </p:extLst>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65" charset="-128"/>
              </a:rPr>
              <a:t>23-4 Unconventional Monetary Policy</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200" dirty="0" smtClean="0">
                <a:ea typeface="ヒラギノ角ゴ Pro W3" pitchFamily="-84" charset="-128"/>
              </a:rPr>
              <a:t>One example of unconventional monetary policy is </a:t>
            </a:r>
            <a:r>
              <a:rPr lang="en-US" sz="2200" b="1" dirty="0" smtClean="0">
                <a:ea typeface="ヒラギノ角ゴ Pro W3" pitchFamily="-84" charset="-128"/>
              </a:rPr>
              <a:t>quantitative easing </a:t>
            </a:r>
            <a:r>
              <a:rPr lang="en-US" sz="2200" dirty="0" smtClean="0">
                <a:ea typeface="ヒラギノ角ゴ Pro W3" pitchFamily="-84" charset="-128"/>
              </a:rPr>
              <a:t>or</a:t>
            </a:r>
            <a:r>
              <a:rPr lang="en-US" sz="2200" b="1" dirty="0" smtClean="0">
                <a:ea typeface="ヒラギノ角ゴ Pro W3" pitchFamily="-84" charset="-128"/>
              </a:rPr>
              <a:t> credit easing</a:t>
            </a:r>
            <a:r>
              <a:rPr lang="en-US" sz="2200" dirty="0" smtClean="0">
                <a:ea typeface="ヒラギノ角ゴ Pro W3" pitchFamily="-84" charset="-128"/>
              </a:rPr>
              <a:t>: Central banks buy assets other than short term bonds, with the intention of decreasing the premium on those assets, and thus decreasing the corresponding borrowing rates with the aim of stimulating economic activity.</a:t>
            </a:r>
          </a:p>
          <a:p>
            <a:r>
              <a:rPr lang="en-US" sz="2200" dirty="0" smtClean="0">
                <a:ea typeface="ヒラギノ角ゴ Pro W3" pitchFamily="-84" charset="-128"/>
                <a:cs typeface="Times New Roman" panose="02020603050405020304" pitchFamily="18" charset="0"/>
              </a:rPr>
              <a:t>Central banks finance their purchases through money creation, leading to an increase in the money supply.</a:t>
            </a:r>
          </a:p>
          <a:p>
            <a:r>
              <a:rPr lang="en-US" sz="2200" dirty="0" smtClean="0">
                <a:ea typeface="ヒラギノ角ゴ Pro W3" pitchFamily="-84" charset="-128"/>
                <a:cs typeface="Times New Roman" panose="02020603050405020304" pitchFamily="18" charset="0"/>
              </a:rPr>
              <a:t>Although the increase in the money supply has no effect on the policy rate, the purchase of other assets lead to lower borrowing rates.</a:t>
            </a:r>
          </a:p>
          <a:p>
            <a:pPr marL="0" indent="0">
              <a:buNone/>
            </a:pPr>
            <a:endParaRPr lang="en-US" sz="2200" dirty="0">
              <a:ea typeface="ヒラギノ角ゴ Pro W3" pitchFamily="-84" charset="-128"/>
              <a:cs typeface="Times New Roman" panose="02020603050405020304" pitchFamily="18" charset="0"/>
            </a:endParaRPr>
          </a:p>
        </p:txBody>
      </p:sp>
    </p:spTree>
    <p:extLst>
      <p:ext uri="{BB962C8B-B14F-4D97-AF65-F5344CB8AC3E}">
        <p14:creationId xmlns="" xmlns:p14="http://schemas.microsoft.com/office/powerpoint/2010/main" val="3192690074"/>
      </p:ext>
    </p:extLst>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65" charset="-128"/>
              </a:rPr>
              <a:t>23-4 Unconventional Monetary Policy</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200" b="1" dirty="0" smtClean="0">
                <a:ea typeface="ヒラギノ角ゴ Pro W3" pitchFamily="-84" charset="-128"/>
                <a:cs typeface="Times New Roman" panose="02020603050405020304" pitchFamily="18" charset="0"/>
              </a:rPr>
              <a:t>QE1 </a:t>
            </a:r>
            <a:r>
              <a:rPr lang="en-US" sz="2200" dirty="0" smtClean="0">
                <a:ea typeface="ヒラギノ角ゴ Pro W3" pitchFamily="-84" charset="-128"/>
                <a:cs typeface="Times New Roman" panose="02020603050405020304" pitchFamily="18" charset="0"/>
              </a:rPr>
              <a:t>(Quantitative </a:t>
            </a:r>
            <a:r>
              <a:rPr lang="en-US" sz="2200" dirty="0">
                <a:ea typeface="ヒラギノ角ゴ Pro W3" pitchFamily="-84" charset="-128"/>
                <a:cs typeface="Times New Roman" panose="02020603050405020304" pitchFamily="18" charset="0"/>
              </a:rPr>
              <a:t>Easing </a:t>
            </a:r>
            <a:r>
              <a:rPr lang="en-US" sz="2200" dirty="0" smtClean="0">
                <a:ea typeface="ヒラギノ角ゴ Pro W3" pitchFamily="-84" charset="-128"/>
                <a:cs typeface="Times New Roman" panose="02020603050405020304" pitchFamily="18" charset="0"/>
              </a:rPr>
              <a:t>1): The Fed started its first quantitative easing program in November 2008 by buying certain types of mortgage-based securities.</a:t>
            </a:r>
          </a:p>
          <a:p>
            <a:r>
              <a:rPr lang="en-US" sz="2200" b="1" dirty="0" smtClean="0">
                <a:ea typeface="ヒラギノ角ゴ Pro W3" pitchFamily="-84" charset="-128"/>
                <a:cs typeface="Times New Roman" panose="02020603050405020304" pitchFamily="18" charset="0"/>
              </a:rPr>
              <a:t>QE2</a:t>
            </a:r>
            <a:r>
              <a:rPr lang="en-US" sz="2200" dirty="0" smtClean="0">
                <a:ea typeface="ヒラギノ角ゴ Pro W3" pitchFamily="-84" charset="-128"/>
                <a:cs typeface="Times New Roman" panose="02020603050405020304" pitchFamily="18" charset="0"/>
              </a:rPr>
              <a:t>: In November 2010, the Fed started buying longer term Treasury bonds with the intent of decreasing the term premium on these long term bonds.</a:t>
            </a:r>
          </a:p>
          <a:p>
            <a:r>
              <a:rPr lang="en-US" sz="2200" b="1" dirty="0" smtClean="0">
                <a:ea typeface="ヒラギノ角ゴ Pro W3" pitchFamily="-84" charset="-128"/>
                <a:cs typeface="Times New Roman" panose="02020603050405020304" pitchFamily="18" charset="0"/>
              </a:rPr>
              <a:t>QE3</a:t>
            </a:r>
            <a:r>
              <a:rPr lang="en-US" sz="2200" dirty="0" smtClean="0">
                <a:ea typeface="ヒラギノ角ゴ Pro W3" pitchFamily="-84" charset="-128"/>
                <a:cs typeface="Times New Roman" panose="02020603050405020304" pitchFamily="18" charset="0"/>
              </a:rPr>
              <a:t>: In September 2012, the Fed purchased more mortgage-based securities in an effort to decrease the cost of mortgages.</a:t>
            </a:r>
          </a:p>
          <a:p>
            <a:endParaRPr lang="en-US" sz="2200" dirty="0">
              <a:ea typeface="ヒラギノ角ゴ Pro W3" pitchFamily="-84" charset="-128"/>
              <a:cs typeface="Times New Roman" panose="02020603050405020304" pitchFamily="18" charset="0"/>
            </a:endParaRPr>
          </a:p>
          <a:p>
            <a:endParaRPr lang="en-US" sz="2200" dirty="0">
              <a:ea typeface="ヒラギノ角ゴ Pro W3" pitchFamily="-84" charset="-128"/>
              <a:cs typeface="Times New Roman" panose="02020603050405020304" pitchFamily="18" charset="0"/>
            </a:endParaRPr>
          </a:p>
        </p:txBody>
      </p:sp>
    </p:spTree>
    <p:extLst>
      <p:ext uri="{BB962C8B-B14F-4D97-AF65-F5344CB8AC3E}">
        <p14:creationId xmlns="" xmlns:p14="http://schemas.microsoft.com/office/powerpoint/2010/main" val="2976643533"/>
      </p:ext>
    </p:extLst>
  </p:cSld>
  <p:clrMapOvr>
    <a:masterClrMapping/>
  </p:clrMapOvr>
  <p:transition>
    <p:strips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smtClean="0">
                <a:ea typeface="ヒラギノ角ゴ Pro W3" pitchFamily="-65" charset="-128"/>
              </a:rPr>
              <a:t>23-4 Unconventional Monetary Policy</a:t>
            </a:r>
          </a:p>
        </p:txBody>
      </p:sp>
      <p:sp>
        <p:nvSpPr>
          <p:cNvPr id="24579" name="TextBox 3"/>
          <p:cNvSpPr txBox="1">
            <a:spLocks noChangeArrowheads="1"/>
          </p:cNvSpPr>
          <p:nvPr/>
        </p:nvSpPr>
        <p:spPr bwMode="auto">
          <a:xfrm>
            <a:off x="457200" y="1676400"/>
            <a:ext cx="77724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23-2  </a:t>
            </a:r>
            <a:r>
              <a:rPr lang="en-US" sz="1800" dirty="0">
                <a:latin typeface="Verdana" panose="020B0604030504040204" pitchFamily="34" charset="0"/>
              </a:rPr>
              <a:t>The </a:t>
            </a:r>
            <a:r>
              <a:rPr lang="en-US" sz="1800" dirty="0" smtClean="0">
                <a:latin typeface="Verdana" panose="020B0604030504040204" pitchFamily="34" charset="0"/>
              </a:rPr>
              <a:t>Evolution of the U.S. Monetary Base from 2005 to 2015</a:t>
            </a:r>
            <a:endParaRPr lang="en-US" sz="1800" dirty="0">
              <a:latin typeface="Verdana" panose="020B0604030504040204" pitchFamily="34" charset="0"/>
            </a:endParaRPr>
          </a:p>
        </p:txBody>
      </p:sp>
      <p:sp>
        <p:nvSpPr>
          <p:cNvPr id="5" name="Rectangle 4"/>
          <p:cNvSpPr/>
          <p:nvPr/>
        </p:nvSpPr>
        <p:spPr>
          <a:xfrm>
            <a:off x="533400" y="2856131"/>
            <a:ext cx="2362200" cy="1569660"/>
          </a:xfrm>
          <a:prstGeom prst="rect">
            <a:avLst/>
          </a:prstGeom>
        </p:spPr>
        <p:txBody>
          <a:bodyPr wrap="square">
            <a:spAutoFit/>
          </a:bodyPr>
          <a:lstStyle/>
          <a:p>
            <a:r>
              <a:rPr lang="en-US" sz="1600" dirty="0">
                <a:latin typeface="+mn-lt"/>
              </a:rPr>
              <a:t>As a result of quantitative easing</a:t>
            </a:r>
            <a:r>
              <a:rPr lang="en-US" sz="1600" dirty="0" smtClean="0">
                <a:latin typeface="+mn-lt"/>
              </a:rPr>
              <a:t>, the </a:t>
            </a:r>
            <a:r>
              <a:rPr lang="en-US" sz="1600" dirty="0">
                <a:latin typeface="+mn-lt"/>
              </a:rPr>
              <a:t>monetary base </a:t>
            </a:r>
            <a:r>
              <a:rPr lang="en-US" sz="1600" dirty="0" smtClean="0">
                <a:latin typeface="+mn-lt"/>
              </a:rPr>
              <a:t>more than </a:t>
            </a:r>
            <a:r>
              <a:rPr lang="en-US" sz="1600" dirty="0">
                <a:latin typeface="+mn-lt"/>
              </a:rPr>
              <a:t>quadrupled between </a:t>
            </a:r>
            <a:r>
              <a:rPr lang="en-US" sz="1600" dirty="0" smtClean="0">
                <a:latin typeface="+mn-lt"/>
              </a:rPr>
              <a:t>2005 and </a:t>
            </a:r>
            <a:r>
              <a:rPr lang="en-US" sz="1600" dirty="0">
                <a:latin typeface="+mn-lt"/>
              </a:rPr>
              <a:t>2015.</a:t>
            </a:r>
          </a:p>
        </p:txBody>
      </p:sp>
      <p:pic>
        <p:nvPicPr>
          <p:cNvPr id="6" name="Picture 5"/>
          <p:cNvPicPr>
            <a:picLocks noChangeAspect="1"/>
          </p:cNvPicPr>
          <p:nvPr/>
        </p:nvPicPr>
        <p:blipFill>
          <a:blip r:embed="rId2" cstate="print"/>
          <a:stretch>
            <a:fillRect/>
          </a:stretch>
        </p:blipFill>
        <p:spPr>
          <a:xfrm>
            <a:off x="2895600" y="2322731"/>
            <a:ext cx="5562600" cy="3053036"/>
          </a:xfrm>
          <a:prstGeom prst="rect">
            <a:avLst/>
          </a:prstGeom>
        </p:spPr>
      </p:pic>
    </p:spTree>
    <p:extLst>
      <p:ext uri="{BB962C8B-B14F-4D97-AF65-F5344CB8AC3E}">
        <p14:creationId xmlns="" xmlns:p14="http://schemas.microsoft.com/office/powerpoint/2010/main" val="1164989560"/>
      </p:ext>
    </p:extLst>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65" charset="-128"/>
              </a:rPr>
              <a:t>23-5 Monetary Policy and Financial Stability</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b="1" dirty="0" smtClean="0">
                <a:ea typeface="ヒラギノ角ゴ Pro W3" pitchFamily="-84" charset="-128"/>
                <a:cs typeface="Times New Roman" panose="02020603050405020304" pitchFamily="18" charset="0"/>
              </a:rPr>
              <a:t>Lender of last resort: </a:t>
            </a:r>
            <a:r>
              <a:rPr lang="en-US" sz="2400" dirty="0" smtClean="0">
                <a:ea typeface="ヒラギノ角ゴ Pro W3" pitchFamily="-84" charset="-128"/>
                <a:cs typeface="Times New Roman" panose="02020603050405020304" pitchFamily="18" charset="0"/>
              </a:rPr>
              <a:t>A function of the Fed that provides a bank the liquidity it needs to pay the depositors without having to sell its assets.</a:t>
            </a:r>
          </a:p>
          <a:p>
            <a:r>
              <a:rPr lang="en-US" sz="2400" dirty="0" smtClean="0">
                <a:ea typeface="ヒラギノ角ゴ Pro W3" pitchFamily="-84" charset="-128"/>
                <a:cs typeface="Times New Roman" panose="02020603050405020304" pitchFamily="18" charset="0"/>
              </a:rPr>
              <a:t>The crisis has forced central banks to consider whether they want to provide liquidity to institutions they do not regulate.</a:t>
            </a:r>
          </a:p>
          <a:p>
            <a:r>
              <a:rPr lang="en-US" sz="2400" dirty="0" smtClean="0">
                <a:ea typeface="ヒラギノ角ゴ Pro W3" pitchFamily="-84" charset="-128"/>
                <a:cs typeface="Times New Roman" panose="02020603050405020304" pitchFamily="18" charset="0"/>
              </a:rPr>
              <a:t>The consensus is:</a:t>
            </a:r>
          </a:p>
          <a:p>
            <a:pPr lvl="1"/>
            <a:r>
              <a:rPr lang="en-US" sz="2000" dirty="0" smtClean="0">
                <a:ea typeface="ヒラギノ角ゴ Pro W3" pitchFamily="-84" charset="-128"/>
                <a:cs typeface="Times New Roman" panose="02020603050405020304" pitchFamily="18" charset="0"/>
              </a:rPr>
              <a:t>It is risky to wait for a bubble to build up and burst</a:t>
            </a:r>
          </a:p>
          <a:p>
            <a:pPr lvl="1"/>
            <a:r>
              <a:rPr lang="en-US" sz="2000" dirty="0" smtClean="0">
                <a:ea typeface="ヒラギノ角ゴ Pro W3" pitchFamily="-84" charset="-128"/>
                <a:cs typeface="Times New Roman" panose="02020603050405020304" pitchFamily="18" charset="0"/>
              </a:rPr>
              <a:t>To deal with bubbles or dangerous behavior in the financial system, rather than the interest rate, the right instruments are </a:t>
            </a:r>
            <a:r>
              <a:rPr lang="en-US" sz="2000" b="1" dirty="0" err="1" smtClean="0">
                <a:ea typeface="ヒラギノ角ゴ Pro W3" pitchFamily="-84" charset="-128"/>
                <a:cs typeface="Times New Roman" panose="02020603050405020304" pitchFamily="18" charset="0"/>
              </a:rPr>
              <a:t>macroprudential</a:t>
            </a:r>
            <a:r>
              <a:rPr lang="en-US" sz="2000" b="1" dirty="0" smtClean="0">
                <a:ea typeface="ヒラギノ角ゴ Pro W3" pitchFamily="-84" charset="-128"/>
                <a:cs typeface="Times New Roman" panose="02020603050405020304" pitchFamily="18" charset="0"/>
              </a:rPr>
              <a:t> tools</a:t>
            </a:r>
            <a:r>
              <a:rPr lang="en-US" sz="2000" dirty="0" smtClean="0">
                <a:ea typeface="ヒラギノ角ゴ Pro W3" pitchFamily="-84" charset="-128"/>
                <a:cs typeface="Times New Roman" panose="02020603050405020304" pitchFamily="18" charset="0"/>
              </a:rPr>
              <a:t>—rules that are aimed directly at any financial institutions involved</a:t>
            </a:r>
          </a:p>
          <a:p>
            <a:endParaRPr lang="en-US" sz="2200" dirty="0" smtClean="0">
              <a:ea typeface="ヒラギノ角ゴ Pro W3" pitchFamily="-84" charset="-128"/>
              <a:cs typeface="Times New Roman" panose="02020603050405020304" pitchFamily="18" charset="0"/>
            </a:endParaRPr>
          </a:p>
          <a:p>
            <a:endParaRPr lang="en-US" sz="2200" dirty="0" smtClean="0">
              <a:ea typeface="ヒラギノ角ゴ Pro W3" pitchFamily="-84" charset="-128"/>
              <a:cs typeface="Times New Roman" panose="02020603050405020304" pitchFamily="18" charset="0"/>
            </a:endParaRPr>
          </a:p>
          <a:p>
            <a:endParaRPr lang="en-US" sz="2200" dirty="0">
              <a:ea typeface="ヒラギノ角ゴ Pro W3" pitchFamily="-84" charset="-128"/>
              <a:cs typeface="Times New Roman" panose="02020603050405020304" pitchFamily="18" charset="0"/>
            </a:endParaRPr>
          </a:p>
          <a:p>
            <a:endParaRPr lang="en-US" sz="2200" dirty="0">
              <a:ea typeface="ヒラギノ角ゴ Pro W3" pitchFamily="-84" charset="-128"/>
              <a:cs typeface="Times New Roman" panose="02020603050405020304" pitchFamily="18" charset="0"/>
            </a:endParaRPr>
          </a:p>
        </p:txBody>
      </p:sp>
    </p:spTree>
    <p:extLst>
      <p:ext uri="{BB962C8B-B14F-4D97-AF65-F5344CB8AC3E}">
        <p14:creationId xmlns="" xmlns:p14="http://schemas.microsoft.com/office/powerpoint/2010/main" val="373787068"/>
      </p:ext>
    </p:extLst>
  </p:cSld>
  <p:clrMapOvr>
    <a:masterClrMapping/>
  </p:clrMapOvr>
  <p:transition>
    <p:strips dir="l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65" charset="-128"/>
              </a:rPr>
              <a:t>23-5 Monetary Policy and Financial Stability</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b="1" dirty="0" err="1" smtClean="0">
                <a:ea typeface="ヒラギノ角ゴ Pro W3" pitchFamily="-84" charset="-128"/>
                <a:cs typeface="Times New Roman" panose="02020603050405020304" pitchFamily="18" charset="0"/>
              </a:rPr>
              <a:t>Macroprudential</a:t>
            </a:r>
            <a:r>
              <a:rPr lang="en-US" sz="2400" b="1" dirty="0" smtClean="0">
                <a:ea typeface="ヒラギノ角ゴ Pro W3" pitchFamily="-84" charset="-128"/>
                <a:cs typeface="Times New Roman" panose="02020603050405020304" pitchFamily="18" charset="0"/>
              </a:rPr>
              <a:t> tools aimed at borrowers:</a:t>
            </a:r>
          </a:p>
          <a:p>
            <a:pPr lvl="1"/>
            <a:r>
              <a:rPr lang="en-US" sz="2000" dirty="0" err="1" smtClean="0">
                <a:ea typeface="ヒラギノ角ゴ Pro W3" pitchFamily="-84" charset="-128"/>
                <a:cs typeface="Times New Roman" panose="02020603050405020304" pitchFamily="18" charset="0"/>
              </a:rPr>
              <a:t>Maximium</a:t>
            </a:r>
            <a:r>
              <a:rPr lang="en-US" sz="2000" b="1" dirty="0" smtClean="0">
                <a:ea typeface="ヒラギノ角ゴ Pro W3" pitchFamily="-84" charset="-128"/>
                <a:cs typeface="Times New Roman" panose="02020603050405020304" pitchFamily="18" charset="0"/>
              </a:rPr>
              <a:t> loan-to-value ratio (LTV</a:t>
            </a:r>
            <a:r>
              <a:rPr lang="en-US" sz="2000" dirty="0" smtClean="0">
                <a:ea typeface="ヒラギノ角ゴ Pro W3" pitchFamily="-84" charset="-128"/>
                <a:cs typeface="Times New Roman" panose="02020603050405020304" pitchFamily="18" charset="0"/>
              </a:rPr>
              <a:t>): A ceiling on the size of the loan borrowers can take relative to the value of the house they buy.</a:t>
            </a:r>
          </a:p>
          <a:p>
            <a:pPr lvl="1"/>
            <a:r>
              <a:rPr lang="en-US" sz="2000" dirty="0" smtClean="0">
                <a:ea typeface="ヒラギノ角ゴ Pro W3" pitchFamily="-84" charset="-128"/>
                <a:cs typeface="Times New Roman" panose="02020603050405020304" pitchFamily="18" charset="0"/>
              </a:rPr>
              <a:t>Reducing the maximum LTV is likely to decrease the demand for housing and thus slow down the housing price increase.</a:t>
            </a:r>
          </a:p>
          <a:p>
            <a:r>
              <a:rPr lang="en-US" sz="2400" b="1" dirty="0" err="1">
                <a:ea typeface="ヒラギノ角ゴ Pro W3" pitchFamily="-84" charset="-128"/>
                <a:cs typeface="Times New Roman" panose="02020603050405020304" pitchFamily="18" charset="0"/>
              </a:rPr>
              <a:t>Macroprudential</a:t>
            </a:r>
            <a:r>
              <a:rPr lang="en-US" sz="2400" b="1" dirty="0">
                <a:ea typeface="ヒラギノ角ゴ Pro W3" pitchFamily="-84" charset="-128"/>
                <a:cs typeface="Times New Roman" panose="02020603050405020304" pitchFamily="18" charset="0"/>
              </a:rPr>
              <a:t> tools aimed at </a:t>
            </a:r>
            <a:r>
              <a:rPr lang="en-US" sz="2400" b="1" dirty="0" smtClean="0">
                <a:ea typeface="ヒラギノ角ゴ Pro W3" pitchFamily="-84" charset="-128"/>
                <a:cs typeface="Times New Roman" panose="02020603050405020304" pitchFamily="18" charset="0"/>
              </a:rPr>
              <a:t>lenders:</a:t>
            </a:r>
          </a:p>
          <a:p>
            <a:pPr lvl="1"/>
            <a:r>
              <a:rPr lang="en-US" sz="2000" b="1" dirty="0" smtClean="0">
                <a:ea typeface="ヒラギノ角ゴ Pro W3" pitchFamily="-84" charset="-128"/>
                <a:cs typeface="Times New Roman" panose="02020603050405020304" pitchFamily="18" charset="0"/>
              </a:rPr>
              <a:t>Basel II </a:t>
            </a:r>
            <a:r>
              <a:rPr lang="en-US" sz="2000" dirty="0" smtClean="0">
                <a:ea typeface="ヒラギノ角ゴ Pro W3" pitchFamily="-84" charset="-128"/>
                <a:cs typeface="Times New Roman" panose="02020603050405020304" pitchFamily="18" charset="0"/>
              </a:rPr>
              <a:t>and </a:t>
            </a:r>
            <a:r>
              <a:rPr lang="en-US" sz="2000" b="1" dirty="0" smtClean="0">
                <a:ea typeface="ヒラギノ角ゴ Pro W3" pitchFamily="-84" charset="-128"/>
                <a:cs typeface="Times New Roman" panose="02020603050405020304" pitchFamily="18" charset="0"/>
              </a:rPr>
              <a:t>Basel III </a:t>
            </a:r>
            <a:r>
              <a:rPr lang="en-US" sz="2000" dirty="0" smtClean="0">
                <a:ea typeface="ヒラギノ角ゴ Pro W3" pitchFamily="-84" charset="-128"/>
                <a:cs typeface="Times New Roman" panose="02020603050405020304" pitchFamily="18" charset="0"/>
              </a:rPr>
              <a:t>agreements among countries imposed on their banks minimum capital ratios in order to limit bank leverage.</a:t>
            </a:r>
          </a:p>
          <a:p>
            <a:pPr lvl="1"/>
            <a:r>
              <a:rPr lang="en-US" sz="2000" dirty="0" smtClean="0">
                <a:ea typeface="ヒラギノ角ゴ Pro W3" pitchFamily="-84" charset="-128"/>
                <a:cs typeface="Times New Roman" panose="02020603050405020304" pitchFamily="18" charset="0"/>
              </a:rPr>
              <a:t>Imposing</a:t>
            </a:r>
            <a:r>
              <a:rPr lang="en-US" sz="2000" b="1" dirty="0" smtClean="0">
                <a:ea typeface="ヒラギノ角ゴ Pro W3" pitchFamily="-84" charset="-128"/>
                <a:cs typeface="Times New Roman" panose="02020603050405020304" pitchFamily="18" charset="0"/>
              </a:rPr>
              <a:t> Capital controls </a:t>
            </a:r>
            <a:r>
              <a:rPr lang="en-US" sz="2000" dirty="0" smtClean="0">
                <a:ea typeface="ヒラギノ角ゴ Pro W3" pitchFamily="-84" charset="-128"/>
                <a:cs typeface="Times New Roman" panose="02020603050405020304" pitchFamily="18" charset="0"/>
              </a:rPr>
              <a:t>on inflows.</a:t>
            </a:r>
          </a:p>
          <a:p>
            <a:pPr lvl="1"/>
            <a:r>
              <a:rPr lang="en-US" sz="2000" dirty="0" smtClean="0">
                <a:ea typeface="ヒラギノ角ゴ Pro W3" pitchFamily="-84" charset="-128"/>
                <a:cs typeface="Times New Roman" panose="02020603050405020304" pitchFamily="18" charset="0"/>
              </a:rPr>
              <a:t>Lowering taxes on </a:t>
            </a:r>
            <a:r>
              <a:rPr lang="en-US" sz="2000" b="1" dirty="0" smtClean="0">
                <a:ea typeface="ヒラギノ角ゴ Pro W3" pitchFamily="-84" charset="-128"/>
                <a:cs typeface="Times New Roman" panose="02020603050405020304" pitchFamily="18" charset="0"/>
              </a:rPr>
              <a:t>foreign direct investment.</a:t>
            </a:r>
            <a:endParaRPr lang="en-US" sz="2000" b="1" dirty="0">
              <a:ea typeface="ヒラギノ角ゴ Pro W3" pitchFamily="-84" charset="-128"/>
              <a:cs typeface="Times New Roman" panose="02020603050405020304" pitchFamily="18" charset="0"/>
            </a:endParaRPr>
          </a:p>
          <a:p>
            <a:endParaRPr lang="en-US" sz="2200" dirty="0" smtClean="0">
              <a:ea typeface="ヒラギノ角ゴ Pro W3" pitchFamily="-84" charset="-128"/>
              <a:cs typeface="Times New Roman" panose="02020603050405020304" pitchFamily="18" charset="0"/>
            </a:endParaRPr>
          </a:p>
          <a:p>
            <a:endParaRPr lang="en-US" sz="2200" dirty="0" smtClean="0">
              <a:ea typeface="ヒラギノ角ゴ Pro W3" pitchFamily="-84" charset="-128"/>
              <a:cs typeface="Times New Roman" panose="02020603050405020304" pitchFamily="18" charset="0"/>
            </a:endParaRPr>
          </a:p>
          <a:p>
            <a:endParaRPr lang="en-US" sz="2200" dirty="0">
              <a:ea typeface="ヒラギノ角ゴ Pro W3" pitchFamily="-84" charset="-128"/>
              <a:cs typeface="Times New Roman" panose="02020603050405020304" pitchFamily="18" charset="0"/>
            </a:endParaRPr>
          </a:p>
          <a:p>
            <a:endParaRPr lang="en-US" sz="2200" dirty="0">
              <a:ea typeface="ヒラギノ角ゴ Pro W3" pitchFamily="-84" charset="-128"/>
              <a:cs typeface="Times New Roman" panose="02020603050405020304" pitchFamily="18" charset="0"/>
            </a:endParaRPr>
          </a:p>
        </p:txBody>
      </p:sp>
    </p:spTree>
    <p:extLst>
      <p:ext uri="{BB962C8B-B14F-4D97-AF65-F5344CB8AC3E}">
        <p14:creationId xmlns="" xmlns:p14="http://schemas.microsoft.com/office/powerpoint/2010/main" val="2635775347"/>
      </p:ext>
    </p:extLst>
  </p:cSld>
  <p:clrMapOvr>
    <a:masterClrMapping/>
  </p:clrMapOvr>
  <p:transition>
    <p:strips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z="2800" dirty="0" smtClean="0">
                <a:ea typeface="ヒラギノ角ゴ Pro W3" pitchFamily="-65" charset="-128"/>
              </a:rPr>
              <a:t>FOCUS: LTV Ratios and Housing Price Increases from 2000 to 2007</a:t>
            </a:r>
          </a:p>
        </p:txBody>
      </p:sp>
      <p:sp>
        <p:nvSpPr>
          <p:cNvPr id="21507" name="TextBox 3"/>
          <p:cNvSpPr txBox="1">
            <a:spLocks noChangeArrowheads="1"/>
          </p:cNvSpPr>
          <p:nvPr/>
        </p:nvSpPr>
        <p:spPr bwMode="auto">
          <a:xfrm>
            <a:off x="400396" y="2103429"/>
            <a:ext cx="2133600" cy="2031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smtClean="0">
                <a:latin typeface="Verdana" panose="020B0604030504040204" pitchFamily="34" charset="0"/>
              </a:rPr>
              <a:t>Figure 1 </a:t>
            </a:r>
            <a:r>
              <a:rPr lang="en-US" sz="1800" dirty="0" smtClean="0">
                <a:latin typeface="Verdana" panose="020B0604030504040204" pitchFamily="34" charset="0"/>
              </a:rPr>
              <a:t>Maximum LTV Ratios and Housing Price Increases, 2000−2007</a:t>
            </a:r>
          </a:p>
          <a:p>
            <a:pPr marL="285750" indent="-285750">
              <a:buFont typeface="Arial" panose="020B0604020202020204" pitchFamily="34" charset="0"/>
              <a:buChar char="•"/>
            </a:pPr>
            <a:endParaRPr lang="en-US" sz="1800" dirty="0">
              <a:latin typeface="Verdana" panose="020B0604030504040204" pitchFamily="34" charset="0"/>
            </a:endParaRPr>
          </a:p>
        </p:txBody>
      </p:sp>
      <p:pic>
        <p:nvPicPr>
          <p:cNvPr id="2" name="Picture 1"/>
          <p:cNvPicPr>
            <a:picLocks noChangeAspect="1"/>
          </p:cNvPicPr>
          <p:nvPr/>
        </p:nvPicPr>
        <p:blipFill>
          <a:blip r:embed="rId2" cstate="print"/>
          <a:stretch>
            <a:fillRect/>
          </a:stretch>
        </p:blipFill>
        <p:spPr>
          <a:xfrm>
            <a:off x="2514600" y="2103429"/>
            <a:ext cx="6248400" cy="3786107"/>
          </a:xfrm>
          <a:prstGeom prst="rect">
            <a:avLst/>
          </a:prstGeom>
        </p:spPr>
      </p:pic>
      <p:pic>
        <p:nvPicPr>
          <p:cNvPr id="3" name="Picture 2"/>
          <p:cNvPicPr>
            <a:picLocks noChangeAspect="1"/>
          </p:cNvPicPr>
          <p:nvPr/>
        </p:nvPicPr>
        <p:blipFill>
          <a:blip r:embed="rId3" cstate="print"/>
          <a:stretch>
            <a:fillRect/>
          </a:stretch>
        </p:blipFill>
        <p:spPr>
          <a:xfrm>
            <a:off x="2516909" y="5889536"/>
            <a:ext cx="2904836" cy="500073"/>
          </a:xfrm>
          <a:prstGeom prst="rect">
            <a:avLst/>
          </a:prstGeom>
        </p:spPr>
      </p:pic>
      <p:sp>
        <p:nvSpPr>
          <p:cNvPr id="6" name="TextBox 3"/>
          <p:cNvSpPr txBox="1">
            <a:spLocks noChangeArrowheads="1"/>
          </p:cNvSpPr>
          <p:nvPr/>
        </p:nvSpPr>
        <p:spPr bwMode="auto">
          <a:xfrm>
            <a:off x="381000" y="1295400"/>
            <a:ext cx="8077200" cy="923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sz="1800" dirty="0" smtClean="0">
                <a:latin typeface="Verdana" panose="020B0604030504040204" pitchFamily="34" charset="0"/>
              </a:rPr>
              <a:t>Countries with more stringent restrictions on borrowing had lower price increases from 2000 to 2007.</a:t>
            </a:r>
          </a:p>
          <a:p>
            <a:pPr marL="285750" indent="-285750">
              <a:buFont typeface="Arial" panose="020B0604020202020204" pitchFamily="34" charset="0"/>
              <a:buChar char="•"/>
            </a:pPr>
            <a:endParaRPr lang="en-US" sz="1800" dirty="0">
              <a:latin typeface="Verdana" panose="020B0604030504040204" pitchFamily="34" charset="0"/>
            </a:endParaRPr>
          </a:p>
        </p:txBody>
      </p:sp>
    </p:spTree>
    <p:extLst>
      <p:ext uri="{BB962C8B-B14F-4D97-AF65-F5344CB8AC3E}">
        <p14:creationId xmlns="" xmlns:p14="http://schemas.microsoft.com/office/powerpoint/2010/main" val="1677085434"/>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6137</TotalTime>
  <Words>1339</Words>
  <Application>Microsoft Office PowerPoint</Application>
  <PresentationFormat>On-screen Show (4:3)</PresentationFormat>
  <Paragraphs>100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template_LN01Brooks671956_02_LN01</vt:lpstr>
      <vt:lpstr>Monetary Policy: A Summing Up</vt:lpstr>
      <vt:lpstr>Chapter 23 Outline</vt:lpstr>
      <vt:lpstr>Monetary Policy: A Summing Up</vt:lpstr>
      <vt:lpstr>23-1 What We Have Learned</vt:lpstr>
      <vt:lpstr>23-1 What We Have Learned</vt:lpstr>
      <vt:lpstr>23-2 From Money Targeting to Inflation Targeting</vt:lpstr>
      <vt:lpstr>23-2 From Money Targeting to Inflation Targeting</vt:lpstr>
      <vt:lpstr>23-2 From Money Targeting to Inflation Targeting</vt:lpstr>
      <vt:lpstr>23-2 From Money Targeting to Inflation Targeting</vt:lpstr>
      <vt:lpstr>23-3 The Optimal Inflation Rate</vt:lpstr>
      <vt:lpstr>23-3 The Optimal Inflation Rate</vt:lpstr>
      <vt:lpstr>FOCUS: Money Illusion</vt:lpstr>
      <vt:lpstr>23-3 The Optimal Inflation Rate</vt:lpstr>
      <vt:lpstr>23-4 Unconventional Monetary Policy</vt:lpstr>
      <vt:lpstr>23-4 Unconventional Monetary Policy</vt:lpstr>
      <vt:lpstr>23-4 Unconventional Monetary Policy</vt:lpstr>
      <vt:lpstr>23-5 Monetary Policy and Financial Stability</vt:lpstr>
      <vt:lpstr>23-5 Monetary Policy and Financial Stability</vt:lpstr>
      <vt:lpstr>FOCUS: LTV Ratios and Housing Price Increases from 2000 to 2007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Paromita</cp:lastModifiedBy>
  <cp:revision>302</cp:revision>
  <dcterms:created xsi:type="dcterms:W3CDTF">2012-08-09T20:37:31Z</dcterms:created>
  <dcterms:modified xsi:type="dcterms:W3CDTF">2016-10-06T06:34:43Z</dcterms:modified>
</cp:coreProperties>
</file>