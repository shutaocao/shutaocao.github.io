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29"/>
  </p:notesMasterIdLst>
  <p:sldIdLst>
    <p:sldId id="256" r:id="rId2"/>
    <p:sldId id="269" r:id="rId3"/>
    <p:sldId id="357" r:id="rId4"/>
    <p:sldId id="502" r:id="rId5"/>
    <p:sldId id="508" r:id="rId6"/>
    <p:sldId id="509" r:id="rId7"/>
    <p:sldId id="492" r:id="rId8"/>
    <p:sldId id="510" r:id="rId9"/>
    <p:sldId id="494" r:id="rId10"/>
    <p:sldId id="503" r:id="rId11"/>
    <p:sldId id="511" r:id="rId12"/>
    <p:sldId id="512" r:id="rId13"/>
    <p:sldId id="513" r:id="rId14"/>
    <p:sldId id="514" r:id="rId15"/>
    <p:sldId id="496" r:id="rId16"/>
    <p:sldId id="507" r:id="rId17"/>
    <p:sldId id="515" r:id="rId18"/>
    <p:sldId id="516" r:id="rId19"/>
    <p:sldId id="517" r:id="rId20"/>
    <p:sldId id="518" r:id="rId21"/>
    <p:sldId id="499" r:id="rId22"/>
    <p:sldId id="506" r:id="rId23"/>
    <p:sldId id="519" r:id="rId24"/>
    <p:sldId id="520" r:id="rId25"/>
    <p:sldId id="498" r:id="rId26"/>
    <p:sldId id="521" r:id="rId27"/>
    <p:sldId id="504" r:id="rId2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599D"/>
    <a:srgbClr val="BBE5FB"/>
    <a:srgbClr val="BFDC42"/>
    <a:srgbClr val="D8F2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33" autoAdjust="0"/>
    <p:restoredTop sz="94690"/>
  </p:normalViewPr>
  <p:slideViewPr>
    <p:cSldViewPr>
      <p:cViewPr varScale="1">
        <p:scale>
          <a:sx n="73" d="100"/>
          <a:sy n="73" d="100"/>
        </p:scale>
        <p:origin x="-102" y="-9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9358A83D-3E8E-422B-A1C7-AED542456985}" type="slidenum">
              <a:rPr lang="en-US"/>
              <a:pPr>
                <a:defRPr/>
              </a:pPr>
              <a:t>‹#›</a:t>
            </a:fld>
            <a:endParaRPr lang="en-US"/>
          </a:p>
        </p:txBody>
      </p:sp>
    </p:spTree>
    <p:extLst>
      <p:ext uri="{BB962C8B-B14F-4D97-AF65-F5344CB8AC3E}">
        <p14:creationId xmlns:p14="http://schemas.microsoft.com/office/powerpoint/2010/main" xmlns="" val="304106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488238" y="6356350"/>
            <a:ext cx="1655762"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0" y="6356350"/>
            <a:ext cx="1908175" cy="4937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p14="http://schemas.microsoft.com/office/powerpoint/2010/main" xmlns="" val="3441087217"/>
      </p:ext>
    </p:extLst>
  </p:cSld>
  <p:clrMapOvr>
    <a:masterClrMapping/>
  </p:clrMapOvr>
  <p:timing>
    <p:tnLst>
      <p:par>
        <p:cTn id="1" dur="indefinite" restart="never" nodeType="tmRoot"/>
      </p:par>
    </p:tnLst>
  </p:timing>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494771439"/>
      </p:ext>
    </p:extLst>
  </p:cSld>
  <p:clrMapOvr>
    <a:masterClrMapping/>
  </p:clrMapOvr>
  <p:transition>
    <p:strips dir="ld"/>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xmlns="" val="2352075451"/>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50072493"/>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087435220"/>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xmlns="" val="724062720"/>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750255790"/>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288467980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xmlns="" val="3337429884"/>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1938792299"/>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xmlns="" val="2945461388"/>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EF38A850-ADD0-4F7D-99F1-C19676CE30E4}" type="datetime1">
              <a:rPr lang="en-US"/>
              <a:pPr>
                <a:defRPr/>
              </a:pPr>
              <a:t>10/6/2016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2A68BFA4-ED51-4D11-92C9-125F6EFF37D1}" type="slidenum">
              <a:rPr lang="en-US"/>
              <a:pPr>
                <a:defRPr/>
              </a:pPr>
              <a:t>‹#›</a:t>
            </a:fld>
            <a:endParaRPr lang="en-US"/>
          </a:p>
        </p:txBody>
      </p:sp>
    </p:spTree>
    <p:extLst>
      <p:ext uri="{BB962C8B-B14F-4D97-AF65-F5344CB8AC3E}">
        <p14:creationId xmlns:p14="http://schemas.microsoft.com/office/powerpoint/2010/main" xmlns="" val="2178001293"/>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22-</a:t>
            </a:r>
            <a:fld id="{604DE8C7-66CF-465F-9818-9F61582FDCEB}"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39"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 id="2147484040"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257800" y="990600"/>
            <a:ext cx="3733800" cy="2133600"/>
          </a:xfrm>
        </p:spPr>
        <p:txBody>
          <a:bodyPr/>
          <a:lstStyle/>
          <a:p>
            <a:pPr algn="ctr" eaLnBrk="1" hangingPunct="1"/>
            <a:r>
              <a:rPr lang="en-US" sz="2800" dirty="0" smtClean="0">
                <a:ea typeface="ヒラギノ角ゴ Pro W3" pitchFamily="-84" charset="-128"/>
              </a:rPr>
              <a:t>Fiscal Policy: A Summing Up</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dirty="0" smtClean="0">
                <a:ea typeface="ヒラギノ角ゴ Pro W3" pitchFamily="-84" charset="-128"/>
              </a:rPr>
              <a:t>Chapter 22</a:t>
            </a:r>
          </a:p>
        </p:txBody>
      </p:sp>
    </p:spTree>
  </p:cSld>
  <p:clrMapOvr>
    <a:masterClrMapping/>
  </p:clrMapOvr>
  <p:transition>
    <p:strips dir="l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dirty="0" smtClean="0">
                <a:ea typeface="ヒラギノ角ゴ Pro W3" pitchFamily="-84" charset="-128"/>
              </a:rPr>
              <a:t>Chapter 22 Outline</a:t>
            </a:r>
          </a:p>
        </p:txBody>
      </p:sp>
      <p:sp>
        <p:nvSpPr>
          <p:cNvPr id="3" name="Content Placeholder 2"/>
          <p:cNvSpPr txBox="1">
            <a:spLocks/>
          </p:cNvSpPr>
          <p:nvPr/>
        </p:nvSpPr>
        <p:spPr bwMode="auto">
          <a:xfrm>
            <a:off x="419100" y="1524000"/>
            <a:ext cx="8382000" cy="4937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eaLnBrk="1" hangingPunct="1">
              <a:buFontTx/>
              <a:buNone/>
              <a:defRPr/>
            </a:pPr>
            <a:r>
              <a:rPr lang="en-US" sz="2400" b="1" kern="0" dirty="0">
                <a:ea typeface="ヒラギノ角ゴ Pro W3" pitchFamily="-84" charset="-128"/>
              </a:rPr>
              <a:t>Fiscal Policy: A Summing </a:t>
            </a:r>
            <a:r>
              <a:rPr lang="en-US" sz="2400" b="1" kern="0" dirty="0" smtClean="0">
                <a:ea typeface="ヒラギノ角ゴ Pro W3" pitchFamily="-84" charset="-128"/>
              </a:rPr>
              <a:t>Up</a:t>
            </a:r>
          </a:p>
          <a:p>
            <a:pPr marL="0" indent="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22-1	What We Have Learned</a:t>
            </a:r>
          </a:p>
          <a:p>
            <a:pPr marL="1714500" indent="-1714500" eaLnBrk="1" hangingPunct="1">
              <a:buFontTx/>
              <a:buNone/>
              <a:defRPr/>
            </a:pPr>
            <a:r>
              <a:rPr lang="en-US" sz="2400" kern="0" dirty="0" smtClean="0">
                <a:ea typeface="ヒラギノ角ゴ Pro W3" pitchFamily="-84" charset="-128"/>
              </a:rPr>
              <a:t>22-2	</a:t>
            </a:r>
            <a:r>
              <a:rPr lang="en-US" sz="2400" kern="0" dirty="0">
                <a:ea typeface="ヒラギノ角ゴ Pro W3" pitchFamily="-84" charset="-128"/>
              </a:rPr>
              <a:t>The Government Budget Constraint: Deficits, Debt, Spending, and Taxes</a:t>
            </a: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22-3	Ricardian Equivalence, Cyclical Adjusted Deficits, and War Finance</a:t>
            </a:r>
          </a:p>
          <a:p>
            <a:pPr marL="1714500" indent="-1714500" eaLnBrk="1" hangingPunct="1">
              <a:buFontTx/>
              <a:buNone/>
              <a:defRPr/>
            </a:pPr>
            <a:r>
              <a:rPr lang="en-US" sz="2400" kern="0" dirty="0">
                <a:ea typeface="ヒラギノ角ゴ Pro W3" pitchFamily="-84" charset="-128"/>
              </a:rPr>
              <a:t>23-4	The Dangers of High Debt</a:t>
            </a:r>
            <a:endParaRPr lang="en-US" sz="24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pPr marL="0" indent="0" eaLnBrk="1" hangingPunct="1">
              <a:buFontTx/>
              <a:buNone/>
              <a:defRPr/>
            </a:pPr>
            <a:r>
              <a:rPr lang="en-US" dirty="0">
                <a:ea typeface="ヒラギノ角ゴ Pro W3" pitchFamily="-84" charset="-128"/>
              </a:rPr>
              <a:t>Fiscal Policy: A Summing Up</a:t>
            </a:r>
          </a:p>
        </p:txBody>
      </p:sp>
      <p:sp>
        <p:nvSpPr>
          <p:cNvPr id="7171" name="Content Placeholder 2"/>
          <p:cNvSpPr>
            <a:spLocks noGrp="1"/>
          </p:cNvSpPr>
          <p:nvPr>
            <p:ph idx="1"/>
          </p:nvPr>
        </p:nvSpPr>
        <p:spPr/>
        <p:txBody>
          <a:bodyPr/>
          <a:lstStyle/>
          <a:p>
            <a:r>
              <a:rPr lang="en-US" sz="2400" dirty="0" smtClean="0">
                <a:ea typeface="ヒラギノ角ゴ Pro W3" pitchFamily="-84" charset="-128"/>
              </a:rPr>
              <a:t>In most advanced economies, the crisis has led to large budget deficits and a large increase in debt-to-GDP ratios.</a:t>
            </a:r>
          </a:p>
          <a:p>
            <a:r>
              <a:rPr lang="en-US" sz="2400" dirty="0" smtClean="0">
                <a:ea typeface="ヒラギノ角ゴ Pro W3" pitchFamily="-84" charset="-128"/>
              </a:rPr>
              <a:t>This calls for governments to reduce deficits, stabilize the debt, and reassure investors.</a:t>
            </a:r>
          </a:p>
          <a:p>
            <a:r>
              <a:rPr lang="en-US" sz="2400" dirty="0" smtClean="0">
                <a:ea typeface="ヒラギノ角ゴ Pro W3" pitchFamily="-84" charset="-128"/>
              </a:rPr>
              <a:t>The purpose of this chapter is to review what we have learned about fiscal policy so far, to explore in more depth the dynamics of deficits and debt, and to shed light on the problems associated with high public debt.</a:t>
            </a:r>
          </a:p>
        </p:txBody>
      </p:sp>
    </p:spTree>
    <p:extLst>
      <p:ext uri="{BB962C8B-B14F-4D97-AF65-F5344CB8AC3E}">
        <p14:creationId xmlns:p14="http://schemas.microsoft.com/office/powerpoint/2010/main" xmlns="" val="3014208771"/>
      </p:ext>
    </p:extLst>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22-1 What We Have Learned</a:t>
            </a:r>
          </a:p>
        </p:txBody>
      </p:sp>
      <p:sp>
        <p:nvSpPr>
          <p:cNvPr id="3" name="Content Placeholder 2"/>
          <p:cNvSpPr>
            <a:spLocks noGrp="1"/>
          </p:cNvSpPr>
          <p:nvPr>
            <p:ph idx="1"/>
          </p:nvPr>
        </p:nvSpPr>
        <p:spPr>
          <a:xfrm>
            <a:off x="381000" y="1447800"/>
            <a:ext cx="8382000" cy="4648200"/>
          </a:xfrm>
        </p:spPr>
        <p:txBody>
          <a:bodyPr/>
          <a:lstStyle/>
          <a:p>
            <a:r>
              <a:rPr lang="en-US" sz="2400" dirty="0" smtClean="0">
                <a:ea typeface="ヒラギノ角ゴ Pro W3" pitchFamily="-84" charset="-128"/>
              </a:rPr>
              <a:t>What we have learned about fiscal policy:</a:t>
            </a:r>
          </a:p>
          <a:p>
            <a:pPr lvl="1"/>
            <a:r>
              <a:rPr lang="en-US" sz="2000" dirty="0" smtClean="0">
                <a:ea typeface="ヒラギノ角ゴ Pro W3" pitchFamily="-84" charset="-128"/>
              </a:rPr>
              <a:t>Chapter 3: How government spending and taxes affect demand and output in the short run</a:t>
            </a:r>
          </a:p>
          <a:p>
            <a:pPr lvl="1"/>
            <a:r>
              <a:rPr lang="en-US" sz="2000" dirty="0" smtClean="0">
                <a:ea typeface="ヒラギノ角ゴ Pro W3" pitchFamily="-84" charset="-128"/>
              </a:rPr>
              <a:t>Chapter 5: The short-run effects of fiscal policy on output and the interest rate</a:t>
            </a:r>
          </a:p>
          <a:p>
            <a:pPr lvl="1"/>
            <a:r>
              <a:rPr lang="en-US" sz="2000" dirty="0" smtClean="0">
                <a:ea typeface="ヒラギノ角ゴ Pro W3" pitchFamily="-84" charset="-128"/>
              </a:rPr>
              <a:t>Chapter 6: How fiscal policy was used during the recent crisis to limit the fall in output</a:t>
            </a:r>
          </a:p>
          <a:p>
            <a:pPr lvl="1"/>
            <a:r>
              <a:rPr lang="en-US" sz="2000" dirty="0" smtClean="0">
                <a:ea typeface="ヒラギノ角ゴ Pro W3" pitchFamily="-84" charset="-128"/>
              </a:rPr>
              <a:t>Chapter 9: The effects of fiscal policy in the short run and in the medium run</a:t>
            </a:r>
          </a:p>
          <a:p>
            <a:pPr lvl="1"/>
            <a:r>
              <a:rPr lang="en-US" sz="2000" dirty="0" smtClean="0">
                <a:ea typeface="ヒラギノ角ゴ Pro W3" pitchFamily="-84" charset="-128"/>
              </a:rPr>
              <a:t>Chapter 11: How saving affects capital accumulation and output in the long run</a:t>
            </a:r>
          </a:p>
          <a:p>
            <a:pPr lvl="1"/>
            <a:r>
              <a:rPr lang="en-US" sz="2000" dirty="0" smtClean="0">
                <a:ea typeface="ヒラギノ角ゴ Pro W3" pitchFamily="-84" charset="-128"/>
              </a:rPr>
              <a:t>Chapter 16: The short-run effects of fiscal policy including the effects on expectations </a:t>
            </a:r>
          </a:p>
        </p:txBody>
      </p:sp>
    </p:spTree>
    <p:extLst>
      <p:ext uri="{BB962C8B-B14F-4D97-AF65-F5344CB8AC3E}">
        <p14:creationId xmlns:p14="http://schemas.microsoft.com/office/powerpoint/2010/main" xmlns="" val="1702447538"/>
      </p:ext>
    </p:extLst>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22-1 What We Have Learned</a:t>
            </a:r>
          </a:p>
        </p:txBody>
      </p:sp>
      <p:sp>
        <p:nvSpPr>
          <p:cNvPr id="3" name="Content Placeholder 2"/>
          <p:cNvSpPr>
            <a:spLocks noGrp="1"/>
          </p:cNvSpPr>
          <p:nvPr>
            <p:ph idx="1"/>
          </p:nvPr>
        </p:nvSpPr>
        <p:spPr>
          <a:xfrm>
            <a:off x="381000" y="1447800"/>
            <a:ext cx="8382000" cy="4648200"/>
          </a:xfrm>
        </p:spPr>
        <p:txBody>
          <a:bodyPr/>
          <a:lstStyle/>
          <a:p>
            <a:r>
              <a:rPr lang="en-US" sz="2400" dirty="0" smtClean="0">
                <a:ea typeface="ヒラギノ角ゴ Pro W3" pitchFamily="-84" charset="-128"/>
              </a:rPr>
              <a:t>What we have learned about fiscal policy (cont’d):</a:t>
            </a:r>
          </a:p>
          <a:p>
            <a:pPr lvl="1"/>
            <a:r>
              <a:rPr lang="en-US" sz="2000" dirty="0" smtClean="0">
                <a:ea typeface="ヒラギノ角ゴ Pro W3" pitchFamily="-84" charset="-128"/>
              </a:rPr>
              <a:t>Chapter 18: The effects of fiscal policy when the economy is open in the goods market</a:t>
            </a:r>
          </a:p>
          <a:p>
            <a:pPr lvl="1"/>
            <a:r>
              <a:rPr lang="en-US" sz="2000" dirty="0" smtClean="0">
                <a:ea typeface="ヒラギノ角ゴ Pro W3" pitchFamily="-84" charset="-128"/>
              </a:rPr>
              <a:t>Chapter 19: The role of fiscal policy in an economy open in both goods markets and financial markets</a:t>
            </a:r>
          </a:p>
          <a:p>
            <a:pPr lvl="1"/>
            <a:r>
              <a:rPr lang="en-US" sz="2000" dirty="0" smtClean="0">
                <a:ea typeface="ヒラギノ角ゴ Pro W3" pitchFamily="-84" charset="-128"/>
              </a:rPr>
              <a:t>Chapter 21: Problems facing policy makers given the uncertainty about the effects of policy to issues of time consistency and credibility</a:t>
            </a:r>
          </a:p>
          <a:p>
            <a:pPr>
              <a:spcBef>
                <a:spcPts val="1200"/>
              </a:spcBef>
            </a:pPr>
            <a:r>
              <a:rPr lang="en-US" sz="2400" dirty="0" smtClean="0">
                <a:ea typeface="ヒラギノ角ゴ Pro W3" pitchFamily="-84" charset="-128"/>
              </a:rPr>
              <a:t>We have not paid close attention to the government budget constraint.</a:t>
            </a:r>
          </a:p>
        </p:txBody>
      </p:sp>
    </p:spTree>
    <p:extLst>
      <p:ext uri="{BB962C8B-B14F-4D97-AF65-F5344CB8AC3E}">
        <p14:creationId xmlns:p14="http://schemas.microsoft.com/office/powerpoint/2010/main" xmlns="" val="2470779389"/>
      </p:ext>
    </p:extLst>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7" name="Content Placeholder 2"/>
          <p:cNvSpPr>
            <a:spLocks noGrp="1"/>
          </p:cNvSpPr>
          <p:nvPr>
            <p:ph idx="1"/>
          </p:nvPr>
        </p:nvSpPr>
        <p:spPr>
          <a:xfrm>
            <a:off x="457200" y="1371600"/>
            <a:ext cx="7696200" cy="4648200"/>
          </a:xfrm>
        </p:spPr>
        <p:txBody>
          <a:bodyPr/>
          <a:lstStyle/>
          <a:p>
            <a:r>
              <a:rPr lang="en-US" sz="2200" dirty="0" smtClean="0">
                <a:ea typeface="ヒラギノ角ゴ Pro W3" pitchFamily="-84" charset="-128"/>
              </a:rPr>
              <a:t>The budget deficit (</a:t>
            </a:r>
            <a:r>
              <a:rPr lang="en-US" sz="2200" b="1" dirty="0" smtClean="0">
                <a:ea typeface="ヒラギノ角ゴ Pro W3" pitchFamily="-84" charset="-128"/>
              </a:rPr>
              <a:t>inflation-adjusted deficit</a:t>
            </a:r>
            <a:r>
              <a:rPr lang="en-US" sz="2200" dirty="0" smtClean="0">
                <a:ea typeface="ヒラギノ角ゴ Pro W3" pitchFamily="-84" charset="-128"/>
              </a:rPr>
              <a:t>) equals spending, including real interest payments on the debt (</a:t>
            </a:r>
            <a:r>
              <a:rPr lang="en-US" sz="2400" i="1" dirty="0">
                <a:latin typeface="Times New Roman" panose="02020603050405020304" pitchFamily="18" charset="0"/>
                <a:ea typeface="ヒラギノ角ゴ Pro W3" pitchFamily="-84" charset="-128"/>
                <a:cs typeface="Times New Roman" panose="02020603050405020304" pitchFamily="18" charset="0"/>
              </a:rPr>
              <a:t>rB</a:t>
            </a:r>
            <a:r>
              <a:rPr lang="en-US" sz="2400" i="1" baseline="-25000" dirty="0">
                <a:latin typeface="Times New Roman" panose="02020603050405020304" pitchFamily="18" charset="0"/>
                <a:ea typeface="ヒラギノ角ゴ Pro W3" pitchFamily="-84" charset="-128"/>
                <a:cs typeface="Times New Roman" panose="02020603050405020304" pitchFamily="18" charset="0"/>
              </a:rPr>
              <a:t>t-1</a:t>
            </a:r>
            <a:r>
              <a:rPr lang="en-US" sz="2200" dirty="0" smtClean="0">
                <a:ea typeface="ヒラギノ角ゴ Pro W3" pitchFamily="-84" charset="-128"/>
              </a:rPr>
              <a:t>), minus taxes net of transfers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G</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dirty="0" smtClean="0">
                <a:latin typeface="Times New Roman" panose="02020603050405020304" pitchFamily="18" charset="0"/>
                <a:ea typeface="ヒラギノ角ゴ Pro W3" pitchFamily="-84" charset="-128"/>
                <a:cs typeface="Times New Roman" panose="02020603050405020304" pitchFamily="18" charset="0"/>
              </a:rPr>
              <a:t> –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200" dirty="0" smtClean="0">
                <a:ea typeface="ヒラギノ角ゴ Pro W3" pitchFamily="-84" charset="-128"/>
              </a:rPr>
              <a:t>):</a:t>
            </a:r>
          </a:p>
          <a:p>
            <a:endParaRPr lang="en-US" sz="2200" dirty="0">
              <a:ea typeface="ヒラギノ角ゴ Pro W3" pitchFamily="-84" charset="-128"/>
            </a:endParaRPr>
          </a:p>
          <a:p>
            <a:endParaRPr lang="en-US" sz="2200" dirty="0" smtClean="0">
              <a:ea typeface="ヒラギノ角ゴ Pro W3" pitchFamily="-84" charset="-128"/>
            </a:endParaRPr>
          </a:p>
          <a:p>
            <a:r>
              <a:rPr lang="en-US" sz="2200" b="1" dirty="0" smtClean="0">
                <a:ea typeface="ヒラギノ角ゴ Pro W3" pitchFamily="-84" charset="-128"/>
              </a:rPr>
              <a:t>Government budget constraint</a:t>
            </a:r>
            <a:r>
              <a:rPr lang="en-US" sz="2200" dirty="0" smtClean="0">
                <a:ea typeface="ヒラギノ角ゴ Pro W3" pitchFamily="-84" charset="-128"/>
              </a:rPr>
              <a:t>: The change in government debt during year </a:t>
            </a:r>
            <a:r>
              <a:rPr lang="en-US" sz="2200" i="1" dirty="0" smtClean="0">
                <a:ea typeface="ヒラギノ角ゴ Pro W3" pitchFamily="-84" charset="-128"/>
              </a:rPr>
              <a:t>t</a:t>
            </a:r>
            <a:r>
              <a:rPr lang="en-US" sz="2200" dirty="0" smtClean="0">
                <a:ea typeface="ヒラギノ角ゴ Pro W3" pitchFamily="-84" charset="-128"/>
              </a:rPr>
              <a:t> equals the deficit during year </a:t>
            </a:r>
            <a:r>
              <a:rPr lang="en-US" sz="2200" i="1" dirty="0" smtClean="0">
                <a:ea typeface="ヒラギノ角ゴ Pro W3" pitchFamily="-84" charset="-128"/>
              </a:rPr>
              <a:t>t</a:t>
            </a:r>
            <a:r>
              <a:rPr lang="en-US" sz="2200" dirty="0" smtClean="0">
                <a:ea typeface="ヒラギノ角ゴ Pro W3" pitchFamily="-84" charset="-128"/>
              </a:rPr>
              <a:t>:</a:t>
            </a:r>
          </a:p>
        </p:txBody>
      </p:sp>
      <p:pic>
        <p:nvPicPr>
          <p:cNvPr id="8" name="Picture 7"/>
          <p:cNvPicPr>
            <a:picLocks noChangeAspect="1"/>
          </p:cNvPicPr>
          <p:nvPr/>
        </p:nvPicPr>
        <p:blipFill>
          <a:blip r:embed="rId2" cstate="print"/>
          <a:stretch>
            <a:fillRect/>
          </a:stretch>
        </p:blipFill>
        <p:spPr>
          <a:xfrm>
            <a:off x="1743075" y="2971800"/>
            <a:ext cx="7096125" cy="428625"/>
          </a:xfrm>
          <a:prstGeom prst="rect">
            <a:avLst/>
          </a:prstGeom>
        </p:spPr>
      </p:pic>
      <p:pic>
        <p:nvPicPr>
          <p:cNvPr id="9" name="Picture 8"/>
          <p:cNvPicPr>
            <a:picLocks noChangeAspect="1"/>
          </p:cNvPicPr>
          <p:nvPr/>
        </p:nvPicPr>
        <p:blipFill>
          <a:blip r:embed="rId3" cstate="print"/>
          <a:stretch>
            <a:fillRect/>
          </a:stretch>
        </p:blipFill>
        <p:spPr>
          <a:xfrm>
            <a:off x="1550068" y="5000625"/>
            <a:ext cx="7277100" cy="342900"/>
          </a:xfrm>
          <a:prstGeom prst="rect">
            <a:avLst/>
          </a:prstGeom>
        </p:spPr>
      </p:pic>
    </p:spTree>
    <p:extLst>
      <p:ext uri="{BB962C8B-B14F-4D97-AF65-F5344CB8AC3E}">
        <p14:creationId xmlns:p14="http://schemas.microsoft.com/office/powerpoint/2010/main" xmlns="" val="3460677384"/>
      </p:ext>
    </p:extLst>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z="2800" dirty="0" smtClean="0">
                <a:ea typeface="ヒラギノ角ゴ Pro W3" pitchFamily="-65" charset="-128"/>
              </a:rPr>
              <a:t>FOCUS: </a:t>
            </a:r>
            <a:r>
              <a:rPr lang="en-US" sz="2800" dirty="0" smtClean="0">
                <a:ea typeface="ヒラギノ角ゴ Pro W3" pitchFamily="-65" charset="-128"/>
              </a:rPr>
              <a:t>Irresistible Growth of Public Spending Worldwide</a:t>
            </a:r>
            <a:endParaRPr lang="en-US" sz="2800" dirty="0" smtClean="0">
              <a:ea typeface="ヒラギノ角ゴ Pro W3" pitchFamily="-65" charset="-128"/>
            </a:endParaRPr>
          </a:p>
        </p:txBody>
      </p:sp>
      <p:sp>
        <p:nvSpPr>
          <p:cNvPr id="17411" name="TextBox 3"/>
          <p:cNvSpPr txBox="1">
            <a:spLocks noChangeArrowheads="1"/>
          </p:cNvSpPr>
          <p:nvPr/>
        </p:nvSpPr>
        <p:spPr bwMode="auto">
          <a:xfrm>
            <a:off x="381000" y="1371600"/>
            <a:ext cx="6248400"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1  </a:t>
            </a:r>
            <a:r>
              <a:rPr lang="en-US" sz="1800" dirty="0" smtClean="0">
                <a:latin typeface="Verdana" panose="020B0604030504040204" pitchFamily="34" charset="0"/>
              </a:rPr>
              <a:t>Ratio of Public Spending to GDP</a:t>
            </a:r>
            <a:endParaRPr lang="en-US" sz="1800" dirty="0">
              <a:latin typeface="Verdana" panose="020B0604030504040204" pitchFamily="34" charset="0"/>
            </a:endParaRPr>
          </a:p>
        </p:txBody>
      </p:sp>
      <p:pic>
        <p:nvPicPr>
          <p:cNvPr id="2" name="Picture 1"/>
          <p:cNvPicPr>
            <a:picLocks noChangeAspect="1"/>
          </p:cNvPicPr>
          <p:nvPr/>
        </p:nvPicPr>
        <p:blipFill>
          <a:blip r:embed="rId2" cstate="print"/>
          <a:stretch>
            <a:fillRect/>
          </a:stretch>
        </p:blipFill>
        <p:spPr>
          <a:xfrm>
            <a:off x="1393310" y="1828799"/>
            <a:ext cx="5921890" cy="3990839"/>
          </a:xfrm>
          <a:prstGeom prst="rect">
            <a:avLst/>
          </a:prstGeom>
        </p:spPr>
      </p:pic>
      <p:sp>
        <p:nvSpPr>
          <p:cNvPr id="7" name="Rectangle 6"/>
          <p:cNvSpPr/>
          <p:nvPr/>
        </p:nvSpPr>
        <p:spPr>
          <a:xfrm>
            <a:off x="1371600" y="5895201"/>
            <a:ext cx="5943600" cy="276999"/>
          </a:xfrm>
          <a:prstGeom prst="rect">
            <a:avLst/>
          </a:prstGeom>
        </p:spPr>
        <p:txBody>
          <a:bodyPr wrap="square">
            <a:spAutoFit/>
          </a:bodyPr>
          <a:lstStyle/>
          <a:p>
            <a:r>
              <a:rPr lang="en-US" sz="1200" i="1" dirty="0" smtClean="0">
                <a:latin typeface="+mj-lt"/>
              </a:rPr>
              <a:t>Source: </a:t>
            </a:r>
            <a:r>
              <a:rPr lang="en-US" sz="1200" dirty="0" smtClean="0">
                <a:latin typeface="+mj-lt"/>
              </a:rPr>
              <a:t>Public Spending in the 20th century, V </a:t>
            </a:r>
            <a:r>
              <a:rPr lang="en-US" sz="1200" dirty="0" err="1" smtClean="0">
                <a:latin typeface="+mj-lt"/>
              </a:rPr>
              <a:t>Tanzi</a:t>
            </a:r>
            <a:r>
              <a:rPr lang="en-US" sz="1200" dirty="0" smtClean="0">
                <a:latin typeface="+mj-lt"/>
              </a:rPr>
              <a:t>, L. </a:t>
            </a:r>
            <a:r>
              <a:rPr lang="en-US" sz="1200" dirty="0" err="1" smtClean="0">
                <a:latin typeface="+mj-lt"/>
              </a:rPr>
              <a:t>Scheknecht</a:t>
            </a:r>
            <a:r>
              <a:rPr lang="en-US" sz="1200" dirty="0" smtClean="0">
                <a:latin typeface="+mj-lt"/>
              </a:rPr>
              <a:t>.</a:t>
            </a:r>
            <a:endParaRPr lang="en-US" sz="1200" dirty="0">
              <a:latin typeface="+mj-lt"/>
            </a:endParaRPr>
          </a:p>
        </p:txBody>
      </p:sp>
    </p:spTree>
    <p:extLst>
      <p:ext uri="{BB962C8B-B14F-4D97-AF65-F5344CB8AC3E}">
        <p14:creationId xmlns:p14="http://schemas.microsoft.com/office/powerpoint/2010/main" xmlns="" val="3849826048"/>
      </p:ext>
    </p:extLst>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7" name="Content Placeholder 2"/>
          <p:cNvSpPr>
            <a:spLocks noGrp="1"/>
          </p:cNvSpPr>
          <p:nvPr>
            <p:ph idx="1"/>
          </p:nvPr>
        </p:nvSpPr>
        <p:spPr>
          <a:xfrm>
            <a:off x="457200" y="1371600"/>
            <a:ext cx="7696200" cy="4648200"/>
          </a:xfrm>
        </p:spPr>
        <p:txBody>
          <a:bodyPr/>
          <a:lstStyle/>
          <a:p>
            <a:r>
              <a:rPr lang="en-US" sz="2200" dirty="0" smtClean="0">
                <a:ea typeface="ヒラギノ角ゴ Pro W3" pitchFamily="-84" charset="-128"/>
              </a:rPr>
              <a:t>The term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G</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dirty="0" smtClean="0">
                <a:latin typeface="Times New Roman" panose="02020603050405020304" pitchFamily="18" charset="0"/>
                <a:ea typeface="ヒラギノ角ゴ Pro W3" pitchFamily="-84" charset="-128"/>
                <a:cs typeface="Times New Roman" panose="02020603050405020304" pitchFamily="18" charset="0"/>
              </a:rPr>
              <a:t> –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200" dirty="0" smtClean="0">
                <a:ea typeface="ヒラギノ角ゴ Pro W3" pitchFamily="-84" charset="-128"/>
              </a:rPr>
              <a:t>) is called the </a:t>
            </a:r>
            <a:r>
              <a:rPr lang="en-US" sz="2200" b="1" dirty="0" smtClean="0">
                <a:ea typeface="ヒラギノ角ゴ Pro W3" pitchFamily="-84" charset="-128"/>
              </a:rPr>
              <a:t>primary deficit </a:t>
            </a:r>
            <a:r>
              <a:rPr lang="en-US" sz="2200" dirty="0">
                <a:ea typeface="ヒラギノ角ゴ Pro W3" pitchFamily="-84" charset="-128"/>
              </a:rPr>
              <a:t>and </a:t>
            </a:r>
            <a:r>
              <a:rPr lang="en-US" sz="2200" dirty="0" smtClean="0">
                <a:ea typeface="ヒラギノ角ゴ Pro W3" pitchFamily="-84" charset="-128"/>
              </a:rPr>
              <a:t>(</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dirty="0" smtClean="0">
                <a:latin typeface="Times New Roman" panose="02020603050405020304" pitchFamily="18" charset="0"/>
                <a:ea typeface="ヒラギノ角ゴ Pro W3" pitchFamily="-84" charset="-128"/>
                <a:cs typeface="Times New Roman" panose="02020603050405020304" pitchFamily="18" charset="0"/>
              </a:rPr>
              <a:t> –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G</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200" dirty="0" smtClean="0">
                <a:ea typeface="ヒラギノ角ゴ Pro W3" pitchFamily="-84" charset="-128"/>
              </a:rPr>
              <a:t>) </a:t>
            </a:r>
            <a:r>
              <a:rPr lang="en-US" sz="2200" dirty="0">
                <a:ea typeface="ヒラギノ角ゴ Pro W3" pitchFamily="-84" charset="-128"/>
              </a:rPr>
              <a:t>is called the </a:t>
            </a:r>
            <a:r>
              <a:rPr lang="en-US" sz="2200" b="1" dirty="0">
                <a:ea typeface="ヒラギノ角ゴ Pro W3" pitchFamily="-84" charset="-128"/>
              </a:rPr>
              <a:t>primary </a:t>
            </a:r>
            <a:r>
              <a:rPr lang="en-US" sz="2200" b="1" dirty="0" smtClean="0">
                <a:ea typeface="ヒラギノ角ゴ Pro W3" pitchFamily="-84" charset="-128"/>
              </a:rPr>
              <a:t>surplus</a:t>
            </a:r>
            <a:r>
              <a:rPr lang="en-US" sz="2200" dirty="0" smtClean="0">
                <a:ea typeface="ヒラギノ角ゴ Pro W3" pitchFamily="-84" charset="-128"/>
              </a:rPr>
              <a:t>, so:</a:t>
            </a:r>
          </a:p>
          <a:p>
            <a:endParaRPr lang="en-US" sz="2200" dirty="0">
              <a:ea typeface="ヒラギノ角ゴ Pro W3" pitchFamily="-84" charset="-128"/>
            </a:endParaRPr>
          </a:p>
          <a:p>
            <a:endParaRPr lang="en-US" sz="2200" dirty="0" smtClean="0">
              <a:ea typeface="ヒラギノ角ゴ Pro W3" pitchFamily="-84" charset="-128"/>
            </a:endParaRPr>
          </a:p>
          <a:p>
            <a:endParaRPr lang="en-US" sz="2200" b="1" dirty="0" smtClean="0">
              <a:ea typeface="ヒラギノ角ゴ Pro W3" pitchFamily="-84" charset="-128"/>
            </a:endParaRPr>
          </a:p>
        </p:txBody>
      </p:sp>
      <p:pic>
        <p:nvPicPr>
          <p:cNvPr id="6" name="Picture 5"/>
          <p:cNvPicPr>
            <a:picLocks noChangeAspect="1"/>
          </p:cNvPicPr>
          <p:nvPr/>
        </p:nvPicPr>
        <p:blipFill>
          <a:blip r:embed="rId2" cstate="print"/>
          <a:stretch>
            <a:fillRect/>
          </a:stretch>
        </p:blipFill>
        <p:spPr>
          <a:xfrm>
            <a:off x="590550" y="2298032"/>
            <a:ext cx="7562850" cy="885825"/>
          </a:xfrm>
          <a:prstGeom prst="rect">
            <a:avLst/>
          </a:prstGeom>
        </p:spPr>
      </p:pic>
      <p:pic>
        <p:nvPicPr>
          <p:cNvPr id="10" name="Picture 9"/>
          <p:cNvPicPr>
            <a:picLocks noChangeAspect="1"/>
          </p:cNvPicPr>
          <p:nvPr/>
        </p:nvPicPr>
        <p:blipFill>
          <a:blip r:embed="rId3" cstate="print"/>
          <a:stretch>
            <a:fillRect/>
          </a:stretch>
        </p:blipFill>
        <p:spPr>
          <a:xfrm>
            <a:off x="1219200" y="3412457"/>
            <a:ext cx="7477125" cy="914400"/>
          </a:xfrm>
          <a:prstGeom prst="rect">
            <a:avLst/>
          </a:prstGeom>
        </p:spPr>
      </p:pic>
    </p:spTree>
    <p:extLst>
      <p:ext uri="{BB962C8B-B14F-4D97-AF65-F5344CB8AC3E}">
        <p14:creationId xmlns:p14="http://schemas.microsoft.com/office/powerpoint/2010/main" xmlns="" val="2845442731"/>
      </p:ext>
    </p:extLst>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19459" name="TextBox 6"/>
          <p:cNvSpPr txBox="1">
            <a:spLocks noChangeArrowheads="1"/>
          </p:cNvSpPr>
          <p:nvPr/>
        </p:nvSpPr>
        <p:spPr bwMode="auto">
          <a:xfrm>
            <a:off x="381000" y="1366670"/>
            <a:ext cx="79422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22-1 </a:t>
            </a:r>
            <a:r>
              <a:rPr lang="en-US" sz="1800" dirty="0">
                <a:latin typeface="Verdana" panose="020B0604030504040204" pitchFamily="34" charset="0"/>
              </a:rPr>
              <a:t>Tax Cuts, Debt Repayment, and Debt Stabilization</a:t>
            </a:r>
          </a:p>
        </p:txBody>
      </p:sp>
      <p:pic>
        <p:nvPicPr>
          <p:cNvPr id="19460" name="Picture 7" descr="fig23_01.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74042" y="1828800"/>
            <a:ext cx="4848225" cy="43957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Rectangle 1"/>
          <p:cNvSpPr/>
          <p:nvPr/>
        </p:nvSpPr>
        <p:spPr>
          <a:xfrm>
            <a:off x="417095" y="1955758"/>
            <a:ext cx="3531518" cy="3293209"/>
          </a:xfrm>
          <a:prstGeom prst="rect">
            <a:avLst/>
          </a:prstGeom>
        </p:spPr>
        <p:txBody>
          <a:bodyPr wrap="square">
            <a:spAutoFit/>
          </a:bodyPr>
          <a:lstStyle/>
          <a:p>
            <a:r>
              <a:rPr lang="en-US" sz="1600" dirty="0">
                <a:latin typeface="+mn-lt"/>
              </a:rPr>
              <a:t>(a), If the debt is fully repaid</a:t>
            </a:r>
          </a:p>
          <a:p>
            <a:r>
              <a:rPr lang="en-US" sz="1600" dirty="0">
                <a:latin typeface="+mn-lt"/>
              </a:rPr>
              <a:t>during year 2, the decrease in</a:t>
            </a:r>
          </a:p>
          <a:p>
            <a:r>
              <a:rPr lang="en-US" sz="1600" dirty="0">
                <a:latin typeface="+mn-lt"/>
              </a:rPr>
              <a:t>taxes of 1 in year 1 requires</a:t>
            </a:r>
          </a:p>
          <a:p>
            <a:r>
              <a:rPr lang="en-US" sz="1600" dirty="0">
                <a:latin typeface="+mn-lt"/>
              </a:rPr>
              <a:t>an increase in taxes equal to</a:t>
            </a:r>
          </a:p>
          <a:p>
            <a:r>
              <a:rPr lang="en-US" sz="1600" dirty="0" smtClean="0">
                <a:latin typeface="+mn-lt"/>
              </a:rPr>
              <a:t>(1 </a:t>
            </a:r>
            <a:r>
              <a:rPr lang="en-US" sz="1600" dirty="0">
                <a:latin typeface="+mn-lt"/>
              </a:rPr>
              <a:t>+ </a:t>
            </a:r>
            <a:r>
              <a:rPr lang="en-US" sz="1600" i="1" dirty="0" smtClean="0">
                <a:latin typeface="+mn-lt"/>
              </a:rPr>
              <a:t>r</a:t>
            </a:r>
            <a:r>
              <a:rPr lang="en-US" sz="1600" dirty="0" smtClean="0">
                <a:latin typeface="+mn-lt"/>
              </a:rPr>
              <a:t>) </a:t>
            </a:r>
            <a:r>
              <a:rPr lang="en-US" sz="1600" dirty="0">
                <a:latin typeface="+mn-lt"/>
              </a:rPr>
              <a:t>in year 2. (b), If the</a:t>
            </a:r>
          </a:p>
          <a:p>
            <a:r>
              <a:rPr lang="en-US" sz="1600" dirty="0">
                <a:latin typeface="+mn-lt"/>
              </a:rPr>
              <a:t>debt is fully repaid during year</a:t>
            </a:r>
          </a:p>
          <a:p>
            <a:r>
              <a:rPr lang="en-US" sz="1600" dirty="0">
                <a:latin typeface="+mn-lt"/>
              </a:rPr>
              <a:t>5, the decrease in taxes of 1</a:t>
            </a:r>
          </a:p>
          <a:p>
            <a:r>
              <a:rPr lang="en-US" sz="1600" dirty="0">
                <a:latin typeface="+mn-lt"/>
              </a:rPr>
              <a:t>in year 1 requires an increase</a:t>
            </a:r>
          </a:p>
          <a:p>
            <a:r>
              <a:rPr lang="en-US" sz="1600" dirty="0">
                <a:latin typeface="+mn-lt"/>
              </a:rPr>
              <a:t>in taxes equal to </a:t>
            </a:r>
            <a:r>
              <a:rPr lang="en-US" sz="1600" dirty="0" smtClean="0">
                <a:latin typeface="+mn-lt"/>
              </a:rPr>
              <a:t>(1 </a:t>
            </a:r>
            <a:r>
              <a:rPr lang="en-US" sz="1600" dirty="0">
                <a:latin typeface="+mn-lt"/>
              </a:rPr>
              <a:t>+ </a:t>
            </a:r>
            <a:r>
              <a:rPr lang="en-US" sz="1600" i="1" dirty="0" smtClean="0">
                <a:latin typeface="+mn-lt"/>
              </a:rPr>
              <a:t>r</a:t>
            </a:r>
            <a:r>
              <a:rPr lang="en-US" sz="1600" dirty="0" smtClean="0">
                <a:latin typeface="+mn-lt"/>
              </a:rPr>
              <a:t>)</a:t>
            </a:r>
            <a:r>
              <a:rPr lang="en-US" sz="1600" baseline="30000" dirty="0" smtClean="0">
                <a:latin typeface="+mn-lt"/>
              </a:rPr>
              <a:t>4</a:t>
            </a:r>
            <a:r>
              <a:rPr lang="en-US" sz="1600" dirty="0" smtClean="0">
                <a:latin typeface="+mn-lt"/>
              </a:rPr>
              <a:t> </a:t>
            </a:r>
            <a:r>
              <a:rPr lang="en-US" sz="1600" dirty="0">
                <a:latin typeface="+mn-lt"/>
              </a:rPr>
              <a:t>during</a:t>
            </a:r>
          </a:p>
          <a:p>
            <a:r>
              <a:rPr lang="en-US" sz="1600" dirty="0">
                <a:latin typeface="+mn-lt"/>
              </a:rPr>
              <a:t>year 5. (c), If the debt is</a:t>
            </a:r>
          </a:p>
          <a:p>
            <a:r>
              <a:rPr lang="en-US" sz="1600" dirty="0">
                <a:latin typeface="+mn-lt"/>
              </a:rPr>
              <a:t>stabilized from year 2 on, then</a:t>
            </a:r>
          </a:p>
          <a:p>
            <a:r>
              <a:rPr lang="en-US" sz="1600" dirty="0">
                <a:latin typeface="+mn-lt"/>
              </a:rPr>
              <a:t>taxes must be permanently</a:t>
            </a:r>
          </a:p>
          <a:p>
            <a:r>
              <a:rPr lang="en-US" sz="1600" dirty="0">
                <a:latin typeface="+mn-lt"/>
              </a:rPr>
              <a:t>higher by </a:t>
            </a:r>
            <a:r>
              <a:rPr lang="en-US" sz="1600" i="1" dirty="0">
                <a:latin typeface="+mn-lt"/>
              </a:rPr>
              <a:t>r</a:t>
            </a:r>
            <a:r>
              <a:rPr lang="en-US" sz="1600" dirty="0">
                <a:latin typeface="+mn-lt"/>
              </a:rPr>
              <a:t> from year 2 on.</a:t>
            </a:r>
          </a:p>
        </p:txBody>
      </p:sp>
    </p:spTree>
    <p:extLst>
      <p:ext uri="{BB962C8B-B14F-4D97-AF65-F5344CB8AC3E}">
        <p14:creationId xmlns:p14="http://schemas.microsoft.com/office/powerpoint/2010/main" xmlns="" val="3890300902"/>
      </p:ext>
    </p:extLst>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pic>
        <p:nvPicPr>
          <p:cNvPr id="6" name="Picture 5"/>
          <p:cNvPicPr>
            <a:picLocks noChangeAspect="1"/>
          </p:cNvPicPr>
          <p:nvPr/>
        </p:nvPicPr>
        <p:blipFill>
          <a:blip r:embed="rId2" cstate="print"/>
          <a:stretch>
            <a:fillRect/>
          </a:stretch>
        </p:blipFill>
        <p:spPr>
          <a:xfrm>
            <a:off x="1447800" y="1828800"/>
            <a:ext cx="5791200" cy="419100"/>
          </a:xfrm>
          <a:prstGeom prst="rect">
            <a:avLst/>
          </a:prstGeom>
        </p:spPr>
      </p:pic>
      <p:pic>
        <p:nvPicPr>
          <p:cNvPr id="7" name="Picture 6"/>
          <p:cNvPicPr>
            <a:picLocks noChangeAspect="1"/>
          </p:cNvPicPr>
          <p:nvPr/>
        </p:nvPicPr>
        <p:blipFill>
          <a:blip r:embed="rId3" cstate="print"/>
          <a:stretch>
            <a:fillRect/>
          </a:stretch>
        </p:blipFill>
        <p:spPr>
          <a:xfrm>
            <a:off x="1147762" y="3248025"/>
            <a:ext cx="6848475" cy="361950"/>
          </a:xfrm>
          <a:prstGeom prst="rect">
            <a:avLst/>
          </a:prstGeom>
        </p:spPr>
      </p:pic>
      <p:pic>
        <p:nvPicPr>
          <p:cNvPr id="8" name="Picture 7"/>
          <p:cNvPicPr>
            <a:picLocks noChangeAspect="1"/>
          </p:cNvPicPr>
          <p:nvPr/>
        </p:nvPicPr>
        <p:blipFill>
          <a:blip r:embed="rId4" cstate="print"/>
          <a:stretch>
            <a:fillRect/>
          </a:stretch>
        </p:blipFill>
        <p:spPr>
          <a:xfrm>
            <a:off x="2073441" y="4699673"/>
            <a:ext cx="6619875" cy="381000"/>
          </a:xfrm>
          <a:prstGeom prst="rect">
            <a:avLst/>
          </a:prstGeom>
        </p:spPr>
      </p:pic>
      <p:pic>
        <p:nvPicPr>
          <p:cNvPr id="9" name="Picture 8"/>
          <p:cNvPicPr>
            <a:picLocks noChangeAspect="1"/>
          </p:cNvPicPr>
          <p:nvPr/>
        </p:nvPicPr>
        <p:blipFill>
          <a:blip r:embed="rId5" cstate="print"/>
          <a:stretch>
            <a:fillRect/>
          </a:stretch>
        </p:blipFill>
        <p:spPr>
          <a:xfrm>
            <a:off x="2624137" y="3243262"/>
            <a:ext cx="3895725" cy="371475"/>
          </a:xfrm>
          <a:prstGeom prst="rect">
            <a:avLst/>
          </a:prstGeom>
        </p:spPr>
      </p:pic>
      <p:sp>
        <p:nvSpPr>
          <p:cNvPr id="12" name="Content Placeholder 2"/>
          <p:cNvSpPr>
            <a:spLocks noGrp="1"/>
          </p:cNvSpPr>
          <p:nvPr>
            <p:ph idx="1"/>
          </p:nvPr>
        </p:nvSpPr>
        <p:spPr>
          <a:xfrm>
            <a:off x="457200" y="1371600"/>
            <a:ext cx="7696200" cy="1871662"/>
          </a:xfrm>
        </p:spPr>
        <p:txBody>
          <a:bodyPr/>
          <a:lstStyle/>
          <a:p>
            <a:r>
              <a:rPr lang="en-US" sz="2200" dirty="0" smtClean="0">
                <a:ea typeface="ヒラギノ角ゴ Pro W3" pitchFamily="-84" charset="-128"/>
              </a:rPr>
              <a:t>From equation (22.3), debt at the end of year 2:</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and at the end of year 3:</a:t>
            </a:r>
          </a:p>
          <a:p>
            <a:endParaRPr lang="en-US" sz="2200" dirty="0">
              <a:ea typeface="ヒラギノ角ゴ Pro W3" pitchFamily="-84" charset="-128"/>
            </a:endParaRPr>
          </a:p>
          <a:p>
            <a:endParaRPr lang="en-US" sz="2200" dirty="0" smtClean="0">
              <a:ea typeface="ヒラギノ角ゴ Pro W3" pitchFamily="-84" charset="-128"/>
            </a:endParaRPr>
          </a:p>
          <a:p>
            <a:r>
              <a:rPr lang="en-US" sz="2200" dirty="0" smtClean="0">
                <a:ea typeface="ヒラギノ角ゴ Pro W3" pitchFamily="-84" charset="-128"/>
              </a:rPr>
              <a:t>As long as the primary deficit equals zero, debt grows at:</a:t>
            </a:r>
            <a:endParaRPr lang="en-US" sz="2200" b="1" dirty="0" smtClean="0">
              <a:ea typeface="ヒラギノ角ゴ Pro W3" pitchFamily="-84" charset="-128"/>
            </a:endParaRPr>
          </a:p>
        </p:txBody>
      </p:sp>
    </p:spTree>
    <p:extLst>
      <p:ext uri="{BB962C8B-B14F-4D97-AF65-F5344CB8AC3E}">
        <p14:creationId xmlns:p14="http://schemas.microsoft.com/office/powerpoint/2010/main" xmlns="" val="2058961565"/>
      </p:ext>
    </p:extLst>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12" name="Content Placeholder 2"/>
          <p:cNvSpPr>
            <a:spLocks noGrp="1"/>
          </p:cNvSpPr>
          <p:nvPr>
            <p:ph idx="1"/>
          </p:nvPr>
        </p:nvSpPr>
        <p:spPr>
          <a:xfrm>
            <a:off x="417095" y="1529591"/>
            <a:ext cx="7696200" cy="4882183"/>
          </a:xfrm>
        </p:spPr>
        <p:txBody>
          <a:bodyPr/>
          <a:lstStyle/>
          <a:p>
            <a:r>
              <a:rPr lang="en-US" sz="2200" dirty="0" smtClean="0">
                <a:ea typeface="ヒラギノ角ゴ Pro W3" pitchFamily="-84" charset="-128"/>
              </a:rPr>
              <a:t>If debt is fully repaid during year </a:t>
            </a:r>
            <a:r>
              <a:rPr lang="en-US" sz="2200" i="1" dirty="0" smtClean="0">
                <a:ea typeface="ヒラギノ角ゴ Pro W3" pitchFamily="-84" charset="-128"/>
              </a:rPr>
              <a:t>t</a:t>
            </a:r>
            <a:r>
              <a:rPr lang="en-US" sz="2200" dirty="0" smtClean="0">
                <a:ea typeface="ヒラギノ角ゴ Pro W3" pitchFamily="-84" charset="-128"/>
              </a:rPr>
              <a:t>, then equation (22.4) becomes:</a:t>
            </a:r>
          </a:p>
          <a:p>
            <a:endParaRPr lang="en-US" sz="2200" dirty="0">
              <a:ea typeface="ヒラギノ角ゴ Pro W3" pitchFamily="-84" charset="-128"/>
            </a:endParaRPr>
          </a:p>
          <a:p>
            <a:pPr marL="0" indent="0">
              <a:spcBef>
                <a:spcPts val="1800"/>
              </a:spcBef>
              <a:buNone/>
            </a:pPr>
            <a:r>
              <a:rPr lang="en-US" sz="2200" dirty="0" smtClean="0">
                <a:ea typeface="ヒラギノ角ゴ Pro W3" pitchFamily="-84" charset="-128"/>
              </a:rPr>
              <a:t>    which implies:</a:t>
            </a:r>
          </a:p>
          <a:p>
            <a:pPr marL="0" indent="0">
              <a:buNone/>
            </a:pPr>
            <a:endParaRPr lang="en-US" sz="2200" dirty="0">
              <a:ea typeface="ヒラギノ角ゴ Pro W3" pitchFamily="-84" charset="-128"/>
            </a:endParaRPr>
          </a:p>
          <a:p>
            <a:pPr marL="0" indent="0">
              <a:buNone/>
            </a:pPr>
            <a:endParaRPr lang="en-US" sz="2200" dirty="0" smtClean="0">
              <a:ea typeface="ヒラギノ角ゴ Pro W3" pitchFamily="-84" charset="-128"/>
            </a:endParaRPr>
          </a:p>
          <a:p>
            <a:pPr>
              <a:spcBef>
                <a:spcPts val="0"/>
              </a:spcBef>
            </a:pPr>
            <a:r>
              <a:rPr lang="en-US" sz="2200" dirty="0" smtClean="0">
                <a:ea typeface="ヒラギノ角ゴ Pro W3" pitchFamily="-84" charset="-128"/>
              </a:rPr>
              <a:t>If government spending is unchanged, a decrease in taxes must eventually be offset by an increase in taxes in the future.</a:t>
            </a:r>
          </a:p>
          <a:p>
            <a:r>
              <a:rPr lang="en-US" sz="2200" dirty="0" smtClean="0">
                <a:ea typeface="ヒラギノ角ゴ Pro W3" pitchFamily="-84" charset="-128"/>
              </a:rPr>
              <a:t>The longer the government waits to increase taxes, or the higher the real interest rate is, the higher  the eventual increase in taxes must be.</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a:t>
            </a:r>
            <a:endParaRPr lang="en-US" sz="2200" b="1" dirty="0" smtClean="0">
              <a:ea typeface="ヒラギノ角ゴ Pro W3" pitchFamily="-84" charset="-128"/>
            </a:endParaRPr>
          </a:p>
        </p:txBody>
      </p:sp>
      <p:pic>
        <p:nvPicPr>
          <p:cNvPr id="11" name="Picture 10"/>
          <p:cNvPicPr>
            <a:picLocks noChangeAspect="1"/>
          </p:cNvPicPr>
          <p:nvPr/>
        </p:nvPicPr>
        <p:blipFill>
          <a:blip r:embed="rId2" cstate="print"/>
          <a:stretch>
            <a:fillRect/>
          </a:stretch>
        </p:blipFill>
        <p:spPr>
          <a:xfrm>
            <a:off x="2209800" y="3333346"/>
            <a:ext cx="2743200" cy="409575"/>
          </a:xfrm>
          <a:prstGeom prst="rect">
            <a:avLst/>
          </a:prstGeom>
        </p:spPr>
      </p:pic>
      <p:pic>
        <p:nvPicPr>
          <p:cNvPr id="10" name="Picture 9"/>
          <p:cNvPicPr>
            <a:picLocks noChangeAspect="1"/>
          </p:cNvPicPr>
          <p:nvPr/>
        </p:nvPicPr>
        <p:blipFill>
          <a:blip r:embed="rId3" cstate="print"/>
          <a:stretch>
            <a:fillRect/>
          </a:stretch>
        </p:blipFill>
        <p:spPr>
          <a:xfrm>
            <a:off x="1828800" y="2338600"/>
            <a:ext cx="4667250" cy="390525"/>
          </a:xfrm>
          <a:prstGeom prst="rect">
            <a:avLst/>
          </a:prstGeom>
        </p:spPr>
      </p:pic>
    </p:spTree>
    <p:extLst>
      <p:ext uri="{BB962C8B-B14F-4D97-AF65-F5344CB8AC3E}">
        <p14:creationId xmlns:p14="http://schemas.microsoft.com/office/powerpoint/2010/main" xmlns="" val="1776319598"/>
      </p:ext>
    </p:extLst>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12" name="Content Placeholder 2"/>
          <p:cNvSpPr>
            <a:spLocks noGrp="1"/>
          </p:cNvSpPr>
          <p:nvPr>
            <p:ph idx="1"/>
          </p:nvPr>
        </p:nvSpPr>
        <p:spPr>
          <a:xfrm>
            <a:off x="417094" y="1529591"/>
            <a:ext cx="8041105" cy="4882183"/>
          </a:xfrm>
        </p:spPr>
        <p:txBody>
          <a:bodyPr/>
          <a:lstStyle/>
          <a:p>
            <a:r>
              <a:rPr lang="en-US" sz="2400" dirty="0" smtClean="0">
                <a:ea typeface="ヒラギノ角ゴ Pro W3" pitchFamily="-84" charset="-128"/>
              </a:rPr>
              <a:t>The legacy of past deficits is higher government debt today.</a:t>
            </a:r>
          </a:p>
          <a:p>
            <a:r>
              <a:rPr lang="en-US" sz="2400" dirty="0" smtClean="0">
                <a:ea typeface="ヒラギノ角ゴ Pro W3" pitchFamily="-84" charset="-128"/>
              </a:rPr>
              <a:t>To stabilize the debt, the government must eliminate the deficit.</a:t>
            </a:r>
          </a:p>
          <a:p>
            <a:r>
              <a:rPr lang="en-US" sz="2400" dirty="0" smtClean="0">
                <a:ea typeface="ヒラギノ角ゴ Pro W3" pitchFamily="-84" charset="-128"/>
              </a:rPr>
              <a:t>To eliminate the deficit, the government must run a primary surplus equal to the interest payments on the existing debt. This requires higher taxes forever.</a:t>
            </a:r>
          </a:p>
          <a:p>
            <a:endParaRPr lang="en-US" sz="2400" dirty="0">
              <a:ea typeface="ヒラギノ角ゴ Pro W3" pitchFamily="-84" charset="-128"/>
            </a:endParaRPr>
          </a:p>
          <a:p>
            <a:endParaRPr lang="en-US" sz="2400" dirty="0" smtClean="0">
              <a:ea typeface="ヒラギノ角ゴ Pro W3" pitchFamily="-84" charset="-128"/>
            </a:endParaRPr>
          </a:p>
          <a:p>
            <a:pPr marL="0" indent="0">
              <a:buNone/>
            </a:pPr>
            <a:r>
              <a:rPr lang="en-US" sz="2400" dirty="0" smtClean="0">
                <a:ea typeface="ヒラギノ角ゴ Pro W3" pitchFamily="-84" charset="-128"/>
              </a:rPr>
              <a:t>    </a:t>
            </a:r>
            <a:endParaRPr lang="en-US" sz="2400" b="1" dirty="0" smtClean="0">
              <a:ea typeface="ヒラギノ角ゴ Pro W3" pitchFamily="-84" charset="-128"/>
            </a:endParaRPr>
          </a:p>
        </p:txBody>
      </p:sp>
    </p:spTree>
    <p:extLst>
      <p:ext uri="{BB962C8B-B14F-4D97-AF65-F5344CB8AC3E}">
        <p14:creationId xmlns:p14="http://schemas.microsoft.com/office/powerpoint/2010/main" xmlns="" val="236338513"/>
      </p:ext>
    </p:extLst>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12" name="Content Placeholder 2"/>
          <p:cNvSpPr>
            <a:spLocks noGrp="1"/>
          </p:cNvSpPr>
          <p:nvPr>
            <p:ph idx="1"/>
          </p:nvPr>
        </p:nvSpPr>
        <p:spPr>
          <a:xfrm>
            <a:off x="417094" y="1529591"/>
            <a:ext cx="8041105" cy="4882183"/>
          </a:xfrm>
        </p:spPr>
        <p:txBody>
          <a:bodyPr/>
          <a:lstStyle/>
          <a:p>
            <a:r>
              <a:rPr lang="en-US" sz="2200" dirty="0" smtClean="0">
                <a:ea typeface="ヒラギノ角ゴ Pro W3" pitchFamily="-84" charset="-128"/>
              </a:rPr>
              <a:t>Now consider the </a:t>
            </a:r>
            <a:r>
              <a:rPr lang="en-US" sz="2200" b="1" dirty="0" smtClean="0">
                <a:ea typeface="ヒラギノ角ゴ Pro W3" pitchFamily="-84" charset="-128"/>
              </a:rPr>
              <a:t>debt-to-GDP ratio </a:t>
            </a:r>
            <a:r>
              <a:rPr lang="en-US" sz="2200" dirty="0" smtClean="0">
                <a:ea typeface="ヒラギノ角ゴ Pro W3" pitchFamily="-84" charset="-128"/>
              </a:rPr>
              <a:t>(or </a:t>
            </a:r>
            <a:r>
              <a:rPr lang="en-US" sz="2200" b="1" dirty="0" smtClean="0">
                <a:ea typeface="ヒラギノ角ゴ Pro W3" pitchFamily="-84" charset="-128"/>
              </a:rPr>
              <a:t>debt ratio</a:t>
            </a:r>
            <a:r>
              <a:rPr lang="en-US" sz="2200" dirty="0" smtClean="0">
                <a:ea typeface="ヒラギノ角ゴ Pro W3" pitchFamily="-84" charset="-128"/>
              </a:rPr>
              <a:t>) instead of the </a:t>
            </a:r>
            <a:r>
              <a:rPr lang="en-US" sz="2200" i="1" dirty="0" smtClean="0">
                <a:ea typeface="ヒラギノ角ゴ Pro W3" pitchFamily="-84" charset="-128"/>
              </a:rPr>
              <a:t>level</a:t>
            </a:r>
            <a:r>
              <a:rPr lang="en-US" sz="2200" dirty="0" smtClean="0">
                <a:ea typeface="ヒラギノ角ゴ Pro W3" pitchFamily="-84" charset="-128"/>
              </a:rPr>
              <a:t> of debt.</a:t>
            </a:r>
          </a:p>
          <a:p>
            <a:r>
              <a:rPr lang="en-US" sz="2200" dirty="0" smtClean="0">
                <a:ea typeface="ヒラギノ角ゴ Pro W3" pitchFamily="-84" charset="-128"/>
              </a:rPr>
              <a:t>Divide equation (22.3) by real output</a:t>
            </a:r>
          </a:p>
          <a:p>
            <a:endParaRPr lang="en-US" sz="2200" dirty="0">
              <a:ea typeface="ヒラギノ角ゴ Pro W3" pitchFamily="-84" charset="-128"/>
            </a:endParaRPr>
          </a:p>
          <a:p>
            <a:endParaRPr lang="en-US" sz="2200" dirty="0" smtClean="0">
              <a:ea typeface="ヒラギノ角ゴ Pro W3" pitchFamily="-84" charset="-128"/>
            </a:endParaRPr>
          </a:p>
          <a:p>
            <a:pPr marL="0" indent="0">
              <a:spcBef>
                <a:spcPts val="1800"/>
              </a:spcBef>
              <a:buNone/>
            </a:pPr>
            <a:r>
              <a:rPr lang="en-US" sz="2200" dirty="0" smtClean="0">
                <a:ea typeface="ヒラギノ角ゴ Pro W3" pitchFamily="-84" charset="-128"/>
              </a:rPr>
              <a:t>    which can be rewritten as:</a:t>
            </a:r>
            <a:endParaRPr lang="en-US" sz="2200" dirty="0">
              <a:ea typeface="ヒラギノ角ゴ Pro W3" pitchFamily="-84" charset="-128"/>
            </a:endParaRPr>
          </a:p>
          <a:p>
            <a:endParaRPr lang="en-US" sz="2200" dirty="0" smtClean="0">
              <a:ea typeface="ヒラギノ角ゴ Pro W3" pitchFamily="-84" charset="-128"/>
            </a:endParaRP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a:t>
            </a:r>
            <a:endParaRPr lang="en-US" sz="2200" b="1" dirty="0" smtClean="0">
              <a:ea typeface="ヒラギノ角ゴ Pro W3" pitchFamily="-84" charset="-128"/>
            </a:endParaRPr>
          </a:p>
        </p:txBody>
      </p:sp>
      <p:pic>
        <p:nvPicPr>
          <p:cNvPr id="4" name="Picture 3"/>
          <p:cNvPicPr>
            <a:picLocks noChangeAspect="1"/>
          </p:cNvPicPr>
          <p:nvPr/>
        </p:nvPicPr>
        <p:blipFill>
          <a:blip r:embed="rId2" cstate="print"/>
          <a:stretch>
            <a:fillRect/>
          </a:stretch>
        </p:blipFill>
        <p:spPr>
          <a:xfrm>
            <a:off x="1828800" y="2743200"/>
            <a:ext cx="3838575" cy="752475"/>
          </a:xfrm>
          <a:prstGeom prst="rect">
            <a:avLst/>
          </a:prstGeom>
        </p:spPr>
      </p:pic>
      <p:pic>
        <p:nvPicPr>
          <p:cNvPr id="5" name="Picture 4"/>
          <p:cNvPicPr>
            <a:picLocks noChangeAspect="1"/>
          </p:cNvPicPr>
          <p:nvPr/>
        </p:nvPicPr>
        <p:blipFill>
          <a:blip r:embed="rId3" cstate="print"/>
          <a:stretch>
            <a:fillRect/>
          </a:stretch>
        </p:blipFill>
        <p:spPr>
          <a:xfrm>
            <a:off x="1828800" y="4182199"/>
            <a:ext cx="4867275" cy="771525"/>
          </a:xfrm>
          <a:prstGeom prst="rect">
            <a:avLst/>
          </a:prstGeom>
        </p:spPr>
      </p:pic>
    </p:spTree>
    <p:extLst>
      <p:ext uri="{BB962C8B-B14F-4D97-AF65-F5344CB8AC3E}">
        <p14:creationId xmlns:p14="http://schemas.microsoft.com/office/powerpoint/2010/main" xmlns="" val="91509064"/>
      </p:ext>
    </p:extLst>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z="2800" dirty="0" smtClean="0">
                <a:ea typeface="ヒラギノ角ゴ Pro W3" pitchFamily="-65" charset="-128"/>
              </a:rPr>
              <a:t>22-2 The Government Budget Constraint: Deficits, Debt, Spending, and Taxes</a:t>
            </a:r>
          </a:p>
        </p:txBody>
      </p:sp>
      <p:sp>
        <p:nvSpPr>
          <p:cNvPr id="12" name="Content Placeholder 2"/>
          <p:cNvSpPr>
            <a:spLocks noGrp="1"/>
          </p:cNvSpPr>
          <p:nvPr>
            <p:ph idx="1"/>
          </p:nvPr>
        </p:nvSpPr>
        <p:spPr>
          <a:xfrm>
            <a:off x="417094" y="1529591"/>
            <a:ext cx="8041105" cy="4882183"/>
          </a:xfrm>
        </p:spPr>
        <p:txBody>
          <a:bodyPr/>
          <a:lstStyle/>
          <a:p>
            <a:r>
              <a:rPr lang="en-US" sz="2200" dirty="0" smtClean="0">
                <a:ea typeface="ヒラギノ角ゴ Pro W3" pitchFamily="-84" charset="-128"/>
              </a:rPr>
              <a:t>Assume that output </a:t>
            </a:r>
            <a:r>
              <a:rPr lang="en-US" sz="2200" i="1" dirty="0" smtClean="0">
                <a:ea typeface="ヒラギノ角ゴ Pro W3" pitchFamily="-84" charset="-128"/>
              </a:rPr>
              <a:t>Y</a:t>
            </a:r>
            <a:r>
              <a:rPr lang="en-US" sz="2200" dirty="0" smtClean="0">
                <a:ea typeface="ヒラギノ角ゴ Pro W3" pitchFamily="-84" charset="-128"/>
              </a:rPr>
              <a:t> grows at a constant rate of </a:t>
            </a:r>
            <a:r>
              <a:rPr lang="en-US" sz="2200" i="1" dirty="0" smtClean="0">
                <a:ea typeface="ヒラギノ角ゴ Pro W3" pitchFamily="-84" charset="-128"/>
              </a:rPr>
              <a:t>g</a:t>
            </a:r>
            <a:r>
              <a:rPr lang="en-US" sz="2200" dirty="0" smtClean="0">
                <a:ea typeface="ヒラギノ角ゴ Pro W3" pitchFamily="-84" charset="-128"/>
              </a:rPr>
              <a:t>:</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or</a:t>
            </a:r>
          </a:p>
          <a:p>
            <a:pPr marL="0" indent="0">
              <a:buNone/>
            </a:pPr>
            <a:endParaRPr lang="en-US" sz="2200" dirty="0">
              <a:ea typeface="ヒラギノ角ゴ Pro W3" pitchFamily="-84" charset="-128"/>
            </a:endParaRPr>
          </a:p>
          <a:p>
            <a:pPr marL="0" indent="0">
              <a:buNone/>
            </a:pPr>
            <a:endParaRPr lang="en-US" sz="2200" dirty="0" smtClean="0">
              <a:ea typeface="ヒラギノ角ゴ Pro W3" pitchFamily="-84" charset="-128"/>
            </a:endParaRPr>
          </a:p>
          <a:p>
            <a:pPr marL="347663" indent="0">
              <a:spcBef>
                <a:spcPts val="1800"/>
              </a:spcBef>
              <a:buNone/>
            </a:pPr>
            <a:r>
              <a:rPr lang="en-US" sz="2200" dirty="0" smtClean="0">
                <a:ea typeface="ヒラギノ角ゴ Pro W3" pitchFamily="-84" charset="-128"/>
              </a:rPr>
              <a:t>which implies that the increase in the ratio of debt to GDP is larger:</a:t>
            </a:r>
          </a:p>
          <a:p>
            <a:pPr marL="685800" lvl="1" indent="-287338"/>
            <a:r>
              <a:rPr lang="en-US" sz="2000" dirty="0" smtClean="0">
                <a:ea typeface="ヒラギノ角ゴ Pro W3" pitchFamily="-84" charset="-128"/>
              </a:rPr>
              <a:t>the higher the real interest rate</a:t>
            </a:r>
          </a:p>
          <a:p>
            <a:pPr marL="685800" lvl="1" indent="-287338"/>
            <a:r>
              <a:rPr lang="en-US" sz="2000" dirty="0" smtClean="0">
                <a:ea typeface="ヒラギノ角ゴ Pro W3" pitchFamily="-84" charset="-128"/>
              </a:rPr>
              <a:t>the lower the growth rate of output</a:t>
            </a:r>
          </a:p>
          <a:p>
            <a:pPr marL="685800" lvl="1" indent="-287338"/>
            <a:r>
              <a:rPr lang="en-US" sz="2000" dirty="0" smtClean="0">
                <a:ea typeface="ヒラギノ角ゴ Pro W3" pitchFamily="-84" charset="-128"/>
              </a:rPr>
              <a:t>the higher the initial debt ratio</a:t>
            </a:r>
          </a:p>
          <a:p>
            <a:pPr marL="685800" lvl="1" indent="-287338"/>
            <a:r>
              <a:rPr lang="en-US" sz="2000" dirty="0" smtClean="0">
                <a:ea typeface="ヒラギノ角ゴ Pro W3" pitchFamily="-84" charset="-128"/>
              </a:rPr>
              <a:t>the higher the ratio of the primary debt to GDP</a:t>
            </a:r>
          </a:p>
          <a:p>
            <a:endParaRPr lang="en-US" sz="2200" dirty="0">
              <a:ea typeface="ヒラギノ角ゴ Pro W3" pitchFamily="-84" charset="-128"/>
            </a:endParaRPr>
          </a:p>
          <a:p>
            <a:endParaRPr lang="en-US" sz="2200" dirty="0" smtClean="0">
              <a:ea typeface="ヒラギノ角ゴ Pro W3" pitchFamily="-84" charset="-128"/>
            </a:endParaRPr>
          </a:p>
          <a:p>
            <a:pPr marL="0" indent="0">
              <a:buNone/>
            </a:pPr>
            <a:r>
              <a:rPr lang="en-US" sz="2200" dirty="0" smtClean="0">
                <a:ea typeface="ヒラギノ角ゴ Pro W3" pitchFamily="-84" charset="-128"/>
              </a:rPr>
              <a:t>    </a:t>
            </a:r>
            <a:endParaRPr lang="en-US" sz="2200" b="1" dirty="0" smtClean="0">
              <a:ea typeface="ヒラギノ角ゴ Pro W3" pitchFamily="-84" charset="-128"/>
            </a:endParaRPr>
          </a:p>
        </p:txBody>
      </p:sp>
      <p:pic>
        <p:nvPicPr>
          <p:cNvPr id="8" name="Picture 7"/>
          <p:cNvPicPr>
            <a:picLocks noChangeAspect="1"/>
          </p:cNvPicPr>
          <p:nvPr/>
        </p:nvPicPr>
        <p:blipFill>
          <a:blip r:embed="rId2" cstate="print"/>
          <a:stretch>
            <a:fillRect/>
          </a:stretch>
        </p:blipFill>
        <p:spPr>
          <a:xfrm>
            <a:off x="1905000" y="1981200"/>
            <a:ext cx="4305300" cy="828675"/>
          </a:xfrm>
          <a:prstGeom prst="rect">
            <a:avLst/>
          </a:prstGeom>
        </p:spPr>
      </p:pic>
      <p:pic>
        <p:nvPicPr>
          <p:cNvPr id="9" name="Picture 8"/>
          <p:cNvPicPr>
            <a:picLocks noChangeAspect="1"/>
          </p:cNvPicPr>
          <p:nvPr/>
        </p:nvPicPr>
        <p:blipFill>
          <a:blip r:embed="rId3" cstate="print"/>
          <a:stretch>
            <a:fillRect/>
          </a:stretch>
        </p:blipFill>
        <p:spPr>
          <a:xfrm>
            <a:off x="1019175" y="3196466"/>
            <a:ext cx="7820025" cy="742950"/>
          </a:xfrm>
          <a:prstGeom prst="rect">
            <a:avLst/>
          </a:prstGeom>
        </p:spPr>
      </p:pic>
    </p:spTree>
    <p:extLst>
      <p:ext uri="{BB962C8B-B14F-4D97-AF65-F5344CB8AC3E}">
        <p14:creationId xmlns:p14="http://schemas.microsoft.com/office/powerpoint/2010/main" xmlns="" val="2988052015"/>
      </p:ext>
    </p:extLst>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z="2800" dirty="0" smtClean="0">
                <a:ea typeface="ヒラギノ角ゴ Pro W3" pitchFamily="-65" charset="-128"/>
              </a:rPr>
              <a:t>FOCUS: How Countries Decreased Their Debt Ratios after World War II</a:t>
            </a:r>
          </a:p>
        </p:txBody>
      </p:sp>
      <p:sp>
        <p:nvSpPr>
          <p:cNvPr id="21507" name="TextBox 3"/>
          <p:cNvSpPr txBox="1">
            <a:spLocks noChangeArrowheads="1"/>
          </p:cNvSpPr>
          <p:nvPr/>
        </p:nvSpPr>
        <p:spPr bwMode="auto">
          <a:xfrm>
            <a:off x="517358" y="3287712"/>
            <a:ext cx="80772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Table 1  </a:t>
            </a:r>
            <a:r>
              <a:rPr lang="en-US" sz="1800" dirty="0">
                <a:latin typeface="Verdana" panose="020B0604030504040204" pitchFamily="34" charset="0"/>
              </a:rPr>
              <a:t>Changes in Debt Ratios Following World War II</a:t>
            </a:r>
          </a:p>
        </p:txBody>
      </p:sp>
      <p:pic>
        <p:nvPicPr>
          <p:cNvPr id="21508" name="Picture 4" descr="table_01.gif"/>
          <p:cNvPicPr>
            <a:picLocks noChangeAspect="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17358" y="3657600"/>
            <a:ext cx="8299450" cy="259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5" name="TextBox 3"/>
          <p:cNvSpPr txBox="1">
            <a:spLocks noChangeArrowheads="1"/>
          </p:cNvSpPr>
          <p:nvPr/>
        </p:nvSpPr>
        <p:spPr bwMode="auto">
          <a:xfrm>
            <a:off x="381000" y="1399748"/>
            <a:ext cx="8077200" cy="16312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2000" dirty="0" smtClean="0">
                <a:latin typeface="Verdana" panose="020B0604030504040204" pitchFamily="34" charset="0"/>
              </a:rPr>
              <a:t>The debt ratios of many countries declined in decades after World War II. </a:t>
            </a:r>
          </a:p>
          <a:p>
            <a:pPr marL="285750" indent="-285750">
              <a:buFont typeface="Arial" panose="020B0604020202020204" pitchFamily="34" charset="0"/>
              <a:buChar char="•"/>
            </a:pPr>
            <a:r>
              <a:rPr lang="en-US" sz="2000" dirty="0" smtClean="0">
                <a:latin typeface="Verdana" panose="020B0604030504040204" pitchFamily="34" charset="0"/>
              </a:rPr>
              <a:t>The declines in debt were not mainly the result of primary surplus, but  the result of high growth and sustained negative real interest rates.</a:t>
            </a:r>
            <a:endParaRPr lang="en-US" sz="2000" dirty="0">
              <a:latin typeface="Verdana" panose="020B0604030504040204" pitchFamily="34" charset="0"/>
            </a:endParaRPr>
          </a:p>
        </p:txBody>
      </p:sp>
    </p:spTree>
    <p:extLst>
      <p:ext uri="{BB962C8B-B14F-4D97-AF65-F5344CB8AC3E}">
        <p14:creationId xmlns:p14="http://schemas.microsoft.com/office/powerpoint/2010/main" xmlns="" val="1316525112"/>
      </p:ext>
    </p:extLst>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22-3 </a:t>
            </a:r>
            <a:r>
              <a:rPr lang="en-US" dirty="0">
                <a:ea typeface="ヒラギノ角ゴ Pro W3" pitchFamily="-84" charset="-128"/>
              </a:rPr>
              <a:t>Ricardian Equivalence, Cyclical Adjusted Deficits, and War Finance</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007927" cy="37856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b="1" dirty="0" smtClean="0">
                <a:latin typeface="Verdana" panose="020B0604030504040204" pitchFamily="34" charset="0"/>
              </a:rPr>
              <a:t>Ricardian equivalence </a:t>
            </a:r>
            <a:r>
              <a:rPr lang="en-US" dirty="0" smtClean="0">
                <a:latin typeface="Verdana" panose="020B0604030504040204" pitchFamily="34" charset="0"/>
              </a:rPr>
              <a:t>proposition (</a:t>
            </a:r>
            <a:r>
              <a:rPr lang="en-US" b="1" dirty="0" smtClean="0">
                <a:latin typeface="Verdana" panose="020B0604030504040204" pitchFamily="34" charset="0"/>
              </a:rPr>
              <a:t>Ricardo-</a:t>
            </a:r>
            <a:r>
              <a:rPr lang="en-US" b="1" dirty="0" err="1" smtClean="0">
                <a:latin typeface="Verdana" panose="020B0604030504040204" pitchFamily="34" charset="0"/>
              </a:rPr>
              <a:t>Barro</a:t>
            </a:r>
            <a:r>
              <a:rPr lang="en-US" b="1" dirty="0" smtClean="0">
                <a:latin typeface="Verdana" panose="020B0604030504040204" pitchFamily="34" charset="0"/>
              </a:rPr>
              <a:t> proposition</a:t>
            </a:r>
            <a:r>
              <a:rPr lang="en-US" dirty="0" smtClean="0">
                <a:latin typeface="Verdana" panose="020B0604030504040204" pitchFamily="34" charset="0"/>
              </a:rPr>
              <a:t>): Once the government budget constraint is taken into account, neither deficit nor debt have an effect on economic activity.</a:t>
            </a:r>
          </a:p>
          <a:p>
            <a:pPr marL="285750" indent="-285750">
              <a:buFont typeface="Arial" panose="020B0604020202020204" pitchFamily="34" charset="0"/>
              <a:buChar char="•"/>
            </a:pPr>
            <a:r>
              <a:rPr lang="en-US" dirty="0" smtClean="0">
                <a:latin typeface="Verdana" panose="020B0604030504040204" pitchFamily="34" charset="0"/>
              </a:rPr>
              <a:t>If a government finances a given path of spending through deficits, private saving will increase one-for-one with the decrease in public saving, leaving total saving unchanged.</a:t>
            </a: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4013518107"/>
      </p:ext>
    </p:extLst>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22-3 </a:t>
            </a:r>
            <a:r>
              <a:rPr lang="en-US" dirty="0">
                <a:ea typeface="ヒラギノ角ゴ Pro W3" pitchFamily="-84" charset="-128"/>
              </a:rPr>
              <a:t>Ricardian Equivalence, Cyclical Adjusted Deficits, and War Finance</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007927" cy="48936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The benchmark against which to judge the direction of fiscal policy: </a:t>
            </a:r>
            <a:r>
              <a:rPr lang="en-US" b="1" dirty="0" smtClean="0">
                <a:latin typeface="Verdana" panose="020B0604030504040204" pitchFamily="34" charset="0"/>
              </a:rPr>
              <a:t>full-employment deficit, mid-cycle deficit, standardized employment deficit, structural deficit, </a:t>
            </a:r>
            <a:r>
              <a:rPr lang="en-US" dirty="0" smtClean="0">
                <a:latin typeface="Verdana" panose="020B0604030504040204" pitchFamily="34" charset="0"/>
              </a:rPr>
              <a:t>or </a:t>
            </a:r>
            <a:r>
              <a:rPr lang="en-US" b="1" dirty="0" smtClean="0">
                <a:latin typeface="Verdana" panose="020B0604030504040204" pitchFamily="34" charset="0"/>
              </a:rPr>
              <a:t>cyclically adjusted deficit.</a:t>
            </a:r>
          </a:p>
          <a:p>
            <a:pPr marL="285750" indent="-285750">
              <a:buFont typeface="Arial" panose="020B0604020202020204" pitchFamily="34" charset="0"/>
              <a:buChar char="•"/>
            </a:pPr>
            <a:r>
              <a:rPr lang="en-US" dirty="0" smtClean="0">
                <a:latin typeface="Verdana" panose="020B0604030504040204" pitchFamily="34" charset="0"/>
              </a:rPr>
              <a:t>If the actual deficit is large but the cyclically adjusted deficit is zero, then current fiscal policy is consistent with no systematic increase in debt overtime.</a:t>
            </a:r>
          </a:p>
          <a:p>
            <a:pPr marL="285750" indent="-285750">
              <a:buFont typeface="Arial" panose="020B0604020202020204" pitchFamily="34" charset="0"/>
              <a:buChar char="•"/>
            </a:pPr>
            <a:r>
              <a:rPr lang="en-US" dirty="0" smtClean="0">
                <a:latin typeface="Verdana" panose="020B0604030504040204" pitchFamily="34" charset="0"/>
              </a:rPr>
              <a:t>The debt will increase as long as output is below its potential level.</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538585203"/>
      </p:ext>
    </p:extLst>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22-3 </a:t>
            </a:r>
            <a:r>
              <a:rPr lang="en-US" dirty="0">
                <a:ea typeface="ヒラギノ角ゴ Pro W3" pitchFamily="-84" charset="-128"/>
              </a:rPr>
              <a:t>Ricardian Equivalence, Cyclical Adjusted Deficits, and War Finance</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007927" cy="39087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Steps to construct the cyclically adjusted deficit:</a:t>
            </a:r>
          </a:p>
          <a:p>
            <a:pPr marL="798513" indent="-333375">
              <a:spcBef>
                <a:spcPts val="600"/>
              </a:spcBef>
              <a:buFont typeface="+mj-lt"/>
              <a:buAutoNum type="arabicPeriod"/>
            </a:pPr>
            <a:r>
              <a:rPr lang="en-US" sz="2000" dirty="0" smtClean="0">
                <a:latin typeface="Verdana" panose="020B0604030504040204" pitchFamily="34" charset="0"/>
              </a:rPr>
              <a:t>Establish how much lower the deficit would be if output were, say, 1% higher.</a:t>
            </a:r>
          </a:p>
          <a:p>
            <a:pPr marL="798513" indent="-333375">
              <a:spcBef>
                <a:spcPts val="600"/>
              </a:spcBef>
              <a:buFont typeface="+mj-lt"/>
              <a:buAutoNum type="arabicPeriod"/>
            </a:pPr>
            <a:r>
              <a:rPr lang="en-US" sz="2000" dirty="0" smtClean="0">
                <a:latin typeface="Verdana" panose="020B0604030504040204" pitchFamily="34" charset="0"/>
              </a:rPr>
              <a:t>Assess how far output is from potential.</a:t>
            </a:r>
          </a:p>
          <a:p>
            <a:pPr marL="285750" indent="-285750">
              <a:spcBef>
                <a:spcPts val="1200"/>
              </a:spcBef>
              <a:buFont typeface="Arial" panose="020B0604020202020204" pitchFamily="34" charset="0"/>
              <a:buChar char="•"/>
            </a:pPr>
            <a:r>
              <a:rPr lang="en-US" b="1" dirty="0" smtClean="0">
                <a:latin typeface="Verdana" panose="020B0604030504040204" pitchFamily="34" charset="0"/>
              </a:rPr>
              <a:t>Automatic stabilizer</a:t>
            </a:r>
            <a:r>
              <a:rPr lang="en-US" dirty="0" smtClean="0">
                <a:latin typeface="Verdana" panose="020B0604030504040204" pitchFamily="34" charset="0"/>
              </a:rPr>
              <a:t>: A recession naturally generates a deficit, and a fiscal expansion in turn partly counteracts the recession.</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2632047383"/>
      </p:ext>
    </p:extLst>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22-3 </a:t>
            </a:r>
            <a:r>
              <a:rPr lang="en-US" dirty="0">
                <a:ea typeface="ヒラギノ角ゴ Pro W3" pitchFamily="-84" charset="-128"/>
              </a:rPr>
              <a:t>Ricardian Equivalence, Cyclical Adjusted Deficits, and War Finance</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153400" cy="37240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spcBef>
                <a:spcPts val="1200"/>
              </a:spcBef>
              <a:buFont typeface="Arial" panose="020B0604020202020204" pitchFamily="34" charset="0"/>
              <a:buChar char="•"/>
            </a:pPr>
            <a:r>
              <a:rPr lang="en-US" dirty="0" smtClean="0">
                <a:latin typeface="Verdana" panose="020B0604030504040204" pitchFamily="34" charset="0"/>
              </a:rPr>
              <a:t>Wars typically bring about large deficits because:</a:t>
            </a:r>
          </a:p>
          <a:p>
            <a:pPr marL="625475" indent="-342900">
              <a:spcBef>
                <a:spcPts val="1200"/>
              </a:spcBef>
              <a:buFont typeface="Verdana" panose="020B0604030504040204" pitchFamily="34" charset="0"/>
              <a:buChar char="−"/>
            </a:pPr>
            <a:r>
              <a:rPr lang="en-US" sz="2000" dirty="0" smtClean="0">
                <a:latin typeface="Verdana" panose="020B0604030504040204" pitchFamily="34" charset="0"/>
              </a:rPr>
              <a:t>Deficit finance is a way to pass some of the burden of the war to those alive after the war</a:t>
            </a:r>
          </a:p>
          <a:p>
            <a:pPr marL="625475" indent="-342900">
              <a:spcBef>
                <a:spcPts val="1200"/>
              </a:spcBef>
              <a:buFont typeface="Verdana" panose="020B0604030504040204" pitchFamily="34" charset="0"/>
              <a:buChar char="−"/>
            </a:pPr>
            <a:r>
              <a:rPr lang="en-US" sz="2000" dirty="0" smtClean="0">
                <a:latin typeface="Verdana" panose="020B0604030504040204" pitchFamily="34" charset="0"/>
              </a:rPr>
              <a:t>Deficit spending helps reduce tax distortions—</a:t>
            </a:r>
            <a:r>
              <a:rPr lang="en-US" sz="2000" b="1" dirty="0" smtClean="0">
                <a:latin typeface="Verdana" panose="020B0604030504040204" pitchFamily="34" charset="0"/>
              </a:rPr>
              <a:t>tax smoothing </a:t>
            </a:r>
            <a:r>
              <a:rPr lang="en-US" sz="2000" dirty="0" smtClean="0">
                <a:latin typeface="Verdana" panose="020B0604030504040204" pitchFamily="34" charset="0"/>
              </a:rPr>
              <a:t>implies that large deficits when government spending is exceptionally high, and small surplus the rest of the time.</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3612509517"/>
      </p:ext>
    </p:extLst>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381000" y="152400"/>
            <a:ext cx="8458200" cy="1143000"/>
          </a:xfrm>
        </p:spPr>
        <p:txBody>
          <a:bodyPr/>
          <a:lstStyle/>
          <a:p>
            <a:r>
              <a:rPr lang="en-US" sz="2800" dirty="0" smtClean="0">
                <a:ea typeface="ヒラギノ角ゴ Pro W3" pitchFamily="-65" charset="-128"/>
              </a:rPr>
              <a:t>FOCUS: Deficits, Consumption, and Investment in the United Sates during World War II</a:t>
            </a:r>
          </a:p>
        </p:txBody>
      </p:sp>
      <p:sp>
        <p:nvSpPr>
          <p:cNvPr id="21507" name="TextBox 3"/>
          <p:cNvSpPr txBox="1">
            <a:spLocks noChangeArrowheads="1"/>
          </p:cNvSpPr>
          <p:nvPr/>
        </p:nvSpPr>
        <p:spPr bwMode="auto">
          <a:xfrm>
            <a:off x="381000" y="1676400"/>
            <a:ext cx="8007927" cy="4524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During World War II, the U.S. government increased spending on national defense from 1% of GDP in 1939 to 36% in 1994.</a:t>
            </a:r>
          </a:p>
          <a:p>
            <a:pPr marL="285750" indent="-285750">
              <a:buFont typeface="Arial" panose="020B0604020202020204" pitchFamily="34" charset="0"/>
              <a:buChar char="•"/>
            </a:pPr>
            <a:r>
              <a:rPr lang="en-US" dirty="0" smtClean="0">
                <a:latin typeface="Verdana" panose="020B0604030504040204" pitchFamily="34" charset="0"/>
              </a:rPr>
              <a:t>The result was a sequence of large budget deficits.</a:t>
            </a:r>
          </a:p>
          <a:p>
            <a:pPr marL="285750" indent="-285750">
              <a:buFont typeface="Arial" panose="020B0604020202020204" pitchFamily="34" charset="0"/>
              <a:buChar char="•"/>
            </a:pPr>
            <a:r>
              <a:rPr lang="en-US" dirty="0" smtClean="0">
                <a:latin typeface="Verdana" panose="020B0604030504040204" pitchFamily="34" charset="0"/>
              </a:rPr>
              <a:t>At the same time, the share of consumption in GDP fell by 23 percentage points from 74% to 51%, and the share of private investment in GDP decreased by 6 percentage points from 10% to 4%.</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1285362208"/>
      </p:ext>
    </p:extLst>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ea typeface="ヒラギノ角ゴ Pro W3" pitchFamily="-65" charset="-128"/>
              </a:rPr>
              <a:t>22-4 The Dangers of High Debt</a:t>
            </a:r>
          </a:p>
        </p:txBody>
      </p:sp>
      <p:sp>
        <p:nvSpPr>
          <p:cNvPr id="24579" name="TextBox 3"/>
          <p:cNvSpPr txBox="1">
            <a:spLocks noChangeArrowheads="1"/>
          </p:cNvSpPr>
          <p:nvPr/>
        </p:nvSpPr>
        <p:spPr bwMode="auto">
          <a:xfrm>
            <a:off x="457200" y="2243051"/>
            <a:ext cx="7772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800" b="1" dirty="0">
                <a:latin typeface="Verdana" panose="020B0604030504040204" pitchFamily="34" charset="0"/>
              </a:rPr>
              <a:t>Figure </a:t>
            </a:r>
            <a:r>
              <a:rPr lang="en-US" sz="1800" b="1" dirty="0" smtClean="0">
                <a:latin typeface="Verdana" panose="020B0604030504040204" pitchFamily="34" charset="0"/>
              </a:rPr>
              <a:t>22-2  </a:t>
            </a:r>
            <a:r>
              <a:rPr lang="en-US" sz="1800" dirty="0">
                <a:latin typeface="Verdana" panose="020B0604030504040204" pitchFamily="34" charset="0"/>
              </a:rPr>
              <a:t>The Increase in European Bond Spreads</a:t>
            </a:r>
          </a:p>
        </p:txBody>
      </p:sp>
      <p:pic>
        <p:nvPicPr>
          <p:cNvPr id="2" name="Picture 1"/>
          <p:cNvPicPr>
            <a:picLocks noChangeAspect="1"/>
          </p:cNvPicPr>
          <p:nvPr/>
        </p:nvPicPr>
        <p:blipFill>
          <a:blip r:embed="rId2" cstate="print"/>
          <a:stretch>
            <a:fillRect/>
          </a:stretch>
        </p:blipFill>
        <p:spPr>
          <a:xfrm>
            <a:off x="3200400" y="2689139"/>
            <a:ext cx="5405582" cy="3483061"/>
          </a:xfrm>
          <a:prstGeom prst="rect">
            <a:avLst/>
          </a:prstGeom>
        </p:spPr>
      </p:pic>
      <p:pic>
        <p:nvPicPr>
          <p:cNvPr id="3" name="Picture 2"/>
          <p:cNvPicPr>
            <a:picLocks noChangeAspect="1"/>
          </p:cNvPicPr>
          <p:nvPr/>
        </p:nvPicPr>
        <p:blipFill>
          <a:blip r:embed="rId3" cstate="print"/>
          <a:stretch>
            <a:fillRect/>
          </a:stretch>
        </p:blipFill>
        <p:spPr>
          <a:xfrm>
            <a:off x="838200" y="5715000"/>
            <a:ext cx="1362075" cy="152400"/>
          </a:xfrm>
          <a:prstGeom prst="rect">
            <a:avLst/>
          </a:prstGeom>
        </p:spPr>
      </p:pic>
      <p:sp>
        <p:nvSpPr>
          <p:cNvPr id="4" name="Rectangle 3"/>
          <p:cNvSpPr/>
          <p:nvPr/>
        </p:nvSpPr>
        <p:spPr>
          <a:xfrm>
            <a:off x="491067" y="2689139"/>
            <a:ext cx="2743200" cy="2893100"/>
          </a:xfrm>
          <a:prstGeom prst="rect">
            <a:avLst/>
          </a:prstGeom>
        </p:spPr>
        <p:txBody>
          <a:bodyPr wrap="square">
            <a:spAutoFit/>
          </a:bodyPr>
          <a:lstStyle/>
          <a:p>
            <a:r>
              <a:rPr lang="en-US" sz="1400" dirty="0">
                <a:latin typeface="+mn-lt"/>
              </a:rPr>
              <a:t>The spreads on Italian </a:t>
            </a:r>
            <a:r>
              <a:rPr lang="en-US" sz="1400" dirty="0" smtClean="0">
                <a:latin typeface="+mn-lt"/>
              </a:rPr>
              <a:t>and Spanish </a:t>
            </a:r>
            <a:r>
              <a:rPr lang="en-US" sz="1400" dirty="0">
                <a:latin typeface="+mn-lt"/>
              </a:rPr>
              <a:t>two-year </a:t>
            </a:r>
            <a:r>
              <a:rPr lang="en-US" sz="1400" dirty="0" smtClean="0">
                <a:latin typeface="+mn-lt"/>
              </a:rPr>
              <a:t>government bonds </a:t>
            </a:r>
            <a:r>
              <a:rPr lang="en-US" sz="1400" dirty="0">
                <a:latin typeface="+mn-lt"/>
              </a:rPr>
              <a:t>over German </a:t>
            </a:r>
            <a:r>
              <a:rPr lang="en-US" sz="1400" dirty="0" smtClean="0">
                <a:latin typeface="+mn-lt"/>
              </a:rPr>
              <a:t>two-year bonds </a:t>
            </a:r>
            <a:r>
              <a:rPr lang="en-US" sz="1400" dirty="0">
                <a:latin typeface="+mn-lt"/>
              </a:rPr>
              <a:t>increased sharply </a:t>
            </a:r>
            <a:r>
              <a:rPr lang="en-US" sz="1400" dirty="0" smtClean="0">
                <a:latin typeface="+mn-lt"/>
              </a:rPr>
              <a:t>between March </a:t>
            </a:r>
            <a:r>
              <a:rPr lang="en-US" sz="1400" dirty="0">
                <a:latin typeface="+mn-lt"/>
              </a:rPr>
              <a:t>and July 2012</a:t>
            </a:r>
            <a:r>
              <a:rPr lang="en-US" sz="1400" dirty="0" smtClean="0">
                <a:latin typeface="+mn-lt"/>
              </a:rPr>
              <a:t>. At </a:t>
            </a:r>
            <a:r>
              <a:rPr lang="en-US" sz="1400" dirty="0">
                <a:latin typeface="+mn-lt"/>
              </a:rPr>
              <a:t>the end of July, when </a:t>
            </a:r>
            <a:r>
              <a:rPr lang="en-US" sz="1400" dirty="0" smtClean="0">
                <a:latin typeface="+mn-lt"/>
              </a:rPr>
              <a:t>the European </a:t>
            </a:r>
            <a:r>
              <a:rPr lang="en-US" sz="1400" dirty="0">
                <a:latin typeface="+mn-lt"/>
              </a:rPr>
              <a:t>Central Bank </a:t>
            </a:r>
            <a:r>
              <a:rPr lang="en-US" sz="1400" dirty="0" smtClean="0">
                <a:latin typeface="+mn-lt"/>
              </a:rPr>
              <a:t>stated that </a:t>
            </a:r>
            <a:r>
              <a:rPr lang="en-US" sz="1400" dirty="0">
                <a:latin typeface="+mn-lt"/>
              </a:rPr>
              <a:t>it would do </a:t>
            </a:r>
            <a:r>
              <a:rPr lang="en-US" sz="1400" dirty="0" smtClean="0">
                <a:latin typeface="+mn-lt"/>
              </a:rPr>
              <a:t>whatever was </a:t>
            </a:r>
            <a:r>
              <a:rPr lang="en-US" sz="1400" dirty="0">
                <a:latin typeface="+mn-lt"/>
              </a:rPr>
              <a:t>necessary to </a:t>
            </a:r>
            <a:r>
              <a:rPr lang="en-US" sz="1400" dirty="0" smtClean="0">
                <a:latin typeface="+mn-lt"/>
              </a:rPr>
              <a:t>prevent a </a:t>
            </a:r>
            <a:r>
              <a:rPr lang="en-US" sz="1400" dirty="0">
                <a:latin typeface="+mn-lt"/>
              </a:rPr>
              <a:t>breakup of the Euro, </a:t>
            </a:r>
            <a:r>
              <a:rPr lang="en-US" sz="1400" dirty="0" smtClean="0">
                <a:latin typeface="+mn-lt"/>
              </a:rPr>
              <a:t>the spreads </a:t>
            </a:r>
            <a:r>
              <a:rPr lang="en-US" sz="1400" dirty="0">
                <a:latin typeface="+mn-lt"/>
              </a:rPr>
              <a:t>decreased.</a:t>
            </a:r>
          </a:p>
        </p:txBody>
      </p:sp>
      <p:sp>
        <p:nvSpPr>
          <p:cNvPr id="7" name="TextBox 3"/>
          <p:cNvSpPr txBox="1">
            <a:spLocks noChangeArrowheads="1"/>
          </p:cNvSpPr>
          <p:nvPr/>
        </p:nvSpPr>
        <p:spPr bwMode="auto">
          <a:xfrm>
            <a:off x="381000" y="1185194"/>
            <a:ext cx="8001000" cy="7078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2000" dirty="0" smtClean="0">
                <a:latin typeface="Verdana" panose="020B0604030504040204" pitchFamily="34" charset="0"/>
              </a:rPr>
              <a:t>The </a:t>
            </a:r>
            <a:r>
              <a:rPr lang="en-US" sz="2000" b="1" dirty="0" smtClean="0">
                <a:latin typeface="Verdana" panose="020B0604030504040204" pitchFamily="34" charset="0"/>
              </a:rPr>
              <a:t>spread</a:t>
            </a:r>
            <a:r>
              <a:rPr lang="en-US" sz="2000" dirty="0" smtClean="0">
                <a:latin typeface="Verdana" panose="020B0604030504040204" pitchFamily="34" charset="0"/>
              </a:rPr>
              <a:t> is the difference between two interest yields, measured in </a:t>
            </a:r>
            <a:r>
              <a:rPr lang="en-US" sz="2000" b="1" dirty="0" smtClean="0">
                <a:latin typeface="Verdana" panose="020B0604030504040204" pitchFamily="34" charset="0"/>
              </a:rPr>
              <a:t>basis points </a:t>
            </a:r>
            <a:r>
              <a:rPr lang="en-US" sz="2000" dirty="0" smtClean="0">
                <a:latin typeface="Verdana" panose="020B0604030504040204" pitchFamily="34" charset="0"/>
              </a:rPr>
              <a:t>(a hundredth of a percent).</a:t>
            </a:r>
            <a:endParaRPr lang="en-US" sz="2000" dirty="0">
              <a:latin typeface="Verdana" panose="020B0604030504040204" pitchFamily="34" charset="0"/>
            </a:endParaRPr>
          </a:p>
        </p:txBody>
      </p:sp>
    </p:spTree>
    <p:extLst>
      <p:ext uri="{BB962C8B-B14F-4D97-AF65-F5344CB8AC3E}">
        <p14:creationId xmlns:p14="http://schemas.microsoft.com/office/powerpoint/2010/main" xmlns="" val="1164989560"/>
      </p:ext>
    </p:extLst>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22-4 </a:t>
            </a:r>
            <a:r>
              <a:rPr lang="en-US" dirty="0">
                <a:ea typeface="ヒラギノ角ゴ Pro W3" pitchFamily="-65" charset="-128"/>
              </a:rPr>
              <a:t>The Dangers of High Debt</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007927" cy="341632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When a government finds itself unable to repay the outstanding debt, it may decide to default.</a:t>
            </a:r>
          </a:p>
          <a:p>
            <a:pPr marL="285750" indent="-285750">
              <a:buFont typeface="Arial" panose="020B0604020202020204" pitchFamily="34" charset="0"/>
              <a:buChar char="•"/>
            </a:pPr>
            <a:r>
              <a:rPr lang="en-US" b="1" dirty="0" smtClean="0">
                <a:latin typeface="Verdana" panose="020B0604030504040204" pitchFamily="34" charset="0"/>
              </a:rPr>
              <a:t>Haircut</a:t>
            </a:r>
            <a:r>
              <a:rPr lang="en-US" dirty="0" smtClean="0">
                <a:latin typeface="Verdana" panose="020B0604030504040204" pitchFamily="34" charset="0"/>
              </a:rPr>
              <a:t>: The percentage that creditors will not received compared to what they were owed.</a:t>
            </a:r>
          </a:p>
          <a:p>
            <a:pPr marL="285750" indent="-285750">
              <a:buFont typeface="Arial" panose="020B0604020202020204" pitchFamily="34" charset="0"/>
              <a:buChar char="•"/>
            </a:pPr>
            <a:r>
              <a:rPr lang="en-US" dirty="0" smtClean="0">
                <a:latin typeface="Verdana" panose="020B0604030504040204" pitchFamily="34" charset="0"/>
              </a:rPr>
              <a:t>Default also comes under different names: </a:t>
            </a:r>
            <a:r>
              <a:rPr lang="en-US" b="1" dirty="0" smtClean="0">
                <a:latin typeface="Verdana" panose="020B0604030504040204" pitchFamily="34" charset="0"/>
              </a:rPr>
              <a:t>debt restructuring, debt rescheduling, private sector involvement</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1677085434"/>
      </p:ext>
    </p:extLst>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22-4 </a:t>
            </a:r>
            <a:r>
              <a:rPr lang="en-US" dirty="0">
                <a:ea typeface="ヒラギノ角ゴ Pro W3" pitchFamily="-65" charset="-128"/>
              </a:rPr>
              <a:t>The Dangers of High Debt</a:t>
            </a:r>
            <a:endParaRPr lang="en-US" dirty="0" smtClean="0">
              <a:ea typeface="ヒラギノ角ゴ Pro W3" pitchFamily="-65" charset="-128"/>
            </a:endParaRPr>
          </a:p>
        </p:txBody>
      </p:sp>
      <p:sp>
        <p:nvSpPr>
          <p:cNvPr id="21507" name="TextBox 3"/>
          <p:cNvSpPr txBox="1">
            <a:spLocks noChangeArrowheads="1"/>
          </p:cNvSpPr>
          <p:nvPr/>
        </p:nvSpPr>
        <p:spPr bwMode="auto">
          <a:xfrm>
            <a:off x="381000" y="1676400"/>
            <a:ext cx="8007927" cy="4524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The government can also finance itself by printing money.</a:t>
            </a:r>
          </a:p>
          <a:p>
            <a:pPr marL="285750" indent="-285750">
              <a:buFont typeface="Arial" panose="020B0604020202020204" pitchFamily="34" charset="0"/>
              <a:buChar char="•"/>
            </a:pPr>
            <a:r>
              <a:rPr lang="en-US" b="1" dirty="0" smtClean="0">
                <a:latin typeface="Verdana" panose="020B0604030504040204" pitchFamily="34" charset="0"/>
              </a:rPr>
              <a:t>Money finance, debt monetization, or fiscal dominance </a:t>
            </a:r>
            <a:r>
              <a:rPr lang="en-US" dirty="0" smtClean="0">
                <a:latin typeface="Verdana" panose="020B0604030504040204" pitchFamily="34" charset="0"/>
              </a:rPr>
              <a:t>of monetary policy: The government issues bonds and then forces the central bank to buy its bonds in exchange for money.</a:t>
            </a:r>
          </a:p>
          <a:p>
            <a:pPr marL="285750" indent="-285750">
              <a:buFont typeface="Arial" panose="020B0604020202020204" pitchFamily="34" charset="0"/>
              <a:buChar char="•"/>
            </a:pPr>
            <a:r>
              <a:rPr lang="en-US" b="1" dirty="0" smtClean="0">
                <a:latin typeface="Verdana" panose="020B0604030504040204" pitchFamily="34" charset="0"/>
              </a:rPr>
              <a:t>Seignorage</a:t>
            </a:r>
            <a:r>
              <a:rPr lang="en-US" dirty="0" smtClean="0">
                <a:latin typeface="Verdana" panose="020B0604030504040204" pitchFamily="34" charset="0"/>
              </a:rPr>
              <a:t>: The revenue, in real terms, that the government generates with money creation (∆</a:t>
            </a:r>
            <a:r>
              <a:rPr lang="en-US" i="1" dirty="0" smtClean="0">
                <a:latin typeface="Verdana" panose="020B0604030504040204" pitchFamily="34" charset="0"/>
              </a:rPr>
              <a:t>H</a:t>
            </a:r>
            <a:r>
              <a:rPr lang="en-US" dirty="0" smtClean="0">
                <a:latin typeface="Verdana" panose="020B0604030504040204" pitchFamily="34" charset="0"/>
              </a:rPr>
              <a:t>).</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pic>
        <p:nvPicPr>
          <p:cNvPr id="4" name="Picture 3"/>
          <p:cNvPicPr>
            <a:picLocks noChangeAspect="1"/>
          </p:cNvPicPr>
          <p:nvPr/>
        </p:nvPicPr>
        <p:blipFill>
          <a:blip r:embed="rId2" cstate="print"/>
          <a:stretch>
            <a:fillRect/>
          </a:stretch>
        </p:blipFill>
        <p:spPr>
          <a:xfrm>
            <a:off x="3222913" y="5257800"/>
            <a:ext cx="2324100" cy="704850"/>
          </a:xfrm>
          <a:prstGeom prst="rect">
            <a:avLst/>
          </a:prstGeom>
        </p:spPr>
      </p:pic>
    </p:spTree>
    <p:extLst>
      <p:ext uri="{BB962C8B-B14F-4D97-AF65-F5344CB8AC3E}">
        <p14:creationId xmlns:p14="http://schemas.microsoft.com/office/powerpoint/2010/main" xmlns="" val="425183806"/>
      </p:ext>
    </p:extLst>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22-4 </a:t>
            </a:r>
            <a:r>
              <a:rPr lang="en-US" dirty="0">
                <a:ea typeface="ヒラギノ角ゴ Pro W3" pitchFamily="-65" charset="-128"/>
              </a:rPr>
              <a:t>The Dangers of High Debt</a:t>
            </a:r>
            <a:endParaRPr lang="en-US" dirty="0" smtClean="0">
              <a:ea typeface="ヒラギノ角ゴ Pro W3" pitchFamily="-65" charset="-128"/>
            </a:endParaRPr>
          </a:p>
        </p:txBody>
      </p:sp>
      <p:sp>
        <p:nvSpPr>
          <p:cNvPr id="21507" name="TextBox 3"/>
          <p:cNvSpPr txBox="1">
            <a:spLocks noChangeArrowheads="1"/>
          </p:cNvSpPr>
          <p:nvPr/>
        </p:nvSpPr>
        <p:spPr bwMode="auto">
          <a:xfrm>
            <a:off x="389313" y="1371600"/>
            <a:ext cx="8007927" cy="483209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sz="2200" dirty="0" smtClean="0">
                <a:latin typeface="Verdana" panose="020B0604030504040204" pitchFamily="34" charset="0"/>
              </a:rPr>
              <a:t>The relation between seignorage, the rate of nominal money growth, and real money balances (relative to GDP):</a:t>
            </a:r>
          </a:p>
          <a:p>
            <a:pPr marL="285750" indent="-285750">
              <a:buFont typeface="Arial" panose="020B0604020202020204" pitchFamily="34" charset="0"/>
              <a:buChar char="•"/>
            </a:pPr>
            <a:endParaRPr lang="en-US" sz="2200" dirty="0">
              <a:latin typeface="Verdana" panose="020B0604030504040204" pitchFamily="34" charset="0"/>
            </a:endParaRPr>
          </a:p>
          <a:p>
            <a:pPr marL="285750" indent="-285750">
              <a:buFont typeface="Arial" panose="020B0604020202020204" pitchFamily="34" charset="0"/>
              <a:buChar char="•"/>
            </a:pPr>
            <a:endParaRPr lang="en-US" sz="2200" dirty="0" smtClean="0">
              <a:latin typeface="Verdana" panose="020B0604030504040204" pitchFamily="34" charset="0"/>
            </a:endParaRPr>
          </a:p>
          <a:p>
            <a:pPr marL="285750" indent="-285750">
              <a:buFont typeface="Arial" panose="020B0604020202020204" pitchFamily="34" charset="0"/>
              <a:buChar char="•"/>
            </a:pPr>
            <a:endParaRPr lang="en-US" sz="2200" dirty="0">
              <a:latin typeface="Verdana" panose="020B0604030504040204" pitchFamily="34" charset="0"/>
            </a:endParaRPr>
          </a:p>
          <a:p>
            <a:pPr marL="285750" indent="-285750">
              <a:buFont typeface="Arial" panose="020B0604020202020204" pitchFamily="34" charset="0"/>
              <a:buChar char="•"/>
            </a:pPr>
            <a:r>
              <a:rPr lang="en-US" sz="2200" dirty="0" smtClean="0">
                <a:latin typeface="Verdana" panose="020B0604030504040204" pitchFamily="34" charset="0"/>
              </a:rPr>
              <a:t>This implies that to finance a deficit of say 10% of GDP through seignorage, given a ratio of central bank money to GDP of 1, the growth rate of nominal money must be equal to 10%.</a:t>
            </a:r>
          </a:p>
          <a:p>
            <a:pPr marL="285750" indent="-285750">
              <a:buFont typeface="Arial" panose="020B0604020202020204" pitchFamily="34" charset="0"/>
              <a:buChar char="•"/>
            </a:pPr>
            <a:r>
              <a:rPr lang="en-US" sz="2200" dirty="0" smtClean="0">
                <a:latin typeface="Verdana" panose="020B0604030504040204" pitchFamily="34" charset="0"/>
              </a:rPr>
              <a:t>As money growth increases, inflation typically follows. </a:t>
            </a:r>
            <a:r>
              <a:rPr lang="en-US" sz="2200" b="1" dirty="0" smtClean="0">
                <a:latin typeface="Verdana" panose="020B0604030504040204" pitchFamily="34" charset="0"/>
              </a:rPr>
              <a:t>Hyperinflation</a:t>
            </a:r>
            <a:r>
              <a:rPr lang="en-US" sz="2200" dirty="0" smtClean="0">
                <a:latin typeface="Verdana" panose="020B0604030504040204" pitchFamily="34" charset="0"/>
              </a:rPr>
              <a:t> refers to very high inflation. </a:t>
            </a:r>
          </a:p>
          <a:p>
            <a:pPr marL="285750" indent="-285750">
              <a:buFont typeface="Arial" panose="020B0604020202020204" pitchFamily="34" charset="0"/>
              <a:buChar char="•"/>
            </a:pPr>
            <a:endParaRPr lang="en-US" sz="2200" dirty="0" smtClean="0">
              <a:latin typeface="Verdana" panose="020B0604030504040204" pitchFamily="34" charset="0"/>
            </a:endParaRPr>
          </a:p>
          <a:p>
            <a:pPr marL="285750" indent="-285750">
              <a:buFont typeface="Arial" panose="020B0604020202020204" pitchFamily="34" charset="0"/>
              <a:buChar char="•"/>
            </a:pPr>
            <a:endParaRPr lang="en-US" sz="2200" dirty="0">
              <a:latin typeface="Verdana" panose="020B0604030504040204" pitchFamily="34" charset="0"/>
            </a:endParaRPr>
          </a:p>
        </p:txBody>
      </p:sp>
      <p:pic>
        <p:nvPicPr>
          <p:cNvPr id="5" name="Picture 4"/>
          <p:cNvPicPr>
            <a:picLocks noChangeAspect="1"/>
          </p:cNvPicPr>
          <p:nvPr/>
        </p:nvPicPr>
        <p:blipFill>
          <a:blip r:embed="rId2" cstate="print"/>
          <a:stretch>
            <a:fillRect/>
          </a:stretch>
        </p:blipFill>
        <p:spPr>
          <a:xfrm>
            <a:off x="1676400" y="2514600"/>
            <a:ext cx="6934200" cy="761184"/>
          </a:xfrm>
          <a:prstGeom prst="rect">
            <a:avLst/>
          </a:prstGeom>
        </p:spPr>
      </p:pic>
    </p:spTree>
    <p:extLst>
      <p:ext uri="{BB962C8B-B14F-4D97-AF65-F5344CB8AC3E}">
        <p14:creationId xmlns:p14="http://schemas.microsoft.com/office/powerpoint/2010/main" xmlns="" val="2676364124"/>
      </p:ext>
    </p:extLst>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2800" dirty="0" smtClean="0">
                <a:ea typeface="ヒラギノ角ゴ Pro W3" pitchFamily="-65" charset="-128"/>
              </a:rPr>
              <a:t>FOCUS: </a:t>
            </a:r>
            <a:r>
              <a:rPr lang="en-US" sz="2800" dirty="0" smtClean="0">
                <a:ea typeface="ヒラギノ角ゴ Pro W3" pitchFamily="-65" charset="-128"/>
              </a:rPr>
              <a:t>Rules versus Discretion: New Absolute Budgetary Rules in the EU</a:t>
            </a:r>
            <a:endParaRPr lang="en-US" sz="2800" dirty="0" smtClean="0">
              <a:ea typeface="ヒラギノ角ゴ Pro W3" pitchFamily="-65" charset="-128"/>
            </a:endParaRPr>
          </a:p>
        </p:txBody>
      </p:sp>
      <p:pic>
        <p:nvPicPr>
          <p:cNvPr id="2" name="Picture 1"/>
          <p:cNvPicPr>
            <a:picLocks noChangeAspect="1"/>
          </p:cNvPicPr>
          <p:nvPr/>
        </p:nvPicPr>
        <p:blipFill>
          <a:blip r:embed="rId2" cstate="print"/>
          <a:stretch>
            <a:fillRect/>
          </a:stretch>
        </p:blipFill>
        <p:spPr>
          <a:xfrm>
            <a:off x="201095" y="1447800"/>
            <a:ext cx="8714305" cy="3758043"/>
          </a:xfrm>
          <a:prstGeom prst="rect">
            <a:avLst/>
          </a:prstGeom>
        </p:spPr>
      </p:pic>
      <p:sp>
        <p:nvSpPr>
          <p:cNvPr id="6" name="Rectangle 5"/>
          <p:cNvSpPr/>
          <p:nvPr/>
        </p:nvSpPr>
        <p:spPr>
          <a:xfrm>
            <a:off x="152400" y="5284113"/>
            <a:ext cx="8839200" cy="430887"/>
          </a:xfrm>
          <a:prstGeom prst="rect">
            <a:avLst/>
          </a:prstGeom>
        </p:spPr>
        <p:txBody>
          <a:bodyPr wrap="square">
            <a:spAutoFit/>
          </a:bodyPr>
          <a:lstStyle/>
          <a:p>
            <a:r>
              <a:rPr lang="en-US" sz="1100" i="1" dirty="0" smtClean="0">
                <a:latin typeface="+mj-lt"/>
              </a:rPr>
              <a:t>Source: </a:t>
            </a:r>
            <a:r>
              <a:rPr lang="en-US" sz="1100" dirty="0" smtClean="0">
                <a:latin typeface="+mj-lt"/>
              </a:rPr>
              <a:t>European Commission, “Making the Best Use of the Flexibility within the Existing Rules of the Stability and Growth Pact,” COM(2015) 12 final provisional, January 2015.</a:t>
            </a:r>
            <a:endParaRPr lang="en-US" sz="1100" dirty="0">
              <a:latin typeface="+mj-lt"/>
            </a:endParaRPr>
          </a:p>
        </p:txBody>
      </p:sp>
    </p:spTree>
    <p:extLst>
      <p:ext uri="{BB962C8B-B14F-4D97-AF65-F5344CB8AC3E}">
        <p14:creationId xmlns:p14="http://schemas.microsoft.com/office/powerpoint/2010/main" xmlns="" val="3061730676"/>
      </p:ext>
    </p:extLst>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ea typeface="ヒラギノ角ゴ Pro W3" pitchFamily="-65" charset="-128"/>
              </a:rPr>
              <a:t>22-4 </a:t>
            </a:r>
            <a:r>
              <a:rPr lang="en-US" dirty="0">
                <a:ea typeface="ヒラギノ角ゴ Pro W3" pitchFamily="-65" charset="-128"/>
              </a:rPr>
              <a:t>The Dangers of High Debt</a:t>
            </a:r>
            <a:endParaRPr lang="en-US" dirty="0" smtClean="0">
              <a:ea typeface="ヒラギノ角ゴ Pro W3" pitchFamily="-65" charset="-128"/>
            </a:endParaRPr>
          </a:p>
        </p:txBody>
      </p:sp>
      <p:sp>
        <p:nvSpPr>
          <p:cNvPr id="21507" name="TextBox 3"/>
          <p:cNvSpPr txBox="1">
            <a:spLocks noChangeArrowheads="1"/>
          </p:cNvSpPr>
          <p:nvPr/>
        </p:nvSpPr>
        <p:spPr bwMode="auto">
          <a:xfrm>
            <a:off x="389313" y="1371600"/>
            <a:ext cx="8007927" cy="30469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pPr marL="285750" indent="-285750">
              <a:buFont typeface="Arial" panose="020B0604020202020204" pitchFamily="34" charset="0"/>
              <a:buChar char="•"/>
            </a:pPr>
            <a:r>
              <a:rPr lang="en-US" dirty="0" smtClean="0">
                <a:latin typeface="Verdana" panose="020B0604030504040204" pitchFamily="34" charset="0"/>
              </a:rPr>
              <a:t>Today, debt is indeed high in many advanced economies, often in excess of 100% of GDP.</a:t>
            </a:r>
          </a:p>
          <a:p>
            <a:pPr marL="285750" indent="-285750">
              <a:buFont typeface="Arial" panose="020B0604020202020204" pitchFamily="34" charset="0"/>
              <a:buChar char="•"/>
            </a:pPr>
            <a:r>
              <a:rPr lang="en-US" dirty="0" smtClean="0">
                <a:latin typeface="Verdana" panose="020B0604030504040204" pitchFamily="34" charset="0"/>
              </a:rPr>
              <a:t>It is now widely accepted that the strong fiscal consolidation that took place in Europe from 2011 on, known as </a:t>
            </a:r>
            <a:r>
              <a:rPr lang="en-US" b="1" dirty="0" smtClean="0">
                <a:latin typeface="Verdana" panose="020B0604030504040204" pitchFamily="34" charset="0"/>
              </a:rPr>
              <a:t>fiscal austerity</a:t>
            </a:r>
            <a:r>
              <a:rPr lang="en-US" dirty="0" smtClean="0">
                <a:latin typeface="Verdana" panose="020B0604030504040204" pitchFamily="34" charset="0"/>
              </a:rPr>
              <a:t>, was excessive.</a:t>
            </a:r>
          </a:p>
          <a:p>
            <a:pPr marL="285750" indent="-285750">
              <a:buFont typeface="Arial" panose="020B0604020202020204" pitchFamily="34" charset="0"/>
              <a:buChar char="•"/>
            </a:pPr>
            <a:endParaRPr lang="en-US" dirty="0" smtClean="0">
              <a:latin typeface="Verdana" panose="020B0604030504040204" pitchFamily="34" charset="0"/>
            </a:endParaRPr>
          </a:p>
          <a:p>
            <a:pPr marL="285750" indent="-285750">
              <a:buFont typeface="Arial" panose="020B0604020202020204" pitchFamily="34" charset="0"/>
              <a:buChar char="•"/>
            </a:pPr>
            <a:endParaRPr lang="en-US" dirty="0">
              <a:latin typeface="Verdana" panose="020B0604030504040204" pitchFamily="34" charset="0"/>
            </a:endParaRPr>
          </a:p>
        </p:txBody>
      </p:sp>
    </p:spTree>
    <p:extLst>
      <p:ext uri="{BB962C8B-B14F-4D97-AF65-F5344CB8AC3E}">
        <p14:creationId xmlns:p14="http://schemas.microsoft.com/office/powerpoint/2010/main" xmlns="" val="3104553200"/>
      </p:ext>
    </p:extLst>
  </p:cSld>
  <p:clrMapOvr>
    <a:masterClrMapping/>
  </p:clrMapOvr>
  <p:transition>
    <p:strips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z="2800" dirty="0" smtClean="0">
                <a:ea typeface="ヒラギノ角ゴ Pro W3" pitchFamily="-65" charset="-128"/>
              </a:rPr>
              <a:t>FOCUS: </a:t>
            </a:r>
            <a:r>
              <a:rPr lang="en-US" sz="2800" dirty="0" smtClean="0">
                <a:ea typeface="ヒラギノ角ゴ Pro W3" pitchFamily="-65" charset="-128"/>
              </a:rPr>
              <a:t>How Japan Could Stand Such a Huge Debt?</a:t>
            </a:r>
            <a:endParaRPr lang="en-US" sz="2800" dirty="0" smtClean="0">
              <a:ea typeface="ヒラギノ角ゴ Pro W3" pitchFamily="-65" charset="-128"/>
            </a:endParaRPr>
          </a:p>
        </p:txBody>
      </p:sp>
      <p:sp>
        <p:nvSpPr>
          <p:cNvPr id="23555" name="TextBox 4"/>
          <p:cNvSpPr txBox="1">
            <a:spLocks noChangeArrowheads="1"/>
          </p:cNvSpPr>
          <p:nvPr/>
        </p:nvSpPr>
        <p:spPr bwMode="auto">
          <a:xfrm>
            <a:off x="381000" y="1371600"/>
            <a:ext cx="815340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ヒラギノ角ゴ Pro W3" pitchFamily="-65" charset="-128"/>
              </a:defRPr>
            </a:lvl1pPr>
            <a:lvl2pPr marL="37931725" indent="-37474525">
              <a:defRPr sz="2400">
                <a:solidFill>
                  <a:schemeClr val="tx1"/>
                </a:solidFill>
                <a:latin typeface="Times New Roman" panose="02020603050405020304" pitchFamily="18" charset="0"/>
                <a:ea typeface="ヒラギノ角ゴ Pro W3" pitchFamily="-65" charset="-128"/>
              </a:defRPr>
            </a:lvl2pPr>
            <a:lvl3pPr>
              <a:defRPr sz="2400">
                <a:solidFill>
                  <a:schemeClr val="tx1"/>
                </a:solidFill>
                <a:latin typeface="Times New Roman" panose="02020603050405020304" pitchFamily="18" charset="0"/>
                <a:ea typeface="ヒラギノ角ゴ Pro W3" pitchFamily="-65" charset="-128"/>
              </a:defRPr>
            </a:lvl3pPr>
            <a:lvl4pPr>
              <a:defRPr sz="2400">
                <a:solidFill>
                  <a:schemeClr val="tx1"/>
                </a:solidFill>
                <a:latin typeface="Times New Roman" panose="02020603050405020304" pitchFamily="18" charset="0"/>
                <a:ea typeface="ヒラギノ角ゴ Pro W3" pitchFamily="-65" charset="-128"/>
              </a:defRPr>
            </a:lvl4pPr>
            <a:lvl5pPr>
              <a:defRPr sz="2400">
                <a:solidFill>
                  <a:schemeClr val="tx1"/>
                </a:solidFill>
                <a:latin typeface="Times New Roman" panose="02020603050405020304" pitchFamily="18" charset="0"/>
                <a:ea typeface="ヒラギノ角ゴ Pro W3" pitchFamily="-65" charset="-128"/>
              </a:defRPr>
            </a:lvl5pPr>
            <a:lvl6pPr marL="4572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6pPr>
            <a:lvl7pPr marL="9144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7pPr>
            <a:lvl8pPr marL="13716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8pPr>
            <a:lvl9pPr marL="1828800" eaLnBrk="0" fontAlgn="base" hangingPunct="0">
              <a:spcBef>
                <a:spcPct val="0"/>
              </a:spcBef>
              <a:spcAft>
                <a:spcPct val="0"/>
              </a:spcAft>
              <a:defRPr sz="2400">
                <a:solidFill>
                  <a:schemeClr val="tx1"/>
                </a:solidFill>
                <a:latin typeface="Times New Roman" panose="02020603050405020304" pitchFamily="18" charset="0"/>
                <a:ea typeface="ヒラギノ角ゴ Pro W3" pitchFamily="-65" charset="-128"/>
              </a:defRPr>
            </a:lvl9pPr>
          </a:lstStyle>
          <a:p>
            <a:r>
              <a:rPr lang="en-US" sz="1600" b="1" dirty="0" smtClean="0">
                <a:latin typeface="Verdana" panose="020B0604030504040204" pitchFamily="34" charset="0"/>
              </a:rPr>
              <a:t>Figure 1 </a:t>
            </a:r>
            <a:r>
              <a:rPr lang="en-US" sz="1600" dirty="0" smtClean="0">
                <a:latin typeface="Verdana" panose="020B0604030504040204" pitchFamily="34" charset="0"/>
              </a:rPr>
              <a:t>Budget </a:t>
            </a:r>
            <a:r>
              <a:rPr lang="en-US" sz="1600" dirty="0" smtClean="0">
                <a:latin typeface="Verdana" panose="020B0604030504040204" pitchFamily="34" charset="0"/>
              </a:rPr>
              <a:t>and Debt </a:t>
            </a:r>
            <a:r>
              <a:rPr lang="en-US" sz="1600" dirty="0" smtClean="0">
                <a:latin typeface="Verdana" panose="020B0604030504040204" pitchFamily="34" charset="0"/>
              </a:rPr>
              <a:t>Projections</a:t>
            </a:r>
            <a:endParaRPr lang="en-US" sz="1600" dirty="0">
              <a:latin typeface="Verdana" panose="020B0604030504040204" pitchFamily="34" charset="0"/>
            </a:endParaRPr>
          </a:p>
        </p:txBody>
      </p:sp>
      <p:pic>
        <p:nvPicPr>
          <p:cNvPr id="3" name="Picture 2"/>
          <p:cNvPicPr>
            <a:picLocks noChangeAspect="1"/>
          </p:cNvPicPr>
          <p:nvPr/>
        </p:nvPicPr>
        <p:blipFill>
          <a:blip r:embed="rId2" cstate="print"/>
          <a:stretch>
            <a:fillRect/>
          </a:stretch>
        </p:blipFill>
        <p:spPr>
          <a:xfrm>
            <a:off x="838200" y="1828800"/>
            <a:ext cx="6781800" cy="3965469"/>
          </a:xfrm>
          <a:prstGeom prst="rect">
            <a:avLst/>
          </a:prstGeom>
        </p:spPr>
      </p:pic>
      <p:sp>
        <p:nvSpPr>
          <p:cNvPr id="6" name="Rectangle 5"/>
          <p:cNvSpPr/>
          <p:nvPr/>
        </p:nvSpPr>
        <p:spPr>
          <a:xfrm>
            <a:off x="685800" y="5862935"/>
            <a:ext cx="8077200" cy="461665"/>
          </a:xfrm>
          <a:prstGeom prst="rect">
            <a:avLst/>
          </a:prstGeom>
        </p:spPr>
        <p:txBody>
          <a:bodyPr wrap="square">
            <a:spAutoFit/>
          </a:bodyPr>
          <a:lstStyle/>
          <a:p>
            <a:r>
              <a:rPr lang="en-US" sz="1200" i="1" dirty="0" smtClean="0">
                <a:latin typeface="+mj-lt"/>
              </a:rPr>
              <a:t>Source: </a:t>
            </a:r>
            <a:r>
              <a:rPr lang="en-US" sz="1200" dirty="0" smtClean="0">
                <a:latin typeface="+mj-lt"/>
              </a:rPr>
              <a:t>Jones, R. S. and </a:t>
            </a:r>
            <a:r>
              <a:rPr lang="en-US" sz="1200" dirty="0" smtClean="0">
                <a:latin typeface="+mj-lt"/>
              </a:rPr>
              <a:t>S. </a:t>
            </a:r>
            <a:r>
              <a:rPr lang="en-US" sz="1200" dirty="0" err="1" smtClean="0">
                <a:latin typeface="+mj-lt"/>
              </a:rPr>
              <a:t>Urasawa</a:t>
            </a:r>
            <a:r>
              <a:rPr lang="en-US" sz="1200" dirty="0" smtClean="0">
                <a:latin typeface="+mj-lt"/>
              </a:rPr>
              <a:t> </a:t>
            </a:r>
            <a:r>
              <a:rPr lang="en-US" sz="1200" dirty="0" smtClean="0">
                <a:latin typeface="+mj-lt"/>
              </a:rPr>
              <a:t>(2013), “</a:t>
            </a:r>
            <a:r>
              <a:rPr lang="en-US" sz="1200" dirty="0" smtClean="0">
                <a:latin typeface="+mj-lt"/>
              </a:rPr>
              <a:t>Restoring Japan's </a:t>
            </a:r>
            <a:r>
              <a:rPr lang="en-US" sz="1200" dirty="0" smtClean="0">
                <a:latin typeface="+mj-lt"/>
              </a:rPr>
              <a:t>Fiscal Sustainability</a:t>
            </a:r>
            <a:r>
              <a:rPr lang="en-US" sz="1200" dirty="0" smtClean="0">
                <a:latin typeface="+mj-lt"/>
              </a:rPr>
              <a:t>,” OECD </a:t>
            </a:r>
            <a:r>
              <a:rPr lang="en-US" sz="1200" dirty="0" smtClean="0">
                <a:latin typeface="+mj-lt"/>
              </a:rPr>
              <a:t>Economics </a:t>
            </a:r>
            <a:r>
              <a:rPr lang="en-US" sz="1200" dirty="0" smtClean="0">
                <a:latin typeface="+mj-lt"/>
              </a:rPr>
              <a:t>Department Working </a:t>
            </a:r>
            <a:r>
              <a:rPr lang="en-US" sz="1200" dirty="0" smtClean="0">
                <a:latin typeface="+mj-lt"/>
              </a:rPr>
              <a:t>Papers, No. 1050, </a:t>
            </a:r>
            <a:r>
              <a:rPr lang="en-US" sz="1200" dirty="0" smtClean="0">
                <a:latin typeface="+mj-lt"/>
              </a:rPr>
              <a:t>OECD Publishing</a:t>
            </a:r>
            <a:r>
              <a:rPr lang="en-US" sz="1200" dirty="0" smtClean="0">
                <a:latin typeface="+mj-lt"/>
              </a:rPr>
              <a:t>.</a:t>
            </a:r>
            <a:endParaRPr lang="en-US" sz="1200" dirty="0">
              <a:latin typeface="+mj-lt"/>
            </a:endParaRPr>
          </a:p>
        </p:txBody>
      </p:sp>
    </p:spTree>
    <p:extLst>
      <p:ext uri="{BB962C8B-B14F-4D97-AF65-F5344CB8AC3E}">
        <p14:creationId xmlns:p14="http://schemas.microsoft.com/office/powerpoint/2010/main" xmlns="" val="746237114"/>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6187</TotalTime>
  <Words>1761</Words>
  <Application>Microsoft Office PowerPoint</Application>
  <PresentationFormat>On-screen Show (4:3)</PresentationFormat>
  <Paragraphs>157</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template_LN01Brooks671956_02_LN01</vt:lpstr>
      <vt:lpstr>Fiscal Policy: A Summing Up</vt:lpstr>
      <vt:lpstr>Chapter 22 Outline</vt:lpstr>
      <vt:lpstr>Fiscal Policy: A Summing Up</vt:lpstr>
      <vt:lpstr>22-1 What We Have Learned</vt:lpstr>
      <vt:lpstr>22-1 What We Have Learned</vt:lpstr>
      <vt:lpstr>22-2 The Government Budget Constraint: Deficits, Debt, Spending, and Taxes</vt:lpstr>
      <vt:lpstr>FOCUS: Irresistible Growth of Public Spending Worldwide</vt:lpstr>
      <vt:lpstr>22-2 The Government Budget Constraint: Deficits, Debt, Spending, and Taxes</vt:lpstr>
      <vt:lpstr>22-2 The Government Budget Constraint: Deficits, Debt, Spending, and Taxes</vt:lpstr>
      <vt:lpstr>22-2 The Government Budget Constraint: Deficits, Debt, Spending, and Taxes</vt:lpstr>
      <vt:lpstr>22-2 The Government Budget Constraint: Deficits, Debt, Spending, and Taxes</vt:lpstr>
      <vt:lpstr>22-2 The Government Budget Constraint: Deficits, Debt, Spending, and Taxes</vt:lpstr>
      <vt:lpstr>22-2 The Government Budget Constraint: Deficits, Debt, Spending, and Taxes</vt:lpstr>
      <vt:lpstr>22-2 The Government Budget Constraint: Deficits, Debt, Spending, and Taxes</vt:lpstr>
      <vt:lpstr>FOCUS: How Countries Decreased Their Debt Ratios after World War II</vt:lpstr>
      <vt:lpstr>22-3 Ricardian Equivalence, Cyclical Adjusted Deficits, and War Finance</vt:lpstr>
      <vt:lpstr>22-3 Ricardian Equivalence, Cyclical Adjusted Deficits, and War Finance</vt:lpstr>
      <vt:lpstr>22-3 Ricardian Equivalence, Cyclical Adjusted Deficits, and War Finance</vt:lpstr>
      <vt:lpstr>22-3 Ricardian Equivalence, Cyclical Adjusted Deficits, and War Finance</vt:lpstr>
      <vt:lpstr>FOCUS: Deficits, Consumption, and Investment in the United Sates during World War II</vt:lpstr>
      <vt:lpstr>22-4 The Dangers of High Debt</vt:lpstr>
      <vt:lpstr>22-4 The Dangers of High Debt</vt:lpstr>
      <vt:lpstr>22-4 The Dangers of High Debt</vt:lpstr>
      <vt:lpstr>22-4 The Dangers of High Debt</vt:lpstr>
      <vt:lpstr>FOCUS: Rules versus Discretion: New Absolute Budgetary Rules in the EU</vt:lpstr>
      <vt:lpstr>22-4 The Dangers of High Debt</vt:lpstr>
      <vt:lpstr>FOCUS: How Japan Could Stand Such a Huge Debt?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Paromita</cp:lastModifiedBy>
  <cp:revision>306</cp:revision>
  <dcterms:created xsi:type="dcterms:W3CDTF">2012-08-09T20:37:31Z</dcterms:created>
  <dcterms:modified xsi:type="dcterms:W3CDTF">2016-10-06T06:33:51Z</dcterms:modified>
</cp:coreProperties>
</file>