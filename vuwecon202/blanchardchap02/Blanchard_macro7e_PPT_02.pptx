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43"/>
  </p:notesMasterIdLst>
  <p:sldIdLst>
    <p:sldId id="256" r:id="rId2"/>
    <p:sldId id="269" r:id="rId3"/>
    <p:sldId id="268" r:id="rId4"/>
    <p:sldId id="270" r:id="rId5"/>
    <p:sldId id="280" r:id="rId6"/>
    <p:sldId id="281" r:id="rId7"/>
    <p:sldId id="312" r:id="rId8"/>
    <p:sldId id="282" r:id="rId9"/>
    <p:sldId id="283" r:id="rId10"/>
    <p:sldId id="284" r:id="rId11"/>
    <p:sldId id="285" r:id="rId12"/>
    <p:sldId id="286" r:id="rId13"/>
    <p:sldId id="287" r:id="rId14"/>
    <p:sldId id="288" r:id="rId15"/>
    <p:sldId id="289" r:id="rId16"/>
    <p:sldId id="290" r:id="rId17"/>
    <p:sldId id="291" r:id="rId18"/>
    <p:sldId id="292" r:id="rId19"/>
    <p:sldId id="294" r:id="rId20"/>
    <p:sldId id="295" r:id="rId21"/>
    <p:sldId id="293" r:id="rId22"/>
    <p:sldId id="311" r:id="rId23"/>
    <p:sldId id="296" r:id="rId24"/>
    <p:sldId id="297" r:id="rId25"/>
    <p:sldId id="298" r:id="rId26"/>
    <p:sldId id="299" r:id="rId27"/>
    <p:sldId id="301" r:id="rId28"/>
    <p:sldId id="300" r:id="rId29"/>
    <p:sldId id="302" r:id="rId30"/>
    <p:sldId id="303" r:id="rId31"/>
    <p:sldId id="305" r:id="rId32"/>
    <p:sldId id="304" r:id="rId33"/>
    <p:sldId id="306" r:id="rId34"/>
    <p:sldId id="307" r:id="rId35"/>
    <p:sldId id="308" r:id="rId36"/>
    <p:sldId id="309" r:id="rId37"/>
    <p:sldId id="310" r:id="rId38"/>
    <p:sldId id="257" r:id="rId39"/>
    <p:sldId id="313" r:id="rId40"/>
    <p:sldId id="314" r:id="rId41"/>
    <p:sldId id="315" r:id="rId4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1pPr>
    <a:lvl2pPr marL="4572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2pPr>
    <a:lvl3pPr marL="9144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3pPr>
    <a:lvl4pPr marL="13716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4pPr>
    <a:lvl5pPr marL="1828800" algn="l" rtl="0" eaLnBrk="0" fontAlgn="base" hangingPunct="0">
      <a:spcBef>
        <a:spcPct val="0"/>
      </a:spcBef>
      <a:spcAft>
        <a:spcPct val="0"/>
      </a:spcAft>
      <a:defRPr kern="1200">
        <a:solidFill>
          <a:schemeClr val="tx1"/>
        </a:solidFill>
        <a:latin typeface="Times New Roman" panose="02020603050405020304" pitchFamily="18" charset="0"/>
        <a:ea typeface="ヒラギノ角ゴ Pro W3" pitchFamily="-84" charset="-128"/>
        <a:cs typeface="+mn-cs"/>
      </a:defRPr>
    </a:lvl5pPr>
    <a:lvl6pPr marL="22860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6pPr>
    <a:lvl7pPr marL="27432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7pPr>
    <a:lvl8pPr marL="32004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8pPr>
    <a:lvl9pPr marL="3657600" algn="l" defTabSz="914400" rtl="0" eaLnBrk="1" latinLnBrk="0" hangingPunct="1">
      <a:defRPr kern="1200">
        <a:solidFill>
          <a:schemeClr val="tx1"/>
        </a:solidFill>
        <a:latin typeface="Times New Roman" panose="02020603050405020304" pitchFamily="18" charset="0"/>
        <a:ea typeface="ヒラギノ角ゴ Pro W3" pitchFamily="-84" charset="-128"/>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599D"/>
    <a:srgbClr val="BBE5FB"/>
    <a:srgbClr val="BFDC42"/>
    <a:srgbClr val="D8F2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094"/>
    <p:restoredTop sz="94690"/>
  </p:normalViewPr>
  <p:slideViewPr>
    <p:cSldViewPr>
      <p:cViewPr varScale="1">
        <p:scale>
          <a:sx n="68" d="100"/>
          <a:sy n="68" d="100"/>
        </p:scale>
        <p:origin x="-121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mn-ea"/>
              </a:defRPr>
            </a:lvl1pPr>
          </a:lstStyle>
          <a:p>
            <a:pPr>
              <a:defRPr/>
            </a:pPr>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E6D3DF9-23EC-4F28-91F8-7487E3B41A28}" type="slidenum">
              <a:rPr lang="en-US"/>
              <a:pPr>
                <a:defRPr/>
              </a:pPr>
              <a:t>‹#›</a:t>
            </a:fld>
            <a:endParaRPr lang="en-US"/>
          </a:p>
        </p:txBody>
      </p:sp>
    </p:spTree>
    <p:extLst>
      <p:ext uri="{BB962C8B-B14F-4D97-AF65-F5344CB8AC3E}">
        <p14:creationId xmlns="" xmlns:p14="http://schemas.microsoft.com/office/powerpoint/2010/main" val="19165805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ヒラギノ角ゴ Pro W3" pitchFamily="-65" charset="-128"/>
      </a:defRPr>
    </a:lvl1pPr>
    <a:lvl2pPr marL="4572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ヒラギノ角ゴ Pro W3" pitchFamily="-65"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BBE5FB"/>
        </a:solidFill>
        <a:effectLst/>
      </p:bgPr>
    </p:bg>
    <p:spTree>
      <p:nvGrpSpPr>
        <p:cNvPr id="1" name=""/>
        <p:cNvGrpSpPr/>
        <p:nvPr/>
      </p:nvGrpSpPr>
      <p:grpSpPr>
        <a:xfrm>
          <a:off x="0" y="0"/>
          <a:ext cx="0" cy="0"/>
          <a:chOff x="0" y="0"/>
          <a:chExt cx="0" cy="0"/>
        </a:xfrm>
      </p:grpSpPr>
      <p:sp>
        <p:nvSpPr>
          <p:cNvPr id="2" name="Rectangle 2"/>
          <p:cNvSpPr>
            <a:spLocks noChangeArrowheads="1"/>
          </p:cNvSpPr>
          <p:nvPr/>
        </p:nvSpPr>
        <p:spPr bwMode="gray">
          <a:xfrm>
            <a:off x="0" y="6397625"/>
            <a:ext cx="9144000" cy="457200"/>
          </a:xfrm>
          <a:prstGeom prst="rect">
            <a:avLst/>
          </a:prstGeom>
          <a:solidFill>
            <a:srgbClr val="00599D"/>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Verdana" panose="020B0604030504040204" pitchFamily="34" charset="0"/>
            </a:endParaRPr>
          </a:p>
        </p:txBody>
      </p:sp>
      <p:pic>
        <p:nvPicPr>
          <p:cNvPr id="3" name="Picture 3" descr="Pearson_Bound_White"/>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488238" y="6356350"/>
            <a:ext cx="1655762"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4" name="Picture 4" descr="Pearson_Strap_Bound_White"/>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0" y="6356350"/>
            <a:ext cx="1908175" cy="4937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 name="Picture 6"/>
          <p:cNvPicPr>
            <a:picLocks noChangeAspect="1"/>
          </p:cNvPicPr>
          <p:nvPr userDrawn="1"/>
        </p:nvPicPr>
        <p:blipFill>
          <a:blip r:embed="rId4" cstate="print"/>
          <a:stretch>
            <a:fillRect/>
          </a:stretch>
        </p:blipFill>
        <p:spPr>
          <a:xfrm>
            <a:off x="0" y="0"/>
            <a:ext cx="5205590" cy="6400800"/>
          </a:xfrm>
          <a:prstGeom prst="rect">
            <a:avLst/>
          </a:prstGeom>
        </p:spPr>
      </p:pic>
    </p:spTree>
    <p:extLst>
      <p:ext uri="{BB962C8B-B14F-4D97-AF65-F5344CB8AC3E}">
        <p14:creationId xmlns="" xmlns:p14="http://schemas.microsoft.com/office/powerpoint/2010/main" val="823670336"/>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2484620773"/>
      </p:ext>
    </p:extLst>
  </p:cSld>
  <p:clrMapOvr>
    <a:masterClrMapping/>
  </p:clrMapOvr>
  <p:transition>
    <p:strips dir="l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 xmlns:p14="http://schemas.microsoft.com/office/powerpoint/2010/main" val="1213754124"/>
      </p:ext>
    </p:extLst>
  </p:cSld>
  <p:clrMapOvr>
    <a:masterClrMapping/>
  </p:clrMapOvr>
  <p:transition>
    <p:strips dir="l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3810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47800"/>
            <a:ext cx="41148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907206702"/>
      </p:ext>
    </p:extLst>
  </p:cSld>
  <p:clrMapOvr>
    <a:masterClrMapping/>
  </p:clrMapOvr>
  <p:transition>
    <p:strips dir="l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4032938307"/>
      </p:ext>
    </p:extLst>
  </p:cSld>
  <p:clrMapOvr>
    <a:masterClrMapping/>
  </p:clrMapOvr>
  <p:transition>
    <p:strips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 xmlns:p14="http://schemas.microsoft.com/office/powerpoint/2010/main" val="2145000303"/>
      </p:ext>
    </p:extLst>
  </p:cSld>
  <p:clrMapOvr>
    <a:masterClrMapping/>
  </p:clrMapOvr>
  <p:transition>
    <p:strips dir="l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 xmlns:p14="http://schemas.microsoft.com/office/powerpoint/2010/main" val="1731577348"/>
      </p:ext>
    </p:extLst>
  </p:cSld>
  <p:clrMapOvr>
    <a:masterClrMapping/>
  </p:clrMapOvr>
  <p:transition>
    <p:strips dir="l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3704573694"/>
      </p:ext>
    </p:extLst>
  </p:cSld>
  <p:clrMapOvr>
    <a:masterClrMapping/>
  </p:clrMapOvr>
  <p:transition>
    <p:strips dir="l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 xmlns:p14="http://schemas.microsoft.com/office/powerpoint/2010/main" val="2961832062"/>
      </p:ext>
    </p:extLst>
  </p:cSld>
  <p:clrMapOvr>
    <a:masterClrMapping/>
  </p:clrMapOvr>
  <p:transition>
    <p:strips dir="l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304053801"/>
      </p:ext>
    </p:extLst>
  </p:cSld>
  <p:clrMapOvr>
    <a:masterClrMapping/>
  </p:clrMapOvr>
  <p:transition>
    <p:strips dir="l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0"/>
            <a:ext cx="2114550" cy="60960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0"/>
            <a:ext cx="6191250" cy="60960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 xmlns:p14="http://schemas.microsoft.com/office/powerpoint/2010/main" val="3084516106"/>
      </p:ext>
    </p:extLst>
  </p:cSld>
  <p:clrMapOvr>
    <a:masterClrMapping/>
  </p:clrMapOvr>
  <p:transition>
    <p:strips dir="l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fld id="{03C95B77-7238-43C2-BB1A-85C9EC177E33}" type="datetime1">
              <a:rPr lang="en-US"/>
              <a:pPr>
                <a:defRPr/>
              </a:pPr>
              <a:t>9/15/2016</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itchFamily="-65" charset="0"/>
                <a:ea typeface="ヒラギノ角ゴ Pro W3" pitchFamily="-65" charset="-128"/>
              </a:defRPr>
            </a:lvl1pPr>
          </a:lstStyle>
          <a:p>
            <a:pPr>
              <a:defRPr/>
            </a:pPr>
            <a:r>
              <a:rPr lang="en-US"/>
              <a:t>Copyright © 2013 Pearson Education, Inc.</a:t>
            </a:r>
          </a:p>
          <a:p>
            <a:pPr>
              <a:defRPr/>
            </a:pPr>
            <a:r>
              <a:rPr lang="en-US"/>
              <a:t>Publishing as Prentice Hall</a:t>
            </a:r>
          </a:p>
        </p:txBody>
      </p:sp>
      <p:sp>
        <p:nvSpPr>
          <p:cNvPr id="6" name="Slide Number Placeholder 5"/>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atin typeface="Verdana" panose="020B0604030504040204" pitchFamily="34" charset="0"/>
              </a:defRPr>
            </a:lvl1pPr>
          </a:lstStyle>
          <a:p>
            <a:pPr>
              <a:defRPr/>
            </a:pPr>
            <a:fld id="{62AA23A6-09E6-4A12-99D4-D1191B3FA122}" type="slidenum">
              <a:rPr lang="en-US"/>
              <a:pPr>
                <a:defRPr/>
              </a:pPr>
              <a:t>‹#›</a:t>
            </a:fld>
            <a:endParaRPr lang="en-US"/>
          </a:p>
        </p:txBody>
      </p:sp>
    </p:spTree>
    <p:extLst>
      <p:ext uri="{BB962C8B-B14F-4D97-AF65-F5344CB8AC3E}">
        <p14:creationId xmlns="" xmlns:p14="http://schemas.microsoft.com/office/powerpoint/2010/main" val="838141049"/>
      </p:ext>
    </p:extLst>
  </p:cSld>
  <p:clrMapOvr>
    <a:masterClrMapping/>
  </p:clrMapOvr>
  <p:transition>
    <p:strips dir="ld"/>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userDrawn="1"/>
        </p:nvSpPr>
        <p:spPr bwMode="gray">
          <a:xfrm>
            <a:off x="0" y="6397625"/>
            <a:ext cx="9144000" cy="457200"/>
          </a:xfrm>
          <a:prstGeom prst="rect">
            <a:avLst/>
          </a:prstGeom>
          <a:solidFill>
            <a:srgbClr val="0060A7"/>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lIns="0" tIns="0" rIns="0" bIns="0" anchor="ctr"/>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endParaRPr lang="en-US" smtClean="0">
              <a:latin typeface="Arial" panose="020B0604020202020204" pitchFamily="34" charset="0"/>
              <a:cs typeface="Arial" panose="020B0604020202020204" pitchFamily="34" charset="0"/>
            </a:endParaRPr>
          </a:p>
        </p:txBody>
      </p:sp>
      <p:sp>
        <p:nvSpPr>
          <p:cNvPr id="1027" name="Rectangle 4"/>
          <p:cNvSpPr>
            <a:spLocks noGrp="1" noChangeArrowheads="1"/>
          </p:cNvSpPr>
          <p:nvPr>
            <p:ph type="body" idx="1"/>
          </p:nvPr>
        </p:nvSpPr>
        <p:spPr bwMode="auto">
          <a:xfrm>
            <a:off x="381000" y="1447800"/>
            <a:ext cx="8382000" cy="4648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5"/>
          <p:cNvSpPr>
            <a:spLocks noGrp="1" noChangeArrowheads="1"/>
          </p:cNvSpPr>
          <p:nvPr>
            <p:ph type="title"/>
          </p:nvPr>
        </p:nvSpPr>
        <p:spPr bwMode="auto">
          <a:xfrm>
            <a:off x="381000" y="0"/>
            <a:ext cx="84582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en-US" smtClean="0"/>
              <a:t>Click to edit Master title style</a:t>
            </a:r>
          </a:p>
        </p:txBody>
      </p:sp>
      <p:sp>
        <p:nvSpPr>
          <p:cNvPr id="2" name="Rectangle 6"/>
          <p:cNvSpPr>
            <a:spLocks noChangeArrowheads="1"/>
          </p:cNvSpPr>
          <p:nvPr/>
        </p:nvSpPr>
        <p:spPr bwMode="gray">
          <a:xfrm>
            <a:off x="381000" y="6577013"/>
            <a:ext cx="5399088"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US" sz="900" dirty="0" smtClean="0">
                <a:solidFill>
                  <a:schemeClr val="bg1"/>
                </a:solidFill>
                <a:latin typeface="Verdana" panose="020B0604030504040204" pitchFamily="34" charset="0"/>
              </a:rPr>
              <a:t>Copyright ©2017 Pearson Education, Ltd. All rights reserved.</a:t>
            </a:r>
            <a:endParaRPr lang="en-GB" sz="900" dirty="0" smtClean="0">
              <a:solidFill>
                <a:schemeClr val="bg1"/>
              </a:solidFill>
              <a:latin typeface="Verdana" panose="020B0604030504040204" pitchFamily="34" charset="0"/>
            </a:endParaRPr>
          </a:p>
        </p:txBody>
      </p:sp>
      <p:sp>
        <p:nvSpPr>
          <p:cNvPr id="1029" name="Rectangle 7"/>
          <p:cNvSpPr>
            <a:spLocks noChangeArrowheads="1"/>
          </p:cNvSpPr>
          <p:nvPr/>
        </p:nvSpPr>
        <p:spPr bwMode="gray">
          <a:xfrm>
            <a:off x="8402638" y="6577013"/>
            <a:ext cx="360362" cy="179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a:defRPr>
                <a:solidFill>
                  <a:schemeClr val="tx1"/>
                </a:solidFill>
                <a:latin typeface="Times New Roman" panose="02020603050405020304" pitchFamily="18" charset="0"/>
                <a:ea typeface="ヒラギノ角ゴ Pro W3" pitchFamily="-84" charset="-128"/>
              </a:defRPr>
            </a:lvl1pPr>
            <a:lvl2pPr marL="742950" indent="-285750">
              <a:defRPr>
                <a:solidFill>
                  <a:schemeClr val="tx1"/>
                </a:solidFill>
                <a:latin typeface="Times New Roman" panose="02020603050405020304" pitchFamily="18" charset="0"/>
                <a:ea typeface="ヒラギノ角ゴ Pro W3" pitchFamily="-84" charset="-128"/>
              </a:defRPr>
            </a:lvl2pPr>
            <a:lvl3pPr marL="1143000" indent="-228600">
              <a:defRPr>
                <a:solidFill>
                  <a:schemeClr val="tx1"/>
                </a:solidFill>
                <a:latin typeface="Times New Roman" panose="02020603050405020304" pitchFamily="18" charset="0"/>
                <a:ea typeface="ヒラギノ角ゴ Pro W3" pitchFamily="-84" charset="-128"/>
              </a:defRPr>
            </a:lvl3pPr>
            <a:lvl4pPr marL="1600200" indent="-228600">
              <a:defRPr>
                <a:solidFill>
                  <a:schemeClr val="tx1"/>
                </a:solidFill>
                <a:latin typeface="Times New Roman" panose="02020603050405020304" pitchFamily="18" charset="0"/>
                <a:ea typeface="ヒラギノ角ゴ Pro W3" pitchFamily="-84" charset="-128"/>
              </a:defRPr>
            </a:lvl4pPr>
            <a:lvl5pPr marL="2057400" indent="-228600">
              <a:defRPr>
                <a:solidFill>
                  <a:schemeClr val="tx1"/>
                </a:solidFill>
                <a:latin typeface="Times New Roman" panose="02020603050405020304" pitchFamily="18" charset="0"/>
                <a:ea typeface="ヒラギノ角ゴ Pro W3" pitchFamily="-84" charset="-128"/>
              </a:defRPr>
            </a:lvl5pPr>
            <a:lvl6pPr marL="25146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6pPr>
            <a:lvl7pPr marL="29718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7pPr>
            <a:lvl8pPr marL="34290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8pPr>
            <a:lvl9pPr marL="3886200" indent="-228600" eaLnBrk="0" fontAlgn="base" hangingPunct="0">
              <a:spcBef>
                <a:spcPct val="0"/>
              </a:spcBef>
              <a:spcAft>
                <a:spcPct val="0"/>
              </a:spcAft>
              <a:defRPr>
                <a:solidFill>
                  <a:schemeClr val="tx1"/>
                </a:solidFill>
                <a:latin typeface="Times New Roman" panose="02020603050405020304" pitchFamily="18" charset="0"/>
                <a:ea typeface="ヒラギノ角ゴ Pro W3" pitchFamily="-84" charset="-128"/>
              </a:defRPr>
            </a:lvl9pPr>
          </a:lstStyle>
          <a:p>
            <a:pPr>
              <a:defRPr/>
            </a:pPr>
            <a:r>
              <a:rPr lang="en-GB" sz="900" dirty="0" smtClean="0">
                <a:solidFill>
                  <a:schemeClr val="bg1"/>
                </a:solidFill>
                <a:latin typeface="Verdana" panose="020B0604030504040204" pitchFamily="34" charset="0"/>
              </a:rPr>
              <a:t>2-</a:t>
            </a:r>
            <a:fld id="{D0C75B7F-8FCE-4C89-A6FC-071BFABAA471}" type="slidenum">
              <a:rPr lang="en-GB" sz="900" smtClean="0">
                <a:solidFill>
                  <a:schemeClr val="bg1"/>
                </a:solidFill>
                <a:latin typeface="Verdana" panose="020B0604030504040204" pitchFamily="34" charset="0"/>
              </a:rPr>
              <a:pPr>
                <a:defRPr/>
              </a:pPr>
              <a:t>‹#›</a:t>
            </a:fld>
            <a:r>
              <a:rPr lang="en-GB" sz="900" dirty="0" smtClean="0">
                <a:solidFill>
                  <a:schemeClr val="bg1"/>
                </a:solidFill>
                <a:latin typeface="Verdana" panose="020B0604030504040204" pitchFamily="34" charset="0"/>
              </a:rPr>
              <a:t> </a:t>
            </a:r>
          </a:p>
        </p:txBody>
      </p:sp>
    </p:spTree>
  </p:cSld>
  <p:clrMap bg1="lt1" tx1="dk1" bg2="lt2" tx2="dk2" accent1="accent1" accent2="accent2" accent3="accent3" accent4="accent4" accent5="accent5" accent6="accent6" hlink="hlink" folHlink="folHlink"/>
  <p:sldLayoutIdLst>
    <p:sldLayoutId id="2147484053" r:id="rId1"/>
    <p:sldLayoutId id="2147484043" r:id="rId2"/>
    <p:sldLayoutId id="2147484044" r:id="rId3"/>
    <p:sldLayoutId id="2147484045" r:id="rId4"/>
    <p:sldLayoutId id="2147484046" r:id="rId5"/>
    <p:sldLayoutId id="2147484047" r:id="rId6"/>
    <p:sldLayoutId id="2147484048" r:id="rId7"/>
    <p:sldLayoutId id="2147484049" r:id="rId8"/>
    <p:sldLayoutId id="2147484050" r:id="rId9"/>
    <p:sldLayoutId id="2147484051" r:id="rId10"/>
    <p:sldLayoutId id="2147484052" r:id="rId11"/>
    <p:sldLayoutId id="2147484054" r:id="rId12"/>
  </p:sldLayoutIdLst>
  <p:transition>
    <p:strips dir="ld"/>
  </p:transition>
  <p:timing>
    <p:tnLst>
      <p:par>
        <p:cTn id="1" dur="indefinite" restart="never" nodeType="tmRoot"/>
      </p:par>
    </p:tnLst>
  </p:timing>
  <p:hf hdr="0" dt="0"/>
  <p:txStyles>
    <p:titleStyle>
      <a:lvl1pPr algn="l" rtl="0" eaLnBrk="0" fontAlgn="base" hangingPunct="0">
        <a:spcBef>
          <a:spcPct val="0"/>
        </a:spcBef>
        <a:spcAft>
          <a:spcPct val="0"/>
        </a:spcAft>
        <a:defRPr sz="3200" b="1">
          <a:solidFill>
            <a:schemeClr val="tx1"/>
          </a:solidFill>
          <a:latin typeface="+mj-lt"/>
          <a:ea typeface="ヒラギノ角ゴ Pro W3" pitchFamily="-1" charset="-128"/>
          <a:cs typeface="ヒラギノ角ゴ Pro W3" pitchFamily="-1" charset="-128"/>
        </a:defRPr>
      </a:lvl1pPr>
      <a:lvl2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2pPr>
      <a:lvl3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3pPr>
      <a:lvl4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4pPr>
      <a:lvl5pPr algn="l" rtl="0" eaLnBrk="0" fontAlgn="base" hangingPunct="0">
        <a:spcBef>
          <a:spcPct val="0"/>
        </a:spcBef>
        <a:spcAft>
          <a:spcPct val="0"/>
        </a:spcAft>
        <a:defRPr sz="3200" b="1">
          <a:solidFill>
            <a:schemeClr val="tx1"/>
          </a:solidFill>
          <a:latin typeface="Verdana" pitchFamily="-1" charset="0"/>
          <a:ea typeface="ヒラギノ角ゴ Pro W3" pitchFamily="-1" charset="-128"/>
          <a:cs typeface="ヒラギノ角ゴ Pro W3" pitchFamily="-1" charset="-128"/>
        </a:defRPr>
      </a:lvl5pPr>
      <a:lvl6pPr marL="457200" algn="l" rtl="0" eaLnBrk="1" fontAlgn="base" hangingPunct="1">
        <a:spcBef>
          <a:spcPct val="0"/>
        </a:spcBef>
        <a:spcAft>
          <a:spcPct val="0"/>
        </a:spcAft>
        <a:defRPr sz="3200" b="1">
          <a:solidFill>
            <a:schemeClr val="tx1"/>
          </a:solidFill>
          <a:latin typeface="Verdana" pitchFamily="-1" charset="0"/>
        </a:defRPr>
      </a:lvl6pPr>
      <a:lvl7pPr marL="914400" algn="l" rtl="0" eaLnBrk="1" fontAlgn="base" hangingPunct="1">
        <a:spcBef>
          <a:spcPct val="0"/>
        </a:spcBef>
        <a:spcAft>
          <a:spcPct val="0"/>
        </a:spcAft>
        <a:defRPr sz="3200" b="1">
          <a:solidFill>
            <a:schemeClr val="tx1"/>
          </a:solidFill>
          <a:latin typeface="Verdana" pitchFamily="-1" charset="0"/>
        </a:defRPr>
      </a:lvl7pPr>
      <a:lvl8pPr marL="1371600" algn="l" rtl="0" eaLnBrk="1" fontAlgn="base" hangingPunct="1">
        <a:spcBef>
          <a:spcPct val="0"/>
        </a:spcBef>
        <a:spcAft>
          <a:spcPct val="0"/>
        </a:spcAft>
        <a:defRPr sz="3200" b="1">
          <a:solidFill>
            <a:schemeClr val="tx1"/>
          </a:solidFill>
          <a:latin typeface="Verdana" pitchFamily="-1" charset="0"/>
        </a:defRPr>
      </a:lvl8pPr>
      <a:lvl9pPr marL="1828800" algn="l" rtl="0" eaLnBrk="1" fontAlgn="base" hangingPunct="1">
        <a:spcBef>
          <a:spcPct val="0"/>
        </a:spcBef>
        <a:spcAft>
          <a:spcPct val="0"/>
        </a:spcAft>
        <a:defRPr sz="3200" b="1">
          <a:solidFill>
            <a:schemeClr val="tx1"/>
          </a:solidFill>
          <a:latin typeface="Verdana" pitchFamily="-1"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F2FF"/>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idx="4294967295"/>
          </p:nvPr>
        </p:nvSpPr>
        <p:spPr>
          <a:xfrm>
            <a:off x="5334000" y="1600200"/>
            <a:ext cx="3429000" cy="1676400"/>
          </a:xfrm>
        </p:spPr>
        <p:txBody>
          <a:bodyPr/>
          <a:lstStyle/>
          <a:p>
            <a:pPr algn="ctr" eaLnBrk="1" hangingPunct="1"/>
            <a:r>
              <a:rPr lang="en-US" sz="2800" dirty="0" smtClean="0">
                <a:ea typeface="ヒラギノ角ゴ Pro W3" pitchFamily="-84" charset="-128"/>
              </a:rPr>
              <a:t>A Tour of the Book</a:t>
            </a:r>
          </a:p>
        </p:txBody>
      </p:sp>
      <p:sp>
        <p:nvSpPr>
          <p:cNvPr id="5123" name="Rectangle 3"/>
          <p:cNvSpPr>
            <a:spLocks noGrp="1" noChangeArrowheads="1"/>
          </p:cNvSpPr>
          <p:nvPr>
            <p:ph type="subTitle" idx="4294967295"/>
          </p:nvPr>
        </p:nvSpPr>
        <p:spPr>
          <a:xfrm>
            <a:off x="4953000" y="3886200"/>
            <a:ext cx="4191000" cy="1752600"/>
          </a:xfrm>
        </p:spPr>
        <p:txBody>
          <a:bodyPr/>
          <a:lstStyle/>
          <a:p>
            <a:pPr algn="ctr" eaLnBrk="1" hangingPunct="1">
              <a:buFontTx/>
              <a:buNone/>
            </a:pPr>
            <a:r>
              <a:rPr lang="en-US" smtClean="0">
                <a:ea typeface="ヒラギノ角ゴ Pro W3" pitchFamily="-84" charset="-128"/>
              </a:rPr>
              <a:t>Chapter 2</a:t>
            </a:r>
          </a:p>
        </p:txBody>
      </p:sp>
    </p:spTree>
  </p:cSld>
  <p:clrMapOvr>
    <a:masterClrMapping/>
  </p:clrMapOvr>
  <p:transition>
    <p:strips dir="l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r>
              <a:rPr lang="en-US" smtClean="0">
                <a:ea typeface="ヒラギノ角ゴ Pro W3" pitchFamily="-84" charset="-128"/>
              </a:rPr>
              <a:t>Chapter 2 Outline</a:t>
            </a:r>
          </a:p>
        </p:txBody>
      </p:sp>
      <p:sp>
        <p:nvSpPr>
          <p:cNvPr id="3" name="Content Placeholder 2"/>
          <p:cNvSpPr txBox="1">
            <a:spLocks/>
          </p:cNvSpPr>
          <p:nvPr/>
        </p:nvSpPr>
        <p:spPr bwMode="auto">
          <a:xfrm>
            <a:off x="495300" y="1371600"/>
            <a:ext cx="8229600" cy="49371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bIns="0"/>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1714500" indent="-1714500" eaLnBrk="1" hangingPunct="1">
              <a:buFontTx/>
              <a:buNone/>
              <a:defRPr/>
            </a:pPr>
            <a:r>
              <a:rPr lang="en-US" sz="2400" b="1" kern="0" dirty="0" smtClean="0">
                <a:ea typeface="ヒラギノ角ゴ Pro W3" pitchFamily="-84" charset="-128"/>
              </a:rPr>
              <a:t>A Tour of the Book</a:t>
            </a:r>
          </a:p>
          <a:p>
            <a:pPr marL="1714500" indent="-1714500" eaLnBrk="1" hangingPunct="1">
              <a:buFontTx/>
              <a:buNone/>
              <a:defRPr/>
            </a:pPr>
            <a:endParaRPr lang="en-US" sz="2400" kern="0" dirty="0" smtClean="0">
              <a:ea typeface="ヒラギノ角ゴ Pro W3" pitchFamily="-84" charset="-128"/>
            </a:endParaRPr>
          </a:p>
          <a:p>
            <a:pPr marL="1714500" indent="-1714500" eaLnBrk="1" hangingPunct="1">
              <a:buFontTx/>
              <a:buNone/>
              <a:defRPr/>
            </a:pPr>
            <a:r>
              <a:rPr lang="en-US" sz="2400" kern="0" dirty="0" smtClean="0">
                <a:ea typeface="ヒラギノ角ゴ Pro W3" pitchFamily="-84" charset="-128"/>
              </a:rPr>
              <a:t>2-1	Aggregate Output</a:t>
            </a:r>
          </a:p>
          <a:p>
            <a:pPr marL="1714500" indent="-1714500" eaLnBrk="1" hangingPunct="1">
              <a:buFontTx/>
              <a:buNone/>
              <a:defRPr/>
            </a:pPr>
            <a:r>
              <a:rPr lang="en-US" sz="2400" kern="0" dirty="0" smtClean="0">
                <a:ea typeface="ヒラギノ角ゴ Pro W3" pitchFamily="-84" charset="-128"/>
              </a:rPr>
              <a:t>2-2	The Unemployment Rate</a:t>
            </a:r>
          </a:p>
          <a:p>
            <a:pPr marL="1714500" indent="-1714500" eaLnBrk="1" hangingPunct="1">
              <a:buFontTx/>
              <a:buNone/>
              <a:defRPr/>
            </a:pPr>
            <a:r>
              <a:rPr lang="en-US" sz="2400" kern="0" dirty="0" smtClean="0">
                <a:ea typeface="ヒラギノ角ゴ Pro W3" pitchFamily="-84" charset="-128"/>
              </a:rPr>
              <a:t>2-3	The Inflation Rate</a:t>
            </a:r>
          </a:p>
          <a:p>
            <a:pPr marL="1714500" indent="-1714500" eaLnBrk="1" hangingPunct="1">
              <a:buFontTx/>
              <a:buNone/>
              <a:defRPr/>
            </a:pPr>
            <a:r>
              <a:rPr lang="en-US" sz="2400" kern="0" dirty="0" smtClean="0">
                <a:ea typeface="ヒラギノ角ゴ Pro W3" pitchFamily="-84" charset="-128"/>
              </a:rPr>
              <a:t>2-4	</a:t>
            </a:r>
            <a:r>
              <a:rPr lang="en-US" sz="2400" kern="0" dirty="0">
                <a:ea typeface="ヒラギノ角ゴ Pro W3" pitchFamily="-84" charset="-128"/>
              </a:rPr>
              <a:t>Output, Unemployment, and the Inflation Rate: </a:t>
            </a:r>
            <a:r>
              <a:rPr lang="en-US" sz="2400" kern="0" dirty="0" err="1">
                <a:ea typeface="ヒラギノ角ゴ Pro W3" pitchFamily="-84" charset="-128"/>
              </a:rPr>
              <a:t>Okun’s</a:t>
            </a:r>
            <a:r>
              <a:rPr lang="en-US" sz="2400" kern="0" dirty="0">
                <a:ea typeface="ヒラギノ角ゴ Pro W3" pitchFamily="-84" charset="-128"/>
              </a:rPr>
              <a:t> Law and the Phillips </a:t>
            </a:r>
            <a:r>
              <a:rPr lang="en-US" sz="2400" kern="0" dirty="0" smtClean="0">
                <a:ea typeface="ヒラギノ角ゴ Pro W3" pitchFamily="-84" charset="-128"/>
              </a:rPr>
              <a:t>Curve</a:t>
            </a:r>
          </a:p>
          <a:p>
            <a:pPr marL="1714500" indent="-1714500" eaLnBrk="1" hangingPunct="1">
              <a:buFontTx/>
              <a:buNone/>
              <a:defRPr/>
            </a:pPr>
            <a:r>
              <a:rPr lang="en-US" sz="2400" kern="0" dirty="0" smtClean="0">
                <a:ea typeface="ヒラギノ角ゴ Pro W3" pitchFamily="-84" charset="-128"/>
              </a:rPr>
              <a:t>2-5	The Short Run, the Medium Run, and the Long Run</a:t>
            </a:r>
          </a:p>
          <a:p>
            <a:pPr marL="1714500" indent="-1714500" eaLnBrk="1" hangingPunct="1">
              <a:buFontTx/>
              <a:buNone/>
              <a:defRPr/>
            </a:pPr>
            <a:r>
              <a:rPr lang="en-US" sz="2400" kern="0" dirty="0" smtClean="0">
                <a:ea typeface="ヒラギノ角ゴ Pro W3" pitchFamily="-84" charset="-128"/>
              </a:rPr>
              <a:t>APPENDIX </a:t>
            </a:r>
            <a:r>
              <a:rPr lang="en-US" sz="2400" kern="0" dirty="0">
                <a:ea typeface="ヒラギノ角ゴ Pro W3" pitchFamily="-84" charset="-128"/>
              </a:rPr>
              <a:t>The Construction of Real GDP and Chain-Type Indexes</a:t>
            </a:r>
            <a:endParaRPr lang="en-US" sz="2400" kern="0" dirty="0" smtClean="0">
              <a:ea typeface="ヒラギノ角ゴ Pro W3" pitchFamily="-84" charset="-128"/>
            </a:endParaRPr>
          </a:p>
        </p:txBody>
      </p:sp>
    </p:spTree>
  </p:cSld>
  <p:clrMapOvr>
    <a:masterClrMapping/>
  </p:clrMapOvr>
  <p:transition>
    <p:strips dir="l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lstStyle/>
          <a:p>
            <a:r>
              <a:rPr lang="en-US" smtClean="0">
                <a:ea typeface="ヒラギノ角ゴ Pro W3" pitchFamily="-84" charset="-128"/>
              </a:rPr>
              <a:t>A Tour of the Book</a:t>
            </a:r>
          </a:p>
        </p:txBody>
      </p:sp>
      <p:sp>
        <p:nvSpPr>
          <p:cNvPr id="7171" name="Content Placeholder 2"/>
          <p:cNvSpPr>
            <a:spLocks noGrp="1"/>
          </p:cNvSpPr>
          <p:nvPr>
            <p:ph idx="1"/>
          </p:nvPr>
        </p:nvSpPr>
        <p:spPr/>
        <p:txBody>
          <a:bodyPr/>
          <a:lstStyle/>
          <a:p>
            <a:pPr>
              <a:spcBef>
                <a:spcPts val="525"/>
              </a:spcBef>
            </a:pPr>
            <a:r>
              <a:rPr lang="en-US" sz="2400" smtClean="0">
                <a:ea typeface="ヒラギノ角ゴ Pro W3" pitchFamily="-84" charset="-128"/>
              </a:rPr>
              <a:t>The words </a:t>
            </a:r>
            <a:r>
              <a:rPr lang="en-US" sz="2400" i="1" smtClean="0">
                <a:ea typeface="ヒラギノ角ゴ Pro W3" pitchFamily="-84" charset="-128"/>
              </a:rPr>
              <a:t>output</a:t>
            </a:r>
            <a:r>
              <a:rPr lang="en-US" sz="2400" smtClean="0">
                <a:ea typeface="ヒラギノ角ゴ Pro W3" pitchFamily="-84" charset="-128"/>
              </a:rPr>
              <a:t>, </a:t>
            </a:r>
            <a:r>
              <a:rPr lang="en-US" sz="2400" i="1" smtClean="0">
                <a:ea typeface="ヒラギノ角ゴ Pro W3" pitchFamily="-84" charset="-128"/>
              </a:rPr>
              <a:t>unemployment</a:t>
            </a:r>
            <a:r>
              <a:rPr lang="en-US" sz="2400" smtClean="0">
                <a:ea typeface="ヒラギノ角ゴ Pro W3" pitchFamily="-84" charset="-128"/>
              </a:rPr>
              <a:t>, and </a:t>
            </a:r>
            <a:r>
              <a:rPr lang="en-US" sz="2400" i="1" smtClean="0">
                <a:ea typeface="ヒラギノ角ゴ Pro W3" pitchFamily="-84" charset="-128"/>
              </a:rPr>
              <a:t>inflation</a:t>
            </a:r>
            <a:r>
              <a:rPr lang="en-US" sz="2400" smtClean="0">
                <a:ea typeface="ヒラギノ角ゴ Pro W3" pitchFamily="-84" charset="-128"/>
              </a:rPr>
              <a:t> appear daily in newspapers and on the evening news.</a:t>
            </a:r>
          </a:p>
          <a:p>
            <a:r>
              <a:rPr lang="en-US" sz="2400" smtClean="0">
                <a:ea typeface="ヒラギノ角ゴ Pro W3" pitchFamily="-84" charset="-128"/>
              </a:rPr>
              <a:t>In this chapter, we define these words more precisely.</a:t>
            </a:r>
          </a:p>
          <a:p>
            <a:r>
              <a:rPr lang="en-US" sz="2400" smtClean="0">
                <a:ea typeface="ヒラギノ角ゴ Pro W3" pitchFamily="-84" charset="-128"/>
              </a:rPr>
              <a:t>The chapter also introduces concepts around which the book is organized: the </a:t>
            </a:r>
            <a:r>
              <a:rPr lang="en-US" sz="2400" i="1" smtClean="0">
                <a:ea typeface="ヒラギノ角ゴ Pro W3" pitchFamily="-84" charset="-128"/>
              </a:rPr>
              <a:t>short run</a:t>
            </a:r>
            <a:r>
              <a:rPr lang="en-US" sz="2400" smtClean="0">
                <a:ea typeface="ヒラギノ角ゴ Pro W3" pitchFamily="-84" charset="-128"/>
              </a:rPr>
              <a:t>, the </a:t>
            </a:r>
            <a:r>
              <a:rPr lang="en-US" sz="2400" i="1" smtClean="0">
                <a:ea typeface="ヒラギノ角ゴ Pro W3" pitchFamily="-84" charset="-128"/>
              </a:rPr>
              <a:t>medium ran</a:t>
            </a:r>
            <a:r>
              <a:rPr lang="en-US" sz="2400" smtClean="0">
                <a:ea typeface="ヒラギノ角ゴ Pro W3" pitchFamily="-84" charset="-128"/>
              </a:rPr>
              <a:t>, and the </a:t>
            </a:r>
            <a:r>
              <a:rPr lang="en-US" sz="2400" i="1" smtClean="0">
                <a:ea typeface="ヒラギノ角ゴ Pro W3" pitchFamily="-84" charset="-128"/>
              </a:rPr>
              <a:t>long run</a:t>
            </a:r>
            <a:r>
              <a:rPr lang="en-US" sz="2400" smtClean="0">
                <a:ea typeface="ヒラギノ角ゴ Pro W3" pitchFamily="-84" charset="-128"/>
              </a:rPr>
              <a:t>.</a:t>
            </a:r>
          </a:p>
        </p:txBody>
      </p:sp>
    </p:spTree>
  </p:cSld>
  <p:clrMapOvr>
    <a:masterClrMapping/>
  </p:clrMapOvr>
  <p:transition>
    <p:strips dir="l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smtClean="0">
                <a:ea typeface="ヒラギノ角ゴ Pro W3" pitchFamily="-84" charset="-128"/>
              </a:rPr>
              <a:t>2-1 Aggregate Output</a:t>
            </a:r>
          </a:p>
        </p:txBody>
      </p:sp>
      <p:sp>
        <p:nvSpPr>
          <p:cNvPr id="8195" name="Content Placeholder 2"/>
          <p:cNvSpPr>
            <a:spLocks noGrp="1"/>
          </p:cNvSpPr>
          <p:nvPr>
            <p:ph idx="1"/>
          </p:nvPr>
        </p:nvSpPr>
        <p:spPr>
          <a:xfrm>
            <a:off x="381000" y="1295400"/>
            <a:ext cx="8382000" cy="4648200"/>
          </a:xfrm>
        </p:spPr>
        <p:txBody>
          <a:bodyPr/>
          <a:lstStyle/>
          <a:p>
            <a:pPr>
              <a:spcBef>
                <a:spcPts val="525"/>
              </a:spcBef>
            </a:pPr>
            <a:r>
              <a:rPr lang="en-US" sz="2400" b="1" smtClean="0">
                <a:ea typeface="ヒラギノ角ゴ Pro W3" pitchFamily="-84" charset="-128"/>
              </a:rPr>
              <a:t>National income and product accounts </a:t>
            </a:r>
            <a:r>
              <a:rPr lang="en-US" sz="2400" smtClean="0">
                <a:ea typeface="ヒラギノ角ゴ Pro W3" pitchFamily="-84" charset="-128"/>
              </a:rPr>
              <a:t>were developed at the end of World War II as measures of aggregate output.</a:t>
            </a:r>
          </a:p>
          <a:p>
            <a:pPr>
              <a:spcBef>
                <a:spcPts val="525"/>
              </a:spcBef>
            </a:pPr>
            <a:r>
              <a:rPr lang="en-US" sz="2400" smtClean="0">
                <a:ea typeface="ヒラギノ角ゴ Pro W3" pitchFamily="-84" charset="-128"/>
              </a:rPr>
              <a:t>The measure of </a:t>
            </a:r>
            <a:r>
              <a:rPr lang="en-US" sz="2400" b="1" smtClean="0">
                <a:ea typeface="ヒラギノ角ゴ Pro W3" pitchFamily="-84" charset="-128"/>
              </a:rPr>
              <a:t>aggregate output </a:t>
            </a:r>
            <a:r>
              <a:rPr lang="en-US" sz="2400" smtClean="0">
                <a:ea typeface="ヒラギノ角ゴ Pro W3" pitchFamily="-84" charset="-128"/>
              </a:rPr>
              <a:t>is called gross domestic product (</a:t>
            </a:r>
            <a:r>
              <a:rPr lang="en-US" sz="2400" b="1" smtClean="0">
                <a:ea typeface="ヒラギノ角ゴ Pro W3" pitchFamily="-84" charset="-128"/>
              </a:rPr>
              <a:t>GDP</a:t>
            </a:r>
            <a:r>
              <a:rPr lang="en-US" sz="2400" smtClean="0">
                <a:ea typeface="ヒラギノ角ゴ Pro W3" pitchFamily="-84" charset="-128"/>
              </a:rPr>
              <a:t>).</a:t>
            </a:r>
          </a:p>
          <a:p>
            <a:pPr>
              <a:spcBef>
                <a:spcPts val="525"/>
              </a:spcBef>
            </a:pPr>
            <a:r>
              <a:rPr lang="en-US" sz="2400" smtClean="0">
                <a:ea typeface="ヒラギノ角ゴ Pro W3" pitchFamily="-84" charset="-128"/>
              </a:rPr>
              <a:t>How would you define aggregate output in the economy?</a:t>
            </a:r>
          </a:p>
          <a:p>
            <a:pPr>
              <a:spcBef>
                <a:spcPts val="525"/>
              </a:spcBef>
            </a:pPr>
            <a:endParaRPr lang="en-US" sz="2400" smtClean="0">
              <a:ea typeface="ヒラギノ角ゴ Pro W3" pitchFamily="-84" charset="-128"/>
            </a:endParaRPr>
          </a:p>
        </p:txBody>
      </p:sp>
    </p:spTree>
  </p:cSld>
  <p:clrMapOvr>
    <a:masterClrMapping/>
  </p:clrMapOvr>
  <p:transition>
    <p:strips dir="l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mtClean="0">
                <a:ea typeface="ヒラギノ角ゴ Pro W3" pitchFamily="-84" charset="-128"/>
              </a:rPr>
              <a:t>2-1 Aggregate Output</a:t>
            </a:r>
          </a:p>
        </p:txBody>
      </p:sp>
      <p:sp>
        <p:nvSpPr>
          <p:cNvPr id="9219" name="Content Placeholder 2"/>
          <p:cNvSpPr>
            <a:spLocks noGrp="1"/>
          </p:cNvSpPr>
          <p:nvPr>
            <p:ph idx="1"/>
          </p:nvPr>
        </p:nvSpPr>
        <p:spPr>
          <a:xfrm>
            <a:off x="381000" y="4419600"/>
            <a:ext cx="8382000" cy="4648200"/>
          </a:xfrm>
        </p:spPr>
        <p:txBody>
          <a:bodyPr/>
          <a:lstStyle/>
          <a:p>
            <a:pPr>
              <a:spcBef>
                <a:spcPts val="525"/>
              </a:spcBef>
            </a:pPr>
            <a:r>
              <a:rPr lang="en-US" sz="1800" dirty="0" smtClean="0">
                <a:ea typeface="ヒラギノ角ゴ Pro W3" pitchFamily="-84" charset="-128"/>
              </a:rPr>
              <a:t>Consider an economy with two firms, Firm 1 and Firm 2.</a:t>
            </a:r>
          </a:p>
          <a:p>
            <a:pPr>
              <a:spcBef>
                <a:spcPts val="525"/>
              </a:spcBef>
            </a:pPr>
            <a:r>
              <a:rPr lang="en-US" sz="1800" dirty="0" smtClean="0">
                <a:ea typeface="ヒラギノ角ゴ Pro W3" pitchFamily="-84" charset="-128"/>
              </a:rPr>
              <a:t>Is aggregate output the sum of the values of all goods produced, i.e., $300? Or just the value of cars, i.e., $200?</a:t>
            </a:r>
          </a:p>
          <a:p>
            <a:pPr>
              <a:spcBef>
                <a:spcPts val="525"/>
              </a:spcBef>
            </a:pPr>
            <a:r>
              <a:rPr lang="en-US" sz="1800" dirty="0" smtClean="0">
                <a:ea typeface="ヒラギノ角ゴ Pro W3" pitchFamily="-84" charset="-128"/>
              </a:rPr>
              <a:t>Steel is an </a:t>
            </a:r>
            <a:r>
              <a:rPr lang="en-US" sz="1800" b="1" dirty="0" smtClean="0">
                <a:ea typeface="ヒラギノ角ゴ Pro W3" pitchFamily="-84" charset="-128"/>
              </a:rPr>
              <a:t>intermediate good</a:t>
            </a:r>
            <a:r>
              <a:rPr lang="en-US" sz="1800" dirty="0" smtClean="0">
                <a:ea typeface="ヒラギノ角ゴ Pro W3" pitchFamily="-84" charset="-128"/>
              </a:rPr>
              <a:t>, which is a good used in the production of another good.</a:t>
            </a:r>
          </a:p>
          <a:p>
            <a:pPr>
              <a:spcBef>
                <a:spcPts val="525"/>
              </a:spcBef>
            </a:pPr>
            <a:endParaRPr lang="en-US" sz="1800" dirty="0" smtClean="0">
              <a:ea typeface="ヒラギノ角ゴ Pro W3" pitchFamily="-84" charset="-128"/>
            </a:endParaRPr>
          </a:p>
        </p:txBody>
      </p:sp>
      <p:pic>
        <p:nvPicPr>
          <p:cNvPr id="9220" name="Picture 1"/>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04800" y="1600200"/>
            <a:ext cx="7850188" cy="2159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strips dir="l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smtClean="0">
                <a:ea typeface="ヒラギノ角ゴ Pro W3" pitchFamily="-84" charset="-128"/>
              </a:rPr>
              <a:t>2-1 Aggregate Output</a:t>
            </a:r>
          </a:p>
        </p:txBody>
      </p:sp>
      <p:sp>
        <p:nvSpPr>
          <p:cNvPr id="8195" name="Content Placeholder 2"/>
          <p:cNvSpPr>
            <a:spLocks noGrp="1"/>
          </p:cNvSpPr>
          <p:nvPr>
            <p:ph idx="1"/>
          </p:nvPr>
        </p:nvSpPr>
        <p:spPr>
          <a:xfrm>
            <a:off x="381000" y="1295400"/>
            <a:ext cx="8382000" cy="4953000"/>
          </a:xfrm>
        </p:spPr>
        <p:txBody>
          <a:bodyPr/>
          <a:lstStyle/>
          <a:p>
            <a:pPr marL="457200" indent="-457200">
              <a:spcBef>
                <a:spcPts val="525"/>
              </a:spcBef>
              <a:buFont typeface="+mj-lt"/>
              <a:buAutoNum type="arabicPeriod"/>
              <a:defRPr/>
            </a:pPr>
            <a:r>
              <a:rPr lang="en-US" sz="2400" b="1" dirty="0" smtClean="0">
                <a:ea typeface="ヒラギノ角ゴ Pro W3" pitchFamily="-84" charset="-128"/>
              </a:rPr>
              <a:t>GDP is the value of final goods and services produced in the economy during a given period.</a:t>
            </a:r>
          </a:p>
          <a:p>
            <a:pPr lvl="1">
              <a:spcBef>
                <a:spcPts val="525"/>
              </a:spcBef>
              <a:defRPr/>
            </a:pPr>
            <a:r>
              <a:rPr lang="en-US" sz="2000" dirty="0" smtClean="0">
                <a:ea typeface="ヒラギノ角ゴ Pro W3" pitchFamily="-84" charset="-128"/>
              </a:rPr>
              <a:t>We want to count only </a:t>
            </a:r>
            <a:r>
              <a:rPr lang="en-US" sz="2000" b="1" dirty="0" smtClean="0">
                <a:ea typeface="ヒラギノ角ゴ Pro W3" pitchFamily="-84" charset="-128"/>
              </a:rPr>
              <a:t>final goods</a:t>
            </a:r>
            <a:r>
              <a:rPr lang="en-US" sz="2000" dirty="0" smtClean="0">
                <a:ea typeface="ヒラギノ角ゴ Pro W3" pitchFamily="-84" charset="-128"/>
              </a:rPr>
              <a:t>, not intermediate goods.</a:t>
            </a:r>
          </a:p>
          <a:p>
            <a:pPr lvl="1">
              <a:spcBef>
                <a:spcPts val="525"/>
              </a:spcBef>
              <a:defRPr/>
            </a:pPr>
            <a:r>
              <a:rPr lang="en-US" sz="2000" dirty="0" smtClean="0">
                <a:ea typeface="ヒラギノ角ゴ Pro W3" pitchFamily="-84" charset="-128"/>
              </a:rPr>
              <a:t>If we merge the two firms in the previous example, the revenues of the new firm equal $200.</a:t>
            </a:r>
          </a:p>
          <a:p>
            <a:pPr marL="0" indent="0">
              <a:spcBef>
                <a:spcPts val="525"/>
              </a:spcBef>
              <a:buFontTx/>
              <a:buNone/>
              <a:defRPr/>
            </a:pPr>
            <a:endParaRPr lang="en-US" sz="2400" dirty="0" smtClean="0">
              <a:ea typeface="ヒラギノ角ゴ Pro W3" pitchFamily="-84" charset="-128"/>
            </a:endParaRPr>
          </a:p>
        </p:txBody>
      </p:sp>
      <p:pic>
        <p:nvPicPr>
          <p:cNvPr id="10244" name="Picture 1"/>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209800" y="4038600"/>
            <a:ext cx="3938588" cy="1600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strips dir="l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smtClean="0">
                <a:ea typeface="ヒラギノ角ゴ Pro W3" pitchFamily="-84" charset="-128"/>
              </a:rPr>
              <a:t>2-1 Aggregate Output</a:t>
            </a:r>
          </a:p>
        </p:txBody>
      </p:sp>
      <p:sp>
        <p:nvSpPr>
          <p:cNvPr id="8195" name="Content Placeholder 2"/>
          <p:cNvSpPr>
            <a:spLocks noGrp="1"/>
          </p:cNvSpPr>
          <p:nvPr>
            <p:ph idx="1"/>
          </p:nvPr>
        </p:nvSpPr>
        <p:spPr>
          <a:xfrm>
            <a:off x="381000" y="1295400"/>
            <a:ext cx="8382000" cy="4953000"/>
          </a:xfrm>
        </p:spPr>
        <p:txBody>
          <a:bodyPr/>
          <a:lstStyle/>
          <a:p>
            <a:pPr marL="457200" indent="-457200">
              <a:spcBef>
                <a:spcPts val="525"/>
              </a:spcBef>
              <a:buFont typeface="+mj-lt"/>
              <a:buAutoNum type="arabicPeriod" startAt="2"/>
              <a:defRPr/>
            </a:pPr>
            <a:r>
              <a:rPr lang="en-US" sz="2400" b="1" dirty="0" smtClean="0">
                <a:ea typeface="ヒラギノ角ゴ Pro W3" pitchFamily="-84" charset="-128"/>
              </a:rPr>
              <a:t>GDP is the sum of value added in the economy during a given period.</a:t>
            </a:r>
          </a:p>
          <a:p>
            <a:pPr lvl="1">
              <a:spcBef>
                <a:spcPts val="525"/>
              </a:spcBef>
              <a:defRPr/>
            </a:pPr>
            <a:r>
              <a:rPr lang="en-US" sz="2000" dirty="0" smtClean="0">
                <a:ea typeface="ヒラギノ角ゴ Pro W3" pitchFamily="-84" charset="-128"/>
              </a:rPr>
              <a:t>The </a:t>
            </a:r>
            <a:r>
              <a:rPr lang="en-US" sz="2000" b="1" dirty="0" smtClean="0">
                <a:ea typeface="ヒラギノ角ゴ Pro W3" pitchFamily="-84" charset="-128"/>
              </a:rPr>
              <a:t>value added </a:t>
            </a:r>
            <a:r>
              <a:rPr lang="en-US" sz="2000" dirty="0" smtClean="0">
                <a:ea typeface="ヒラギノ角ゴ Pro W3" pitchFamily="-84" charset="-128"/>
              </a:rPr>
              <a:t>by a firm is the value of its production minus the value of the intermediate goods used in production.</a:t>
            </a:r>
          </a:p>
          <a:p>
            <a:pPr lvl="1">
              <a:spcBef>
                <a:spcPts val="525"/>
              </a:spcBef>
              <a:defRPr/>
            </a:pPr>
            <a:r>
              <a:rPr lang="en-US" sz="2000" dirty="0" smtClean="0">
                <a:ea typeface="ヒラギノ角ゴ Pro W3" pitchFamily="-84" charset="-128"/>
              </a:rPr>
              <a:t>In the two-firm example, the value added equals $100 + $100 = $200.</a:t>
            </a:r>
          </a:p>
          <a:p>
            <a:pPr>
              <a:spcBef>
                <a:spcPts val="1200"/>
              </a:spcBef>
              <a:defRPr/>
            </a:pPr>
            <a:r>
              <a:rPr lang="en-US" sz="2400" dirty="0" smtClean="0">
                <a:ea typeface="ヒラギノ角ゴ Pro W3" pitchFamily="-84" charset="-128"/>
              </a:rPr>
              <a:t>So far, we have looked at GDP from the </a:t>
            </a:r>
            <a:r>
              <a:rPr lang="en-US" sz="2400" i="1" dirty="0" smtClean="0">
                <a:ea typeface="ヒラギノ角ゴ Pro W3" pitchFamily="-84" charset="-128"/>
              </a:rPr>
              <a:t>production side</a:t>
            </a:r>
            <a:r>
              <a:rPr lang="en-US" sz="2400" dirty="0" smtClean="0">
                <a:ea typeface="ヒラギノ角ゴ Pro W3" pitchFamily="-84" charset="-128"/>
              </a:rPr>
              <a:t>.</a:t>
            </a:r>
          </a:p>
        </p:txBody>
      </p:sp>
    </p:spTree>
  </p:cSld>
  <p:clrMapOvr>
    <a:masterClrMapping/>
  </p:clrMapOvr>
  <p:transition>
    <p:strips dir="l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smtClean="0">
                <a:ea typeface="ヒラギノ角ゴ Pro W3" pitchFamily="-84" charset="-128"/>
              </a:rPr>
              <a:t>2-1 Aggregate Output</a:t>
            </a:r>
          </a:p>
        </p:txBody>
      </p:sp>
      <p:sp>
        <p:nvSpPr>
          <p:cNvPr id="8195" name="Content Placeholder 2"/>
          <p:cNvSpPr>
            <a:spLocks noGrp="1"/>
          </p:cNvSpPr>
          <p:nvPr>
            <p:ph idx="1"/>
          </p:nvPr>
        </p:nvSpPr>
        <p:spPr>
          <a:xfrm>
            <a:off x="381000" y="1295400"/>
            <a:ext cx="8382000" cy="4648200"/>
          </a:xfrm>
        </p:spPr>
        <p:txBody>
          <a:bodyPr/>
          <a:lstStyle/>
          <a:p>
            <a:pPr marL="457200" indent="-457200">
              <a:spcBef>
                <a:spcPts val="525"/>
              </a:spcBef>
              <a:buFont typeface="+mj-lt"/>
              <a:buAutoNum type="arabicPeriod" startAt="3"/>
              <a:defRPr/>
            </a:pPr>
            <a:r>
              <a:rPr lang="en-US" sz="2400" b="1" dirty="0" smtClean="0">
                <a:ea typeface="ヒラギノ角ゴ Pro W3" pitchFamily="-84" charset="-128"/>
              </a:rPr>
              <a:t>GDP is the sum of incomes in the economy during a given period.</a:t>
            </a:r>
          </a:p>
          <a:p>
            <a:pPr lvl="1">
              <a:spcBef>
                <a:spcPts val="525"/>
              </a:spcBef>
              <a:defRPr/>
            </a:pPr>
            <a:r>
              <a:rPr lang="en-US" sz="2000" dirty="0" smtClean="0">
                <a:ea typeface="ヒラギノ角ゴ Pro W3" pitchFamily="-84" charset="-128"/>
              </a:rPr>
              <a:t>Aggregate production and aggregate income are always equal.</a:t>
            </a:r>
          </a:p>
          <a:p>
            <a:pPr lvl="1">
              <a:spcBef>
                <a:spcPts val="525"/>
              </a:spcBef>
              <a:defRPr/>
            </a:pPr>
            <a:r>
              <a:rPr lang="en-US" sz="2000" dirty="0" smtClean="0">
                <a:ea typeface="ヒラギノ角ゴ Pro W3" pitchFamily="-84" charset="-128"/>
              </a:rPr>
              <a:t>From the </a:t>
            </a:r>
            <a:r>
              <a:rPr lang="en-US" sz="2000" i="1" dirty="0" smtClean="0">
                <a:ea typeface="ヒラギノ角ゴ Pro W3" pitchFamily="-84" charset="-128"/>
              </a:rPr>
              <a:t>income side</a:t>
            </a:r>
            <a:r>
              <a:rPr lang="en-US" sz="2000" dirty="0" smtClean="0">
                <a:ea typeface="ヒラギノ角ゴ Pro W3" pitchFamily="-84" charset="-128"/>
              </a:rPr>
              <a:t>, valued added in the two-firm example is equal to the sum of </a:t>
            </a:r>
            <a:r>
              <a:rPr lang="en-US" sz="2000" i="1" dirty="0" smtClean="0">
                <a:ea typeface="ヒラギノ角ゴ Pro W3" pitchFamily="-84" charset="-128"/>
              </a:rPr>
              <a:t>labor income </a:t>
            </a:r>
            <a:r>
              <a:rPr lang="en-US" sz="2000" dirty="0" smtClean="0">
                <a:ea typeface="ヒラギノ角ゴ Pro W3" pitchFamily="-84" charset="-128"/>
              </a:rPr>
              <a:t>($150) and </a:t>
            </a:r>
            <a:r>
              <a:rPr lang="en-US" sz="2000" i="1" dirty="0" smtClean="0">
                <a:ea typeface="ヒラギノ角ゴ Pro W3" pitchFamily="-84" charset="-128"/>
              </a:rPr>
              <a:t>capital</a:t>
            </a:r>
            <a:r>
              <a:rPr lang="en-US" sz="2000" dirty="0" smtClean="0">
                <a:ea typeface="ヒラギノ角ゴ Pro W3" pitchFamily="-84" charset="-128"/>
              </a:rPr>
              <a:t> or </a:t>
            </a:r>
            <a:r>
              <a:rPr lang="en-US" sz="2000" i="1" dirty="0" smtClean="0">
                <a:ea typeface="ヒラギノ角ゴ Pro W3" pitchFamily="-84" charset="-128"/>
              </a:rPr>
              <a:t>profit</a:t>
            </a:r>
            <a:r>
              <a:rPr lang="en-US" sz="2000" dirty="0" smtClean="0">
                <a:ea typeface="ヒラギノ角ゴ Pro W3" pitchFamily="-84" charset="-128"/>
              </a:rPr>
              <a:t> income ($50), i.e., $200.</a:t>
            </a:r>
          </a:p>
          <a:p>
            <a:pPr>
              <a:spcBef>
                <a:spcPts val="525"/>
              </a:spcBef>
              <a:defRPr/>
            </a:pPr>
            <a:endParaRPr lang="en-US" sz="2400" dirty="0" smtClean="0">
              <a:ea typeface="ヒラギノ角ゴ Pro W3" pitchFamily="-84" charset="-128"/>
            </a:endParaRPr>
          </a:p>
        </p:txBody>
      </p:sp>
    </p:spTree>
  </p:cSld>
  <p:clrMapOvr>
    <a:masterClrMapping/>
  </p:clrMapOvr>
  <p:transition>
    <p:strips dir="l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smtClean="0">
                <a:ea typeface="ヒラギノ角ゴ Pro W3" pitchFamily="-84" charset="-128"/>
              </a:rPr>
              <a:t>2-1 Aggregate Output</a:t>
            </a:r>
          </a:p>
        </p:txBody>
      </p:sp>
      <p:sp>
        <p:nvSpPr>
          <p:cNvPr id="13315" name="Content Placeholder 2"/>
          <p:cNvSpPr>
            <a:spLocks noGrp="1"/>
          </p:cNvSpPr>
          <p:nvPr>
            <p:ph idx="1"/>
          </p:nvPr>
        </p:nvSpPr>
        <p:spPr>
          <a:xfrm>
            <a:off x="381000" y="1295400"/>
            <a:ext cx="8382000" cy="4648200"/>
          </a:xfrm>
        </p:spPr>
        <p:txBody>
          <a:bodyPr/>
          <a:lstStyle/>
          <a:p>
            <a:pPr>
              <a:spcBef>
                <a:spcPts val="525"/>
              </a:spcBef>
            </a:pPr>
            <a:r>
              <a:rPr lang="en-US" sz="2400" b="1" smtClean="0">
                <a:ea typeface="ヒラギノ角ゴ Pro W3" pitchFamily="-84" charset="-128"/>
              </a:rPr>
              <a:t>Nominal GDP </a:t>
            </a:r>
            <a:r>
              <a:rPr lang="en-US" sz="2400" smtClean="0">
                <a:ea typeface="ヒラギノ角ゴ Pro W3" pitchFamily="-84" charset="-128"/>
              </a:rPr>
              <a:t>is the sum of the quantities of final goods produced times their current price.</a:t>
            </a:r>
          </a:p>
          <a:p>
            <a:pPr>
              <a:spcBef>
                <a:spcPts val="525"/>
              </a:spcBef>
            </a:pPr>
            <a:r>
              <a:rPr lang="en-US" sz="2400" smtClean="0">
                <a:ea typeface="ヒラギノ角ゴ Pro W3" pitchFamily="-84" charset="-128"/>
              </a:rPr>
              <a:t>Nominal GDP increases for two reasons:</a:t>
            </a:r>
          </a:p>
          <a:p>
            <a:pPr lvl="1">
              <a:spcBef>
                <a:spcPts val="525"/>
              </a:spcBef>
            </a:pPr>
            <a:r>
              <a:rPr lang="en-US" sz="2000" smtClean="0">
                <a:ea typeface="ヒラギノ角ゴ Pro W3" pitchFamily="-84" charset="-128"/>
              </a:rPr>
              <a:t>The production of most goods increases</a:t>
            </a:r>
          </a:p>
          <a:p>
            <a:pPr lvl="1">
              <a:spcBef>
                <a:spcPts val="525"/>
              </a:spcBef>
            </a:pPr>
            <a:r>
              <a:rPr lang="en-US" sz="2000" smtClean="0">
                <a:ea typeface="ヒラギノ角ゴ Pro W3" pitchFamily="-84" charset="-128"/>
              </a:rPr>
              <a:t>The price of most goods increases</a:t>
            </a:r>
          </a:p>
          <a:p>
            <a:pPr>
              <a:spcBef>
                <a:spcPts val="525"/>
              </a:spcBef>
            </a:pPr>
            <a:r>
              <a:rPr lang="en-US" sz="2400" smtClean="0">
                <a:ea typeface="ヒラギノ角ゴ Pro W3" pitchFamily="-84" charset="-128"/>
              </a:rPr>
              <a:t>Our goal is to measure production and its change over time.</a:t>
            </a:r>
          </a:p>
          <a:p>
            <a:pPr>
              <a:spcBef>
                <a:spcPts val="525"/>
              </a:spcBef>
            </a:pPr>
            <a:r>
              <a:rPr lang="en-US" sz="2400" b="1" smtClean="0">
                <a:ea typeface="ヒラギノ角ゴ Pro W3" pitchFamily="-84" charset="-128"/>
              </a:rPr>
              <a:t>Real GDP </a:t>
            </a:r>
            <a:r>
              <a:rPr lang="en-US" sz="2400" smtClean="0">
                <a:ea typeface="ヒラギノ角ゴ Pro W3" pitchFamily="-84" charset="-128"/>
              </a:rPr>
              <a:t>is the sum of quantities of final goods times </a:t>
            </a:r>
            <a:r>
              <a:rPr lang="en-US" sz="2400" i="1" smtClean="0">
                <a:ea typeface="ヒラギノ角ゴ Pro W3" pitchFamily="-84" charset="-128"/>
              </a:rPr>
              <a:t>constant </a:t>
            </a:r>
            <a:r>
              <a:rPr lang="en-US" sz="2400" smtClean="0">
                <a:ea typeface="ヒラギノ角ゴ Pro W3" pitchFamily="-84" charset="-128"/>
              </a:rPr>
              <a:t>(not </a:t>
            </a:r>
            <a:r>
              <a:rPr lang="en-US" sz="2400" i="1" smtClean="0">
                <a:ea typeface="ヒラギノ角ゴ Pro W3" pitchFamily="-84" charset="-128"/>
              </a:rPr>
              <a:t>current</a:t>
            </a:r>
            <a:r>
              <a:rPr lang="en-US" sz="2400" smtClean="0">
                <a:ea typeface="ヒラギノ角ゴ Pro W3" pitchFamily="-84" charset="-128"/>
              </a:rPr>
              <a:t>) prices.</a:t>
            </a:r>
          </a:p>
          <a:p>
            <a:pPr>
              <a:spcBef>
                <a:spcPts val="525"/>
              </a:spcBef>
            </a:pPr>
            <a:endParaRPr lang="en-US" sz="2400" smtClean="0">
              <a:ea typeface="ヒラギノ角ゴ Pro W3" pitchFamily="-84" charset="-128"/>
            </a:endParaRPr>
          </a:p>
        </p:txBody>
      </p:sp>
    </p:spTree>
  </p:cSld>
  <p:clrMapOvr>
    <a:masterClrMapping/>
  </p:clrMapOvr>
  <p:transition>
    <p:strips dir="l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US" smtClean="0">
                <a:ea typeface="ヒラギノ角ゴ Pro W3" pitchFamily="-84" charset="-128"/>
              </a:rPr>
              <a:t>2-1 Aggregate Output</a:t>
            </a:r>
          </a:p>
        </p:txBody>
      </p:sp>
      <p:sp>
        <p:nvSpPr>
          <p:cNvPr id="8195" name="Content Placeholder 2"/>
          <p:cNvSpPr>
            <a:spLocks noGrp="1"/>
          </p:cNvSpPr>
          <p:nvPr>
            <p:ph idx="1"/>
          </p:nvPr>
        </p:nvSpPr>
        <p:spPr>
          <a:xfrm>
            <a:off x="381000" y="1295400"/>
            <a:ext cx="8382000" cy="5105400"/>
          </a:xfrm>
        </p:spPr>
        <p:txBody>
          <a:bodyPr/>
          <a:lstStyle/>
          <a:p>
            <a:pPr>
              <a:spcBef>
                <a:spcPts val="525"/>
              </a:spcBef>
              <a:defRPr/>
            </a:pPr>
            <a:r>
              <a:rPr lang="en-US" sz="2400" b="1" dirty="0" smtClean="0">
                <a:ea typeface="ヒラギノ角ゴ Pro W3" pitchFamily="-84" charset="-128"/>
              </a:rPr>
              <a:t>Example:</a:t>
            </a:r>
          </a:p>
          <a:p>
            <a:pPr marL="0" indent="0">
              <a:spcBef>
                <a:spcPts val="525"/>
              </a:spcBef>
              <a:buFontTx/>
              <a:buNone/>
              <a:defRPr/>
            </a:pPr>
            <a:endParaRPr lang="en-US" sz="2400" b="1" dirty="0">
              <a:ea typeface="ヒラギノ角ゴ Pro W3" pitchFamily="-84" charset="-128"/>
            </a:endParaRPr>
          </a:p>
          <a:p>
            <a:pPr marL="0" indent="0">
              <a:spcBef>
                <a:spcPts val="525"/>
              </a:spcBef>
              <a:buFontTx/>
              <a:buNone/>
              <a:defRPr/>
            </a:pPr>
            <a:endParaRPr lang="en-US" sz="2400" b="1" dirty="0" smtClean="0">
              <a:ea typeface="ヒラギノ角ゴ Pro W3" pitchFamily="-84" charset="-128"/>
            </a:endParaRPr>
          </a:p>
          <a:p>
            <a:pPr marL="0" indent="0">
              <a:spcBef>
                <a:spcPts val="525"/>
              </a:spcBef>
              <a:buFontTx/>
              <a:buNone/>
              <a:defRPr/>
            </a:pPr>
            <a:endParaRPr lang="en-US" sz="2400" b="1" dirty="0">
              <a:ea typeface="ヒラギノ角ゴ Pro W3" pitchFamily="-84" charset="-128"/>
            </a:endParaRPr>
          </a:p>
          <a:p>
            <a:pPr marL="0" indent="0">
              <a:spcBef>
                <a:spcPts val="525"/>
              </a:spcBef>
              <a:buFontTx/>
              <a:buNone/>
              <a:defRPr/>
            </a:pPr>
            <a:endParaRPr lang="en-US" sz="2400" b="1" dirty="0" smtClean="0">
              <a:ea typeface="ヒラギノ角ゴ Pro W3" pitchFamily="-84" charset="-128"/>
            </a:endParaRPr>
          </a:p>
          <a:p>
            <a:pPr marL="0" indent="0">
              <a:spcBef>
                <a:spcPts val="525"/>
              </a:spcBef>
              <a:buFontTx/>
              <a:buNone/>
              <a:defRPr/>
            </a:pPr>
            <a:endParaRPr lang="en-US" sz="2400" b="1" dirty="0" smtClean="0">
              <a:ea typeface="ヒラギノ角ゴ Pro W3" pitchFamily="-84" charset="-128"/>
            </a:endParaRPr>
          </a:p>
          <a:p>
            <a:pPr marL="0" indent="0">
              <a:spcBef>
                <a:spcPts val="525"/>
              </a:spcBef>
              <a:buFontTx/>
              <a:buNone/>
              <a:defRPr/>
            </a:pPr>
            <a:endParaRPr lang="en-US" sz="2000" b="1" dirty="0" smtClean="0">
              <a:ea typeface="ヒラギノ角ゴ Pro W3" pitchFamily="-84" charset="-128"/>
            </a:endParaRPr>
          </a:p>
          <a:p>
            <a:pPr>
              <a:spcBef>
                <a:spcPts val="525"/>
              </a:spcBef>
              <a:defRPr/>
            </a:pPr>
            <a:r>
              <a:rPr lang="en-US" sz="1800" dirty="0" smtClean="0">
                <a:ea typeface="ヒラギノ角ゴ Pro W3" pitchFamily="-84" charset="-128"/>
              </a:rPr>
              <a:t>Real GDP in 2008 (in 2009 dollars) = 10 cars x $24,000 per car = $240,000.</a:t>
            </a:r>
          </a:p>
          <a:p>
            <a:pPr>
              <a:spcBef>
                <a:spcPts val="525"/>
              </a:spcBef>
              <a:defRPr/>
            </a:pPr>
            <a:r>
              <a:rPr lang="en-US" sz="1800" dirty="0" smtClean="0">
                <a:ea typeface="ヒラギノ角ゴ Pro W3" pitchFamily="-84" charset="-128"/>
              </a:rPr>
              <a:t>Real GDP in 2009 (in 2009 dollars) = 12 cars x $24,000 per car = $288,000.</a:t>
            </a:r>
          </a:p>
          <a:p>
            <a:pPr>
              <a:spcBef>
                <a:spcPts val="525"/>
              </a:spcBef>
              <a:defRPr/>
            </a:pPr>
            <a:r>
              <a:rPr lang="en-US" sz="1800" dirty="0" smtClean="0">
                <a:ea typeface="ヒラギノ角ゴ Pro W3" pitchFamily="-84" charset="-128"/>
              </a:rPr>
              <a:t>Real GDP in 2010 (in 2009 dollars) = 13 cars x $24,000 per car = $312,000.</a:t>
            </a:r>
          </a:p>
          <a:p>
            <a:pPr>
              <a:spcBef>
                <a:spcPts val="525"/>
              </a:spcBef>
              <a:defRPr/>
            </a:pPr>
            <a:endParaRPr lang="en-US" sz="2400" dirty="0" smtClean="0">
              <a:ea typeface="ヒラギノ角ゴ Pro W3" pitchFamily="-84" charset="-128"/>
            </a:endParaRPr>
          </a:p>
        </p:txBody>
      </p:sp>
      <p:pic>
        <p:nvPicPr>
          <p:cNvPr id="14340" name="Picture 1"/>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46075" y="1905000"/>
            <a:ext cx="8175625" cy="1752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strips dir="l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US" smtClean="0">
                <a:ea typeface="ヒラギノ角ゴ Pro W3" pitchFamily="-84" charset="-128"/>
              </a:rPr>
              <a:t>2-1 Aggregate Output</a:t>
            </a:r>
          </a:p>
        </p:txBody>
      </p:sp>
      <p:sp>
        <p:nvSpPr>
          <p:cNvPr id="15363" name="Content Placeholder 2"/>
          <p:cNvSpPr>
            <a:spLocks noGrp="1"/>
          </p:cNvSpPr>
          <p:nvPr>
            <p:ph idx="1"/>
          </p:nvPr>
        </p:nvSpPr>
        <p:spPr>
          <a:xfrm>
            <a:off x="381000" y="1295400"/>
            <a:ext cx="8382000" cy="4648200"/>
          </a:xfrm>
        </p:spPr>
        <p:txBody>
          <a:bodyPr/>
          <a:lstStyle/>
          <a:p>
            <a:pPr>
              <a:spcBef>
                <a:spcPts val="525"/>
              </a:spcBef>
            </a:pPr>
            <a:r>
              <a:rPr lang="en-US" sz="2400" smtClean="0">
                <a:ea typeface="ヒラギノ角ゴ Pro W3" pitchFamily="-84" charset="-128"/>
              </a:rPr>
              <a:t>For more than one good, relative prices of the goods are natural weights for constructed the weighted average of the output of all final goods.</a:t>
            </a:r>
          </a:p>
          <a:p>
            <a:pPr>
              <a:spcBef>
                <a:spcPts val="525"/>
              </a:spcBef>
            </a:pPr>
            <a:r>
              <a:rPr lang="en-US" sz="2400" b="1" smtClean="0">
                <a:ea typeface="ヒラギノ角ゴ Pro W3" pitchFamily="-84" charset="-128"/>
              </a:rPr>
              <a:t>Real GDP in chained (2009) dollars </a:t>
            </a:r>
            <a:r>
              <a:rPr lang="en-US" sz="2400" smtClean="0">
                <a:ea typeface="ヒラギノ角ゴ Pro W3" pitchFamily="-84" charset="-128"/>
              </a:rPr>
              <a:t>reflects relative prices that change over time.</a:t>
            </a:r>
          </a:p>
          <a:p>
            <a:pPr>
              <a:spcBef>
                <a:spcPts val="525"/>
              </a:spcBef>
            </a:pPr>
            <a:r>
              <a:rPr lang="en-US" sz="2400" smtClean="0">
                <a:ea typeface="ヒラギノ角ゴ Pro W3" pitchFamily="-84" charset="-128"/>
              </a:rPr>
              <a:t>The year used to construct prices is called the </a:t>
            </a:r>
            <a:r>
              <a:rPr lang="en-US" sz="2400" i="1" smtClean="0">
                <a:ea typeface="ヒラギノ角ゴ Pro W3" pitchFamily="-84" charset="-128"/>
              </a:rPr>
              <a:t>base year</a:t>
            </a:r>
            <a:r>
              <a:rPr lang="en-US" sz="2400" smtClean="0">
                <a:ea typeface="ヒラギノ角ゴ Pro W3" pitchFamily="-84" charset="-128"/>
              </a:rPr>
              <a:t>.</a:t>
            </a:r>
          </a:p>
        </p:txBody>
      </p:sp>
    </p:spTree>
  </p:cSld>
  <p:clrMapOvr>
    <a:masterClrMapping/>
  </p:clrMapOvr>
  <p:transition>
    <p:strips dir="l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smtClean="0">
                <a:ea typeface="ヒラギノ角ゴ Pro W3" pitchFamily="-84" charset="-128"/>
              </a:rPr>
              <a:t>2-1 Aggregate Output</a:t>
            </a:r>
          </a:p>
        </p:txBody>
      </p:sp>
      <p:sp>
        <p:nvSpPr>
          <p:cNvPr id="16387" name="Content Placeholder 2"/>
          <p:cNvSpPr>
            <a:spLocks noGrp="1"/>
          </p:cNvSpPr>
          <p:nvPr>
            <p:ph idx="1"/>
          </p:nvPr>
        </p:nvSpPr>
        <p:spPr>
          <a:xfrm>
            <a:off x="531301" y="5614987"/>
            <a:ext cx="8382000" cy="762000"/>
          </a:xfrm>
        </p:spPr>
        <p:txBody>
          <a:bodyPr/>
          <a:lstStyle/>
          <a:p>
            <a:pPr marL="0" indent="0">
              <a:spcBef>
                <a:spcPts val="525"/>
              </a:spcBef>
              <a:buNone/>
            </a:pPr>
            <a:r>
              <a:rPr lang="en-US" sz="1600" dirty="0" smtClean="0">
                <a:ea typeface="ヒラギノ角ゴ Pro W3" pitchFamily="-84" charset="-128"/>
              </a:rPr>
              <a:t>From 1960 and 2014, nominal GDP increased by a factor of 32.  Real GDP increased by a factor of about 5.</a:t>
            </a:r>
          </a:p>
        </p:txBody>
      </p:sp>
      <p:sp>
        <p:nvSpPr>
          <p:cNvPr id="16388" name="TextBox 4"/>
          <p:cNvSpPr txBox="1">
            <a:spLocks noChangeArrowheads="1"/>
          </p:cNvSpPr>
          <p:nvPr/>
        </p:nvSpPr>
        <p:spPr bwMode="auto">
          <a:xfrm>
            <a:off x="277813" y="1093788"/>
            <a:ext cx="838200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ea typeface="ヒラギノ角ゴ Pro W3" pitchFamily="-84" charset="-128"/>
              </a:defRPr>
            </a:lvl1pPr>
            <a:lvl2pPr marL="742950" indent="-285750">
              <a:spcBef>
                <a:spcPct val="20000"/>
              </a:spcBef>
              <a:buChar char="–"/>
              <a:defRPr sz="2400">
                <a:solidFill>
                  <a:schemeClr val="tx1"/>
                </a:solidFill>
                <a:latin typeface="Verdana" panose="020B0604030504040204" pitchFamily="34" charset="0"/>
                <a:ea typeface="ヒラギノ角ゴ Pro W3" pitchFamily="-84" charset="-128"/>
              </a:defRPr>
            </a:lvl2pPr>
            <a:lvl3pPr marL="1143000" indent="-228600">
              <a:spcBef>
                <a:spcPct val="20000"/>
              </a:spcBef>
              <a:buChar char="•"/>
              <a:defRPr sz="2000">
                <a:solidFill>
                  <a:schemeClr val="tx1"/>
                </a:solidFill>
                <a:latin typeface="Verdana" panose="020B0604030504040204" pitchFamily="34" charset="0"/>
                <a:ea typeface="ヒラギノ角ゴ Pro W3" pitchFamily="-84" charset="-128"/>
              </a:defRPr>
            </a:lvl3pPr>
            <a:lvl4pPr marL="1600200" indent="-228600">
              <a:spcBef>
                <a:spcPct val="20000"/>
              </a:spcBef>
              <a:buChar char="–"/>
              <a:defRPr>
                <a:solidFill>
                  <a:schemeClr val="tx1"/>
                </a:solidFill>
                <a:latin typeface="Verdana" panose="020B0604030504040204" pitchFamily="34" charset="0"/>
                <a:ea typeface="ヒラギノ角ゴ Pro W3" pitchFamily="-84" charset="-128"/>
              </a:defRPr>
            </a:lvl4pPr>
            <a:lvl5pPr marL="2057400" indent="-228600">
              <a:spcBef>
                <a:spcPct val="20000"/>
              </a:spcBef>
              <a:buChar char="»"/>
              <a:defRPr>
                <a:solidFill>
                  <a:schemeClr val="tx1"/>
                </a:solidFill>
                <a:latin typeface="Verdana" panose="020B0604030504040204" pitchFamily="34" charset="0"/>
                <a:ea typeface="ヒラギノ角ゴ Pro W3" pitchFamily="-84" charset="-128"/>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9pPr>
          </a:lstStyle>
          <a:p>
            <a:pPr>
              <a:spcBef>
                <a:spcPct val="0"/>
              </a:spcBef>
              <a:buFontTx/>
              <a:buNone/>
            </a:pPr>
            <a:r>
              <a:rPr lang="en-US" sz="1800" b="1" dirty="0"/>
              <a:t>Figure 2-1  </a:t>
            </a:r>
            <a:r>
              <a:rPr lang="en-US" sz="1800" dirty="0"/>
              <a:t>Nominal and Real U.S. GDP, 1960–2014</a:t>
            </a:r>
          </a:p>
        </p:txBody>
      </p:sp>
      <p:pic>
        <p:nvPicPr>
          <p:cNvPr id="16389" name="Picture 1"/>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87350" y="1524000"/>
            <a:ext cx="6303963" cy="3962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6390" name="Picture 2"/>
          <p:cNvPicPr>
            <a:picLocks noChangeAspect="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781800" y="4400640"/>
            <a:ext cx="2219325" cy="8286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strips dir="l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mtClean="0">
                <a:ea typeface="ヒラギノ角ゴ Pro W3" pitchFamily="-84" charset="-128"/>
              </a:rPr>
              <a:t>2-1 Aggregate Output</a:t>
            </a:r>
          </a:p>
        </p:txBody>
      </p:sp>
      <p:sp>
        <p:nvSpPr>
          <p:cNvPr id="17411" name="Content Placeholder 2"/>
          <p:cNvSpPr>
            <a:spLocks noGrp="1"/>
          </p:cNvSpPr>
          <p:nvPr>
            <p:ph idx="1"/>
          </p:nvPr>
        </p:nvSpPr>
        <p:spPr>
          <a:xfrm>
            <a:off x="381000" y="1295400"/>
            <a:ext cx="8382000" cy="4648200"/>
          </a:xfrm>
        </p:spPr>
        <p:txBody>
          <a:bodyPr/>
          <a:lstStyle/>
          <a:p>
            <a:pPr>
              <a:spcBef>
                <a:spcPts val="525"/>
              </a:spcBef>
            </a:pPr>
            <a:r>
              <a:rPr lang="en-US" sz="2400" dirty="0" smtClean="0">
                <a:ea typeface="ヒラギノ角ゴ Pro W3" pitchFamily="-84" charset="-128"/>
              </a:rPr>
              <a:t>Nominal GDP is also called </a:t>
            </a:r>
            <a:r>
              <a:rPr lang="en-US" sz="2400" b="1" dirty="0" smtClean="0">
                <a:ea typeface="ヒラギノ角ゴ Pro W3" pitchFamily="-84" charset="-128"/>
              </a:rPr>
              <a:t>dollar GDP</a:t>
            </a:r>
            <a:r>
              <a:rPr lang="en-US" sz="2400" dirty="0" smtClean="0">
                <a:ea typeface="ヒラギノ角ゴ Pro W3" pitchFamily="-84" charset="-128"/>
              </a:rPr>
              <a:t>, or </a:t>
            </a:r>
            <a:r>
              <a:rPr lang="en-US" sz="2400" b="1" dirty="0" smtClean="0">
                <a:ea typeface="ヒラギノ角ゴ Pro W3" pitchFamily="-84" charset="-128"/>
              </a:rPr>
              <a:t>GDP in current dollars</a:t>
            </a:r>
            <a:r>
              <a:rPr lang="en-US" sz="2400" dirty="0" smtClean="0">
                <a:ea typeface="ヒラギノ角ゴ Pro W3" pitchFamily="-84" charset="-128"/>
              </a:rPr>
              <a:t>.</a:t>
            </a:r>
          </a:p>
          <a:p>
            <a:pPr>
              <a:spcBef>
                <a:spcPts val="525"/>
              </a:spcBef>
            </a:pPr>
            <a:r>
              <a:rPr lang="en-US" sz="2400" dirty="0" smtClean="0">
                <a:ea typeface="ヒラギノ角ゴ Pro W3" pitchFamily="-84" charset="-128"/>
              </a:rPr>
              <a:t>Real GDP is also called </a:t>
            </a:r>
            <a:r>
              <a:rPr lang="en-US" sz="2400" b="1" dirty="0" smtClean="0">
                <a:ea typeface="ヒラギノ角ゴ Pro W3" pitchFamily="-84" charset="-128"/>
              </a:rPr>
              <a:t>GDP in terms of goods, GDP in constant dollars, GDP adjusted for inflation, </a:t>
            </a:r>
            <a:r>
              <a:rPr lang="en-US" sz="2400" dirty="0" smtClean="0">
                <a:ea typeface="ヒラギノ角ゴ Pro W3" pitchFamily="-84" charset="-128"/>
              </a:rPr>
              <a:t>or </a:t>
            </a:r>
            <a:r>
              <a:rPr lang="en-US" sz="2400" b="1" dirty="0" smtClean="0">
                <a:ea typeface="ヒラギノ角ゴ Pro W3" pitchFamily="-84" charset="-128"/>
              </a:rPr>
              <a:t>GDP in chained (2009) dollars</a:t>
            </a:r>
            <a:r>
              <a:rPr lang="en-US" sz="2400" dirty="0" smtClean="0">
                <a:ea typeface="ヒラギノ角ゴ Pro W3" pitchFamily="-84" charset="-128"/>
              </a:rPr>
              <a:t>, or </a:t>
            </a:r>
            <a:r>
              <a:rPr lang="en-US" sz="2400" b="1" dirty="0" smtClean="0">
                <a:ea typeface="ヒラギノ角ゴ Pro W3" pitchFamily="-84" charset="-128"/>
              </a:rPr>
              <a:t>GDP in 2009 dollars</a:t>
            </a:r>
            <a:r>
              <a:rPr lang="en-US" sz="2400" dirty="0" smtClean="0">
                <a:ea typeface="ヒラギノ角ゴ Pro W3" pitchFamily="-84" charset="-128"/>
              </a:rPr>
              <a:t>.</a:t>
            </a:r>
          </a:p>
          <a:p>
            <a:pPr>
              <a:spcBef>
                <a:spcPts val="525"/>
              </a:spcBef>
            </a:pPr>
            <a:r>
              <a:rPr lang="en-US" sz="2400" dirty="0" smtClean="0">
                <a:ea typeface="ヒラギノ角ゴ Pro W3" pitchFamily="-84" charset="-128"/>
              </a:rPr>
              <a:t>GDP will refer to </a:t>
            </a:r>
            <a:r>
              <a:rPr lang="en-US" sz="2400" i="1" dirty="0" smtClean="0">
                <a:ea typeface="ヒラギノ角ゴ Pro W3" pitchFamily="-84" charset="-128"/>
              </a:rPr>
              <a:t>real GDP</a:t>
            </a:r>
            <a:r>
              <a:rPr lang="en-US" sz="2400" dirty="0" smtClean="0">
                <a:ea typeface="ヒラギノ角ゴ Pro W3" pitchFamily="-84" charset="-128"/>
              </a:rPr>
              <a:t>.</a:t>
            </a:r>
          </a:p>
          <a:p>
            <a:pPr>
              <a:spcBef>
                <a:spcPts val="525"/>
              </a:spcBef>
            </a:pPr>
            <a:r>
              <a:rPr lang="en-US" sz="2400" i="1" dirty="0" smtClean="0">
                <a:ea typeface="ヒラギノ角ゴ Pro W3" pitchFamily="-84" charset="-128"/>
              </a:rPr>
              <a:t>Y</a:t>
            </a:r>
            <a:r>
              <a:rPr lang="en-US" sz="2400" i="1" baseline="-25000" dirty="0" smtClean="0">
                <a:ea typeface="ヒラギノ角ゴ Pro W3" pitchFamily="-84" charset="-128"/>
              </a:rPr>
              <a:t>t</a:t>
            </a:r>
            <a:r>
              <a:rPr lang="en-US" sz="2400" dirty="0" smtClean="0">
                <a:ea typeface="ヒラギノ角ゴ Pro W3" pitchFamily="-84" charset="-128"/>
              </a:rPr>
              <a:t> will denote </a:t>
            </a:r>
            <a:r>
              <a:rPr lang="en-US" sz="2400" i="1" dirty="0" smtClean="0">
                <a:ea typeface="ヒラギノ角ゴ Pro W3" pitchFamily="-84" charset="-128"/>
              </a:rPr>
              <a:t>real GDP in year t</a:t>
            </a:r>
            <a:r>
              <a:rPr lang="en-US" sz="2400" dirty="0" smtClean="0">
                <a:ea typeface="ヒラギノ角ゴ Pro W3" pitchFamily="-84" charset="-128"/>
              </a:rPr>
              <a:t>.</a:t>
            </a:r>
          </a:p>
          <a:p>
            <a:pPr>
              <a:spcBef>
                <a:spcPts val="525"/>
              </a:spcBef>
            </a:pPr>
            <a:r>
              <a:rPr lang="en-US" sz="2400" dirty="0" smtClean="0">
                <a:ea typeface="ヒラギノ角ゴ Pro W3" pitchFamily="-84" charset="-128"/>
              </a:rPr>
              <a:t>Nominal GDP and variables in current dollars will be denoted by a dollar sign in front of them, e.g., $</a:t>
            </a:r>
            <a:r>
              <a:rPr lang="en-US" sz="2400" i="1" dirty="0" smtClean="0">
                <a:ea typeface="ヒラギノ角ゴ Pro W3" pitchFamily="-84" charset="-128"/>
              </a:rPr>
              <a:t>Y</a:t>
            </a:r>
            <a:r>
              <a:rPr lang="en-US" sz="2400" i="1" baseline="-25000" dirty="0" smtClean="0">
                <a:ea typeface="ヒラギノ角ゴ Pro W3" pitchFamily="-84" charset="-128"/>
              </a:rPr>
              <a:t>t</a:t>
            </a:r>
            <a:r>
              <a:rPr lang="en-US" sz="2400" dirty="0" smtClean="0">
                <a:ea typeface="ヒラギノ角ゴ Pro W3" pitchFamily="-84" charset="-128"/>
              </a:rPr>
              <a:t>.</a:t>
            </a:r>
          </a:p>
        </p:txBody>
      </p:sp>
    </p:spTree>
  </p:cSld>
  <p:clrMapOvr>
    <a:masterClrMapping/>
  </p:clrMapOvr>
  <p:transition>
    <p:strips dir="l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smtClean="0">
                <a:ea typeface="ヒラギノ角ゴ Pro W3" pitchFamily="-84" charset="-128"/>
              </a:rPr>
              <a:t>2-1 Aggregate Output</a:t>
            </a:r>
          </a:p>
        </p:txBody>
      </p:sp>
      <p:sp>
        <p:nvSpPr>
          <p:cNvPr id="18435" name="Content Placeholder 2"/>
          <p:cNvSpPr>
            <a:spLocks noGrp="1"/>
          </p:cNvSpPr>
          <p:nvPr>
            <p:ph idx="1"/>
          </p:nvPr>
        </p:nvSpPr>
        <p:spPr>
          <a:xfrm>
            <a:off x="439738" y="5216525"/>
            <a:ext cx="8382000" cy="1600200"/>
          </a:xfrm>
        </p:spPr>
        <p:txBody>
          <a:bodyPr/>
          <a:lstStyle/>
          <a:p>
            <a:pPr marL="0" indent="0">
              <a:spcBef>
                <a:spcPts val="525"/>
              </a:spcBef>
              <a:buNone/>
            </a:pPr>
            <a:r>
              <a:rPr lang="en-US" sz="1600" dirty="0" smtClean="0">
                <a:ea typeface="ヒラギノ角ゴ Pro W3" pitchFamily="-84" charset="-128"/>
              </a:rPr>
              <a:t>GDP growth in year </a:t>
            </a:r>
            <a:r>
              <a:rPr lang="en-US" sz="1600" i="1" dirty="0" smtClean="0">
                <a:ea typeface="ヒラギノ角ゴ Pro W3" pitchFamily="-84" charset="-128"/>
              </a:rPr>
              <a:t>t</a:t>
            </a:r>
            <a:r>
              <a:rPr lang="en-US" sz="1600" dirty="0" smtClean="0">
                <a:ea typeface="ヒラギノ角ゴ Pro W3" pitchFamily="-84" charset="-128"/>
              </a:rPr>
              <a:t> is (</a:t>
            </a:r>
            <a:r>
              <a:rPr lang="en-US" sz="1600" i="1" dirty="0" smtClean="0">
                <a:ea typeface="ヒラギノ角ゴ Pro W3" pitchFamily="-84" charset="-128"/>
              </a:rPr>
              <a:t>Y</a:t>
            </a:r>
            <a:r>
              <a:rPr lang="en-US" sz="1600" i="1" baseline="-25000" dirty="0" smtClean="0">
                <a:ea typeface="ヒラギノ角ゴ Pro W3" pitchFamily="-84" charset="-128"/>
              </a:rPr>
              <a:t>t</a:t>
            </a:r>
            <a:r>
              <a:rPr lang="en-US" sz="1600" i="1" dirty="0" smtClean="0">
                <a:ea typeface="ヒラギノ角ゴ Pro W3" pitchFamily="-84" charset="-128"/>
              </a:rPr>
              <a:t> − Y</a:t>
            </a:r>
            <a:r>
              <a:rPr lang="en-US" sz="1600" i="1" baseline="-25000" dirty="0" smtClean="0">
                <a:ea typeface="ヒラギノ角ゴ Pro W3" pitchFamily="-84" charset="-128"/>
              </a:rPr>
              <a:t>t-</a:t>
            </a:r>
            <a:r>
              <a:rPr lang="en-US" sz="1600" baseline="-25000" dirty="0" smtClean="0">
                <a:ea typeface="ヒラギノ角ゴ Pro W3" pitchFamily="-84" charset="-128"/>
              </a:rPr>
              <a:t>1</a:t>
            </a:r>
            <a:r>
              <a:rPr lang="en-US" sz="1600" dirty="0" smtClean="0">
                <a:ea typeface="ヒラギノ角ゴ Pro W3" pitchFamily="-84" charset="-128"/>
              </a:rPr>
              <a:t>)</a:t>
            </a:r>
            <a:r>
              <a:rPr lang="en-US" sz="1600" i="1" dirty="0" smtClean="0">
                <a:ea typeface="ヒラギノ角ゴ Pro W3" pitchFamily="-84" charset="-128"/>
              </a:rPr>
              <a:t>/Y</a:t>
            </a:r>
            <a:r>
              <a:rPr lang="en-US" sz="1600" i="1" baseline="-25000" dirty="0" smtClean="0">
                <a:ea typeface="ヒラギノ角ゴ Pro W3" pitchFamily="-84" charset="-128"/>
              </a:rPr>
              <a:t>t-</a:t>
            </a:r>
            <a:r>
              <a:rPr lang="en-US" sz="1600" baseline="-25000" dirty="0" smtClean="0">
                <a:ea typeface="ヒラギノ角ゴ Pro W3" pitchFamily="-84" charset="-128"/>
              </a:rPr>
              <a:t>1</a:t>
            </a:r>
            <a:r>
              <a:rPr lang="en-US" sz="1600" dirty="0" smtClean="0">
                <a:ea typeface="ヒラギノ角ゴ Pro W3" pitchFamily="-84" charset="-128"/>
              </a:rPr>
              <a:t>.</a:t>
            </a:r>
            <a:endParaRPr lang="en-US" sz="1600" baseline="-25000" dirty="0" smtClean="0">
              <a:ea typeface="ヒラギノ角ゴ Pro W3" pitchFamily="-84" charset="-128"/>
            </a:endParaRPr>
          </a:p>
          <a:p>
            <a:pPr marL="0" indent="0">
              <a:spcBef>
                <a:spcPts val="525"/>
              </a:spcBef>
              <a:buNone/>
            </a:pPr>
            <a:r>
              <a:rPr lang="en-US" sz="1600" dirty="0" smtClean="0">
                <a:ea typeface="ヒラギノ角ゴ Pro W3" pitchFamily="-84" charset="-128"/>
              </a:rPr>
              <a:t>Since 1960, the U.S. economy has gone through a series of expansions, interrupted by short recessions.  The 2008−2009 recession was the most severe recession in the period from 1960 to 2014.</a:t>
            </a:r>
          </a:p>
        </p:txBody>
      </p:sp>
      <p:sp>
        <p:nvSpPr>
          <p:cNvPr id="18436" name="TextBox 4"/>
          <p:cNvSpPr txBox="1">
            <a:spLocks noChangeArrowheads="1"/>
          </p:cNvSpPr>
          <p:nvPr/>
        </p:nvSpPr>
        <p:spPr bwMode="auto">
          <a:xfrm>
            <a:off x="304800" y="1098596"/>
            <a:ext cx="838200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ea typeface="ヒラギノ角ゴ Pro W3" pitchFamily="-84" charset="-128"/>
              </a:defRPr>
            </a:lvl1pPr>
            <a:lvl2pPr marL="742950" indent="-285750">
              <a:spcBef>
                <a:spcPct val="20000"/>
              </a:spcBef>
              <a:buChar char="–"/>
              <a:defRPr sz="2400">
                <a:solidFill>
                  <a:schemeClr val="tx1"/>
                </a:solidFill>
                <a:latin typeface="Verdana" panose="020B0604030504040204" pitchFamily="34" charset="0"/>
                <a:ea typeface="ヒラギノ角ゴ Pro W3" pitchFamily="-84" charset="-128"/>
              </a:defRPr>
            </a:lvl2pPr>
            <a:lvl3pPr marL="1143000" indent="-228600">
              <a:spcBef>
                <a:spcPct val="20000"/>
              </a:spcBef>
              <a:buChar char="•"/>
              <a:defRPr sz="2000">
                <a:solidFill>
                  <a:schemeClr val="tx1"/>
                </a:solidFill>
                <a:latin typeface="Verdana" panose="020B0604030504040204" pitchFamily="34" charset="0"/>
                <a:ea typeface="ヒラギノ角ゴ Pro W3" pitchFamily="-84" charset="-128"/>
              </a:defRPr>
            </a:lvl3pPr>
            <a:lvl4pPr marL="1600200" indent="-228600">
              <a:spcBef>
                <a:spcPct val="20000"/>
              </a:spcBef>
              <a:buChar char="–"/>
              <a:defRPr>
                <a:solidFill>
                  <a:schemeClr val="tx1"/>
                </a:solidFill>
                <a:latin typeface="Verdana" panose="020B0604030504040204" pitchFamily="34" charset="0"/>
                <a:ea typeface="ヒラギノ角ゴ Pro W3" pitchFamily="-84" charset="-128"/>
              </a:defRPr>
            </a:lvl4pPr>
            <a:lvl5pPr marL="2057400" indent="-228600">
              <a:spcBef>
                <a:spcPct val="20000"/>
              </a:spcBef>
              <a:buChar char="»"/>
              <a:defRPr>
                <a:solidFill>
                  <a:schemeClr val="tx1"/>
                </a:solidFill>
                <a:latin typeface="Verdana" panose="020B0604030504040204" pitchFamily="34" charset="0"/>
                <a:ea typeface="ヒラギノ角ゴ Pro W3" pitchFamily="-84" charset="-128"/>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9pPr>
          </a:lstStyle>
          <a:p>
            <a:pPr>
              <a:spcBef>
                <a:spcPct val="0"/>
              </a:spcBef>
              <a:buFontTx/>
              <a:buNone/>
            </a:pPr>
            <a:r>
              <a:rPr lang="en-US" sz="1800" b="1" dirty="0"/>
              <a:t>Figure 2-2  </a:t>
            </a:r>
            <a:r>
              <a:rPr lang="en-US" sz="1800" dirty="0"/>
              <a:t>Growth Rate of U.S. GDP, 1960–2014</a:t>
            </a:r>
          </a:p>
        </p:txBody>
      </p:sp>
      <p:pic>
        <p:nvPicPr>
          <p:cNvPr id="18437" name="Picture 1"/>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819400" y="1487488"/>
            <a:ext cx="5692775" cy="335756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8438" name="Picture 2"/>
          <p:cNvPicPr>
            <a:picLocks noChangeAspect="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39738" y="4191000"/>
            <a:ext cx="2190750" cy="400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strips dir="l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sz="2400" smtClean="0">
                <a:ea typeface="ヒラギノ角ゴ Pro W3" pitchFamily="-84" charset="-128"/>
              </a:rPr>
              <a:t>FOCUS: Real GDP, Technological Progress, and the Price of Computers</a:t>
            </a:r>
          </a:p>
        </p:txBody>
      </p:sp>
      <p:sp>
        <p:nvSpPr>
          <p:cNvPr id="19459" name="Content Placeholder 2"/>
          <p:cNvSpPr>
            <a:spLocks noGrp="1"/>
          </p:cNvSpPr>
          <p:nvPr>
            <p:ph idx="1"/>
          </p:nvPr>
        </p:nvSpPr>
        <p:spPr>
          <a:xfrm>
            <a:off x="449826" y="1524000"/>
            <a:ext cx="8382000" cy="4191000"/>
          </a:xfrm>
        </p:spPr>
        <p:txBody>
          <a:bodyPr/>
          <a:lstStyle/>
          <a:p>
            <a:pPr>
              <a:spcBef>
                <a:spcPts val="525"/>
              </a:spcBef>
            </a:pPr>
            <a:r>
              <a:rPr lang="en-US" sz="2000" dirty="0" smtClean="0">
                <a:ea typeface="ヒラギノ角ゴ Pro W3" pitchFamily="-84" charset="-128"/>
              </a:rPr>
              <a:t>The Department of Commerce deals with changes in the quality of existing goods like computers with an approach called </a:t>
            </a:r>
            <a:r>
              <a:rPr lang="en-US" sz="2000" b="1" dirty="0" smtClean="0">
                <a:ea typeface="ヒラギノ角ゴ Pro W3" pitchFamily="-84" charset="-128"/>
              </a:rPr>
              <a:t>hedonic pricing</a:t>
            </a:r>
            <a:r>
              <a:rPr lang="en-US" sz="2000" dirty="0" smtClean="0">
                <a:ea typeface="ヒラギノ角ゴ Pro W3" pitchFamily="-84" charset="-128"/>
              </a:rPr>
              <a:t>, which treats goods as providing a collection of characteristics.</a:t>
            </a:r>
          </a:p>
          <a:p>
            <a:pPr>
              <a:spcBef>
                <a:spcPts val="525"/>
              </a:spcBef>
            </a:pPr>
            <a:r>
              <a:rPr lang="en-US" sz="2000" dirty="0" smtClean="0">
                <a:ea typeface="ヒラギノ角ゴ Pro W3" pitchFamily="-84" charset="-128"/>
              </a:rPr>
              <a:t>The quality of new laptops (computing services) has increased on average by 18% a year since 1995.</a:t>
            </a:r>
          </a:p>
          <a:p>
            <a:pPr>
              <a:spcBef>
                <a:spcPts val="525"/>
              </a:spcBef>
            </a:pPr>
            <a:r>
              <a:rPr lang="en-US" sz="2000" dirty="0" smtClean="0">
                <a:ea typeface="ヒラギノ角ゴ Pro W3" pitchFamily="-84" charset="-128"/>
              </a:rPr>
              <a:t>The dollar price of a typical laptop has also declined by about 7% a year since 1995.</a:t>
            </a:r>
          </a:p>
          <a:p>
            <a:pPr>
              <a:spcBef>
                <a:spcPts val="525"/>
              </a:spcBef>
            </a:pPr>
            <a:r>
              <a:rPr lang="en-US" sz="2000" dirty="0" smtClean="0">
                <a:ea typeface="ヒラギノ角ゴ Pro W3" pitchFamily="-84" charset="-128"/>
              </a:rPr>
              <a:t>This implies that laptops’ quality-adjusted price has fallen at an average rate of 18% + 7% = 25% per year.</a:t>
            </a:r>
          </a:p>
          <a:p>
            <a:pPr>
              <a:spcBef>
                <a:spcPts val="525"/>
              </a:spcBef>
            </a:pPr>
            <a:endParaRPr lang="en-US" sz="2000" dirty="0" smtClean="0">
              <a:ea typeface="ヒラギノ角ゴ Pro W3" pitchFamily="-84" charset="-128"/>
            </a:endParaRPr>
          </a:p>
        </p:txBody>
      </p:sp>
    </p:spTree>
  </p:cSld>
  <p:clrMapOvr>
    <a:masterClrMapping/>
  </p:clrMapOvr>
  <p:transition>
    <p:strips dir="l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smtClean="0">
                <a:ea typeface="ヒラギノ角ゴ Pro W3" pitchFamily="-84" charset="-128"/>
              </a:rPr>
              <a:t>2-2 The Unemployment Rate</a:t>
            </a:r>
          </a:p>
        </p:txBody>
      </p:sp>
      <p:sp>
        <p:nvSpPr>
          <p:cNvPr id="20483" name="Content Placeholder 2"/>
          <p:cNvSpPr>
            <a:spLocks noGrp="1"/>
          </p:cNvSpPr>
          <p:nvPr>
            <p:ph idx="1"/>
          </p:nvPr>
        </p:nvSpPr>
        <p:spPr>
          <a:xfrm>
            <a:off x="381000" y="1295400"/>
            <a:ext cx="8382000" cy="4648200"/>
          </a:xfrm>
        </p:spPr>
        <p:txBody>
          <a:bodyPr/>
          <a:lstStyle/>
          <a:p>
            <a:pPr>
              <a:spcBef>
                <a:spcPts val="525"/>
              </a:spcBef>
            </a:pPr>
            <a:r>
              <a:rPr lang="en-US" sz="2400" b="1" smtClean="0">
                <a:ea typeface="ヒラギノ角ゴ Pro W3" pitchFamily="-84" charset="-128"/>
              </a:rPr>
              <a:t>Employment</a:t>
            </a:r>
            <a:r>
              <a:rPr lang="en-US" sz="2400" smtClean="0">
                <a:ea typeface="ヒラギノ角ゴ Pro W3" pitchFamily="-84" charset="-128"/>
              </a:rPr>
              <a:t> is the number of people who have a job.</a:t>
            </a:r>
          </a:p>
          <a:p>
            <a:pPr>
              <a:spcBef>
                <a:spcPts val="525"/>
              </a:spcBef>
            </a:pPr>
            <a:r>
              <a:rPr lang="en-US" sz="2400" b="1" smtClean="0">
                <a:ea typeface="ヒラギノ角ゴ Pro W3" pitchFamily="-84" charset="-128"/>
              </a:rPr>
              <a:t>Unemployment</a:t>
            </a:r>
            <a:r>
              <a:rPr lang="en-US" sz="2400" smtClean="0">
                <a:ea typeface="ヒラギノ角ゴ Pro W3" pitchFamily="-84" charset="-128"/>
              </a:rPr>
              <a:t> is the number of people who do not have a job but are looking for one.</a:t>
            </a:r>
          </a:p>
          <a:p>
            <a:pPr>
              <a:spcBef>
                <a:spcPts val="525"/>
              </a:spcBef>
            </a:pPr>
            <a:r>
              <a:rPr lang="en-US" sz="2400" smtClean="0">
                <a:ea typeface="ヒラギノ角ゴ Pro W3" pitchFamily="-84" charset="-128"/>
              </a:rPr>
              <a:t>The </a:t>
            </a:r>
            <a:r>
              <a:rPr lang="en-US" sz="2400" b="1" smtClean="0">
                <a:ea typeface="ヒラギノ角ゴ Pro W3" pitchFamily="-84" charset="-128"/>
              </a:rPr>
              <a:t>labor force </a:t>
            </a:r>
            <a:r>
              <a:rPr lang="en-US" sz="2400" smtClean="0">
                <a:ea typeface="ヒラギノ角ゴ Pro W3" pitchFamily="-84" charset="-128"/>
              </a:rPr>
              <a:t>is the sum of employment and unemployment.</a:t>
            </a:r>
          </a:p>
          <a:p>
            <a:pPr>
              <a:spcBef>
                <a:spcPts val="525"/>
              </a:spcBef>
            </a:pPr>
            <a:endParaRPr lang="en-US" sz="2400" smtClean="0">
              <a:ea typeface="ヒラギノ角ゴ Pro W3" pitchFamily="-84" charset="-128"/>
            </a:endParaRPr>
          </a:p>
        </p:txBody>
      </p:sp>
      <p:pic>
        <p:nvPicPr>
          <p:cNvPr id="20484" name="Picture 4"/>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295400" y="4114800"/>
            <a:ext cx="5969203" cy="914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strips dir="l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smtClean="0">
                <a:ea typeface="ヒラギノ角ゴ Pro W3" pitchFamily="-84" charset="-128"/>
              </a:rPr>
              <a:t>2-2 The Unemployment Rate</a:t>
            </a:r>
          </a:p>
        </p:txBody>
      </p:sp>
      <p:sp>
        <p:nvSpPr>
          <p:cNvPr id="21507" name="Content Placeholder 1"/>
          <p:cNvSpPr>
            <a:spLocks noGrp="1"/>
          </p:cNvSpPr>
          <p:nvPr>
            <p:ph idx="1"/>
          </p:nvPr>
        </p:nvSpPr>
        <p:spPr>
          <a:xfrm>
            <a:off x="419100" y="1295400"/>
            <a:ext cx="8382000" cy="4648200"/>
          </a:xfrm>
        </p:spPr>
        <p:txBody>
          <a:bodyPr/>
          <a:lstStyle/>
          <a:p>
            <a:r>
              <a:rPr lang="en-US" sz="2400" smtClean="0">
                <a:ea typeface="ヒラギノ角ゴ Pro W3" pitchFamily="-84" charset="-128"/>
              </a:rPr>
              <a:t>The </a:t>
            </a:r>
            <a:r>
              <a:rPr lang="en-US" sz="2400" b="1" smtClean="0">
                <a:ea typeface="ヒラギノ角ゴ Pro W3" pitchFamily="-84" charset="-128"/>
              </a:rPr>
              <a:t>unemployment rate </a:t>
            </a:r>
            <a:r>
              <a:rPr lang="en-US" sz="2400" smtClean="0">
                <a:ea typeface="ヒラギノ角ゴ Pro W3" pitchFamily="-84" charset="-128"/>
              </a:rPr>
              <a:t>is the ratio of the number of people who are unemployed to the number of people in the labor force.</a:t>
            </a:r>
          </a:p>
        </p:txBody>
      </p:sp>
      <p:pic>
        <p:nvPicPr>
          <p:cNvPr id="21508" name="Picture 5"/>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447800" y="2971800"/>
            <a:ext cx="6085840" cy="1219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strips dir="l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smtClean="0">
                <a:ea typeface="ヒラギノ角ゴ Pro W3" pitchFamily="-84" charset="-128"/>
              </a:rPr>
              <a:t>2-2 The Unemployment Rate</a:t>
            </a:r>
          </a:p>
        </p:txBody>
      </p:sp>
      <p:sp>
        <p:nvSpPr>
          <p:cNvPr id="22531" name="Content Placeholder 2"/>
          <p:cNvSpPr>
            <a:spLocks noGrp="1"/>
          </p:cNvSpPr>
          <p:nvPr>
            <p:ph idx="1"/>
          </p:nvPr>
        </p:nvSpPr>
        <p:spPr>
          <a:xfrm>
            <a:off x="381000" y="1295400"/>
            <a:ext cx="8382000" cy="4648200"/>
          </a:xfrm>
        </p:spPr>
        <p:txBody>
          <a:bodyPr/>
          <a:lstStyle/>
          <a:p>
            <a:pPr>
              <a:spcBef>
                <a:spcPts val="525"/>
              </a:spcBef>
            </a:pPr>
            <a:r>
              <a:rPr lang="en-US" sz="2400" smtClean="0">
                <a:ea typeface="ヒラギノ角ゴ Pro W3" pitchFamily="-84" charset="-128"/>
              </a:rPr>
              <a:t>Most rich countries rely on large surveys of households to compute the unemployment rate.</a:t>
            </a:r>
          </a:p>
          <a:p>
            <a:pPr>
              <a:spcBef>
                <a:spcPts val="525"/>
              </a:spcBef>
            </a:pPr>
            <a:r>
              <a:rPr lang="en-US" sz="2400" smtClean="0">
                <a:ea typeface="ヒラギノ角ゴ Pro W3" pitchFamily="-84" charset="-128"/>
              </a:rPr>
              <a:t>The U.S. </a:t>
            </a:r>
            <a:r>
              <a:rPr lang="en-US" sz="2400" b="1" smtClean="0">
                <a:ea typeface="ヒラギノ角ゴ Pro W3" pitchFamily="-84" charset="-128"/>
              </a:rPr>
              <a:t>Current Population Survey (CPS) </a:t>
            </a:r>
            <a:r>
              <a:rPr lang="en-US" sz="2400" smtClean="0">
                <a:ea typeface="ヒラギノ角ゴ Pro W3" pitchFamily="-84" charset="-128"/>
              </a:rPr>
              <a:t>relies on interviews of 60,000 households every month.</a:t>
            </a:r>
          </a:p>
          <a:p>
            <a:pPr>
              <a:spcBef>
                <a:spcPts val="525"/>
              </a:spcBef>
            </a:pPr>
            <a:r>
              <a:rPr lang="en-US" sz="2400" smtClean="0">
                <a:ea typeface="ヒラギノ角ゴ Pro W3" pitchFamily="-84" charset="-128"/>
              </a:rPr>
              <a:t>A person is unemployed if he or she does not have a job </a:t>
            </a:r>
            <a:r>
              <a:rPr lang="en-US" sz="2400" i="1" smtClean="0">
                <a:ea typeface="ヒラギノ角ゴ Pro W3" pitchFamily="-84" charset="-128"/>
              </a:rPr>
              <a:t>and has been looking for a job in the last four weeks</a:t>
            </a:r>
            <a:r>
              <a:rPr lang="en-US" sz="2400" smtClean="0">
                <a:ea typeface="ヒラギノ角ゴ Pro W3" pitchFamily="-84" charset="-128"/>
              </a:rPr>
              <a:t>.</a:t>
            </a:r>
          </a:p>
          <a:p>
            <a:pPr>
              <a:spcBef>
                <a:spcPts val="525"/>
              </a:spcBef>
            </a:pPr>
            <a:r>
              <a:rPr lang="en-US" sz="2400" smtClean="0">
                <a:ea typeface="ヒラギノ角ゴ Pro W3" pitchFamily="-84" charset="-128"/>
              </a:rPr>
              <a:t>Those who do not have a job and are not looking for one are counted as </a:t>
            </a:r>
            <a:r>
              <a:rPr lang="en-US" sz="2400" b="1" smtClean="0">
                <a:ea typeface="ヒラギノ角ゴ Pro W3" pitchFamily="-84" charset="-128"/>
              </a:rPr>
              <a:t>not in the labor force</a:t>
            </a:r>
            <a:r>
              <a:rPr lang="en-US" sz="2400" smtClean="0">
                <a:ea typeface="ヒラギノ角ゴ Pro W3" pitchFamily="-84" charset="-128"/>
              </a:rPr>
              <a:t>.</a:t>
            </a:r>
          </a:p>
          <a:p>
            <a:pPr>
              <a:spcBef>
                <a:spcPts val="525"/>
              </a:spcBef>
            </a:pPr>
            <a:endParaRPr lang="en-US" sz="2400" smtClean="0">
              <a:ea typeface="ヒラギノ角ゴ Pro W3" pitchFamily="-84" charset="-128"/>
            </a:endParaRPr>
          </a:p>
        </p:txBody>
      </p:sp>
    </p:spTree>
  </p:cSld>
  <p:clrMapOvr>
    <a:masterClrMapping/>
  </p:clrMapOvr>
  <p:transition>
    <p:strips dir="l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US" smtClean="0">
                <a:ea typeface="ヒラギノ角ゴ Pro W3" pitchFamily="-84" charset="-128"/>
              </a:rPr>
              <a:t>2-2 The Unemployment Rate</a:t>
            </a:r>
          </a:p>
        </p:txBody>
      </p:sp>
      <p:sp>
        <p:nvSpPr>
          <p:cNvPr id="23555" name="Content Placeholder 2"/>
          <p:cNvSpPr>
            <a:spLocks noGrp="1"/>
          </p:cNvSpPr>
          <p:nvPr>
            <p:ph idx="1"/>
          </p:nvPr>
        </p:nvSpPr>
        <p:spPr>
          <a:xfrm>
            <a:off x="381000" y="1295400"/>
            <a:ext cx="8382000" cy="4648200"/>
          </a:xfrm>
        </p:spPr>
        <p:txBody>
          <a:bodyPr/>
          <a:lstStyle/>
          <a:p>
            <a:pPr>
              <a:spcBef>
                <a:spcPts val="525"/>
              </a:spcBef>
            </a:pPr>
            <a:r>
              <a:rPr lang="en-US" sz="2400" b="1" smtClean="0">
                <a:ea typeface="ヒラギノ角ゴ Pro W3" pitchFamily="-84" charset="-128"/>
              </a:rPr>
              <a:t>Discourage workers </a:t>
            </a:r>
            <a:r>
              <a:rPr lang="en-US" sz="2400" smtClean="0">
                <a:ea typeface="ヒラギノ角ゴ Pro W3" pitchFamily="-84" charset="-128"/>
              </a:rPr>
              <a:t>are those who give up looking for a job and so no longer counted as unemployed.</a:t>
            </a:r>
          </a:p>
          <a:p>
            <a:pPr>
              <a:spcBef>
                <a:spcPts val="525"/>
              </a:spcBef>
            </a:pPr>
            <a:r>
              <a:rPr lang="en-US" sz="2400" smtClean="0">
                <a:ea typeface="ヒラギノ角ゴ Pro W3" pitchFamily="-84" charset="-128"/>
              </a:rPr>
              <a:t>The </a:t>
            </a:r>
            <a:r>
              <a:rPr lang="en-US" sz="2400" b="1" smtClean="0">
                <a:ea typeface="ヒラギノ角ゴ Pro W3" pitchFamily="-84" charset="-128"/>
              </a:rPr>
              <a:t>participation rate </a:t>
            </a:r>
            <a:r>
              <a:rPr lang="en-US" sz="2400" smtClean="0">
                <a:ea typeface="ヒラギノ角ゴ Pro W3" pitchFamily="-84" charset="-128"/>
              </a:rPr>
              <a:t>is the ratio of the labor force to the total population of working age.  </a:t>
            </a:r>
          </a:p>
          <a:p>
            <a:pPr>
              <a:spcBef>
                <a:spcPts val="525"/>
              </a:spcBef>
            </a:pPr>
            <a:r>
              <a:rPr lang="en-US" sz="2400" smtClean="0">
                <a:ea typeface="ヒラギノ角ゴ Pro W3" pitchFamily="-84" charset="-128"/>
              </a:rPr>
              <a:t>Because of discourage workers, a higher unemployment rate is typically associated with a lower participation rate.</a:t>
            </a:r>
          </a:p>
          <a:p>
            <a:pPr>
              <a:spcBef>
                <a:spcPts val="525"/>
              </a:spcBef>
            </a:pPr>
            <a:endParaRPr lang="en-US" sz="2400" smtClean="0">
              <a:ea typeface="ヒラギノ角ゴ Pro W3" pitchFamily="-84" charset="-128"/>
            </a:endParaRPr>
          </a:p>
        </p:txBody>
      </p:sp>
    </p:spTree>
  </p:cSld>
  <p:clrMapOvr>
    <a:masterClrMapping/>
  </p:clrMapOvr>
  <p:transition>
    <p:strips dir="l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smtClean="0">
                <a:ea typeface="ヒラギノ角ゴ Pro W3" pitchFamily="-84" charset="-128"/>
              </a:rPr>
              <a:t>2-2 The Unemployment Rate</a:t>
            </a:r>
          </a:p>
        </p:txBody>
      </p:sp>
      <p:sp>
        <p:nvSpPr>
          <p:cNvPr id="24579" name="Content Placeholder 2"/>
          <p:cNvSpPr>
            <a:spLocks noGrp="1"/>
          </p:cNvSpPr>
          <p:nvPr>
            <p:ph idx="1"/>
          </p:nvPr>
        </p:nvSpPr>
        <p:spPr>
          <a:xfrm>
            <a:off x="381000" y="1295400"/>
            <a:ext cx="8382000" cy="4648200"/>
          </a:xfrm>
        </p:spPr>
        <p:txBody>
          <a:bodyPr/>
          <a:lstStyle/>
          <a:p>
            <a:pPr>
              <a:spcBef>
                <a:spcPts val="525"/>
              </a:spcBef>
            </a:pPr>
            <a:r>
              <a:rPr lang="en-US" sz="2400" dirty="0" smtClean="0">
                <a:ea typeface="ヒラギノ角ゴ Pro W3" pitchFamily="-84" charset="-128"/>
              </a:rPr>
              <a:t>Why Do Economists Care about Unemployment?</a:t>
            </a:r>
          </a:p>
          <a:p>
            <a:pPr marL="857250" lvl="1" indent="-457200">
              <a:spcBef>
                <a:spcPts val="525"/>
              </a:spcBef>
              <a:buFont typeface="Verdana" panose="020B0604030504040204" pitchFamily="34" charset="0"/>
              <a:buAutoNum type="arabicPeriod"/>
            </a:pPr>
            <a:r>
              <a:rPr lang="en-US" sz="2000" dirty="0" smtClean="0">
                <a:ea typeface="ヒラギノ角ゴ Pro W3" pitchFamily="-84" charset="-128"/>
              </a:rPr>
              <a:t>Direct effect on the welfare of the unemployed, especially those remaining unemployed for long periods of time.</a:t>
            </a:r>
          </a:p>
          <a:p>
            <a:pPr marL="857250" lvl="1" indent="-457200">
              <a:spcBef>
                <a:spcPts val="525"/>
              </a:spcBef>
              <a:buFont typeface="Verdana" panose="020B0604030504040204" pitchFamily="34" charset="0"/>
              <a:buAutoNum type="arabicPeriod"/>
            </a:pPr>
            <a:r>
              <a:rPr lang="en-US" sz="2000" dirty="0" smtClean="0">
                <a:ea typeface="ヒラギノ角ゴ Pro W3" pitchFamily="-84" charset="-128"/>
              </a:rPr>
              <a:t>A signal that the economy is not using its human resources efficiently.</a:t>
            </a:r>
          </a:p>
          <a:p>
            <a:pPr>
              <a:spcBef>
                <a:spcPts val="525"/>
              </a:spcBef>
            </a:pPr>
            <a:r>
              <a:rPr lang="en-US" sz="2400" dirty="0" smtClean="0">
                <a:ea typeface="ヒラギノ角ゴ Pro W3" pitchFamily="-84" charset="-128"/>
              </a:rPr>
              <a:t>Very low unemployment can also be a problem as the economy runs into labor shortages.</a:t>
            </a:r>
          </a:p>
          <a:p>
            <a:pPr>
              <a:spcBef>
                <a:spcPts val="525"/>
              </a:spcBef>
            </a:pPr>
            <a:endParaRPr lang="en-US" sz="2400" dirty="0" smtClean="0">
              <a:ea typeface="ヒラギノ角ゴ Pro W3" pitchFamily="-84" charset="-128"/>
            </a:endParaRPr>
          </a:p>
        </p:txBody>
      </p:sp>
    </p:spTree>
  </p:cSld>
  <p:clrMapOvr>
    <a:masterClrMapping/>
  </p:clrMapOvr>
  <p:transition>
    <p:strips dir="l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r>
              <a:rPr lang="en-US" smtClean="0">
                <a:ea typeface="ヒラギノ角ゴ Pro W3" pitchFamily="-84" charset="-128"/>
              </a:rPr>
              <a:t>2-2 The Unemployment Rate</a:t>
            </a:r>
          </a:p>
        </p:txBody>
      </p:sp>
      <p:sp>
        <p:nvSpPr>
          <p:cNvPr id="25603" name="Content Placeholder 2"/>
          <p:cNvSpPr>
            <a:spLocks noGrp="1"/>
          </p:cNvSpPr>
          <p:nvPr>
            <p:ph idx="1"/>
          </p:nvPr>
        </p:nvSpPr>
        <p:spPr>
          <a:xfrm>
            <a:off x="419100" y="5181600"/>
            <a:ext cx="8382000" cy="1600200"/>
          </a:xfrm>
        </p:spPr>
        <p:txBody>
          <a:bodyPr/>
          <a:lstStyle/>
          <a:p>
            <a:pPr>
              <a:spcBef>
                <a:spcPts val="525"/>
              </a:spcBef>
            </a:pPr>
            <a:r>
              <a:rPr lang="en-US" sz="1600" dirty="0" smtClean="0">
                <a:ea typeface="ヒラギノ角ゴ Pro W3" pitchFamily="-84" charset="-128"/>
              </a:rPr>
              <a:t>Since 1960, the U.S. unemployment rate has fluctuated between 3 and 10%, going down during expansions and going up during recessions.</a:t>
            </a:r>
          </a:p>
          <a:p>
            <a:pPr>
              <a:spcBef>
                <a:spcPts val="525"/>
              </a:spcBef>
            </a:pPr>
            <a:r>
              <a:rPr lang="en-US" sz="1600" dirty="0" smtClean="0">
                <a:ea typeface="ヒラギノ角ゴ Pro W3" pitchFamily="-84" charset="-128"/>
              </a:rPr>
              <a:t>The effect of the recent crisis is highly visible, with the unemployment rate reaching close to 10% in 2010, the highest such rate since the early 1980s.</a:t>
            </a:r>
          </a:p>
          <a:p>
            <a:pPr>
              <a:spcBef>
                <a:spcPts val="525"/>
              </a:spcBef>
            </a:pPr>
            <a:endParaRPr lang="en-US" sz="1600" dirty="0" smtClean="0">
              <a:ea typeface="ヒラギノ角ゴ Pro W3" pitchFamily="-84" charset="-128"/>
            </a:endParaRPr>
          </a:p>
        </p:txBody>
      </p:sp>
      <p:sp>
        <p:nvSpPr>
          <p:cNvPr id="25604" name="TextBox 4"/>
          <p:cNvSpPr txBox="1">
            <a:spLocks noChangeArrowheads="1"/>
          </p:cNvSpPr>
          <p:nvPr/>
        </p:nvSpPr>
        <p:spPr bwMode="auto">
          <a:xfrm>
            <a:off x="304800" y="1143000"/>
            <a:ext cx="8382000"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ea typeface="ヒラギノ角ゴ Pro W3" pitchFamily="-84" charset="-128"/>
              </a:defRPr>
            </a:lvl1pPr>
            <a:lvl2pPr marL="742950" indent="-285750">
              <a:spcBef>
                <a:spcPct val="20000"/>
              </a:spcBef>
              <a:buChar char="–"/>
              <a:defRPr sz="2400">
                <a:solidFill>
                  <a:schemeClr val="tx1"/>
                </a:solidFill>
                <a:latin typeface="Verdana" panose="020B0604030504040204" pitchFamily="34" charset="0"/>
                <a:ea typeface="ヒラギノ角ゴ Pro W3" pitchFamily="-84" charset="-128"/>
              </a:defRPr>
            </a:lvl2pPr>
            <a:lvl3pPr marL="1143000" indent="-228600">
              <a:spcBef>
                <a:spcPct val="20000"/>
              </a:spcBef>
              <a:buChar char="•"/>
              <a:defRPr sz="2000">
                <a:solidFill>
                  <a:schemeClr val="tx1"/>
                </a:solidFill>
                <a:latin typeface="Verdana" panose="020B0604030504040204" pitchFamily="34" charset="0"/>
                <a:ea typeface="ヒラギノ角ゴ Pro W3" pitchFamily="-84" charset="-128"/>
              </a:defRPr>
            </a:lvl3pPr>
            <a:lvl4pPr marL="1600200" indent="-228600">
              <a:spcBef>
                <a:spcPct val="20000"/>
              </a:spcBef>
              <a:buChar char="–"/>
              <a:defRPr>
                <a:solidFill>
                  <a:schemeClr val="tx1"/>
                </a:solidFill>
                <a:latin typeface="Verdana" panose="020B0604030504040204" pitchFamily="34" charset="0"/>
                <a:ea typeface="ヒラギノ角ゴ Pro W3" pitchFamily="-84" charset="-128"/>
              </a:defRPr>
            </a:lvl4pPr>
            <a:lvl5pPr marL="2057400" indent="-228600">
              <a:spcBef>
                <a:spcPct val="20000"/>
              </a:spcBef>
              <a:buChar char="»"/>
              <a:defRPr>
                <a:solidFill>
                  <a:schemeClr val="tx1"/>
                </a:solidFill>
                <a:latin typeface="Verdana" panose="020B0604030504040204" pitchFamily="34" charset="0"/>
                <a:ea typeface="ヒラギノ角ゴ Pro W3" pitchFamily="-84" charset="-128"/>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9pPr>
          </a:lstStyle>
          <a:p>
            <a:pPr>
              <a:spcBef>
                <a:spcPct val="0"/>
              </a:spcBef>
              <a:buFontTx/>
              <a:buNone/>
            </a:pPr>
            <a:r>
              <a:rPr lang="en-US" sz="1800" b="1" dirty="0"/>
              <a:t>Figure 2-3  </a:t>
            </a:r>
            <a:r>
              <a:rPr lang="en-US" sz="1800" dirty="0"/>
              <a:t>U.S. Unemployment Rate, 1960−2014</a:t>
            </a:r>
          </a:p>
        </p:txBody>
      </p:sp>
      <p:pic>
        <p:nvPicPr>
          <p:cNvPr id="25605" name="Picture 4"/>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19100" y="1566863"/>
            <a:ext cx="5868988" cy="34147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25606" name="Picture 5"/>
          <p:cNvPicPr>
            <a:picLocks noChangeAspect="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400800" y="4191000"/>
            <a:ext cx="2400300" cy="7905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strips dir="l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sz="2400" smtClean="0">
                <a:ea typeface="ヒラギノ角ゴ Pro W3" pitchFamily="-84" charset="-128"/>
              </a:rPr>
              <a:t>FOCUS: Unemployment and Happiness</a:t>
            </a:r>
          </a:p>
        </p:txBody>
      </p:sp>
      <p:sp>
        <p:nvSpPr>
          <p:cNvPr id="26627" name="Content Placeholder 2"/>
          <p:cNvSpPr>
            <a:spLocks noGrp="1"/>
          </p:cNvSpPr>
          <p:nvPr>
            <p:ph idx="1"/>
          </p:nvPr>
        </p:nvSpPr>
        <p:spPr>
          <a:xfrm>
            <a:off x="381000" y="1143000"/>
            <a:ext cx="8382000" cy="1304925"/>
          </a:xfrm>
        </p:spPr>
        <p:txBody>
          <a:bodyPr/>
          <a:lstStyle/>
          <a:p>
            <a:pPr>
              <a:spcBef>
                <a:spcPts val="525"/>
              </a:spcBef>
            </a:pPr>
            <a:r>
              <a:rPr lang="en-US" sz="1800" smtClean="0">
                <a:ea typeface="ヒラギノ角ゴ Pro W3" pitchFamily="-84" charset="-128"/>
              </a:rPr>
              <a:t>Results of the German Socio-Economic Panel survey suggest that (1) becoming unemployed leads to a large decrease in happiness, (2) happiness declines before the actual unemployment spell, and (3) happiness does not fully recover even four years later.</a:t>
            </a:r>
          </a:p>
        </p:txBody>
      </p:sp>
      <p:sp>
        <p:nvSpPr>
          <p:cNvPr id="4" name="Content Placeholder 2"/>
          <p:cNvSpPr txBox="1">
            <a:spLocks/>
          </p:cNvSpPr>
          <p:nvPr/>
        </p:nvSpPr>
        <p:spPr bwMode="auto">
          <a:xfrm>
            <a:off x="457200" y="2675119"/>
            <a:ext cx="7529512" cy="3794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buFontTx/>
              <a:buNone/>
              <a:defRPr/>
            </a:pPr>
            <a:r>
              <a:rPr lang="en-US" sz="1800" b="1" kern="0" dirty="0" smtClean="0">
                <a:ea typeface="ヒラギノ角ゴ Pro W3" pitchFamily="-84" charset="-128"/>
              </a:rPr>
              <a:t>Figure 1 </a:t>
            </a:r>
            <a:r>
              <a:rPr lang="en-US" sz="1800" kern="0" dirty="0" smtClean="0">
                <a:ea typeface="ヒラギノ角ゴ Pro W3" pitchFamily="-84" charset="-128"/>
              </a:rPr>
              <a:t>Effects of Unemployment on Happiness</a:t>
            </a:r>
          </a:p>
        </p:txBody>
      </p:sp>
      <p:pic>
        <p:nvPicPr>
          <p:cNvPr id="26629" name="Picture 1"/>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066800" y="3013983"/>
            <a:ext cx="5888038" cy="30409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 name="Content Placeholder 2"/>
          <p:cNvSpPr txBox="1">
            <a:spLocks/>
          </p:cNvSpPr>
          <p:nvPr/>
        </p:nvSpPr>
        <p:spPr bwMode="auto">
          <a:xfrm>
            <a:off x="1045029" y="6087625"/>
            <a:ext cx="2819400" cy="461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marL="342900" indent="-342900" algn="l" rtl="0" eaLnBrk="0" fontAlgn="base" hangingPunct="0">
              <a:spcBef>
                <a:spcPct val="20000"/>
              </a:spcBef>
              <a:spcAft>
                <a:spcPct val="0"/>
              </a:spcAft>
              <a:buChar char="•"/>
              <a:defRPr sz="2800">
                <a:solidFill>
                  <a:schemeClr val="tx1"/>
                </a:solidFill>
                <a:latin typeface="+mn-lt"/>
                <a:ea typeface="ヒラギノ角ゴ Pro W3" pitchFamily="-1" charset="-128"/>
                <a:cs typeface="ヒラギノ角ゴ Pro W3" pitchFamily="-1" charset="-128"/>
              </a:defRPr>
            </a:lvl1pPr>
            <a:lvl2pPr marL="742950" indent="-285750" algn="l" rtl="0" eaLnBrk="0" fontAlgn="base" hangingPunct="0">
              <a:spcBef>
                <a:spcPct val="20000"/>
              </a:spcBef>
              <a:spcAft>
                <a:spcPct val="0"/>
              </a:spcAft>
              <a:buChar char="–"/>
              <a:defRPr sz="2400">
                <a:solidFill>
                  <a:schemeClr val="tx1"/>
                </a:solidFill>
                <a:latin typeface="+mn-lt"/>
                <a:ea typeface="ヒラギノ角ゴ Pro W3" pitchFamily="-1" charset="-128"/>
              </a:defRPr>
            </a:lvl2pPr>
            <a:lvl3pPr marL="1143000" indent="-228600" algn="l" rtl="0" eaLnBrk="0" fontAlgn="base" hangingPunct="0">
              <a:spcBef>
                <a:spcPct val="20000"/>
              </a:spcBef>
              <a:spcAft>
                <a:spcPct val="0"/>
              </a:spcAft>
              <a:buChar char="•"/>
              <a:defRPr sz="2000">
                <a:solidFill>
                  <a:schemeClr val="tx1"/>
                </a:solidFill>
                <a:latin typeface="+mn-lt"/>
                <a:ea typeface="ヒラギノ角ゴ Pro W3" pitchFamily="-1" charset="-128"/>
              </a:defRPr>
            </a:lvl3pPr>
            <a:lvl4pPr marL="16002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4pPr>
            <a:lvl5pPr marL="2057400" indent="-228600" algn="l" rtl="0" eaLnBrk="0" fontAlgn="base" hangingPunct="0">
              <a:spcBef>
                <a:spcPct val="20000"/>
              </a:spcBef>
              <a:spcAft>
                <a:spcPct val="0"/>
              </a:spcAft>
              <a:buChar char="»"/>
              <a:defRPr>
                <a:solidFill>
                  <a:schemeClr val="tx1"/>
                </a:solidFill>
                <a:latin typeface="+mn-lt"/>
                <a:ea typeface="ヒラギノ角ゴ Pro W3" pitchFamily="-1" charset="-128"/>
              </a:defRPr>
            </a:lvl5pPr>
            <a:lvl6pPr marL="25146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6pPr>
            <a:lvl7pPr marL="29718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7pPr>
            <a:lvl8pPr marL="34290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8pPr>
            <a:lvl9pPr marL="3886200" indent="-228600" algn="l" rtl="0" eaLnBrk="1" fontAlgn="base" hangingPunct="1">
              <a:spcBef>
                <a:spcPct val="20000"/>
              </a:spcBef>
              <a:spcAft>
                <a:spcPct val="0"/>
              </a:spcAft>
              <a:buChar char="»"/>
              <a:defRPr>
                <a:solidFill>
                  <a:schemeClr val="tx1"/>
                </a:solidFill>
                <a:latin typeface="+mn-lt"/>
                <a:ea typeface="ヒラギノ角ゴ Pro W3" pitchFamily="-1" charset="-128"/>
              </a:defRPr>
            </a:lvl9pPr>
          </a:lstStyle>
          <a:p>
            <a:pPr marL="0" indent="0">
              <a:buFontTx/>
              <a:buNone/>
              <a:defRPr/>
            </a:pPr>
            <a:r>
              <a:rPr lang="en-US" sz="1000" i="1" kern="0" dirty="0" smtClean="0">
                <a:ea typeface="ヒラギノ角ゴ Pro W3" pitchFamily="-84" charset="-128"/>
              </a:rPr>
              <a:t>Source: </a:t>
            </a:r>
            <a:r>
              <a:rPr lang="en-US" sz="1000" kern="0" dirty="0" err="1" smtClean="0">
                <a:ea typeface="ヒラギノ角ゴ Pro W3" pitchFamily="-84" charset="-128"/>
              </a:rPr>
              <a:t>Winkelmann</a:t>
            </a:r>
            <a:r>
              <a:rPr lang="en-US" sz="1000" kern="0" dirty="0" smtClean="0">
                <a:ea typeface="ヒラギノ角ゴ Pro W3" pitchFamily="-84" charset="-128"/>
              </a:rPr>
              <a:t> 2014.</a:t>
            </a:r>
          </a:p>
        </p:txBody>
      </p:sp>
    </p:spTree>
  </p:cSld>
  <p:clrMapOvr>
    <a:masterClrMapping/>
  </p:clrMapOvr>
  <p:transition>
    <p:strips dir="l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smtClean="0">
                <a:ea typeface="ヒラギノ角ゴ Pro W3" pitchFamily="-84" charset="-128"/>
              </a:rPr>
              <a:t>2-3 The Inflation Rate</a:t>
            </a:r>
          </a:p>
        </p:txBody>
      </p:sp>
      <p:sp>
        <p:nvSpPr>
          <p:cNvPr id="27651" name="Content Placeholder 2"/>
          <p:cNvSpPr>
            <a:spLocks noGrp="1"/>
          </p:cNvSpPr>
          <p:nvPr>
            <p:ph idx="1"/>
          </p:nvPr>
        </p:nvSpPr>
        <p:spPr>
          <a:xfrm>
            <a:off x="381000" y="1295400"/>
            <a:ext cx="8382000" cy="4648200"/>
          </a:xfrm>
        </p:spPr>
        <p:txBody>
          <a:bodyPr/>
          <a:lstStyle/>
          <a:p>
            <a:pPr>
              <a:spcBef>
                <a:spcPts val="525"/>
              </a:spcBef>
            </a:pPr>
            <a:r>
              <a:rPr lang="en-US" sz="2400" b="1" smtClean="0">
                <a:ea typeface="ヒラギノ角ゴ Pro W3" pitchFamily="-84" charset="-128"/>
              </a:rPr>
              <a:t>Inflation </a:t>
            </a:r>
            <a:r>
              <a:rPr lang="en-US" sz="2400" smtClean="0">
                <a:ea typeface="ヒラギノ角ゴ Pro W3" pitchFamily="-84" charset="-128"/>
              </a:rPr>
              <a:t>is a sustained rise in the general level of prices—the </a:t>
            </a:r>
            <a:r>
              <a:rPr lang="en-US" sz="2400" b="1" smtClean="0">
                <a:ea typeface="ヒラギノ角ゴ Pro W3" pitchFamily="-84" charset="-128"/>
              </a:rPr>
              <a:t>price level</a:t>
            </a:r>
            <a:r>
              <a:rPr lang="en-US" sz="2400" smtClean="0">
                <a:ea typeface="ヒラギノ角ゴ Pro W3" pitchFamily="-84" charset="-128"/>
              </a:rPr>
              <a:t>.</a:t>
            </a:r>
          </a:p>
          <a:p>
            <a:pPr>
              <a:spcBef>
                <a:spcPts val="525"/>
              </a:spcBef>
            </a:pPr>
            <a:r>
              <a:rPr lang="en-US" sz="2400" smtClean="0">
                <a:ea typeface="ヒラギノ角ゴ Pro W3" pitchFamily="-84" charset="-128"/>
              </a:rPr>
              <a:t>The </a:t>
            </a:r>
            <a:r>
              <a:rPr lang="en-US" sz="2400" b="1" smtClean="0">
                <a:ea typeface="ヒラギノ角ゴ Pro W3" pitchFamily="-84" charset="-128"/>
              </a:rPr>
              <a:t>inflation rate </a:t>
            </a:r>
            <a:r>
              <a:rPr lang="en-US" sz="2400" smtClean="0">
                <a:ea typeface="ヒラギノ角ゴ Pro W3" pitchFamily="-84" charset="-128"/>
              </a:rPr>
              <a:t>is the rate at which the price level increases.</a:t>
            </a:r>
          </a:p>
          <a:p>
            <a:pPr>
              <a:spcBef>
                <a:spcPts val="525"/>
              </a:spcBef>
            </a:pPr>
            <a:r>
              <a:rPr lang="en-US" sz="2400" b="1" smtClean="0">
                <a:ea typeface="ヒラギノ角ゴ Pro W3" pitchFamily="-84" charset="-128"/>
              </a:rPr>
              <a:t>Deflation</a:t>
            </a:r>
            <a:r>
              <a:rPr lang="en-US" sz="2400" smtClean="0">
                <a:ea typeface="ヒラギノ角ゴ Pro W3" pitchFamily="-84" charset="-128"/>
              </a:rPr>
              <a:t> is a sustained decline in the price level (negative inflation rate).</a:t>
            </a:r>
          </a:p>
          <a:p>
            <a:pPr>
              <a:spcBef>
                <a:spcPts val="525"/>
              </a:spcBef>
            </a:pPr>
            <a:endParaRPr lang="en-US" sz="2400" smtClean="0">
              <a:ea typeface="ヒラギノ角ゴ Pro W3" pitchFamily="-84" charset="-128"/>
            </a:endParaRPr>
          </a:p>
        </p:txBody>
      </p:sp>
    </p:spTree>
  </p:cSld>
  <p:clrMapOvr>
    <a:masterClrMapping/>
  </p:clrMapOvr>
  <p:transition>
    <p:strips dir="l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US" smtClean="0">
                <a:ea typeface="ヒラギノ角ゴ Pro W3" pitchFamily="-84" charset="-128"/>
              </a:rPr>
              <a:t>2-3 The Inflation Rate</a:t>
            </a:r>
          </a:p>
        </p:txBody>
      </p:sp>
      <p:sp>
        <p:nvSpPr>
          <p:cNvPr id="8195" name="Content Placeholder 2"/>
          <p:cNvSpPr>
            <a:spLocks noGrp="1"/>
          </p:cNvSpPr>
          <p:nvPr>
            <p:ph idx="1"/>
          </p:nvPr>
        </p:nvSpPr>
        <p:spPr>
          <a:xfrm>
            <a:off x="381000" y="1295400"/>
            <a:ext cx="8382000" cy="4648200"/>
          </a:xfrm>
        </p:spPr>
        <p:txBody>
          <a:bodyPr/>
          <a:lstStyle/>
          <a:p>
            <a:pPr>
              <a:spcBef>
                <a:spcPts val="525"/>
              </a:spcBef>
              <a:defRPr/>
            </a:pPr>
            <a:r>
              <a:rPr lang="en-US" sz="2200" dirty="0" smtClean="0">
                <a:ea typeface="ヒラギノ角ゴ Pro W3" pitchFamily="-84" charset="-128"/>
              </a:rPr>
              <a:t>The </a:t>
            </a:r>
            <a:r>
              <a:rPr lang="en-US" sz="2200" b="1" dirty="0" smtClean="0">
                <a:ea typeface="ヒラギノ角ゴ Pro W3" pitchFamily="-84" charset="-128"/>
              </a:rPr>
              <a:t>GDP deflator </a:t>
            </a:r>
            <a:r>
              <a:rPr lang="en-US" sz="2200" dirty="0" smtClean="0">
                <a:ea typeface="ヒラギノ角ゴ Pro W3" pitchFamily="-84" charset="-128"/>
              </a:rPr>
              <a:t>in year </a:t>
            </a:r>
            <a:r>
              <a:rPr lang="en-US" sz="2200" i="1" dirty="0" smtClean="0">
                <a:ea typeface="ヒラギノ角ゴ Pro W3" pitchFamily="-84" charset="-128"/>
              </a:rPr>
              <a:t>t</a:t>
            </a:r>
            <a:r>
              <a:rPr lang="en-US" sz="2200" dirty="0" smtClean="0">
                <a:ea typeface="ヒラギノ角ゴ Pro W3" pitchFamily="-84" charset="-128"/>
              </a:rPr>
              <a:t> (</a:t>
            </a:r>
            <a:r>
              <a:rPr lang="en-US" sz="2400" i="1" dirty="0" err="1" smtClean="0">
                <a:latin typeface="Times New Roman" panose="02020603050405020304" pitchFamily="18" charset="0"/>
                <a:ea typeface="ヒラギノ角ゴ Pro W3" pitchFamily="-84" charset="-128"/>
                <a:cs typeface="Times New Roman" panose="02020603050405020304" pitchFamily="18" charset="0"/>
              </a:rPr>
              <a:t>P</a:t>
            </a:r>
            <a:r>
              <a:rPr lang="en-US" sz="2400" i="1" baseline="-25000" dirty="0" err="1" smtClean="0">
                <a:latin typeface="Times New Roman" panose="02020603050405020304" pitchFamily="18" charset="0"/>
                <a:ea typeface="ヒラギノ角ゴ Pro W3" pitchFamily="-84" charset="-128"/>
                <a:cs typeface="Times New Roman" panose="02020603050405020304" pitchFamily="18" charset="0"/>
              </a:rPr>
              <a:t>t</a:t>
            </a:r>
            <a:r>
              <a:rPr lang="en-US" sz="2200" dirty="0" smtClean="0">
                <a:ea typeface="ヒラギノ角ゴ Pro W3" pitchFamily="-84" charset="-128"/>
              </a:rPr>
              <a:t>) is the ratio of nominal GDP to real GDP in year </a:t>
            </a:r>
            <a:r>
              <a:rPr lang="en-US" sz="2200" i="1" dirty="0" smtClean="0">
                <a:ea typeface="ヒラギノ角ゴ Pro W3" pitchFamily="-84" charset="-128"/>
              </a:rPr>
              <a:t>t</a:t>
            </a:r>
            <a:r>
              <a:rPr lang="en-US" sz="2200" dirty="0" smtClean="0">
                <a:ea typeface="ヒラギノ角ゴ Pro W3" pitchFamily="-84" charset="-128"/>
              </a:rPr>
              <a:t>:</a:t>
            </a:r>
          </a:p>
          <a:p>
            <a:pPr marL="0" indent="0">
              <a:spcBef>
                <a:spcPts val="525"/>
              </a:spcBef>
              <a:buFontTx/>
              <a:buNone/>
              <a:defRPr/>
            </a:pPr>
            <a:endParaRPr lang="en-US" sz="2200" dirty="0">
              <a:ea typeface="ヒラギノ角ゴ Pro W3" pitchFamily="-84" charset="-128"/>
            </a:endParaRPr>
          </a:p>
          <a:p>
            <a:pPr marL="0" indent="0">
              <a:spcBef>
                <a:spcPts val="525"/>
              </a:spcBef>
              <a:buFontTx/>
              <a:buNone/>
              <a:defRPr/>
            </a:pPr>
            <a:endParaRPr lang="en-US" sz="2200" dirty="0" smtClean="0">
              <a:ea typeface="ヒラギノ角ゴ Pro W3" pitchFamily="-84" charset="-128"/>
            </a:endParaRPr>
          </a:p>
          <a:p>
            <a:pPr marL="0" indent="0">
              <a:spcBef>
                <a:spcPts val="525"/>
              </a:spcBef>
              <a:buFontTx/>
              <a:buNone/>
              <a:defRPr/>
            </a:pPr>
            <a:endParaRPr lang="en-US" sz="2200" dirty="0" smtClean="0">
              <a:ea typeface="ヒラギノ角ゴ Pro W3" pitchFamily="-84" charset="-128"/>
            </a:endParaRPr>
          </a:p>
          <a:p>
            <a:pPr>
              <a:spcBef>
                <a:spcPts val="525"/>
              </a:spcBef>
              <a:defRPr/>
            </a:pPr>
            <a:r>
              <a:rPr lang="en-US" sz="2200" dirty="0" smtClean="0">
                <a:ea typeface="ヒラギノ角ゴ Pro W3" pitchFamily="-84" charset="-128"/>
              </a:rPr>
              <a:t>It is called an </a:t>
            </a:r>
            <a:r>
              <a:rPr lang="en-US" sz="2200" b="1" dirty="0" smtClean="0">
                <a:ea typeface="ヒラギノ角ゴ Pro W3" pitchFamily="-84" charset="-128"/>
              </a:rPr>
              <a:t>index number </a:t>
            </a:r>
            <a:r>
              <a:rPr lang="en-US" sz="2200" dirty="0" smtClean="0">
                <a:ea typeface="ヒラギノ角ゴ Pro W3" pitchFamily="-84" charset="-128"/>
              </a:rPr>
              <a:t>(1 in 2009), which has no economic interpretation.</a:t>
            </a:r>
          </a:p>
          <a:p>
            <a:pPr>
              <a:spcBef>
                <a:spcPts val="525"/>
              </a:spcBef>
              <a:defRPr/>
            </a:pPr>
            <a:r>
              <a:rPr lang="en-US" sz="2200" dirty="0" smtClean="0">
                <a:ea typeface="ヒラギノ角ゴ Pro W3" pitchFamily="-84" charset="-128"/>
              </a:rPr>
              <a:t>The rate of change has a clear interpretation: the rate of inflation.</a:t>
            </a:r>
          </a:p>
          <a:p>
            <a:pPr marL="0" indent="0" algn="ctr">
              <a:spcBef>
                <a:spcPts val="525"/>
              </a:spcBef>
              <a:buFontTx/>
              <a:buNone/>
              <a:defRPr/>
            </a:pPr>
            <a:r>
              <a:rPr lang="en-US" i="1" dirty="0" smtClean="0">
                <a:latin typeface="Times New Roman" panose="02020603050405020304" pitchFamily="18" charset="0"/>
                <a:ea typeface="ヒラギノ角ゴ Pro W3" pitchFamily="-84" charset="-128"/>
                <a:cs typeface="Times New Roman" panose="02020603050405020304" pitchFamily="18" charset="0"/>
              </a:rPr>
              <a:t>π</a:t>
            </a:r>
            <a:r>
              <a:rPr lang="en-US" sz="2000" i="1" baseline="-25000" dirty="0" smtClean="0">
                <a:latin typeface="Times New Roman" panose="02020603050405020304" pitchFamily="18" charset="0"/>
                <a:ea typeface="ヒラギノ角ゴ Pro W3" pitchFamily="-84" charset="-128"/>
                <a:cs typeface="Times New Roman" panose="02020603050405020304" pitchFamily="18" charset="0"/>
              </a:rPr>
              <a:t>t</a:t>
            </a:r>
            <a:r>
              <a:rPr lang="en-US" sz="2000" dirty="0" smtClean="0">
                <a:latin typeface="Times New Roman" panose="02020603050405020304" pitchFamily="18" charset="0"/>
                <a:ea typeface="ヒラギノ角ゴ Pro W3" pitchFamily="-84" charset="-128"/>
                <a:cs typeface="Times New Roman" panose="02020603050405020304" pitchFamily="18" charset="0"/>
              </a:rPr>
              <a:t> = </a:t>
            </a:r>
            <a:r>
              <a:rPr lang="en-US" sz="2400" dirty="0" smtClean="0">
                <a:latin typeface="Times New Roman" panose="02020603050405020304" pitchFamily="18" charset="0"/>
                <a:ea typeface="ヒラギノ角ゴ Pro W3" pitchFamily="-84" charset="-128"/>
                <a:cs typeface="Times New Roman" panose="02020603050405020304" pitchFamily="18" charset="0"/>
              </a:rPr>
              <a:t>(</a:t>
            </a:r>
            <a:r>
              <a:rPr lang="en-US" sz="2400" i="1" dirty="0" err="1" smtClean="0">
                <a:latin typeface="Times New Roman" panose="02020603050405020304" pitchFamily="18" charset="0"/>
                <a:ea typeface="ヒラギノ角ゴ Pro W3" pitchFamily="-84" charset="-128"/>
                <a:cs typeface="Times New Roman" panose="02020603050405020304" pitchFamily="18" charset="0"/>
              </a:rPr>
              <a:t>P</a:t>
            </a:r>
            <a:r>
              <a:rPr lang="en-US" sz="2400" i="1" baseline="-25000" dirty="0" err="1" smtClean="0">
                <a:latin typeface="Times New Roman" panose="02020603050405020304" pitchFamily="18" charset="0"/>
                <a:ea typeface="ヒラギノ角ゴ Pro W3" pitchFamily="-84" charset="-128"/>
                <a:cs typeface="Times New Roman" panose="02020603050405020304" pitchFamily="18" charset="0"/>
              </a:rPr>
              <a:t>t</a:t>
            </a:r>
            <a:r>
              <a:rPr lang="en-US" sz="2400" i="1" dirty="0" smtClean="0">
                <a:latin typeface="Times New Roman" panose="02020603050405020304" pitchFamily="18" charset="0"/>
                <a:ea typeface="ヒラギノ角ゴ Pro W3" pitchFamily="-84" charset="-128"/>
                <a:cs typeface="Times New Roman" panose="02020603050405020304" pitchFamily="18" charset="0"/>
              </a:rPr>
              <a:t> − P</a:t>
            </a:r>
            <a:r>
              <a:rPr lang="en-US" sz="2400" i="1" baseline="-25000" dirty="0">
                <a:latin typeface="Times New Roman" panose="02020603050405020304" pitchFamily="18" charset="0"/>
                <a:ea typeface="ヒラギノ角ゴ Pro W3" pitchFamily="-84" charset="-128"/>
                <a:cs typeface="Times New Roman" panose="02020603050405020304" pitchFamily="18" charset="0"/>
              </a:rPr>
              <a:t>t-</a:t>
            </a:r>
            <a:r>
              <a:rPr lang="en-US" sz="2400" baseline="-25000" dirty="0">
                <a:latin typeface="Times New Roman" panose="02020603050405020304" pitchFamily="18" charset="0"/>
                <a:ea typeface="ヒラギノ角ゴ Pro W3" pitchFamily="-84" charset="-128"/>
                <a:cs typeface="Times New Roman" panose="02020603050405020304" pitchFamily="18" charset="0"/>
              </a:rPr>
              <a:t>1</a:t>
            </a:r>
            <a:r>
              <a:rPr lang="en-US" sz="2400" dirty="0" smtClean="0">
                <a:latin typeface="Times New Roman" panose="02020603050405020304" pitchFamily="18" charset="0"/>
                <a:ea typeface="ヒラギノ角ゴ Pro W3" pitchFamily="-84" charset="-128"/>
                <a:cs typeface="Times New Roman" panose="02020603050405020304" pitchFamily="18" charset="0"/>
              </a:rPr>
              <a:t>)/</a:t>
            </a:r>
            <a:r>
              <a:rPr lang="en-US" sz="2400" i="1" dirty="0" smtClean="0">
                <a:latin typeface="Times New Roman" panose="02020603050405020304" pitchFamily="18" charset="0"/>
                <a:ea typeface="ヒラギノ角ゴ Pro W3" pitchFamily="-84" charset="-128"/>
                <a:cs typeface="Times New Roman" panose="02020603050405020304" pitchFamily="18" charset="0"/>
              </a:rPr>
              <a:t>P</a:t>
            </a:r>
            <a:r>
              <a:rPr lang="en-US" sz="2400" i="1" baseline="-25000" dirty="0">
                <a:latin typeface="Times New Roman" panose="02020603050405020304" pitchFamily="18" charset="0"/>
                <a:ea typeface="ヒラギノ角ゴ Pro W3" pitchFamily="-84" charset="-128"/>
                <a:cs typeface="Times New Roman" panose="02020603050405020304" pitchFamily="18" charset="0"/>
              </a:rPr>
              <a:t>t-</a:t>
            </a:r>
            <a:r>
              <a:rPr lang="en-US" sz="2400" baseline="-25000" dirty="0">
                <a:latin typeface="Times New Roman" panose="02020603050405020304" pitchFamily="18" charset="0"/>
                <a:ea typeface="ヒラギノ角ゴ Pro W3" pitchFamily="-84" charset="-128"/>
                <a:cs typeface="Times New Roman" panose="02020603050405020304" pitchFamily="18" charset="0"/>
              </a:rPr>
              <a:t>1</a:t>
            </a:r>
            <a:r>
              <a:rPr lang="en-US" sz="2400" dirty="0" smtClean="0">
                <a:latin typeface="Times New Roman" panose="02020603050405020304" pitchFamily="18" charset="0"/>
                <a:ea typeface="ヒラギノ角ゴ Pro W3" pitchFamily="-84" charset="-128"/>
                <a:cs typeface="Times New Roman" panose="02020603050405020304" pitchFamily="18" charset="0"/>
              </a:rPr>
              <a:t> </a:t>
            </a:r>
            <a:endParaRPr lang="en-US" sz="2000" dirty="0" smtClean="0">
              <a:latin typeface="Times New Roman" panose="02020603050405020304" pitchFamily="18" charset="0"/>
              <a:ea typeface="ヒラギノ角ゴ Pro W3" pitchFamily="-84" charset="-128"/>
              <a:cs typeface="Times New Roman" panose="02020603050405020304" pitchFamily="18" charset="0"/>
            </a:endParaRPr>
          </a:p>
          <a:p>
            <a:pPr>
              <a:spcBef>
                <a:spcPts val="525"/>
              </a:spcBef>
              <a:defRPr/>
            </a:pPr>
            <a:endParaRPr lang="en-US" sz="2200" dirty="0" smtClean="0">
              <a:ea typeface="ヒラギノ角ゴ Pro W3" pitchFamily="-84" charset="-128"/>
            </a:endParaRPr>
          </a:p>
          <a:p>
            <a:pPr>
              <a:spcBef>
                <a:spcPts val="525"/>
              </a:spcBef>
              <a:defRPr/>
            </a:pPr>
            <a:endParaRPr lang="en-US" sz="2200" dirty="0" smtClean="0">
              <a:ea typeface="ヒラギノ角ゴ Pro W3" pitchFamily="-84" charset="-128"/>
            </a:endParaRPr>
          </a:p>
        </p:txBody>
      </p:sp>
      <p:pic>
        <p:nvPicPr>
          <p:cNvPr id="28676" name="Picture 1"/>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743202" y="2209804"/>
            <a:ext cx="3357563" cy="7143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strips dir="l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smtClean="0">
                <a:ea typeface="ヒラギノ角ゴ Pro W3" pitchFamily="-84" charset="-128"/>
              </a:rPr>
              <a:t>2-3 The Inflation Rate</a:t>
            </a:r>
          </a:p>
        </p:txBody>
      </p:sp>
      <p:sp>
        <p:nvSpPr>
          <p:cNvPr id="8195" name="Content Placeholder 2"/>
          <p:cNvSpPr>
            <a:spLocks noGrp="1"/>
          </p:cNvSpPr>
          <p:nvPr>
            <p:ph idx="1"/>
          </p:nvPr>
        </p:nvSpPr>
        <p:spPr>
          <a:xfrm>
            <a:off x="381000" y="1295400"/>
            <a:ext cx="8382000" cy="4648200"/>
          </a:xfrm>
        </p:spPr>
        <p:txBody>
          <a:bodyPr/>
          <a:lstStyle/>
          <a:p>
            <a:pPr>
              <a:spcBef>
                <a:spcPts val="525"/>
              </a:spcBef>
              <a:defRPr/>
            </a:pPr>
            <a:r>
              <a:rPr lang="en-US" sz="2200" dirty="0" smtClean="0">
                <a:ea typeface="ヒラギノ角ゴ Pro W3" pitchFamily="-84" charset="-128"/>
              </a:rPr>
              <a:t>Defining the price level as the GDP deflator implies a simple relation between nominal GP, real GDP, and the GDP deflator:</a:t>
            </a:r>
          </a:p>
          <a:p>
            <a:pPr marL="0" indent="0" algn="ctr">
              <a:spcBef>
                <a:spcPts val="525"/>
              </a:spcBef>
              <a:buFontTx/>
              <a:buNone/>
              <a:defRPr/>
            </a:pPr>
            <a:r>
              <a:rPr lang="en-US" dirty="0" smtClean="0">
                <a:latin typeface="Times New Roman" panose="02020603050405020304" pitchFamily="18" charset="0"/>
                <a:ea typeface="ヒラギノ角ゴ Pro W3" pitchFamily="-84" charset="-128"/>
                <a:cs typeface="Times New Roman" panose="02020603050405020304" pitchFamily="18" charset="0"/>
              </a:rPr>
              <a:t>$</a:t>
            </a:r>
            <a:r>
              <a:rPr lang="en-US" i="1" dirty="0" smtClean="0">
                <a:latin typeface="Times New Roman" panose="02020603050405020304" pitchFamily="18" charset="0"/>
                <a:ea typeface="ヒラギノ角ゴ Pro W3" pitchFamily="-84" charset="-128"/>
                <a:cs typeface="Times New Roman" panose="02020603050405020304" pitchFamily="18" charset="0"/>
              </a:rPr>
              <a:t>Y</a:t>
            </a:r>
            <a:r>
              <a:rPr lang="en-US" i="1" baseline="-25000" dirty="0" smtClean="0">
                <a:latin typeface="Times New Roman" panose="02020603050405020304" pitchFamily="18" charset="0"/>
                <a:ea typeface="ヒラギノ角ゴ Pro W3" pitchFamily="-84" charset="-128"/>
                <a:cs typeface="Times New Roman" panose="02020603050405020304" pitchFamily="18" charset="0"/>
              </a:rPr>
              <a:t>t</a:t>
            </a:r>
            <a:r>
              <a:rPr lang="en-US" i="1" dirty="0" smtClean="0">
                <a:latin typeface="Times New Roman" panose="02020603050405020304" pitchFamily="18" charset="0"/>
                <a:ea typeface="ヒラギノ角ゴ Pro W3" pitchFamily="-84" charset="-128"/>
                <a:cs typeface="Times New Roman" panose="02020603050405020304" pitchFamily="18" charset="0"/>
              </a:rPr>
              <a:t> = </a:t>
            </a:r>
            <a:r>
              <a:rPr lang="en-US" i="1" dirty="0" err="1" smtClean="0">
                <a:latin typeface="Times New Roman" panose="02020603050405020304" pitchFamily="18" charset="0"/>
                <a:ea typeface="ヒラギノ角ゴ Pro W3" pitchFamily="-84" charset="-128"/>
                <a:cs typeface="Times New Roman" panose="02020603050405020304" pitchFamily="18" charset="0"/>
              </a:rPr>
              <a:t>P</a:t>
            </a:r>
            <a:r>
              <a:rPr lang="en-US" i="1" baseline="-25000" dirty="0" err="1" smtClean="0">
                <a:latin typeface="Times New Roman" panose="02020603050405020304" pitchFamily="18" charset="0"/>
                <a:ea typeface="ヒラギノ角ゴ Pro W3" pitchFamily="-84" charset="-128"/>
                <a:cs typeface="Times New Roman" panose="02020603050405020304" pitchFamily="18" charset="0"/>
              </a:rPr>
              <a:t>t</a:t>
            </a:r>
            <a:r>
              <a:rPr lang="en-US" i="1" dirty="0" err="1" smtClean="0">
                <a:latin typeface="Times New Roman" panose="02020603050405020304" pitchFamily="18" charset="0"/>
                <a:ea typeface="ヒラギノ角ゴ Pro W3" pitchFamily="-84" charset="-128"/>
                <a:cs typeface="Times New Roman" panose="02020603050405020304" pitchFamily="18" charset="0"/>
              </a:rPr>
              <a:t>Y</a:t>
            </a:r>
            <a:r>
              <a:rPr lang="en-US" i="1" baseline="-25000" dirty="0" err="1">
                <a:latin typeface="Times New Roman" panose="02020603050405020304" pitchFamily="18" charset="0"/>
                <a:ea typeface="ヒラギノ角ゴ Pro W3" pitchFamily="-84" charset="-128"/>
                <a:cs typeface="Times New Roman" panose="02020603050405020304" pitchFamily="18" charset="0"/>
              </a:rPr>
              <a:t>t</a:t>
            </a:r>
            <a:endParaRPr lang="en-US" i="1" baseline="-25000" dirty="0">
              <a:latin typeface="Times New Roman" panose="02020603050405020304" pitchFamily="18" charset="0"/>
              <a:ea typeface="ヒラギノ角ゴ Pro W3" pitchFamily="-84" charset="-128"/>
              <a:cs typeface="Times New Roman" panose="02020603050405020304" pitchFamily="18" charset="0"/>
            </a:endParaRPr>
          </a:p>
          <a:p>
            <a:pPr>
              <a:spcBef>
                <a:spcPts val="525"/>
              </a:spcBef>
              <a:defRPr/>
            </a:pPr>
            <a:endParaRPr lang="en-US" sz="2200" dirty="0" smtClean="0">
              <a:ea typeface="ヒラギノ角ゴ Pro W3" pitchFamily="-84" charset="-128"/>
            </a:endParaRPr>
          </a:p>
          <a:p>
            <a:pPr>
              <a:spcBef>
                <a:spcPts val="525"/>
              </a:spcBef>
              <a:defRPr/>
            </a:pPr>
            <a:r>
              <a:rPr lang="en-US" sz="2200" i="1" dirty="0" smtClean="0">
                <a:ea typeface="ヒラギノ角ゴ Pro W3" pitchFamily="-84" charset="-128"/>
                <a:cs typeface="Times New Roman" panose="02020603050405020304" pitchFamily="18" charset="0"/>
              </a:rPr>
              <a:t>Nominal GDP is equal to the GDP deflator times real GDP</a:t>
            </a:r>
            <a:r>
              <a:rPr lang="en-US" sz="2200" dirty="0" smtClean="0">
                <a:ea typeface="ヒラギノ角ゴ Pro W3" pitchFamily="-84" charset="-128"/>
                <a:cs typeface="Times New Roman" panose="02020603050405020304" pitchFamily="18" charset="0"/>
              </a:rPr>
              <a:t>.</a:t>
            </a:r>
          </a:p>
          <a:p>
            <a:pPr>
              <a:spcBef>
                <a:spcPts val="525"/>
              </a:spcBef>
              <a:defRPr/>
            </a:pPr>
            <a:r>
              <a:rPr lang="en-US" sz="2200" dirty="0" smtClean="0">
                <a:ea typeface="ヒラギノ角ゴ Pro W3" pitchFamily="-84" charset="-128"/>
                <a:cs typeface="Times New Roman" panose="02020603050405020304" pitchFamily="18" charset="0"/>
              </a:rPr>
              <a:t>The rate of growth of nominal GDP is equal to the rate of inflation plus the rate of growth of real GDP.</a:t>
            </a:r>
          </a:p>
          <a:p>
            <a:pPr>
              <a:spcBef>
                <a:spcPts val="525"/>
              </a:spcBef>
              <a:defRPr/>
            </a:pPr>
            <a:endParaRPr lang="en-US" sz="2200" dirty="0" smtClean="0">
              <a:ea typeface="ヒラギノ角ゴ Pro W3" pitchFamily="-84" charset="-128"/>
            </a:endParaRPr>
          </a:p>
          <a:p>
            <a:pPr>
              <a:spcBef>
                <a:spcPts val="525"/>
              </a:spcBef>
              <a:defRPr/>
            </a:pPr>
            <a:endParaRPr lang="en-US" sz="2200" dirty="0" smtClean="0">
              <a:ea typeface="ヒラギノ角ゴ Pro W3" pitchFamily="-84" charset="-128"/>
            </a:endParaRPr>
          </a:p>
        </p:txBody>
      </p:sp>
    </p:spTree>
  </p:cSld>
  <p:clrMapOvr>
    <a:masterClrMapping/>
  </p:clrMapOvr>
  <p:transition>
    <p:strips dir="l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smtClean="0">
                <a:ea typeface="ヒラギノ角ゴ Pro W3" pitchFamily="-84" charset="-128"/>
              </a:rPr>
              <a:t>2-3 The Inflation Rate</a:t>
            </a:r>
          </a:p>
        </p:txBody>
      </p:sp>
      <p:sp>
        <p:nvSpPr>
          <p:cNvPr id="30723" name="Content Placeholder 2"/>
          <p:cNvSpPr>
            <a:spLocks noGrp="1"/>
          </p:cNvSpPr>
          <p:nvPr>
            <p:ph idx="1"/>
          </p:nvPr>
        </p:nvSpPr>
        <p:spPr>
          <a:xfrm>
            <a:off x="381000" y="1295400"/>
            <a:ext cx="8382000" cy="4876800"/>
          </a:xfrm>
        </p:spPr>
        <p:txBody>
          <a:bodyPr/>
          <a:lstStyle/>
          <a:p>
            <a:pPr>
              <a:spcBef>
                <a:spcPts val="525"/>
              </a:spcBef>
            </a:pPr>
            <a:r>
              <a:rPr lang="en-US" sz="2200" dirty="0" smtClean="0">
                <a:ea typeface="ヒラギノ角ゴ Pro W3" pitchFamily="-84" charset="-128"/>
              </a:rPr>
              <a:t>The set of goods produced in the economy is not the same as the set of goods purchased by consumers because:</a:t>
            </a:r>
          </a:p>
          <a:p>
            <a:pPr lvl="1">
              <a:spcBef>
                <a:spcPts val="525"/>
              </a:spcBef>
            </a:pPr>
            <a:r>
              <a:rPr lang="en-US" sz="1800" dirty="0" smtClean="0">
                <a:ea typeface="ヒラギノ角ゴ Pro W3" pitchFamily="-84" charset="-128"/>
                <a:cs typeface="Times New Roman" panose="02020603050405020304" pitchFamily="18" charset="0"/>
              </a:rPr>
              <a:t>Some of the goods in GDP are sold not to consumers but to firms, to the government, or to foreigners.</a:t>
            </a:r>
          </a:p>
          <a:p>
            <a:pPr lvl="1">
              <a:spcBef>
                <a:spcPts val="525"/>
              </a:spcBef>
            </a:pPr>
            <a:r>
              <a:rPr lang="en-US" sz="1800" dirty="0" smtClean="0">
                <a:ea typeface="ヒラギノ角ゴ Pro W3" pitchFamily="-84" charset="-128"/>
                <a:cs typeface="Times New Roman" panose="02020603050405020304" pitchFamily="18" charset="0"/>
              </a:rPr>
              <a:t>Some of the goods bought by consumers are not produced domestically but are imported from abroad.</a:t>
            </a:r>
          </a:p>
          <a:p>
            <a:pPr>
              <a:spcBef>
                <a:spcPts val="1200"/>
              </a:spcBef>
            </a:pPr>
            <a:r>
              <a:rPr lang="en-US" sz="2200" dirty="0" smtClean="0">
                <a:ea typeface="ヒラギノ角ゴ Pro W3" pitchFamily="-84" charset="-128"/>
                <a:cs typeface="Times New Roman" panose="02020603050405020304" pitchFamily="18" charset="0"/>
              </a:rPr>
              <a:t>The </a:t>
            </a:r>
            <a:r>
              <a:rPr lang="en-US" sz="2200" b="1" dirty="0" smtClean="0">
                <a:ea typeface="ヒラギノ角ゴ Pro W3" pitchFamily="-84" charset="-128"/>
                <a:cs typeface="Times New Roman" panose="02020603050405020304" pitchFamily="18" charset="0"/>
              </a:rPr>
              <a:t>Consumer Price Index </a:t>
            </a:r>
            <a:r>
              <a:rPr lang="en-US" sz="2200" dirty="0" smtClean="0">
                <a:ea typeface="ヒラギノ角ゴ Pro W3" pitchFamily="-84" charset="-128"/>
                <a:cs typeface="Times New Roman" panose="02020603050405020304" pitchFamily="18" charset="0"/>
              </a:rPr>
              <a:t>(</a:t>
            </a:r>
            <a:r>
              <a:rPr lang="en-US" sz="2200" b="1" dirty="0" smtClean="0">
                <a:ea typeface="ヒラギノ角ゴ Pro W3" pitchFamily="-84" charset="-128"/>
                <a:cs typeface="Times New Roman" panose="02020603050405020304" pitchFamily="18" charset="0"/>
              </a:rPr>
              <a:t>CPI</a:t>
            </a:r>
            <a:r>
              <a:rPr lang="en-US" sz="2200" dirty="0" smtClean="0">
                <a:ea typeface="ヒラギノ角ゴ Pro W3" pitchFamily="-84" charset="-128"/>
                <a:cs typeface="Times New Roman" panose="02020603050405020304" pitchFamily="18" charset="0"/>
              </a:rPr>
              <a:t>) is a measure of the </a:t>
            </a:r>
            <a:r>
              <a:rPr lang="en-US" sz="2200" b="1" dirty="0" smtClean="0">
                <a:ea typeface="ヒラギノ角ゴ Pro W3" pitchFamily="-84" charset="-128"/>
                <a:cs typeface="Times New Roman" panose="02020603050405020304" pitchFamily="18" charset="0"/>
              </a:rPr>
              <a:t>cost of living</a:t>
            </a:r>
            <a:r>
              <a:rPr lang="en-US" sz="2200" dirty="0" smtClean="0">
                <a:ea typeface="ヒラギノ角ゴ Pro W3" pitchFamily="-84" charset="-128"/>
                <a:cs typeface="Times New Roman" panose="02020603050405020304" pitchFamily="18" charset="0"/>
              </a:rPr>
              <a:t>.</a:t>
            </a:r>
          </a:p>
          <a:p>
            <a:pPr>
              <a:spcBef>
                <a:spcPts val="525"/>
              </a:spcBef>
            </a:pPr>
            <a:r>
              <a:rPr lang="en-US" sz="2200" dirty="0" smtClean="0">
                <a:ea typeface="ヒラギノ角ゴ Pro W3" pitchFamily="-84" charset="-128"/>
                <a:cs typeface="Times New Roman" panose="02020603050405020304" pitchFamily="18" charset="0"/>
              </a:rPr>
              <a:t>The CPI is published monthly by the Bureau of Labor Statistics (BLS), which collects price data for 211 items in 38 cities.</a:t>
            </a:r>
          </a:p>
          <a:p>
            <a:pPr>
              <a:spcBef>
                <a:spcPts val="525"/>
              </a:spcBef>
            </a:pPr>
            <a:r>
              <a:rPr lang="en-US" sz="2200" dirty="0" smtClean="0">
                <a:ea typeface="ヒラギノ角ゴ Pro W3" pitchFamily="-84" charset="-128"/>
                <a:cs typeface="Times New Roman" panose="02020603050405020304" pitchFamily="18" charset="0"/>
              </a:rPr>
              <a:t>The CPI gives the cost in dollars of a specific list of goods and services over time.</a:t>
            </a:r>
          </a:p>
          <a:p>
            <a:pPr>
              <a:spcBef>
                <a:spcPts val="525"/>
              </a:spcBef>
            </a:pPr>
            <a:endParaRPr lang="en-US" sz="2200" dirty="0" smtClean="0">
              <a:ea typeface="ヒラギノ角ゴ Pro W3" pitchFamily="-84" charset="-128"/>
            </a:endParaRPr>
          </a:p>
          <a:p>
            <a:pPr>
              <a:spcBef>
                <a:spcPts val="525"/>
              </a:spcBef>
            </a:pPr>
            <a:endParaRPr lang="en-US" sz="2200" dirty="0" smtClean="0">
              <a:ea typeface="ヒラギノ角ゴ Pro W3" pitchFamily="-84" charset="-128"/>
            </a:endParaRPr>
          </a:p>
        </p:txBody>
      </p:sp>
    </p:spTree>
  </p:cSld>
  <p:clrMapOvr>
    <a:masterClrMapping/>
  </p:clrMapOvr>
  <p:transition>
    <p:strips dir="l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US" smtClean="0">
                <a:ea typeface="ヒラギノ角ゴ Pro W3" pitchFamily="-84" charset="-128"/>
              </a:rPr>
              <a:t>2-3 The Inflation Rate</a:t>
            </a:r>
          </a:p>
        </p:txBody>
      </p:sp>
      <p:sp>
        <p:nvSpPr>
          <p:cNvPr id="31747" name="TextBox 4"/>
          <p:cNvSpPr txBox="1">
            <a:spLocks noChangeArrowheads="1"/>
          </p:cNvSpPr>
          <p:nvPr/>
        </p:nvSpPr>
        <p:spPr bwMode="auto">
          <a:xfrm>
            <a:off x="378823" y="1093869"/>
            <a:ext cx="83820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ea typeface="ヒラギノ角ゴ Pro W3" pitchFamily="-84" charset="-128"/>
              </a:defRPr>
            </a:lvl1pPr>
            <a:lvl2pPr marL="742950" indent="-285750">
              <a:spcBef>
                <a:spcPct val="20000"/>
              </a:spcBef>
              <a:buChar char="–"/>
              <a:defRPr sz="2400">
                <a:solidFill>
                  <a:schemeClr val="tx1"/>
                </a:solidFill>
                <a:latin typeface="Verdana" panose="020B0604030504040204" pitchFamily="34" charset="0"/>
                <a:ea typeface="ヒラギノ角ゴ Pro W3" pitchFamily="-84" charset="-128"/>
              </a:defRPr>
            </a:lvl2pPr>
            <a:lvl3pPr marL="1143000" indent="-228600">
              <a:spcBef>
                <a:spcPct val="20000"/>
              </a:spcBef>
              <a:buChar char="•"/>
              <a:defRPr sz="2000">
                <a:solidFill>
                  <a:schemeClr val="tx1"/>
                </a:solidFill>
                <a:latin typeface="Verdana" panose="020B0604030504040204" pitchFamily="34" charset="0"/>
                <a:ea typeface="ヒラギノ角ゴ Pro W3" pitchFamily="-84" charset="-128"/>
              </a:defRPr>
            </a:lvl3pPr>
            <a:lvl4pPr marL="1600200" indent="-228600">
              <a:spcBef>
                <a:spcPct val="20000"/>
              </a:spcBef>
              <a:buChar char="–"/>
              <a:defRPr>
                <a:solidFill>
                  <a:schemeClr val="tx1"/>
                </a:solidFill>
                <a:latin typeface="Verdana" panose="020B0604030504040204" pitchFamily="34" charset="0"/>
                <a:ea typeface="ヒラギノ角ゴ Pro W3" pitchFamily="-84" charset="-128"/>
              </a:defRPr>
            </a:lvl4pPr>
            <a:lvl5pPr marL="2057400" indent="-228600">
              <a:spcBef>
                <a:spcPct val="20000"/>
              </a:spcBef>
              <a:buChar char="»"/>
              <a:defRPr>
                <a:solidFill>
                  <a:schemeClr val="tx1"/>
                </a:solidFill>
                <a:latin typeface="Verdana" panose="020B0604030504040204" pitchFamily="34" charset="0"/>
                <a:ea typeface="ヒラギノ角ゴ Pro W3" pitchFamily="-84" charset="-128"/>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9pPr>
          </a:lstStyle>
          <a:p>
            <a:pPr>
              <a:spcBef>
                <a:spcPct val="0"/>
              </a:spcBef>
              <a:buFontTx/>
              <a:buNone/>
            </a:pPr>
            <a:r>
              <a:rPr lang="en-US" sz="1800" b="1" dirty="0"/>
              <a:t>Figure 2-4  </a:t>
            </a:r>
            <a:r>
              <a:rPr lang="en-US" sz="1800" dirty="0"/>
              <a:t>Inflation Rate, Using the CPI and the GDP Deflator, 1960–2014</a:t>
            </a:r>
          </a:p>
        </p:txBody>
      </p:sp>
      <p:pic>
        <p:nvPicPr>
          <p:cNvPr id="31748" name="Picture 1"/>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856911" y="1660588"/>
            <a:ext cx="5903912" cy="35179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1749" name="Picture 2"/>
          <p:cNvPicPr>
            <a:picLocks noChangeAspect="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64798" y="4249994"/>
            <a:ext cx="2043270" cy="921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1750" name="Content Placeholder 2"/>
          <p:cNvSpPr>
            <a:spLocks noGrp="1"/>
          </p:cNvSpPr>
          <p:nvPr>
            <p:ph idx="1"/>
          </p:nvPr>
        </p:nvSpPr>
        <p:spPr>
          <a:xfrm>
            <a:off x="464798" y="2103505"/>
            <a:ext cx="2025853" cy="2176969"/>
          </a:xfrm>
        </p:spPr>
        <p:txBody>
          <a:bodyPr/>
          <a:lstStyle/>
          <a:p>
            <a:pPr marL="0" indent="0">
              <a:spcBef>
                <a:spcPts val="525"/>
              </a:spcBef>
              <a:buNone/>
            </a:pPr>
            <a:r>
              <a:rPr lang="en-US" sz="1600" dirty="0" smtClean="0">
                <a:ea typeface="ヒラギノ角ゴ Pro W3" pitchFamily="-84" charset="-128"/>
              </a:rPr>
              <a:t>The inflation rates, computed using either the CPI or the GDP deflator, are largely similar.</a:t>
            </a:r>
          </a:p>
          <a:p>
            <a:pPr>
              <a:spcBef>
                <a:spcPts val="525"/>
              </a:spcBef>
            </a:pPr>
            <a:endParaRPr lang="en-US" sz="1600" dirty="0" smtClean="0">
              <a:ea typeface="ヒラギノ角ゴ Pro W3" pitchFamily="-84" charset="-128"/>
            </a:endParaRPr>
          </a:p>
        </p:txBody>
      </p:sp>
    </p:spTree>
  </p:cSld>
  <p:clrMapOvr>
    <a:masterClrMapping/>
  </p:clrMapOvr>
  <p:transition>
    <p:strips dir="l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r>
              <a:rPr lang="en-US" smtClean="0">
                <a:ea typeface="ヒラギノ角ゴ Pro W3" pitchFamily="-84" charset="-128"/>
              </a:rPr>
              <a:t>2-3 The Inflation Rate</a:t>
            </a:r>
          </a:p>
        </p:txBody>
      </p:sp>
      <p:sp>
        <p:nvSpPr>
          <p:cNvPr id="32771" name="Content Placeholder 2"/>
          <p:cNvSpPr>
            <a:spLocks noGrp="1"/>
          </p:cNvSpPr>
          <p:nvPr>
            <p:ph idx="1"/>
          </p:nvPr>
        </p:nvSpPr>
        <p:spPr>
          <a:xfrm>
            <a:off x="381000" y="1295400"/>
            <a:ext cx="8382000" cy="4648200"/>
          </a:xfrm>
        </p:spPr>
        <p:txBody>
          <a:bodyPr/>
          <a:lstStyle/>
          <a:p>
            <a:pPr>
              <a:spcBef>
                <a:spcPts val="525"/>
              </a:spcBef>
            </a:pPr>
            <a:r>
              <a:rPr lang="en-US" sz="2400" dirty="0" smtClean="0">
                <a:ea typeface="ヒラギノ角ゴ Pro W3" pitchFamily="-84" charset="-128"/>
              </a:rPr>
              <a:t>The CPI and GDP deflator moved together most of the time.</a:t>
            </a:r>
          </a:p>
          <a:p>
            <a:pPr>
              <a:spcBef>
                <a:spcPts val="525"/>
              </a:spcBef>
            </a:pPr>
            <a:r>
              <a:rPr lang="en-US" sz="2400" dirty="0" smtClean="0">
                <a:ea typeface="ヒラギノ角ゴ Pro W3" pitchFamily="-84" charset="-128"/>
                <a:cs typeface="Times New Roman" panose="02020603050405020304" pitchFamily="18" charset="0"/>
              </a:rPr>
              <a:t>Exception: In 1979 and 1980, the increase in the CPI was significantly larger than the increase in the GDP deflator due to the price of imported goods increasing relative to the price of domestically produced goods.</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cSld>
  <p:clrMapOvr>
    <a:masterClrMapping/>
  </p:clrMapOvr>
  <p:transition>
    <p:strips dir="l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p:txBody>
          <a:bodyPr/>
          <a:lstStyle/>
          <a:p>
            <a:r>
              <a:rPr lang="en-US" smtClean="0">
                <a:ea typeface="ヒラギノ角ゴ Pro W3" pitchFamily="-84" charset="-128"/>
              </a:rPr>
              <a:t>2-3 The Inflation Rate</a:t>
            </a:r>
          </a:p>
        </p:txBody>
      </p:sp>
      <p:sp>
        <p:nvSpPr>
          <p:cNvPr id="33795" name="Content Placeholder 2"/>
          <p:cNvSpPr>
            <a:spLocks noGrp="1"/>
          </p:cNvSpPr>
          <p:nvPr>
            <p:ph idx="1"/>
          </p:nvPr>
        </p:nvSpPr>
        <p:spPr>
          <a:xfrm>
            <a:off x="381000" y="1295400"/>
            <a:ext cx="8382000" cy="4648200"/>
          </a:xfrm>
        </p:spPr>
        <p:txBody>
          <a:bodyPr/>
          <a:lstStyle/>
          <a:p>
            <a:pPr>
              <a:spcBef>
                <a:spcPts val="525"/>
              </a:spcBef>
            </a:pPr>
            <a:r>
              <a:rPr lang="en-US" sz="2400" i="1" dirty="0" smtClean="0">
                <a:ea typeface="ヒラギノ角ゴ Pro W3" pitchFamily="-84" charset="-128"/>
              </a:rPr>
              <a:t>Pure inflation</a:t>
            </a:r>
            <a:r>
              <a:rPr lang="en-US" sz="2400" dirty="0" smtClean="0">
                <a:ea typeface="ヒラギノ角ゴ Pro W3" pitchFamily="-84" charset="-128"/>
              </a:rPr>
              <a:t> is proportional increase in all prices and wages.</a:t>
            </a:r>
          </a:p>
          <a:p>
            <a:pPr lvl="1">
              <a:spcBef>
                <a:spcPts val="525"/>
              </a:spcBef>
            </a:pPr>
            <a:r>
              <a:rPr lang="en-US" sz="2000" dirty="0" smtClean="0">
                <a:ea typeface="ヒラギノ角ゴ Pro W3" pitchFamily="-84" charset="-128"/>
              </a:rPr>
              <a:t>This type of inflation causes only a minor inconvenience as relative prices are unaffected.</a:t>
            </a:r>
          </a:p>
          <a:p>
            <a:pPr lvl="1">
              <a:spcBef>
                <a:spcPts val="525"/>
              </a:spcBef>
            </a:pPr>
            <a:r>
              <a:rPr lang="en-US" sz="2000" dirty="0" smtClean="0">
                <a:ea typeface="ヒラギノ角ゴ Pro W3" pitchFamily="-84" charset="-128"/>
              </a:rPr>
              <a:t>Real wage (wage measured by goods rather than dollars) would be unaffected.</a:t>
            </a:r>
          </a:p>
          <a:p>
            <a:pPr lvl="1">
              <a:spcBef>
                <a:spcPts val="525"/>
              </a:spcBef>
            </a:pPr>
            <a:r>
              <a:rPr lang="en-US" sz="2000" dirty="0" smtClean="0">
                <a:ea typeface="ヒラギノ角ゴ Pro W3" pitchFamily="-84" charset="-128"/>
              </a:rPr>
              <a:t>There is no such thing as pure inflation.</a:t>
            </a:r>
          </a:p>
          <a:p>
            <a:pPr>
              <a:spcBef>
                <a:spcPts val="525"/>
              </a:spcBef>
            </a:pPr>
            <a:endParaRPr lang="en-US" sz="2400" dirty="0" smtClean="0">
              <a:ea typeface="ヒラギノ角ゴ Pro W3" pitchFamily="-84" charset="-128"/>
            </a:endParaRPr>
          </a:p>
        </p:txBody>
      </p:sp>
    </p:spTree>
  </p:cSld>
  <p:clrMapOvr>
    <a:masterClrMapping/>
  </p:clrMapOvr>
  <p:transition>
    <p:strips dir="l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lang="en-US" smtClean="0">
                <a:ea typeface="ヒラギノ角ゴ Pro W3" pitchFamily="-84" charset="-128"/>
              </a:rPr>
              <a:t>2-3 The Inflation Rate</a:t>
            </a:r>
          </a:p>
        </p:txBody>
      </p:sp>
      <p:sp>
        <p:nvSpPr>
          <p:cNvPr id="34819" name="Content Placeholder 2"/>
          <p:cNvSpPr>
            <a:spLocks noGrp="1"/>
          </p:cNvSpPr>
          <p:nvPr>
            <p:ph idx="1"/>
          </p:nvPr>
        </p:nvSpPr>
        <p:spPr>
          <a:xfrm>
            <a:off x="381000" y="1295400"/>
            <a:ext cx="8382000" cy="4648200"/>
          </a:xfrm>
        </p:spPr>
        <p:txBody>
          <a:bodyPr/>
          <a:lstStyle/>
          <a:p>
            <a:pPr>
              <a:spcBef>
                <a:spcPts val="525"/>
              </a:spcBef>
            </a:pPr>
            <a:r>
              <a:rPr lang="en-US" sz="2400" dirty="0" smtClean="0">
                <a:ea typeface="ヒラギノ角ゴ Pro W3" pitchFamily="-84" charset="-128"/>
              </a:rPr>
              <a:t>Why Do Economists Care about Inflation?</a:t>
            </a:r>
          </a:p>
          <a:p>
            <a:pPr lvl="1">
              <a:spcBef>
                <a:spcPts val="525"/>
              </a:spcBef>
            </a:pPr>
            <a:r>
              <a:rPr lang="en-US" sz="2000" dirty="0" smtClean="0">
                <a:ea typeface="ヒラギノ角ゴ Pro W3" pitchFamily="-84" charset="-128"/>
              </a:rPr>
              <a:t>Inflation affects income distribution when not all prices and wages rise proportionally.</a:t>
            </a:r>
          </a:p>
          <a:p>
            <a:pPr lvl="1">
              <a:spcBef>
                <a:spcPts val="525"/>
              </a:spcBef>
            </a:pPr>
            <a:r>
              <a:rPr lang="en-US" sz="2000" dirty="0" smtClean="0">
                <a:ea typeface="ヒラギノ角ゴ Pro W3" pitchFamily="-84" charset="-128"/>
              </a:rPr>
              <a:t>Inflation leads to distortions due to uncertainty, some prices that are fixed by law or by regulation, and its interaction with taxation (</a:t>
            </a:r>
            <a:r>
              <a:rPr lang="en-US" sz="2000" i="1" dirty="0" smtClean="0">
                <a:ea typeface="ヒラギノ角ゴ Pro W3" pitchFamily="-84" charset="-128"/>
              </a:rPr>
              <a:t>bracket creep </a:t>
            </a:r>
            <a:r>
              <a:rPr lang="en-US" sz="2000" dirty="0" smtClean="0">
                <a:ea typeface="ヒラギノ角ゴ Pro W3" pitchFamily="-84" charset="-128"/>
              </a:rPr>
              <a:t>in taxes).</a:t>
            </a:r>
          </a:p>
          <a:p>
            <a:pPr>
              <a:spcBef>
                <a:spcPts val="525"/>
              </a:spcBef>
            </a:pPr>
            <a:r>
              <a:rPr lang="en-US" sz="2400" dirty="0" smtClean="0">
                <a:ea typeface="ヒラギノ角ゴ Pro W3" pitchFamily="-84" charset="-128"/>
              </a:rPr>
              <a:t>Most economists believe the “best” rate of inflation to be a low and stable rate of inflation between 1 and 4%.</a:t>
            </a:r>
          </a:p>
          <a:p>
            <a:pPr>
              <a:spcBef>
                <a:spcPts val="525"/>
              </a:spcBef>
            </a:pPr>
            <a:endParaRPr lang="en-US" sz="2400" dirty="0" smtClean="0">
              <a:ea typeface="ヒラギノ角ゴ Pro W3" pitchFamily="-84" charset="-128"/>
            </a:endParaRPr>
          </a:p>
        </p:txBody>
      </p:sp>
    </p:spTree>
  </p:cSld>
  <p:clrMapOvr>
    <a:masterClrMapping/>
  </p:clrMapOvr>
  <p:transition>
    <p:strips dir="l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sz="2400" smtClean="0">
                <a:ea typeface="ヒラギノ角ゴ Pro W3" pitchFamily="-84" charset="-128"/>
              </a:rPr>
              <a:t>2-4 Output, Unemployment, and the Inflation Rate: Okun’s Law and the Phillips Curve</a:t>
            </a:r>
          </a:p>
        </p:txBody>
      </p:sp>
      <p:sp>
        <p:nvSpPr>
          <p:cNvPr id="35843" name="TextBox 4"/>
          <p:cNvSpPr txBox="1">
            <a:spLocks noChangeArrowheads="1"/>
          </p:cNvSpPr>
          <p:nvPr/>
        </p:nvSpPr>
        <p:spPr bwMode="auto">
          <a:xfrm>
            <a:off x="304800" y="1183372"/>
            <a:ext cx="83820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ea typeface="ヒラギノ角ゴ Pro W3" pitchFamily="-84" charset="-128"/>
              </a:defRPr>
            </a:lvl1pPr>
            <a:lvl2pPr marL="742950" indent="-285750">
              <a:spcBef>
                <a:spcPct val="20000"/>
              </a:spcBef>
              <a:buChar char="–"/>
              <a:defRPr sz="2400">
                <a:solidFill>
                  <a:schemeClr val="tx1"/>
                </a:solidFill>
                <a:latin typeface="Verdana" panose="020B0604030504040204" pitchFamily="34" charset="0"/>
                <a:ea typeface="ヒラギノ角ゴ Pro W3" pitchFamily="-84" charset="-128"/>
              </a:defRPr>
            </a:lvl2pPr>
            <a:lvl3pPr marL="1143000" indent="-228600">
              <a:spcBef>
                <a:spcPct val="20000"/>
              </a:spcBef>
              <a:buChar char="•"/>
              <a:defRPr sz="2000">
                <a:solidFill>
                  <a:schemeClr val="tx1"/>
                </a:solidFill>
                <a:latin typeface="Verdana" panose="020B0604030504040204" pitchFamily="34" charset="0"/>
                <a:ea typeface="ヒラギノ角ゴ Pro W3" pitchFamily="-84" charset="-128"/>
              </a:defRPr>
            </a:lvl3pPr>
            <a:lvl4pPr marL="1600200" indent="-228600">
              <a:spcBef>
                <a:spcPct val="20000"/>
              </a:spcBef>
              <a:buChar char="–"/>
              <a:defRPr>
                <a:solidFill>
                  <a:schemeClr val="tx1"/>
                </a:solidFill>
                <a:latin typeface="Verdana" panose="020B0604030504040204" pitchFamily="34" charset="0"/>
                <a:ea typeface="ヒラギノ角ゴ Pro W3" pitchFamily="-84" charset="-128"/>
              </a:defRPr>
            </a:lvl4pPr>
            <a:lvl5pPr marL="2057400" indent="-228600">
              <a:spcBef>
                <a:spcPct val="20000"/>
              </a:spcBef>
              <a:buChar char="»"/>
              <a:defRPr>
                <a:solidFill>
                  <a:schemeClr val="tx1"/>
                </a:solidFill>
                <a:latin typeface="Verdana" panose="020B0604030504040204" pitchFamily="34" charset="0"/>
                <a:ea typeface="ヒラギノ角ゴ Pro W3" pitchFamily="-84" charset="-128"/>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9pPr>
          </a:lstStyle>
          <a:p>
            <a:pPr>
              <a:buFontTx/>
              <a:buNone/>
            </a:pPr>
            <a:r>
              <a:rPr lang="en-US" sz="1800" b="1" dirty="0"/>
              <a:t>Figure 2-5  </a:t>
            </a:r>
            <a:r>
              <a:rPr lang="en-US" sz="1800" dirty="0"/>
              <a:t>Changes in the Unemployment Rate versus Growth in the United States, 1960–2014</a:t>
            </a:r>
          </a:p>
        </p:txBody>
      </p:sp>
      <p:sp>
        <p:nvSpPr>
          <p:cNvPr id="35844" name="Content Placeholder 2"/>
          <p:cNvSpPr>
            <a:spLocks noGrp="1"/>
          </p:cNvSpPr>
          <p:nvPr>
            <p:ph idx="1"/>
          </p:nvPr>
        </p:nvSpPr>
        <p:spPr>
          <a:xfrm>
            <a:off x="419100" y="2057400"/>
            <a:ext cx="2476500" cy="2590800"/>
          </a:xfrm>
        </p:spPr>
        <p:txBody>
          <a:bodyPr/>
          <a:lstStyle/>
          <a:p>
            <a:pPr marL="0" indent="0">
              <a:spcBef>
                <a:spcPts val="525"/>
              </a:spcBef>
              <a:buNone/>
            </a:pPr>
            <a:r>
              <a:rPr lang="en-US" sz="1600" dirty="0" smtClean="0">
                <a:ea typeface="ヒラギノ角ゴ Pro W3" pitchFamily="-84" charset="-128"/>
              </a:rPr>
              <a:t>Output growth that is higher than usual is associated with a reduction in the unemployment rate.</a:t>
            </a:r>
          </a:p>
          <a:p>
            <a:pPr marL="0" indent="0">
              <a:spcBef>
                <a:spcPts val="525"/>
              </a:spcBef>
              <a:buNone/>
            </a:pPr>
            <a:r>
              <a:rPr lang="en-US" sz="1600" dirty="0" smtClean="0">
                <a:ea typeface="ヒラギノ角ゴ Pro W3" pitchFamily="-84" charset="-128"/>
              </a:rPr>
              <a:t>Output growth that is lower than usual is associated with an increase in the unemployment rate.</a:t>
            </a:r>
          </a:p>
          <a:p>
            <a:pPr>
              <a:spcBef>
                <a:spcPts val="525"/>
              </a:spcBef>
            </a:pPr>
            <a:endParaRPr lang="en-US" sz="1600" dirty="0" smtClean="0">
              <a:ea typeface="ヒラギノ角ゴ Pro W3" pitchFamily="-84" charset="-128"/>
            </a:endParaRPr>
          </a:p>
        </p:txBody>
      </p:sp>
      <p:pic>
        <p:nvPicPr>
          <p:cNvPr id="35845" name="Picture 3"/>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34340" y="5410200"/>
            <a:ext cx="2219325" cy="2190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5846" name="Picture 4"/>
          <p:cNvPicPr>
            <a:picLocks noChangeAspect="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352800" y="1889669"/>
            <a:ext cx="4727746" cy="3825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strips dir="l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sz="2400" smtClean="0">
                <a:ea typeface="ヒラギノ角ゴ Pro W3" pitchFamily="-84" charset="-128"/>
              </a:rPr>
              <a:t>2-4 Output, Unemployment, and the Inflation Rate: Okun’s Law and the Phillips Curve</a:t>
            </a:r>
          </a:p>
        </p:txBody>
      </p:sp>
      <p:sp>
        <p:nvSpPr>
          <p:cNvPr id="36867" name="Content Placeholder 2"/>
          <p:cNvSpPr>
            <a:spLocks noGrp="1"/>
          </p:cNvSpPr>
          <p:nvPr>
            <p:ph idx="1"/>
          </p:nvPr>
        </p:nvSpPr>
        <p:spPr>
          <a:xfrm>
            <a:off x="381000" y="1295400"/>
            <a:ext cx="8382000" cy="4648200"/>
          </a:xfrm>
        </p:spPr>
        <p:txBody>
          <a:bodyPr/>
          <a:lstStyle/>
          <a:p>
            <a:pPr>
              <a:spcBef>
                <a:spcPts val="525"/>
              </a:spcBef>
            </a:pPr>
            <a:r>
              <a:rPr lang="en-US" sz="2200" b="1" smtClean="0">
                <a:ea typeface="ヒラギノ角ゴ Pro W3" pitchFamily="-84" charset="-128"/>
              </a:rPr>
              <a:t>Okun’s law </a:t>
            </a:r>
            <a:r>
              <a:rPr lang="en-US" sz="2200" smtClean="0">
                <a:ea typeface="ヒラギノ角ゴ Pro W3" pitchFamily="-84" charset="-128"/>
              </a:rPr>
              <a:t>is a relation first examined by U.S. economist Arthur Okun.</a:t>
            </a:r>
          </a:p>
          <a:p>
            <a:pPr>
              <a:spcBef>
                <a:spcPts val="525"/>
              </a:spcBef>
            </a:pPr>
            <a:r>
              <a:rPr lang="en-US" sz="2200" smtClean="0">
                <a:ea typeface="ヒラギノ角ゴ Pro W3" pitchFamily="-84" charset="-128"/>
              </a:rPr>
              <a:t>In Figure 2-5, the line that best fits the points is downward sloping.</a:t>
            </a:r>
          </a:p>
          <a:p>
            <a:pPr>
              <a:spcBef>
                <a:spcPts val="525"/>
              </a:spcBef>
            </a:pPr>
            <a:r>
              <a:rPr lang="en-US" sz="2200" smtClean="0">
                <a:ea typeface="ヒラギノ角ゴ Pro W3" pitchFamily="-84" charset="-128"/>
              </a:rPr>
              <a:t>The slope of the line is –0.4, which imples that, on average, an increase in the growth rate of 1% decreases the unemployment rate by –0.4%.</a:t>
            </a:r>
          </a:p>
          <a:p>
            <a:pPr>
              <a:spcBef>
                <a:spcPts val="525"/>
              </a:spcBef>
            </a:pPr>
            <a:r>
              <a:rPr lang="en-US" sz="2200" smtClean="0">
                <a:ea typeface="ヒラギノ角ゴ Pro W3" pitchFamily="-84" charset="-128"/>
              </a:rPr>
              <a:t>The line crosses the horizontal axis where output growth is 3%, meaning that it takes a growth rate of 3% to keep unemployment constant.</a:t>
            </a:r>
          </a:p>
        </p:txBody>
      </p:sp>
    </p:spTree>
  </p:cSld>
  <p:clrMapOvr>
    <a:masterClrMapping/>
  </p:clrMapOvr>
  <p:transition>
    <p:strips dir="l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sz="2400" smtClean="0">
                <a:ea typeface="ヒラギノ角ゴ Pro W3" pitchFamily="-84" charset="-128"/>
              </a:rPr>
              <a:t>2-4 Output, Unemployment, and the Inflation Rate: Okun’s Law and the Phillips Curve</a:t>
            </a:r>
          </a:p>
        </p:txBody>
      </p:sp>
      <p:sp>
        <p:nvSpPr>
          <p:cNvPr id="9219" name="TextBox 4"/>
          <p:cNvSpPr txBox="1">
            <a:spLocks noChangeArrowheads="1"/>
          </p:cNvSpPr>
          <p:nvPr/>
        </p:nvSpPr>
        <p:spPr bwMode="auto">
          <a:xfrm>
            <a:off x="304800" y="1326044"/>
            <a:ext cx="83820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ea typeface="ヒラギノ角ゴ Pro W3" pitchFamily="-84" charset="-128"/>
              </a:defRPr>
            </a:lvl1pPr>
            <a:lvl2pPr marL="742950" indent="-285750">
              <a:spcBef>
                <a:spcPct val="20000"/>
              </a:spcBef>
              <a:buChar char="–"/>
              <a:defRPr sz="2400">
                <a:solidFill>
                  <a:schemeClr val="tx1"/>
                </a:solidFill>
                <a:latin typeface="Verdana" panose="020B0604030504040204" pitchFamily="34" charset="0"/>
                <a:ea typeface="ヒラギノ角ゴ Pro W3" pitchFamily="-84" charset="-128"/>
              </a:defRPr>
            </a:lvl2pPr>
            <a:lvl3pPr marL="1143000" indent="-228600">
              <a:spcBef>
                <a:spcPct val="20000"/>
              </a:spcBef>
              <a:buChar char="•"/>
              <a:defRPr sz="2000">
                <a:solidFill>
                  <a:schemeClr val="tx1"/>
                </a:solidFill>
                <a:latin typeface="Verdana" panose="020B0604030504040204" pitchFamily="34" charset="0"/>
                <a:ea typeface="ヒラギノ角ゴ Pro W3" pitchFamily="-84" charset="-128"/>
              </a:defRPr>
            </a:lvl3pPr>
            <a:lvl4pPr marL="1600200" indent="-228600">
              <a:spcBef>
                <a:spcPct val="20000"/>
              </a:spcBef>
              <a:buChar char="–"/>
              <a:defRPr>
                <a:solidFill>
                  <a:schemeClr val="tx1"/>
                </a:solidFill>
                <a:latin typeface="Verdana" panose="020B0604030504040204" pitchFamily="34" charset="0"/>
                <a:ea typeface="ヒラギノ角ゴ Pro W3" pitchFamily="-84" charset="-128"/>
              </a:defRPr>
            </a:lvl4pPr>
            <a:lvl5pPr marL="2057400" indent="-228600">
              <a:spcBef>
                <a:spcPct val="20000"/>
              </a:spcBef>
              <a:buChar char="»"/>
              <a:defRPr>
                <a:solidFill>
                  <a:schemeClr val="tx1"/>
                </a:solidFill>
                <a:latin typeface="Verdana" panose="020B0604030504040204" pitchFamily="34" charset="0"/>
                <a:ea typeface="ヒラギノ角ゴ Pro W3" pitchFamily="-84" charset="-128"/>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9pPr>
          </a:lstStyle>
          <a:p>
            <a:pPr>
              <a:buFontTx/>
              <a:buNone/>
              <a:defRPr/>
            </a:pPr>
            <a:r>
              <a:rPr lang="en-US" sz="1800" b="1" kern="0" dirty="0" smtClean="0">
                <a:solidFill>
                  <a:srgbClr val="000000"/>
                </a:solidFill>
                <a:latin typeface="Verdana"/>
                <a:ea typeface="ヒラギノ角ゴ Pro W3" pitchFamily="-65" charset="-128"/>
              </a:rPr>
              <a:t>Figure 2-6  </a:t>
            </a:r>
            <a:r>
              <a:rPr lang="en-US" sz="1800" kern="0" dirty="0" smtClean="0">
                <a:solidFill>
                  <a:srgbClr val="000000"/>
                </a:solidFill>
                <a:latin typeface="Verdana"/>
                <a:ea typeface="ヒラギノ角ゴ Pro W3" pitchFamily="-65" charset="-128"/>
              </a:rPr>
              <a:t>Changes in the Inflation Rate versus the Unemployment Rate in the United States, 1960–2014</a:t>
            </a:r>
          </a:p>
        </p:txBody>
      </p:sp>
      <p:sp>
        <p:nvSpPr>
          <p:cNvPr id="37892" name="Content Placeholder 2"/>
          <p:cNvSpPr>
            <a:spLocks noGrp="1"/>
          </p:cNvSpPr>
          <p:nvPr>
            <p:ph idx="1"/>
          </p:nvPr>
        </p:nvSpPr>
        <p:spPr>
          <a:xfrm>
            <a:off x="385354" y="2590800"/>
            <a:ext cx="2636520" cy="2550910"/>
          </a:xfrm>
        </p:spPr>
        <p:txBody>
          <a:bodyPr/>
          <a:lstStyle/>
          <a:p>
            <a:pPr marL="0" indent="0">
              <a:spcBef>
                <a:spcPts val="525"/>
              </a:spcBef>
              <a:buNone/>
            </a:pPr>
            <a:r>
              <a:rPr lang="en-US" sz="1600" dirty="0" smtClean="0">
                <a:ea typeface="ヒラギノ角ゴ Pro W3" pitchFamily="-84" charset="-128"/>
              </a:rPr>
              <a:t>A low unemployment rate leads to an increase in the inflation rate.</a:t>
            </a:r>
          </a:p>
          <a:p>
            <a:pPr marL="0" indent="0">
              <a:spcBef>
                <a:spcPts val="525"/>
              </a:spcBef>
              <a:buNone/>
            </a:pPr>
            <a:r>
              <a:rPr lang="en-US" sz="1600" dirty="0" smtClean="0">
                <a:ea typeface="ヒラギノ角ゴ Pro W3" pitchFamily="-84" charset="-128"/>
              </a:rPr>
              <a:t>A high unemployment rate leads to a decrease in the inflation rate.</a:t>
            </a:r>
          </a:p>
          <a:p>
            <a:pPr>
              <a:spcBef>
                <a:spcPts val="525"/>
              </a:spcBef>
            </a:pPr>
            <a:endParaRPr lang="en-US" sz="1600" dirty="0" smtClean="0">
              <a:ea typeface="ヒラギノ角ゴ Pro W3" pitchFamily="-84" charset="-128"/>
            </a:endParaRPr>
          </a:p>
        </p:txBody>
      </p:sp>
      <p:pic>
        <p:nvPicPr>
          <p:cNvPr id="37893" name="Picture 1"/>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505200" y="2155419"/>
            <a:ext cx="4800600" cy="379839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37894" name="Picture 2"/>
          <p:cNvPicPr>
            <a:picLocks noChangeAspect="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457200" y="5265256"/>
            <a:ext cx="2305050"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strips dir="l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sz="2400" smtClean="0">
                <a:ea typeface="ヒラギノ角ゴ Pro W3" pitchFamily="-84" charset="-128"/>
              </a:rPr>
              <a:t>2-4 Output, Unemployment, and the Inflation Rate: Okun’s Law and the Phillips Curve</a:t>
            </a:r>
          </a:p>
        </p:txBody>
      </p:sp>
      <p:sp>
        <p:nvSpPr>
          <p:cNvPr id="38915" name="Content Placeholder 2"/>
          <p:cNvSpPr>
            <a:spLocks noGrp="1"/>
          </p:cNvSpPr>
          <p:nvPr>
            <p:ph idx="1"/>
          </p:nvPr>
        </p:nvSpPr>
        <p:spPr>
          <a:xfrm>
            <a:off x="381000" y="1295400"/>
            <a:ext cx="8382000" cy="4648200"/>
          </a:xfrm>
        </p:spPr>
        <p:txBody>
          <a:bodyPr/>
          <a:lstStyle/>
          <a:p>
            <a:pPr>
              <a:spcBef>
                <a:spcPts val="525"/>
              </a:spcBef>
            </a:pPr>
            <a:r>
              <a:rPr lang="en-US" sz="2200" smtClean="0">
                <a:ea typeface="ヒラギノ角ゴ Pro W3" pitchFamily="-84" charset="-128"/>
              </a:rPr>
              <a:t>The Phillips curve is a relation first explored in 1958 by New Zealand economist A.W. Phillips.</a:t>
            </a:r>
          </a:p>
          <a:p>
            <a:pPr>
              <a:spcBef>
                <a:spcPts val="525"/>
              </a:spcBef>
            </a:pPr>
            <a:r>
              <a:rPr lang="en-US" sz="2200" smtClean="0">
                <a:ea typeface="ヒラギノ角ゴ Pro W3" pitchFamily="-84" charset="-128"/>
              </a:rPr>
              <a:t>Figure 2-6 plots the change in the inflation rate against the unemployment rate, along with the line that best fits the points.</a:t>
            </a:r>
          </a:p>
          <a:p>
            <a:pPr>
              <a:spcBef>
                <a:spcPts val="525"/>
              </a:spcBef>
            </a:pPr>
            <a:r>
              <a:rPr lang="en-US" sz="2200" smtClean="0">
                <a:ea typeface="ヒラギノ角ゴ Pro W3" pitchFamily="-84" charset="-128"/>
              </a:rPr>
              <a:t>The line is downward sloping, meaning that higher unemployment leads, on average, to a decrease in inflation, and vice versa.</a:t>
            </a:r>
          </a:p>
          <a:p>
            <a:pPr>
              <a:spcBef>
                <a:spcPts val="525"/>
              </a:spcBef>
            </a:pPr>
            <a:r>
              <a:rPr lang="en-US" sz="2200" smtClean="0">
                <a:ea typeface="ヒラギノ角ゴ Pro W3" pitchFamily="-84" charset="-128"/>
              </a:rPr>
              <a:t>The line crosses the horizontal axis where the unemployment rate is equal to about 6%, meaning that inflation typically increased when unemployment was below 6%.</a:t>
            </a:r>
          </a:p>
          <a:p>
            <a:pPr>
              <a:spcBef>
                <a:spcPts val="525"/>
              </a:spcBef>
            </a:pPr>
            <a:endParaRPr lang="en-US" sz="2200" smtClean="0">
              <a:ea typeface="ヒラギノ角ゴ Pro W3" pitchFamily="-84" charset="-128"/>
            </a:endParaRPr>
          </a:p>
          <a:p>
            <a:pPr>
              <a:spcBef>
                <a:spcPts val="525"/>
              </a:spcBef>
            </a:pPr>
            <a:endParaRPr lang="en-US" sz="2200" smtClean="0">
              <a:ea typeface="ヒラギノ角ゴ Pro W3" pitchFamily="-84" charset="-128"/>
            </a:endParaRPr>
          </a:p>
        </p:txBody>
      </p:sp>
    </p:spTree>
  </p:cSld>
  <p:clrMapOvr>
    <a:masterClrMapping/>
  </p:clrMapOvr>
  <p:transition>
    <p:strips dir="l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lstStyle/>
          <a:p>
            <a:r>
              <a:rPr lang="en-US" sz="2400" smtClean="0">
                <a:ea typeface="ヒラギノ角ゴ Pro W3" pitchFamily="-84" charset="-128"/>
              </a:rPr>
              <a:t>2-5 The Short Run, the Medium Run, and the Long Run</a:t>
            </a:r>
          </a:p>
        </p:txBody>
      </p:sp>
      <p:sp>
        <p:nvSpPr>
          <p:cNvPr id="39939" name="Content Placeholder 2"/>
          <p:cNvSpPr>
            <a:spLocks noGrp="1"/>
          </p:cNvSpPr>
          <p:nvPr>
            <p:ph idx="1"/>
          </p:nvPr>
        </p:nvSpPr>
        <p:spPr>
          <a:xfrm>
            <a:off x="381000" y="1295400"/>
            <a:ext cx="8382000" cy="4648200"/>
          </a:xfrm>
        </p:spPr>
        <p:txBody>
          <a:bodyPr/>
          <a:lstStyle/>
          <a:p>
            <a:pPr>
              <a:spcBef>
                <a:spcPts val="525"/>
              </a:spcBef>
            </a:pPr>
            <a:r>
              <a:rPr lang="en-US" sz="2200" smtClean="0">
                <a:ea typeface="ヒラギノ角ゴ Pro W3" pitchFamily="-84" charset="-128"/>
              </a:rPr>
              <a:t>In the </a:t>
            </a:r>
            <a:r>
              <a:rPr lang="en-US" sz="2200" b="1" smtClean="0">
                <a:ea typeface="ヒラギノ角ゴ Pro W3" pitchFamily="-84" charset="-128"/>
              </a:rPr>
              <a:t>short run </a:t>
            </a:r>
            <a:r>
              <a:rPr lang="en-US" sz="2200" smtClean="0">
                <a:ea typeface="ヒラギノ角ゴ Pro W3" pitchFamily="-84" charset="-128"/>
              </a:rPr>
              <a:t>(e.g., a few years), year-to-year movements in output are primarily driven by movements in demand.</a:t>
            </a:r>
          </a:p>
          <a:p>
            <a:pPr>
              <a:spcBef>
                <a:spcPts val="525"/>
              </a:spcBef>
            </a:pPr>
            <a:r>
              <a:rPr lang="en-US" sz="2200" smtClean="0">
                <a:ea typeface="ヒラギノ角ゴ Pro W3" pitchFamily="-84" charset="-128"/>
              </a:rPr>
              <a:t>In the </a:t>
            </a:r>
            <a:r>
              <a:rPr lang="en-US" sz="2200" b="1" smtClean="0">
                <a:ea typeface="ヒラギノ角ゴ Pro W3" pitchFamily="-84" charset="-128"/>
              </a:rPr>
              <a:t>medium run</a:t>
            </a:r>
            <a:r>
              <a:rPr lang="en-US" sz="2200" smtClean="0">
                <a:ea typeface="ヒラギノ角ゴ Pro W3" pitchFamily="-84" charset="-128"/>
              </a:rPr>
              <a:t> (e.g., a decade), the economy tends to return to the level of output determined by supply factors, such as the capital stock, the level of technology, and the size of the labor force.</a:t>
            </a:r>
          </a:p>
          <a:p>
            <a:pPr>
              <a:spcBef>
                <a:spcPts val="525"/>
              </a:spcBef>
            </a:pPr>
            <a:r>
              <a:rPr lang="en-US" sz="2200" smtClean="0">
                <a:ea typeface="ヒラギノ角ゴ Pro W3" pitchFamily="-84" charset="-128"/>
              </a:rPr>
              <a:t>In the </a:t>
            </a:r>
            <a:r>
              <a:rPr lang="en-US" sz="2200" b="1" smtClean="0">
                <a:ea typeface="ヒラギノ角ゴ Pro W3" pitchFamily="-84" charset="-128"/>
              </a:rPr>
              <a:t>long run </a:t>
            </a:r>
            <a:r>
              <a:rPr lang="en-US" sz="2200" smtClean="0">
                <a:ea typeface="ヒラギノ角ゴ Pro W3" pitchFamily="-84" charset="-128"/>
              </a:rPr>
              <a:t>(e.g., a few decades or more), the economy depends on its ability to innovate and introduce new technologies, and how much people save, the quality of the county’s education system, the quality of the government, and so on.</a:t>
            </a:r>
          </a:p>
          <a:p>
            <a:pPr>
              <a:spcBef>
                <a:spcPts val="525"/>
              </a:spcBef>
            </a:pPr>
            <a:endParaRPr lang="en-US" sz="2200" smtClean="0">
              <a:ea typeface="ヒラギノ角ゴ Pro W3" pitchFamily="-84" charset="-128"/>
            </a:endParaRPr>
          </a:p>
          <a:p>
            <a:pPr>
              <a:spcBef>
                <a:spcPts val="525"/>
              </a:spcBef>
            </a:pPr>
            <a:endParaRPr lang="en-US" sz="2200" smtClean="0">
              <a:ea typeface="ヒラギノ角ゴ Pro W3" pitchFamily="-84" charset="-128"/>
            </a:endParaRPr>
          </a:p>
        </p:txBody>
      </p:sp>
    </p:spTree>
  </p:cSld>
  <p:clrMapOvr>
    <a:masterClrMapping/>
  </p:clrMapOvr>
  <p:transition>
    <p:strips dir="l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smtClean="0">
                <a:ea typeface="ヒラギノ角ゴ Pro W3" pitchFamily="-84" charset="-128"/>
              </a:rPr>
              <a:t>2-6 A Tour of the Book</a:t>
            </a:r>
          </a:p>
        </p:txBody>
      </p:sp>
      <p:sp>
        <p:nvSpPr>
          <p:cNvPr id="40963" name="Content Placeholder 2"/>
          <p:cNvSpPr>
            <a:spLocks noGrp="1"/>
          </p:cNvSpPr>
          <p:nvPr>
            <p:ph idx="1"/>
          </p:nvPr>
        </p:nvSpPr>
        <p:spPr>
          <a:xfrm>
            <a:off x="381000" y="1295400"/>
            <a:ext cx="8382000" cy="4648200"/>
          </a:xfrm>
        </p:spPr>
        <p:txBody>
          <a:bodyPr/>
          <a:lstStyle/>
          <a:p>
            <a:pPr>
              <a:spcBef>
                <a:spcPts val="525"/>
              </a:spcBef>
            </a:pPr>
            <a:r>
              <a:rPr lang="en-US" sz="2400" dirty="0" smtClean="0">
                <a:ea typeface="ヒラギノ角ゴ Pro W3" pitchFamily="-84" charset="-128"/>
              </a:rPr>
              <a:t>The Core </a:t>
            </a:r>
          </a:p>
          <a:p>
            <a:pPr lvl="1">
              <a:spcBef>
                <a:spcPts val="525"/>
              </a:spcBef>
            </a:pPr>
            <a:r>
              <a:rPr lang="en-US" sz="2000" dirty="0" smtClean="0">
                <a:ea typeface="ヒラギノ角ゴ Pro W3" pitchFamily="-84" charset="-128"/>
              </a:rPr>
              <a:t>Chapters 3 to 6: The short run and the role of demand</a:t>
            </a:r>
          </a:p>
          <a:p>
            <a:pPr lvl="1">
              <a:spcBef>
                <a:spcPts val="525"/>
              </a:spcBef>
            </a:pPr>
            <a:r>
              <a:rPr lang="en-US" sz="2000" dirty="0" smtClean="0">
                <a:ea typeface="ヒラギノ角ゴ Pro W3" pitchFamily="-84" charset="-128"/>
              </a:rPr>
              <a:t>Chapters 7 to 9: The medium run and the supply side</a:t>
            </a:r>
          </a:p>
          <a:p>
            <a:pPr lvl="1">
              <a:spcBef>
                <a:spcPts val="525"/>
              </a:spcBef>
            </a:pPr>
            <a:r>
              <a:rPr lang="en-US" sz="2000" dirty="0" smtClean="0">
                <a:ea typeface="ヒラギノ角ゴ Pro W3" pitchFamily="-84" charset="-128"/>
              </a:rPr>
              <a:t>Chapters 10 to 13: The long run</a:t>
            </a:r>
          </a:p>
          <a:p>
            <a:pPr>
              <a:spcBef>
                <a:spcPts val="525"/>
              </a:spcBef>
            </a:pPr>
            <a:r>
              <a:rPr lang="en-US" sz="2400" dirty="0" smtClean="0">
                <a:ea typeface="ヒラギノ角ゴ Pro W3" pitchFamily="-84" charset="-128"/>
              </a:rPr>
              <a:t>Extensions</a:t>
            </a:r>
          </a:p>
          <a:p>
            <a:pPr lvl="1">
              <a:spcBef>
                <a:spcPts val="525"/>
              </a:spcBef>
            </a:pPr>
            <a:r>
              <a:rPr lang="en-US" sz="2000" dirty="0" smtClean="0">
                <a:ea typeface="ヒラギノ角ゴ Pro W3" pitchFamily="-84" charset="-128"/>
              </a:rPr>
              <a:t>Chapters 14 to 16: Expectations and implications for fiscal and monetary policy</a:t>
            </a:r>
          </a:p>
          <a:p>
            <a:pPr lvl="1">
              <a:spcBef>
                <a:spcPts val="525"/>
              </a:spcBef>
            </a:pPr>
            <a:r>
              <a:rPr lang="en-US" sz="2000" dirty="0" smtClean="0">
                <a:ea typeface="ヒラギノ角ゴ Pro W3" pitchFamily="-84" charset="-128"/>
              </a:rPr>
              <a:t>Chapters 17 to 20: Open economy and implications for fiscal and monetary policy</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cSld>
  <p:clrMapOvr>
    <a:masterClrMapping/>
  </p:clrMapOvr>
  <p:transition>
    <p:strips dir="l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smtClean="0">
                <a:ea typeface="ヒラギノ角ゴ Pro W3" pitchFamily="-84" charset="-128"/>
              </a:rPr>
              <a:t>2-6 A Tour of the Book</a:t>
            </a:r>
          </a:p>
        </p:txBody>
      </p:sp>
      <p:sp>
        <p:nvSpPr>
          <p:cNvPr id="41987" name="Content Placeholder 2"/>
          <p:cNvSpPr>
            <a:spLocks noGrp="1"/>
          </p:cNvSpPr>
          <p:nvPr>
            <p:ph idx="1"/>
          </p:nvPr>
        </p:nvSpPr>
        <p:spPr>
          <a:xfrm>
            <a:off x="381000" y="1295400"/>
            <a:ext cx="8382000" cy="4648200"/>
          </a:xfrm>
        </p:spPr>
        <p:txBody>
          <a:bodyPr/>
          <a:lstStyle/>
          <a:p>
            <a:pPr>
              <a:spcBef>
                <a:spcPts val="525"/>
              </a:spcBef>
            </a:pPr>
            <a:r>
              <a:rPr lang="en-US" sz="2400" dirty="0" smtClean="0">
                <a:ea typeface="ヒラギノ角ゴ Pro W3" pitchFamily="-84" charset="-128"/>
              </a:rPr>
              <a:t>Back to Policy</a:t>
            </a:r>
          </a:p>
          <a:p>
            <a:pPr lvl="1">
              <a:spcBef>
                <a:spcPts val="525"/>
              </a:spcBef>
            </a:pPr>
            <a:r>
              <a:rPr lang="en-US" sz="2000" dirty="0" smtClean="0">
                <a:ea typeface="ヒラギノ角ゴ Pro W3" pitchFamily="-84" charset="-128"/>
              </a:rPr>
              <a:t>Chapter 21: General issues of policy</a:t>
            </a:r>
          </a:p>
          <a:p>
            <a:pPr lvl="1">
              <a:spcBef>
                <a:spcPts val="525"/>
              </a:spcBef>
            </a:pPr>
            <a:r>
              <a:rPr lang="en-US" sz="2000" dirty="0" smtClean="0">
                <a:ea typeface="ヒラギノ角ゴ Pro W3" pitchFamily="-84" charset="-128"/>
              </a:rPr>
              <a:t>Chapters 22 &amp; 23: The role of fiscal and monetary policies.</a:t>
            </a:r>
          </a:p>
          <a:p>
            <a:pPr>
              <a:spcBef>
                <a:spcPts val="525"/>
              </a:spcBef>
            </a:pPr>
            <a:r>
              <a:rPr lang="en-US" sz="2400" dirty="0" smtClean="0">
                <a:ea typeface="ヒラギノ角ゴ Pro W3" pitchFamily="-84" charset="-128"/>
              </a:rPr>
              <a:t>Epilogue</a:t>
            </a:r>
          </a:p>
          <a:p>
            <a:pPr lvl="1">
              <a:spcBef>
                <a:spcPts val="525"/>
              </a:spcBef>
            </a:pPr>
            <a:r>
              <a:rPr lang="en-US" sz="2000" dirty="0" smtClean="0">
                <a:ea typeface="ヒラギノ角ゴ Pro W3" pitchFamily="-84" charset="-128"/>
              </a:rPr>
              <a:t>Chapter 24: History of macroeconomics and how macroeconomists have come to believe what they believe today</a:t>
            </a: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a:p>
            <a:pPr>
              <a:spcBef>
                <a:spcPts val="525"/>
              </a:spcBef>
            </a:pPr>
            <a:endParaRPr lang="en-US" sz="2400" dirty="0" smtClean="0">
              <a:ea typeface="ヒラギノ角ゴ Pro W3" pitchFamily="-84" charset="-128"/>
            </a:endParaRPr>
          </a:p>
        </p:txBody>
      </p:sp>
    </p:spTree>
  </p:cSld>
  <p:clrMapOvr>
    <a:masterClrMapping/>
  </p:clrMapOvr>
  <p:transition>
    <p:strips dir="l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US" smtClean="0">
                <a:ea typeface="ヒラギノ角ゴ Pro W3" pitchFamily="-84" charset="-128"/>
              </a:rPr>
              <a:t>2-6 A Tour of the Book</a:t>
            </a:r>
          </a:p>
        </p:txBody>
      </p:sp>
      <p:sp>
        <p:nvSpPr>
          <p:cNvPr id="43011" name="TextBox 4"/>
          <p:cNvSpPr txBox="1">
            <a:spLocks noChangeArrowheads="1"/>
          </p:cNvSpPr>
          <p:nvPr/>
        </p:nvSpPr>
        <p:spPr bwMode="auto">
          <a:xfrm>
            <a:off x="357188" y="1128713"/>
            <a:ext cx="8382000" cy="4000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Verdana" panose="020B0604030504040204" pitchFamily="34" charset="0"/>
                <a:ea typeface="ヒラギノ角ゴ Pro W3" pitchFamily="-84" charset="-128"/>
              </a:defRPr>
            </a:lvl1pPr>
            <a:lvl2pPr marL="742950" indent="-285750">
              <a:spcBef>
                <a:spcPct val="20000"/>
              </a:spcBef>
              <a:buChar char="–"/>
              <a:defRPr sz="2400">
                <a:solidFill>
                  <a:schemeClr val="tx1"/>
                </a:solidFill>
                <a:latin typeface="Verdana" panose="020B0604030504040204" pitchFamily="34" charset="0"/>
                <a:ea typeface="ヒラギノ角ゴ Pro W3" pitchFamily="-84" charset="-128"/>
              </a:defRPr>
            </a:lvl2pPr>
            <a:lvl3pPr marL="1143000" indent="-228600">
              <a:spcBef>
                <a:spcPct val="20000"/>
              </a:spcBef>
              <a:buChar char="•"/>
              <a:defRPr sz="2000">
                <a:solidFill>
                  <a:schemeClr val="tx1"/>
                </a:solidFill>
                <a:latin typeface="Verdana" panose="020B0604030504040204" pitchFamily="34" charset="0"/>
                <a:ea typeface="ヒラギノ角ゴ Pro W3" pitchFamily="-84" charset="-128"/>
              </a:defRPr>
            </a:lvl3pPr>
            <a:lvl4pPr marL="1600200" indent="-228600">
              <a:spcBef>
                <a:spcPct val="20000"/>
              </a:spcBef>
              <a:buChar char="–"/>
              <a:defRPr>
                <a:solidFill>
                  <a:schemeClr val="tx1"/>
                </a:solidFill>
                <a:latin typeface="Verdana" panose="020B0604030504040204" pitchFamily="34" charset="0"/>
                <a:ea typeface="ヒラギノ角ゴ Pro W3" pitchFamily="-84" charset="-128"/>
              </a:defRPr>
            </a:lvl4pPr>
            <a:lvl5pPr marL="2057400" indent="-228600">
              <a:spcBef>
                <a:spcPct val="20000"/>
              </a:spcBef>
              <a:buChar char="»"/>
              <a:defRPr>
                <a:solidFill>
                  <a:schemeClr val="tx1"/>
                </a:solidFill>
                <a:latin typeface="Verdana" panose="020B0604030504040204" pitchFamily="34" charset="0"/>
                <a:ea typeface="ヒラギノ角ゴ Pro W3" pitchFamily="-84" charset="-128"/>
              </a:defRPr>
            </a:lvl5pPr>
            <a:lvl6pPr marL="25146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6pPr>
            <a:lvl7pPr marL="29718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7pPr>
            <a:lvl8pPr marL="34290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8pPr>
            <a:lvl9pPr marL="3886200" indent="-228600" eaLnBrk="0" fontAlgn="base" hangingPunct="0">
              <a:spcBef>
                <a:spcPct val="20000"/>
              </a:spcBef>
              <a:spcAft>
                <a:spcPct val="0"/>
              </a:spcAft>
              <a:buChar char="»"/>
              <a:defRPr>
                <a:solidFill>
                  <a:schemeClr val="tx1"/>
                </a:solidFill>
                <a:latin typeface="Verdana" panose="020B0604030504040204" pitchFamily="34" charset="0"/>
                <a:ea typeface="ヒラギノ角ゴ Pro W3" pitchFamily="-84" charset="-128"/>
              </a:defRPr>
            </a:lvl9pPr>
          </a:lstStyle>
          <a:p>
            <a:pPr>
              <a:spcBef>
                <a:spcPct val="0"/>
              </a:spcBef>
              <a:buFontTx/>
              <a:buNone/>
            </a:pPr>
            <a:r>
              <a:rPr lang="en-US" sz="2000" b="1"/>
              <a:t>Figure 2-7  </a:t>
            </a:r>
            <a:r>
              <a:rPr lang="en-US" sz="2000"/>
              <a:t>The Organization of the Book</a:t>
            </a:r>
          </a:p>
        </p:txBody>
      </p:sp>
      <p:pic>
        <p:nvPicPr>
          <p:cNvPr id="43012" name="Picture 1"/>
          <p:cNvPicPr>
            <a:picLocks noChangeAspect="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066800" y="1752600"/>
            <a:ext cx="5994400" cy="4052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transition>
    <p:strips dir="l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dirty="0" smtClean="0">
                <a:ea typeface="ヒラギノ角ゴ Pro W3" pitchFamily="-84" charset="-128"/>
              </a:rPr>
              <a:t>APPENDIX: The Construction of Real GDP and Chain-Type Indexes</a:t>
            </a:r>
          </a:p>
        </p:txBody>
      </p:sp>
      <p:sp>
        <p:nvSpPr>
          <p:cNvPr id="41987" name="Content Placeholder 2"/>
          <p:cNvSpPr>
            <a:spLocks noGrp="1"/>
          </p:cNvSpPr>
          <p:nvPr>
            <p:ph idx="1"/>
          </p:nvPr>
        </p:nvSpPr>
        <p:spPr>
          <a:xfrm>
            <a:off x="381000" y="1295400"/>
            <a:ext cx="8382000" cy="4648200"/>
          </a:xfrm>
        </p:spPr>
        <p:txBody>
          <a:bodyPr/>
          <a:lstStyle/>
          <a:p>
            <a:pPr>
              <a:spcBef>
                <a:spcPts val="525"/>
              </a:spcBef>
            </a:pPr>
            <a:r>
              <a:rPr lang="en-US" sz="2200" dirty="0" smtClean="0">
                <a:ea typeface="ヒラギノ角ゴ Pro W3" pitchFamily="-84" charset="-128"/>
              </a:rPr>
              <a:t>Suppose that an economy produces two final goods, wine and potatoes:</a:t>
            </a:r>
          </a:p>
          <a:p>
            <a:pPr>
              <a:spcBef>
                <a:spcPts val="525"/>
              </a:spcBef>
            </a:pP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r>
              <a:rPr lang="en-US" sz="2200" dirty="0" smtClean="0">
                <a:ea typeface="ヒラギノ角ゴ Pro W3" pitchFamily="-84" charset="-128"/>
              </a:rPr>
              <a:t>The rate of growth or nominal GDP from year o to year 1 is ($30 − $20)/$20 = 50%.</a:t>
            </a:r>
          </a:p>
          <a:p>
            <a:pPr>
              <a:spcBef>
                <a:spcPts val="525"/>
              </a:spcBef>
            </a:pPr>
            <a:endParaRPr lang="en-US" sz="2200" dirty="0" smtClean="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smtClean="0">
              <a:ea typeface="ヒラギノ角ゴ Pro W3" pitchFamily="-84" charset="-128"/>
            </a:endParaRPr>
          </a:p>
        </p:txBody>
      </p:sp>
      <p:pic>
        <p:nvPicPr>
          <p:cNvPr id="2" name="Picture 1"/>
          <p:cNvPicPr>
            <a:picLocks noChangeAspect="1"/>
          </p:cNvPicPr>
          <p:nvPr/>
        </p:nvPicPr>
        <p:blipFill>
          <a:blip r:embed="rId2" cstate="print"/>
          <a:stretch>
            <a:fillRect/>
          </a:stretch>
        </p:blipFill>
        <p:spPr>
          <a:xfrm>
            <a:off x="1524000" y="2133600"/>
            <a:ext cx="4724400" cy="2891659"/>
          </a:xfrm>
          <a:prstGeom prst="rect">
            <a:avLst/>
          </a:prstGeom>
        </p:spPr>
      </p:pic>
    </p:spTree>
    <p:extLst>
      <p:ext uri="{BB962C8B-B14F-4D97-AF65-F5344CB8AC3E}">
        <p14:creationId xmlns="" xmlns:p14="http://schemas.microsoft.com/office/powerpoint/2010/main" val="3079712539"/>
      </p:ext>
    </p:extLst>
  </p:cSld>
  <p:clrMapOvr>
    <a:masterClrMapping/>
  </p:clrMapOvr>
  <p:transition>
    <p:strips dir="l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dirty="0" smtClean="0">
                <a:ea typeface="ヒラギノ角ゴ Pro W3" pitchFamily="-84" charset="-128"/>
              </a:rPr>
              <a:t>APPENDIX: The Construction of Real GDP and Chain-Type Indexes</a:t>
            </a:r>
          </a:p>
        </p:txBody>
      </p:sp>
      <p:sp>
        <p:nvSpPr>
          <p:cNvPr id="41987" name="Content Placeholder 2"/>
          <p:cNvSpPr>
            <a:spLocks noGrp="1"/>
          </p:cNvSpPr>
          <p:nvPr>
            <p:ph idx="1"/>
          </p:nvPr>
        </p:nvSpPr>
        <p:spPr>
          <a:xfrm>
            <a:off x="381000" y="1295400"/>
            <a:ext cx="8382000" cy="4648200"/>
          </a:xfrm>
        </p:spPr>
        <p:txBody>
          <a:bodyPr/>
          <a:lstStyle/>
          <a:p>
            <a:pPr>
              <a:spcBef>
                <a:spcPts val="525"/>
              </a:spcBef>
            </a:pPr>
            <a:r>
              <a:rPr lang="en-US" sz="2200" dirty="0" smtClean="0">
                <a:ea typeface="ヒラギノ角ゴ Pro W3" pitchFamily="-84" charset="-128"/>
              </a:rPr>
              <a:t>Suppose year 0 is the </a:t>
            </a:r>
            <a:r>
              <a:rPr lang="en-US" sz="2200" b="1" dirty="0" smtClean="0">
                <a:ea typeface="ヒラギノ角ゴ Pro W3" pitchFamily="-84" charset="-128"/>
              </a:rPr>
              <a:t>base year:</a:t>
            </a:r>
            <a:r>
              <a:rPr lang="en-US" sz="2200" dirty="0" smtClean="0">
                <a:ea typeface="ヒラギノ角ゴ Pro W3" pitchFamily="-84" charset="-128"/>
              </a:rPr>
              <a:t> </a:t>
            </a:r>
          </a:p>
          <a:p>
            <a:pPr lvl="1">
              <a:spcBef>
                <a:spcPts val="525"/>
              </a:spcBef>
            </a:pPr>
            <a:r>
              <a:rPr lang="en-US" sz="2000" dirty="0" smtClean="0">
                <a:ea typeface="ヒラギノ角ゴ Pro W3" pitchFamily="-84" charset="-128"/>
              </a:rPr>
              <a:t>Real GDP in year 0: (10 x $1) + (5 x $2) = $20</a:t>
            </a:r>
          </a:p>
          <a:p>
            <a:pPr lvl="1">
              <a:spcBef>
                <a:spcPts val="525"/>
              </a:spcBef>
            </a:pPr>
            <a:r>
              <a:rPr lang="en-US" sz="2000" dirty="0">
                <a:ea typeface="ヒラギノ角ゴ Pro W3" pitchFamily="-84" charset="-128"/>
              </a:rPr>
              <a:t>Real GDP in year </a:t>
            </a:r>
            <a:r>
              <a:rPr lang="en-US" sz="2000" dirty="0" smtClean="0">
                <a:ea typeface="ヒラギノ角ゴ Pro W3" pitchFamily="-84" charset="-128"/>
              </a:rPr>
              <a:t>1: </a:t>
            </a:r>
            <a:r>
              <a:rPr lang="en-US" sz="2000" dirty="0">
                <a:ea typeface="ヒラギノ角ゴ Pro W3" pitchFamily="-84" charset="-128"/>
              </a:rPr>
              <a:t>(</a:t>
            </a:r>
            <a:r>
              <a:rPr lang="en-US" sz="2000" dirty="0" smtClean="0">
                <a:ea typeface="ヒラギノ角ゴ Pro W3" pitchFamily="-84" charset="-128"/>
              </a:rPr>
              <a:t>15 </a:t>
            </a:r>
            <a:r>
              <a:rPr lang="en-US" sz="2000" dirty="0">
                <a:ea typeface="ヒラギノ角ゴ Pro W3" pitchFamily="-84" charset="-128"/>
              </a:rPr>
              <a:t>x $1) + (5 x $2) = $</a:t>
            </a:r>
            <a:r>
              <a:rPr lang="en-US" sz="2000" dirty="0" smtClean="0">
                <a:ea typeface="ヒラギノ角ゴ Pro W3" pitchFamily="-84" charset="-128"/>
              </a:rPr>
              <a:t>25</a:t>
            </a:r>
          </a:p>
          <a:p>
            <a:pPr lvl="1">
              <a:spcBef>
                <a:spcPts val="525"/>
              </a:spcBef>
            </a:pPr>
            <a:r>
              <a:rPr lang="en-US" sz="2000" dirty="0" smtClean="0">
                <a:ea typeface="ヒラギノ角ゴ Pro W3" pitchFamily="-84" charset="-128"/>
              </a:rPr>
              <a:t>The rate of growth of real GDP from year 0 to year 1 is ($25 </a:t>
            </a:r>
            <a:r>
              <a:rPr lang="en-US" sz="2000" dirty="0">
                <a:ea typeface="ヒラギノ角ゴ Pro W3" pitchFamily="-84" charset="-128"/>
              </a:rPr>
              <a:t>− $20)/$20 = </a:t>
            </a:r>
            <a:r>
              <a:rPr lang="en-US" sz="2000" dirty="0" smtClean="0">
                <a:ea typeface="ヒラギノ角ゴ Pro W3" pitchFamily="-84" charset="-128"/>
              </a:rPr>
              <a:t>25%.</a:t>
            </a:r>
          </a:p>
          <a:p>
            <a:pPr>
              <a:spcBef>
                <a:spcPts val="1800"/>
              </a:spcBef>
            </a:pPr>
            <a:r>
              <a:rPr lang="en-US" sz="2200" dirty="0">
                <a:ea typeface="ヒラギノ角ゴ Pro W3" pitchFamily="-84" charset="-128"/>
              </a:rPr>
              <a:t>Suppose year </a:t>
            </a:r>
            <a:r>
              <a:rPr lang="en-US" sz="2200" dirty="0" smtClean="0">
                <a:ea typeface="ヒラギノ角ゴ Pro W3" pitchFamily="-84" charset="-128"/>
              </a:rPr>
              <a:t>1 </a:t>
            </a:r>
            <a:r>
              <a:rPr lang="en-US" sz="2200" dirty="0">
                <a:ea typeface="ヒラギノ角ゴ Pro W3" pitchFamily="-84" charset="-128"/>
              </a:rPr>
              <a:t>is the base </a:t>
            </a:r>
            <a:r>
              <a:rPr lang="en-US" sz="2200" dirty="0" smtClean="0">
                <a:ea typeface="ヒラギノ角ゴ Pro W3" pitchFamily="-84" charset="-128"/>
              </a:rPr>
              <a:t>year</a:t>
            </a:r>
            <a:r>
              <a:rPr lang="en-US" sz="2200" dirty="0">
                <a:ea typeface="ヒラギノ角ゴ Pro W3" pitchFamily="-84" charset="-128"/>
              </a:rPr>
              <a:t>:</a:t>
            </a:r>
          </a:p>
          <a:p>
            <a:pPr lvl="1">
              <a:spcBef>
                <a:spcPts val="525"/>
              </a:spcBef>
            </a:pPr>
            <a:r>
              <a:rPr lang="en-US" sz="2000" dirty="0">
                <a:ea typeface="ヒラギノ角ゴ Pro W3" pitchFamily="-84" charset="-128"/>
              </a:rPr>
              <a:t>Real GDP in year 0: (10 x $1) + (5 x </a:t>
            </a:r>
            <a:r>
              <a:rPr lang="en-US" sz="2000" dirty="0" smtClean="0">
                <a:ea typeface="ヒラギノ角ゴ Pro W3" pitchFamily="-84" charset="-128"/>
              </a:rPr>
              <a:t>$3) </a:t>
            </a:r>
            <a:r>
              <a:rPr lang="en-US" sz="2000" dirty="0">
                <a:ea typeface="ヒラギノ角ゴ Pro W3" pitchFamily="-84" charset="-128"/>
              </a:rPr>
              <a:t>= $</a:t>
            </a:r>
            <a:r>
              <a:rPr lang="en-US" sz="2000" dirty="0" smtClean="0">
                <a:ea typeface="ヒラギノ角ゴ Pro W3" pitchFamily="-84" charset="-128"/>
              </a:rPr>
              <a:t>25</a:t>
            </a:r>
            <a:endParaRPr lang="en-US" sz="2000" dirty="0">
              <a:ea typeface="ヒラギノ角ゴ Pro W3" pitchFamily="-84" charset="-128"/>
            </a:endParaRPr>
          </a:p>
          <a:p>
            <a:pPr lvl="1">
              <a:spcBef>
                <a:spcPts val="525"/>
              </a:spcBef>
            </a:pPr>
            <a:r>
              <a:rPr lang="en-US" sz="2000" dirty="0">
                <a:ea typeface="ヒラギノ角ゴ Pro W3" pitchFamily="-84" charset="-128"/>
              </a:rPr>
              <a:t>Real GDP in year 1: (15 x $1) + (5 x </a:t>
            </a:r>
            <a:r>
              <a:rPr lang="en-US" sz="2000" dirty="0" smtClean="0">
                <a:ea typeface="ヒラギノ角ゴ Pro W3" pitchFamily="-84" charset="-128"/>
              </a:rPr>
              <a:t>$3) </a:t>
            </a:r>
            <a:r>
              <a:rPr lang="en-US" sz="2000" dirty="0">
                <a:ea typeface="ヒラギノ角ゴ Pro W3" pitchFamily="-84" charset="-128"/>
              </a:rPr>
              <a:t>= </a:t>
            </a:r>
            <a:r>
              <a:rPr lang="en-US" sz="2000" dirty="0" smtClean="0">
                <a:ea typeface="ヒラギノ角ゴ Pro W3" pitchFamily="-84" charset="-128"/>
              </a:rPr>
              <a:t>$30</a:t>
            </a:r>
            <a:endParaRPr lang="en-US" sz="2000" dirty="0">
              <a:ea typeface="ヒラギノ角ゴ Pro W3" pitchFamily="-84" charset="-128"/>
            </a:endParaRPr>
          </a:p>
          <a:p>
            <a:pPr lvl="1">
              <a:spcBef>
                <a:spcPts val="525"/>
              </a:spcBef>
            </a:pPr>
            <a:r>
              <a:rPr lang="en-US" sz="2000" dirty="0">
                <a:ea typeface="ヒラギノ角ゴ Pro W3" pitchFamily="-84" charset="-128"/>
              </a:rPr>
              <a:t>The rate of growth of real GDP from year 0 to year 1 </a:t>
            </a:r>
            <a:r>
              <a:rPr lang="en-US" sz="2000" dirty="0" smtClean="0">
                <a:ea typeface="ヒラギノ角ゴ Pro W3" pitchFamily="-84" charset="-128"/>
              </a:rPr>
              <a:t>is ($30 </a:t>
            </a:r>
            <a:r>
              <a:rPr lang="en-US" sz="2000" dirty="0">
                <a:ea typeface="ヒラギノ角ゴ Pro W3" pitchFamily="-84" charset="-128"/>
              </a:rPr>
              <a:t>− $</a:t>
            </a:r>
            <a:r>
              <a:rPr lang="en-US" sz="2000" dirty="0" smtClean="0">
                <a:ea typeface="ヒラギノ角ゴ Pro W3" pitchFamily="-84" charset="-128"/>
              </a:rPr>
              <a:t>25)/$25 </a:t>
            </a:r>
            <a:r>
              <a:rPr lang="en-US" sz="2000" dirty="0">
                <a:ea typeface="ヒラギノ角ゴ Pro W3" pitchFamily="-84" charset="-128"/>
              </a:rPr>
              <a:t>= </a:t>
            </a:r>
            <a:r>
              <a:rPr lang="en-US" sz="2000" dirty="0" smtClean="0">
                <a:ea typeface="ヒラギノ角ゴ Pro W3" pitchFamily="-84" charset="-128"/>
              </a:rPr>
              <a:t>20%.</a:t>
            </a:r>
            <a:endParaRPr lang="en-US" sz="2000" dirty="0">
              <a:ea typeface="ヒラギノ角ゴ Pro W3" pitchFamily="-84" charset="-128"/>
            </a:endParaRPr>
          </a:p>
          <a:p>
            <a:pPr>
              <a:spcBef>
                <a:spcPts val="1800"/>
              </a:spcBef>
            </a:pPr>
            <a:r>
              <a:rPr lang="en-US" sz="2200" dirty="0" smtClean="0">
                <a:ea typeface="ヒラギノ角ゴ Pro W3" pitchFamily="-84" charset="-128"/>
              </a:rPr>
              <a:t>Problem: Which base year should one choose?</a:t>
            </a: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r>
              <a:rPr lang="en-US" sz="2200" dirty="0" smtClean="0">
                <a:ea typeface="ヒラギノ角ゴ Pro W3" pitchFamily="-84" charset="-128"/>
              </a:rPr>
              <a:t>The rate of growth or nominal GDP from year o to year 1 is ($30 − $20)/$20 = 50%.</a:t>
            </a:r>
          </a:p>
          <a:p>
            <a:pPr>
              <a:spcBef>
                <a:spcPts val="525"/>
              </a:spcBef>
            </a:pPr>
            <a:endParaRPr lang="en-US" sz="2200" dirty="0" smtClean="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smtClean="0">
              <a:ea typeface="ヒラギノ角ゴ Pro W3" pitchFamily="-84" charset="-128"/>
            </a:endParaRPr>
          </a:p>
        </p:txBody>
      </p:sp>
    </p:spTree>
    <p:extLst>
      <p:ext uri="{BB962C8B-B14F-4D97-AF65-F5344CB8AC3E}">
        <p14:creationId xmlns="" xmlns:p14="http://schemas.microsoft.com/office/powerpoint/2010/main" val="927202473"/>
      </p:ext>
    </p:extLst>
  </p:cSld>
  <p:clrMapOvr>
    <a:masterClrMapping/>
  </p:clrMapOvr>
  <p:transition>
    <p:strips dir="l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dirty="0" smtClean="0">
                <a:ea typeface="ヒラギノ角ゴ Pro W3" pitchFamily="-84" charset="-128"/>
              </a:rPr>
              <a:t>APPENDIX: The Construction of Real GDP and Chain-Type Indexes</a:t>
            </a:r>
          </a:p>
        </p:txBody>
      </p:sp>
      <p:sp>
        <p:nvSpPr>
          <p:cNvPr id="41987" name="Content Placeholder 2"/>
          <p:cNvSpPr>
            <a:spLocks noGrp="1"/>
          </p:cNvSpPr>
          <p:nvPr>
            <p:ph idx="1"/>
          </p:nvPr>
        </p:nvSpPr>
        <p:spPr>
          <a:xfrm>
            <a:off x="381000" y="1295400"/>
            <a:ext cx="8382000" cy="4648200"/>
          </a:xfrm>
        </p:spPr>
        <p:txBody>
          <a:bodyPr/>
          <a:lstStyle/>
          <a:p>
            <a:pPr>
              <a:spcBef>
                <a:spcPts val="525"/>
              </a:spcBef>
            </a:pPr>
            <a:r>
              <a:rPr lang="en-US" sz="2200" dirty="0" smtClean="0">
                <a:ea typeface="ヒラギノ角ゴ Pro W3" pitchFamily="-84" charset="-128"/>
              </a:rPr>
              <a:t>In December 1995, the U.S. Bureau of Economic Analysis shifted to a new method with four steps:</a:t>
            </a:r>
          </a:p>
          <a:p>
            <a:pPr marL="914400" lvl="1" indent="-457200">
              <a:spcBef>
                <a:spcPts val="525"/>
              </a:spcBef>
              <a:buFont typeface="+mj-lt"/>
              <a:buAutoNum type="arabicPeriod"/>
            </a:pPr>
            <a:r>
              <a:rPr lang="en-US" sz="2000" dirty="0" smtClean="0">
                <a:ea typeface="ヒラギノ角ゴ Pro W3" pitchFamily="-84" charset="-128"/>
              </a:rPr>
              <a:t>Construct the rate of change of real GDP between two years in two different ways:</a:t>
            </a:r>
          </a:p>
          <a:p>
            <a:pPr lvl="2">
              <a:spcBef>
                <a:spcPts val="525"/>
              </a:spcBef>
              <a:buFont typeface="Verdana" panose="020B0604030504040204" pitchFamily="34" charset="0"/>
              <a:buChar char="−"/>
            </a:pPr>
            <a:r>
              <a:rPr lang="en-US" sz="1800" dirty="0" smtClean="0">
                <a:ea typeface="ヒラギノ角ゴ Pro W3" pitchFamily="-84" charset="-128"/>
              </a:rPr>
              <a:t>Using the price from year t as the set of common prices</a:t>
            </a:r>
          </a:p>
          <a:p>
            <a:pPr lvl="2">
              <a:spcBef>
                <a:spcPts val="525"/>
              </a:spcBef>
              <a:buFont typeface="Verdana" panose="020B0604030504040204" pitchFamily="34" charset="0"/>
              <a:buChar char="−"/>
            </a:pPr>
            <a:r>
              <a:rPr lang="en-US" sz="1800" dirty="0" smtClean="0">
                <a:ea typeface="ヒラギノ角ゴ Pro W3" pitchFamily="-84" charset="-128"/>
              </a:rPr>
              <a:t>Using the price from year t+1 as the set of common prices</a:t>
            </a:r>
          </a:p>
          <a:p>
            <a:pPr marL="914400" lvl="1" indent="-457200">
              <a:spcBef>
                <a:spcPts val="525"/>
              </a:spcBef>
              <a:buFont typeface="+mj-lt"/>
              <a:buAutoNum type="arabicPeriod"/>
            </a:pPr>
            <a:r>
              <a:rPr lang="en-US" sz="2000" dirty="0" smtClean="0">
                <a:ea typeface="ヒラギノ角ゴ Pro W3" pitchFamily="-84" charset="-128"/>
              </a:rPr>
              <a:t>Construct the rate of change of real GDP as the average of the these two rates of change</a:t>
            </a:r>
          </a:p>
          <a:p>
            <a:pPr marL="914400" lvl="1" indent="-457200">
              <a:spcBef>
                <a:spcPts val="525"/>
              </a:spcBef>
              <a:buFont typeface="+mj-lt"/>
              <a:buAutoNum type="arabicPeriod"/>
            </a:pPr>
            <a:r>
              <a:rPr lang="en-US" sz="2000" dirty="0" smtClean="0">
                <a:ea typeface="ヒラギノ角ゴ Pro W3" pitchFamily="-84" charset="-128"/>
              </a:rPr>
              <a:t>Construct an index of the level of real GDP by </a:t>
            </a:r>
            <a:r>
              <a:rPr lang="en-US" sz="2000" i="1" dirty="0" smtClean="0">
                <a:ea typeface="ヒラギノ角ゴ Pro W3" pitchFamily="-84" charset="-128"/>
              </a:rPr>
              <a:t>linking</a:t>
            </a:r>
            <a:r>
              <a:rPr lang="en-US" sz="2000" dirty="0" smtClean="0">
                <a:ea typeface="ヒラギノ角ゴ Pro W3" pitchFamily="-84" charset="-128"/>
              </a:rPr>
              <a:t> or </a:t>
            </a:r>
            <a:r>
              <a:rPr lang="en-US" sz="2000" i="1" dirty="0" smtClean="0">
                <a:ea typeface="ヒラギノ角ゴ Pro W3" pitchFamily="-84" charset="-128"/>
              </a:rPr>
              <a:t>chaining</a:t>
            </a:r>
            <a:r>
              <a:rPr lang="en-US" sz="2000" dirty="0" smtClean="0">
                <a:ea typeface="ヒラギノ角ゴ Pro W3" pitchFamily="-84" charset="-128"/>
              </a:rPr>
              <a:t> the constructed rates of change for each year</a:t>
            </a:r>
          </a:p>
          <a:p>
            <a:pPr marL="914400" lvl="1" indent="-457200">
              <a:spcBef>
                <a:spcPts val="525"/>
              </a:spcBef>
              <a:buFont typeface="+mj-lt"/>
              <a:buAutoNum type="arabicPeriod"/>
            </a:pPr>
            <a:r>
              <a:rPr lang="en-US" sz="2000" dirty="0" smtClean="0">
                <a:ea typeface="ヒラギノ角ゴ Pro W3" pitchFamily="-84" charset="-128"/>
              </a:rPr>
              <a:t>Multiply this index by nominal GDP to derive </a:t>
            </a:r>
            <a:r>
              <a:rPr lang="en-US" sz="2000" i="1" dirty="0" smtClean="0">
                <a:ea typeface="ヒラギノ角ゴ Pro W3" pitchFamily="-84" charset="-128"/>
              </a:rPr>
              <a:t>real GDP in chained dollars</a:t>
            </a:r>
          </a:p>
          <a:p>
            <a:pPr>
              <a:spcBef>
                <a:spcPts val="525"/>
              </a:spcBef>
            </a:pP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r>
              <a:rPr lang="en-US" sz="2200" dirty="0" smtClean="0">
                <a:ea typeface="ヒラギノ角ゴ Pro W3" pitchFamily="-84" charset="-128"/>
              </a:rPr>
              <a:t>The rate of growth or nominal GDP from year o to year 1 is ($30 − $20)/$20 = 50%.</a:t>
            </a:r>
          </a:p>
          <a:p>
            <a:pPr>
              <a:spcBef>
                <a:spcPts val="525"/>
              </a:spcBef>
            </a:pPr>
            <a:endParaRPr lang="en-US" sz="2200" dirty="0" smtClean="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smtClean="0">
              <a:ea typeface="ヒラギノ角ゴ Pro W3" pitchFamily="-84" charset="-128"/>
            </a:endParaRPr>
          </a:p>
          <a:p>
            <a:pPr>
              <a:spcBef>
                <a:spcPts val="525"/>
              </a:spcBef>
            </a:pPr>
            <a:endParaRPr lang="en-US" sz="2200" dirty="0" smtClean="0">
              <a:ea typeface="ヒラギノ角ゴ Pro W3" pitchFamily="-84" charset="-128"/>
            </a:endParaRPr>
          </a:p>
        </p:txBody>
      </p:sp>
    </p:spTree>
    <p:extLst>
      <p:ext uri="{BB962C8B-B14F-4D97-AF65-F5344CB8AC3E}">
        <p14:creationId xmlns="" xmlns:p14="http://schemas.microsoft.com/office/powerpoint/2010/main" val="3324926478"/>
      </p:ext>
    </p:extLst>
  </p:cSld>
  <p:clrMapOvr>
    <a:masterClrMapping/>
  </p:clrMapOvr>
  <p:transition>
    <p:strips dir="ld"/>
  </p:transition>
</p:sld>
</file>

<file path=ppt/theme/theme1.xml><?xml version="1.0" encoding="utf-8"?>
<a:theme xmlns:a="http://schemas.openxmlformats.org/drawingml/2006/main" name="template_LN01Brooks671956_02_LN01">
  <a:themeElements>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earson_PowerPoint_Template_Bekaer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Pearson_PowerPoint_Template_Bekaer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earson_PowerPoint_Template_Bekaer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earson_PowerPoint_Template_Bekaer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earson_PowerPoint_Template_Bekaer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earson_PowerPoint_Template_Bekaer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earson_PowerPoint_Template_Bekaer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earson_PowerPoint_Template_Bekaert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earson_PowerPoint_Template_Bekaer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earson_PowerPoint_Template_Bekaer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earson_PowerPoint_Template_Bekaer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earson_PowerPoint_Template_Bekaer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earson_PowerPoint_Template_Bekaer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LN01Folland832739_07_LN01.pot</Template>
  <TotalTime>2424</TotalTime>
  <Words>2791</Words>
  <Application>Microsoft Office PowerPoint</Application>
  <PresentationFormat>On-screen Show (4:3)</PresentationFormat>
  <Paragraphs>246</Paragraphs>
  <Slides>41</Slides>
  <Notes>0</Notes>
  <HiddenSlides>0</HiddenSlides>
  <MMClips>0</MMClips>
  <ScaleCrop>false</ScaleCrop>
  <HeadingPairs>
    <vt:vector size="4" baseType="variant">
      <vt:variant>
        <vt:lpstr>Theme</vt:lpstr>
      </vt:variant>
      <vt:variant>
        <vt:i4>1</vt:i4>
      </vt:variant>
      <vt:variant>
        <vt:lpstr>Slide Titles</vt:lpstr>
      </vt:variant>
      <vt:variant>
        <vt:i4>41</vt:i4>
      </vt:variant>
    </vt:vector>
  </HeadingPairs>
  <TitlesOfParts>
    <vt:vector size="42" baseType="lpstr">
      <vt:lpstr>template_LN01Brooks671956_02_LN01</vt:lpstr>
      <vt:lpstr>A Tour of the Book</vt:lpstr>
      <vt:lpstr>Chapter 2 Outline</vt:lpstr>
      <vt:lpstr>A Tour of the Book</vt:lpstr>
      <vt:lpstr>2-1 Aggregate Output</vt:lpstr>
      <vt:lpstr>2-1 Aggregate Output</vt:lpstr>
      <vt:lpstr>2-1 Aggregate Output</vt:lpstr>
      <vt:lpstr>2-1 Aggregate Output</vt:lpstr>
      <vt:lpstr>2-1 Aggregate Output</vt:lpstr>
      <vt:lpstr>2-1 Aggregate Output</vt:lpstr>
      <vt:lpstr>2-1 Aggregate Output</vt:lpstr>
      <vt:lpstr>2-1 Aggregate Output</vt:lpstr>
      <vt:lpstr>2-1 Aggregate Output</vt:lpstr>
      <vt:lpstr>2-1 Aggregate Output</vt:lpstr>
      <vt:lpstr>2-1 Aggregate Output</vt:lpstr>
      <vt:lpstr>FOCUS: Real GDP, Technological Progress, and the Price of Computers</vt:lpstr>
      <vt:lpstr>2-2 The Unemployment Rate</vt:lpstr>
      <vt:lpstr>2-2 The Unemployment Rate</vt:lpstr>
      <vt:lpstr>2-2 The Unemployment Rate</vt:lpstr>
      <vt:lpstr>2-2 The Unemployment Rate</vt:lpstr>
      <vt:lpstr>2-2 The Unemployment Rate</vt:lpstr>
      <vt:lpstr>2-2 The Unemployment Rate</vt:lpstr>
      <vt:lpstr>FOCUS: Unemployment and Happiness</vt:lpstr>
      <vt:lpstr>2-3 The Inflation Rate</vt:lpstr>
      <vt:lpstr>2-3 The Inflation Rate</vt:lpstr>
      <vt:lpstr>2-3 The Inflation Rate</vt:lpstr>
      <vt:lpstr>2-3 The Inflation Rate</vt:lpstr>
      <vt:lpstr>2-3 The Inflation Rate</vt:lpstr>
      <vt:lpstr>2-3 The Inflation Rate</vt:lpstr>
      <vt:lpstr>2-3 The Inflation Rate</vt:lpstr>
      <vt:lpstr>2-3 The Inflation Rate</vt:lpstr>
      <vt:lpstr>2-4 Output, Unemployment, and the Inflation Rate: Okun’s Law and the Phillips Curve</vt:lpstr>
      <vt:lpstr>2-4 Output, Unemployment, and the Inflation Rate: Okun’s Law and the Phillips Curve</vt:lpstr>
      <vt:lpstr>2-4 Output, Unemployment, and the Inflation Rate: Okun’s Law and the Phillips Curve</vt:lpstr>
      <vt:lpstr>2-4 Output, Unemployment, and the Inflation Rate: Okun’s Law and the Phillips Curve</vt:lpstr>
      <vt:lpstr>2-5 The Short Run, the Medium Run, and the Long Run</vt:lpstr>
      <vt:lpstr>2-6 A Tour of the Book</vt:lpstr>
      <vt:lpstr>2-6 A Tour of the Book</vt:lpstr>
      <vt:lpstr>2-6 A Tour of the Book</vt:lpstr>
      <vt:lpstr>APPENDIX: The Construction of Real GDP and Chain-Type Indexes</vt:lpstr>
      <vt:lpstr>APPENDIX: The Construction of Real GDP and Chain-Type Indexes</vt:lpstr>
      <vt:lpstr>APPENDIX: The Construction of Real GDP and Chain-Type Indexes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Oliver Blanchard</dc:creator>
  <cp:lastModifiedBy>utiwavi</cp:lastModifiedBy>
  <cp:revision>130</cp:revision>
  <dcterms:created xsi:type="dcterms:W3CDTF">2012-08-09T20:37:31Z</dcterms:created>
  <dcterms:modified xsi:type="dcterms:W3CDTF">2016-09-15T10:58:41Z</dcterms:modified>
</cp:coreProperties>
</file>