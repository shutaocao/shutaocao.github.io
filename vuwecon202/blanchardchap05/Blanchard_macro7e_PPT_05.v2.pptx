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0"/>
  </p:notesMasterIdLst>
  <p:sldIdLst>
    <p:sldId id="256" r:id="rId2"/>
    <p:sldId id="269" r:id="rId3"/>
    <p:sldId id="268" r:id="rId4"/>
    <p:sldId id="296" r:id="rId5"/>
    <p:sldId id="297" r:id="rId6"/>
    <p:sldId id="316" r:id="rId7"/>
    <p:sldId id="298" r:id="rId8"/>
    <p:sldId id="299" r:id="rId9"/>
    <p:sldId id="317" r:id="rId10"/>
    <p:sldId id="300" r:id="rId11"/>
    <p:sldId id="301" r:id="rId12"/>
    <p:sldId id="318" r:id="rId13"/>
    <p:sldId id="303" r:id="rId14"/>
    <p:sldId id="320" r:id="rId15"/>
    <p:sldId id="319" r:id="rId16"/>
    <p:sldId id="304" r:id="rId17"/>
    <p:sldId id="321" r:id="rId18"/>
    <p:sldId id="306" r:id="rId19"/>
    <p:sldId id="322" r:id="rId20"/>
    <p:sldId id="323" r:id="rId21"/>
    <p:sldId id="309" r:id="rId22"/>
    <p:sldId id="310" r:id="rId23"/>
    <p:sldId id="311" r:id="rId24"/>
    <p:sldId id="325" r:id="rId25"/>
    <p:sldId id="324" r:id="rId26"/>
    <p:sldId id="326" r:id="rId27"/>
    <p:sldId id="313" r:id="rId28"/>
    <p:sldId id="314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599D"/>
    <a:srgbClr val="BBE5FB"/>
    <a:srgbClr val="BFDC42"/>
    <a:srgbClr val="D8F2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90"/>
  </p:normalViewPr>
  <p:slideViewPr>
    <p:cSldViewPr>
      <p:cViewPr varScale="1">
        <p:scale>
          <a:sx n="77" d="100"/>
          <a:sy n="77" d="100"/>
        </p:scale>
        <p:origin x="-108" y="-8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358A83D-3E8E-422B-A1C7-AED5424569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106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ヒラギノ角ゴ Pro W3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BBE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599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Verdana" panose="020B0604030504040204" pitchFamily="34" charset="0"/>
            </a:endParaRPr>
          </a:p>
        </p:txBody>
      </p:sp>
      <p:pic>
        <p:nvPicPr>
          <p:cNvPr id="3" name="Picture 3" descr="Pearson_Bound_Whi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38" y="6356350"/>
            <a:ext cx="165576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Pearson_Strap_Bound_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9081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5205590" cy="6400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4108721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771439"/>
      </p:ext>
    </p:extLst>
  </p:cSld>
  <p:clrMapOvr>
    <a:masterClrMapping/>
  </p:clrMapOvr>
  <p:transition>
    <p:strips dir="l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352075451"/>
      </p:ext>
    </p:extLst>
  </p:cSld>
  <p:clrMapOvr>
    <a:masterClrMapping/>
  </p:clrMapOvr>
  <p:transition>
    <p:strips dir="l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50072493"/>
      </p:ext>
    </p:extLst>
  </p:cSld>
  <p:clrMapOvr>
    <a:masterClrMapping/>
  </p:clrMapOvr>
  <p:transition>
    <p:strips dir="l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87435220"/>
      </p:ext>
    </p:extLst>
  </p:cSld>
  <p:clrMapOvr>
    <a:masterClrMapping/>
  </p:clrMapOvr>
  <p:transition>
    <p:strips dir="l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4062720"/>
      </p:ext>
    </p:extLst>
  </p:cSld>
  <p:clrMapOvr>
    <a:masterClrMapping/>
  </p:clrMapOvr>
  <p:transition>
    <p:strips dir="l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750255790"/>
      </p:ext>
    </p:extLst>
  </p:cSld>
  <p:clrMapOvr>
    <a:masterClrMapping/>
  </p:clrMapOvr>
  <p:transition>
    <p:strips dir="l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884679804"/>
      </p:ext>
    </p:extLst>
  </p:cSld>
  <p:clrMapOvr>
    <a:masterClrMapping/>
  </p:clrMapOvr>
  <p:transition>
    <p:strips dir="l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3337429884"/>
      </p:ext>
    </p:extLst>
  </p:cSld>
  <p:clrMapOvr>
    <a:masterClrMapping/>
  </p:clrMapOvr>
  <p:transition>
    <p:strips dir="l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38792299"/>
      </p:ext>
    </p:extLst>
  </p:cSld>
  <p:clrMapOvr>
    <a:masterClrMapping/>
  </p:clrMapOvr>
  <p:transition>
    <p:strips dir="l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0"/>
            <a:ext cx="21145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1912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5461388"/>
      </p:ext>
    </p:extLst>
  </p:cSld>
  <p:clrMapOvr>
    <a:masterClrMapping/>
  </p:clrMapOvr>
  <p:transition>
    <p:strips dir="l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fld id="{EF38A850-ADD0-4F7D-99F1-C19676CE30E4}" type="datetime1">
              <a:rPr lang="en-US"/>
              <a:pPr>
                <a:defRPr/>
              </a:pPr>
              <a:t>10/6/2016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r>
              <a:rPr lang="en-US"/>
              <a:t>Copyright © 2013 Pearson Education, Inc.</a:t>
            </a:r>
          </a:p>
          <a:p>
            <a:pPr>
              <a:defRPr/>
            </a:pPr>
            <a:r>
              <a:rPr lang="en-US"/>
              <a:t>Publishing as Prentice Hall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2A68BFA4-ED51-4D11-92C9-125F6EFF37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78001293"/>
      </p:ext>
    </p:extLst>
  </p:cSld>
  <p:clrMapOvr>
    <a:masterClrMapping/>
  </p:clrMapOvr>
  <p:transition>
    <p:strips dir="ld"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60A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382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0"/>
            <a:ext cx="8458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gray">
          <a:xfrm>
            <a:off x="381000" y="6577013"/>
            <a:ext cx="539908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US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Copyright ©2017 Pearson Education, Ltd. All rights reserved.</a:t>
            </a:r>
            <a:endParaRPr lang="en-GB" sz="900" dirty="0" smtClean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029" name="Rectangle 7"/>
          <p:cNvSpPr>
            <a:spLocks noChangeArrowheads="1"/>
          </p:cNvSpPr>
          <p:nvPr/>
        </p:nvSpPr>
        <p:spPr bwMode="gray">
          <a:xfrm>
            <a:off x="8402638" y="6577013"/>
            <a:ext cx="3603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5-</a:t>
            </a:r>
            <a:fld id="{604DE8C7-66CF-465F-9818-9F61582FDCEB}" type="slidenum">
              <a:rPr lang="en-GB" sz="900" smtClean="0">
                <a:solidFill>
                  <a:schemeClr val="bg1"/>
                </a:solidFill>
                <a:latin typeface="Verdana" panose="020B0604030504040204" pitchFamily="34" charset="0"/>
              </a:rPr>
              <a:pPr>
                <a:defRPr/>
              </a:pPr>
              <a:t>‹#›</a:t>
            </a:fld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40" r:id="rId12"/>
  </p:sldLayoutIdLst>
  <p:transition>
    <p:strips dir="ld"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ヒラギノ角ゴ Pro W3" pitchFamily="-1" charset="-128"/>
          <a:cs typeface="ヒラギノ角ゴ Pro W3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ヒラギノ角ゴ Pro W3" pitchFamily="-1" charset="-128"/>
          <a:cs typeface="ヒラギノ角ゴ Pro W3" pitchFamily="-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ヒラギノ角ゴ Pro W3" pitchFamily="-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ヒラギノ角ゴ Pro W3" pitchFamily="-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pitchFamily="-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410200" y="1219200"/>
            <a:ext cx="3276600" cy="2362200"/>
          </a:xfrm>
        </p:spPr>
        <p:txBody>
          <a:bodyPr/>
          <a:lstStyle/>
          <a:p>
            <a:pPr algn="ctr" eaLnBrk="1" hangingPunct="1"/>
            <a:r>
              <a:rPr lang="en-US" sz="2800" dirty="0" smtClean="0">
                <a:ea typeface="ヒラギノ角ゴ Pro W3" pitchFamily="-84" charset="-128"/>
              </a:rPr>
              <a:t>Goods and Financial Markets; </a:t>
            </a:r>
            <a:br>
              <a:rPr lang="en-US" sz="2800" dirty="0" smtClean="0">
                <a:ea typeface="ヒラギノ角ゴ Pro W3" pitchFamily="-84" charset="-128"/>
              </a:rPr>
            </a:br>
            <a:r>
              <a:rPr lang="en-US" sz="2800" dirty="0" smtClean="0">
                <a:ea typeface="ヒラギノ角ゴ Pro W3" pitchFamily="-84" charset="-128"/>
              </a:rPr>
              <a:t>The </a:t>
            </a:r>
            <a:r>
              <a:rPr lang="en-US" sz="2800" i="1" dirty="0" smtClean="0">
                <a:ea typeface="ヒラギノ角ゴ Pro W3" pitchFamily="-84" charset="-128"/>
              </a:rPr>
              <a:t>IS-LM</a:t>
            </a:r>
            <a:r>
              <a:rPr lang="en-US" sz="2800" dirty="0" smtClean="0">
                <a:ea typeface="ヒラギノ角ゴ Pro W3" pitchFamily="-84" charset="-128"/>
              </a:rPr>
              <a:t> Model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953000" y="3886200"/>
            <a:ext cx="4191000" cy="17526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 smtClean="0">
                <a:ea typeface="ヒラギノ角ゴ Pro W3" pitchFamily="-84" charset="-128"/>
              </a:rPr>
              <a:t>Chapter 5</a:t>
            </a:r>
          </a:p>
        </p:txBody>
      </p:sp>
    </p:spTree>
  </p:cSld>
  <p:clrMapOvr>
    <a:masterClrMapping/>
  </p:clrMapOvr>
  <p:transition>
    <p:strips dir="l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Chapter 5 Outline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1371600"/>
            <a:ext cx="8382000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ヒラギノ角ゴ Pro W3" pitchFamily="-1" charset="-128"/>
                <a:cs typeface="ヒラギノ角ゴ Pro W3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9pPr>
          </a:lstStyle>
          <a:p>
            <a:pPr marL="1714500" indent="-1714500" eaLnBrk="1" hangingPunct="1">
              <a:buFontTx/>
              <a:buNone/>
              <a:defRPr/>
            </a:pPr>
            <a:r>
              <a:rPr lang="en-US" sz="2400" b="1" kern="0" dirty="0" smtClean="0">
                <a:ea typeface="ヒラギノ角ゴ Pro W3" pitchFamily="-84" charset="-128"/>
              </a:rPr>
              <a:t>Goods and Financial Markets; The </a:t>
            </a:r>
            <a:r>
              <a:rPr lang="en-US" sz="2400" b="1" i="1" kern="0" dirty="0" smtClean="0">
                <a:ea typeface="ヒラギノ角ゴ Pro W3" pitchFamily="-84" charset="-128"/>
              </a:rPr>
              <a:t>IS-LM</a:t>
            </a:r>
            <a:r>
              <a:rPr lang="en-US" sz="2400" b="1" kern="0" dirty="0" smtClean="0">
                <a:ea typeface="ヒラギノ角ゴ Pro W3" pitchFamily="-84" charset="-128"/>
              </a:rPr>
              <a:t> Model</a:t>
            </a:r>
          </a:p>
          <a:p>
            <a:pPr marL="1714500" indent="-1714500" eaLnBrk="1" hangingPunct="1">
              <a:buFontTx/>
              <a:buNone/>
              <a:defRPr/>
            </a:pPr>
            <a:endParaRPr lang="en-US" sz="2400" kern="0" dirty="0" smtClean="0">
              <a:ea typeface="ヒラギノ角ゴ Pro W3" pitchFamily="-84" charset="-128"/>
            </a:endParaRP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5-1	</a:t>
            </a:r>
            <a:r>
              <a:rPr lang="en-US" sz="2400" kern="0" dirty="0">
                <a:ea typeface="ヒラギノ角ゴ Pro W3" pitchFamily="-84" charset="-128"/>
              </a:rPr>
              <a:t>The Goods Market and the </a:t>
            </a:r>
            <a:r>
              <a:rPr lang="en-US" sz="2400" i="1" kern="0" dirty="0">
                <a:ea typeface="ヒラギノ角ゴ Pro W3" pitchFamily="-84" charset="-128"/>
              </a:rPr>
              <a:t>IS</a:t>
            </a:r>
            <a:r>
              <a:rPr lang="en-US" sz="2400" kern="0" dirty="0">
                <a:ea typeface="ヒラギノ角ゴ Pro W3" pitchFamily="-84" charset="-128"/>
              </a:rPr>
              <a:t> </a:t>
            </a:r>
            <a:r>
              <a:rPr lang="en-US" sz="2400" kern="0" dirty="0" smtClean="0">
                <a:ea typeface="ヒラギノ角ゴ Pro W3" pitchFamily="-84" charset="-128"/>
              </a:rPr>
              <a:t>Relation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5-2	</a:t>
            </a:r>
            <a:r>
              <a:rPr lang="en-US" sz="2400" kern="0" dirty="0">
                <a:ea typeface="ヒラギノ角ゴ Pro W3" pitchFamily="-84" charset="-128"/>
              </a:rPr>
              <a:t>Financial Markets and the </a:t>
            </a:r>
            <a:r>
              <a:rPr lang="en-US" sz="2400" i="1" kern="0" dirty="0">
                <a:ea typeface="ヒラギノ角ゴ Pro W3" pitchFamily="-84" charset="-128"/>
              </a:rPr>
              <a:t>LM</a:t>
            </a:r>
            <a:r>
              <a:rPr lang="en-US" sz="2400" kern="0" dirty="0">
                <a:ea typeface="ヒラギノ角ゴ Pro W3" pitchFamily="-84" charset="-128"/>
              </a:rPr>
              <a:t> Relation</a:t>
            </a:r>
            <a:endParaRPr lang="en-US" sz="2400" kern="0" dirty="0" smtClean="0">
              <a:ea typeface="ヒラギノ角ゴ Pro W3" pitchFamily="-84" charset="-128"/>
            </a:endParaRP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5-3	</a:t>
            </a:r>
            <a:r>
              <a:rPr lang="en-US" sz="2400" kern="0" dirty="0">
                <a:ea typeface="ヒラギノ角ゴ Pro W3" pitchFamily="-84" charset="-128"/>
              </a:rPr>
              <a:t>Putting the </a:t>
            </a:r>
            <a:r>
              <a:rPr lang="en-US" sz="2400" i="1" kern="0" dirty="0">
                <a:ea typeface="ヒラギノ角ゴ Pro W3" pitchFamily="-84" charset="-128"/>
              </a:rPr>
              <a:t>IS</a:t>
            </a:r>
            <a:r>
              <a:rPr lang="en-US" sz="2400" kern="0" dirty="0">
                <a:ea typeface="ヒラギノ角ゴ Pro W3" pitchFamily="-84" charset="-128"/>
              </a:rPr>
              <a:t> and the </a:t>
            </a:r>
            <a:r>
              <a:rPr lang="en-US" sz="2400" i="1" kern="0" dirty="0">
                <a:ea typeface="ヒラギノ角ゴ Pro W3" pitchFamily="-84" charset="-128"/>
              </a:rPr>
              <a:t>LM</a:t>
            </a:r>
            <a:r>
              <a:rPr lang="en-US" sz="2400" kern="0" dirty="0">
                <a:ea typeface="ヒラギノ角ゴ Pro W3" pitchFamily="-84" charset="-128"/>
              </a:rPr>
              <a:t> Relations Together</a:t>
            </a:r>
            <a:endParaRPr lang="en-US" sz="2400" kern="0" dirty="0" smtClean="0">
              <a:ea typeface="ヒラギノ角ゴ Pro W3" pitchFamily="-84" charset="-128"/>
            </a:endParaRP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5-4	Using a Policy Mix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5-5	How Does the </a:t>
            </a:r>
            <a:r>
              <a:rPr lang="en-US" sz="2400" i="1" kern="0" dirty="0" smtClean="0">
                <a:ea typeface="ヒラギノ角ゴ Pro W3" pitchFamily="-84" charset="-128"/>
              </a:rPr>
              <a:t>IS-LM</a:t>
            </a:r>
            <a:r>
              <a:rPr lang="en-US" sz="2400" kern="0" dirty="0" smtClean="0">
                <a:ea typeface="ヒラギノ角ゴ Pro W3" pitchFamily="-84" charset="-128"/>
              </a:rPr>
              <a:t> Model Fit the Facts?</a:t>
            </a:r>
          </a:p>
        </p:txBody>
      </p:sp>
    </p:spTree>
  </p:cSld>
  <p:clrMapOvr>
    <a:masterClrMapping/>
  </p:clrMapOvr>
  <p:transition>
    <p:strips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dirty="0">
                <a:ea typeface="ヒラギノ角ゴ Pro W3" pitchFamily="-84" charset="-128"/>
              </a:rPr>
              <a:t>Goods and Financial Markets; The </a:t>
            </a:r>
            <a:r>
              <a:rPr lang="en-US" i="1" dirty="0">
                <a:ea typeface="ヒラギノ角ゴ Pro W3" pitchFamily="-84" charset="-128"/>
              </a:rPr>
              <a:t>IS-LM</a:t>
            </a:r>
            <a:r>
              <a:rPr lang="en-US" dirty="0">
                <a:ea typeface="ヒラギノ角ゴ Pro W3" pitchFamily="-84" charset="-128"/>
              </a:rPr>
              <a:t> Model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We looked at the goods market in Chapter 3, and financial markets in Chapter 4.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In this chapter, we look at goods and financial markets together, and understand how output and the interest rate are determined in the short run.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John Hicks and Alvin Hansen called this framework the </a:t>
            </a:r>
            <a:r>
              <a:rPr lang="en-US" sz="2400" i="1" dirty="0" smtClean="0">
                <a:ea typeface="ヒラギノ角ゴ Pro W3" pitchFamily="-84" charset="-128"/>
              </a:rPr>
              <a:t>IS-LM</a:t>
            </a:r>
            <a:r>
              <a:rPr lang="en-US" sz="2400" dirty="0" smtClean="0">
                <a:ea typeface="ヒラギノ角ゴ Pro W3" pitchFamily="-84" charset="-128"/>
              </a:rPr>
              <a:t> model. </a:t>
            </a:r>
          </a:p>
        </p:txBody>
      </p:sp>
    </p:spTree>
  </p:cSld>
  <p:clrMapOvr>
    <a:masterClrMapping/>
  </p:clrMapOvr>
  <p:transition>
    <p:strips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5-1 The Goods Market and the </a:t>
            </a:r>
            <a:r>
              <a:rPr lang="en-US" i="1" dirty="0" smtClean="0">
                <a:ea typeface="ヒラギノ角ゴ Pro W3" pitchFamily="-65" charset="-128"/>
              </a:rPr>
              <a:t>IS </a:t>
            </a:r>
            <a:r>
              <a:rPr lang="en-US" dirty="0" smtClean="0">
                <a:ea typeface="ヒラギノ角ゴ Pro W3" pitchFamily="-65" charset="-128"/>
              </a:rPr>
              <a:t>Relation</a:t>
            </a:r>
          </a:p>
        </p:txBody>
      </p:sp>
      <p:pic>
        <p:nvPicPr>
          <p:cNvPr id="16387" name="Picture 3" descr="eq05_01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55" y="3276600"/>
            <a:ext cx="71628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 descr="eq05_02.g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55" y="5029200"/>
            <a:ext cx="80010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8710" y="1447800"/>
            <a:ext cx="8382000" cy="2543175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In the model developed in Chapter 3, investment was assumed to be constant for simplicity.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In fact, investment depends on production </a:t>
            </a:r>
            <a:r>
              <a:rPr lang="en-US" sz="2400" i="1" dirty="0" smtClean="0">
                <a:ea typeface="ヒラギノ角ゴ Pro W3" pitchFamily="-84" charset="-128"/>
              </a:rPr>
              <a:t>Y</a:t>
            </a:r>
            <a:r>
              <a:rPr lang="en-US" sz="2400" dirty="0" smtClean="0">
                <a:ea typeface="ヒラギノ角ゴ Pro W3" pitchFamily="-84" charset="-128"/>
              </a:rPr>
              <a:t> (or sales) and the interest rate </a:t>
            </a:r>
            <a:r>
              <a:rPr lang="en-US" sz="2400" i="1" dirty="0" err="1" smtClean="0">
                <a:ea typeface="ヒラギノ角ゴ Pro W3" pitchFamily="-84" charset="-128"/>
              </a:rPr>
              <a:t>i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So equilibrium in the goods market becomes: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r>
              <a:rPr lang="en-US" sz="2400" dirty="0">
                <a:ea typeface="ヒラギノ角ゴ Pro W3" pitchFamily="-84" charset="-128"/>
              </a:rPr>
              <a:t> </a:t>
            </a:r>
            <a:r>
              <a:rPr lang="en-US" sz="2400" dirty="0" smtClean="0">
                <a:ea typeface="ヒラギノ角ゴ Pro W3" pitchFamily="-84" charset="-128"/>
              </a:rPr>
              <a:t>  which is the </a:t>
            </a:r>
            <a:r>
              <a:rPr lang="en-US" sz="2400" i="1" dirty="0" smtClean="0">
                <a:ea typeface="ヒラギノ角ゴ Pro W3" pitchFamily="-84" charset="-128"/>
              </a:rPr>
              <a:t>IS</a:t>
            </a:r>
            <a:r>
              <a:rPr lang="en-US" sz="2400" dirty="0" smtClean="0">
                <a:ea typeface="ヒラギノ角ゴ Pro W3" pitchFamily="-84" charset="-128"/>
              </a:rPr>
              <a:t> relation.</a:t>
            </a:r>
          </a:p>
        </p:txBody>
      </p:sp>
    </p:spTree>
    <p:extLst>
      <p:ext uri="{BB962C8B-B14F-4D97-AF65-F5344CB8AC3E}">
        <p14:creationId xmlns="" xmlns:p14="http://schemas.microsoft.com/office/powerpoint/2010/main" val="898689749"/>
      </p:ext>
    </p:extLst>
  </p:cSld>
  <p:clrMapOvr>
    <a:masterClrMapping/>
  </p:clrMapOvr>
  <p:transition>
    <p:strips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65" charset="-128"/>
              </a:rPr>
              <a:t>5-1 The Goods Market and the </a:t>
            </a:r>
            <a:r>
              <a:rPr lang="en-US" i="1" smtClean="0">
                <a:ea typeface="ヒラギノ角ゴ Pro W3" pitchFamily="-65" charset="-128"/>
              </a:rPr>
              <a:t>IS </a:t>
            </a:r>
            <a:r>
              <a:rPr lang="en-US" smtClean="0">
                <a:ea typeface="ヒラギノ角ゴ Pro W3" pitchFamily="-65" charset="-128"/>
              </a:rPr>
              <a:t>Relation</a:t>
            </a:r>
          </a:p>
        </p:txBody>
      </p:sp>
      <p:pic>
        <p:nvPicPr>
          <p:cNvPr id="17411" name="Picture 5" descr="fig05_01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057400"/>
            <a:ext cx="4495800" cy="409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Box 6"/>
          <p:cNvSpPr txBox="1">
            <a:spLocks noChangeArrowheads="1"/>
          </p:cNvSpPr>
          <p:nvPr/>
        </p:nvSpPr>
        <p:spPr bwMode="auto">
          <a:xfrm>
            <a:off x="381000" y="1415534"/>
            <a:ext cx="8305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5-1  </a:t>
            </a:r>
            <a:r>
              <a:rPr lang="en-US" sz="1800" dirty="0">
                <a:latin typeface="Verdana" panose="020B0604030504040204" pitchFamily="34" charset="0"/>
              </a:rPr>
              <a:t>Equilibrium in the Goods Market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57200" y="2514600"/>
            <a:ext cx="26670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dirty="0" smtClean="0">
                <a:latin typeface="Verdana" panose="020B0604030504040204" pitchFamily="34" charset="0"/>
              </a:rPr>
              <a:t>The demand for goods is an increasing function of output.</a:t>
            </a:r>
          </a:p>
          <a:p>
            <a:r>
              <a:rPr lang="en-US" sz="1600" dirty="0" smtClean="0">
                <a:latin typeface="Verdana" panose="020B0604030504040204" pitchFamily="34" charset="0"/>
              </a:rPr>
              <a:t>Equilibrium requires that the demand for goods be equal to output.</a:t>
            </a:r>
            <a:endParaRPr lang="en-US" sz="16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21706840"/>
      </p:ext>
    </p:extLst>
  </p:cSld>
  <p:clrMapOvr>
    <a:masterClrMapping/>
  </p:clrMapOvr>
  <p:transition>
    <p:strips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5-1 The Goods Market and the </a:t>
            </a:r>
            <a:r>
              <a:rPr lang="en-US" i="1" dirty="0" smtClean="0">
                <a:ea typeface="ヒラギノ角ゴ Pro W3" pitchFamily="-65" charset="-128"/>
              </a:rPr>
              <a:t>IS </a:t>
            </a:r>
            <a:r>
              <a:rPr lang="en-US" dirty="0" smtClean="0">
                <a:ea typeface="ヒラギノ角ゴ Pro W3" pitchFamily="-65" charset="-128"/>
              </a:rPr>
              <a:t>Relation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8710" y="1447800"/>
            <a:ext cx="847049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ZZ is upward-sloping because, for a given value of the interest rate, an increase in output leads to an increase in the demand for goods through its effects on consumption and investment.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ZZ is a curve rather than a line because we have not assumed that the consumption and investment relations in equations (5.2) are linear.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ZZ is flatter than the 45-degree line because we have assumed that an increase in output leads to a less than one-for-one increase in demand.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intersection of ZZ and the 45-degree line (point </a:t>
            </a:r>
            <a:r>
              <a:rPr lang="en-US" sz="2400" i="1" dirty="0" smtClean="0">
                <a:ea typeface="ヒラギノ角ゴ Pro W3" pitchFamily="-84" charset="-128"/>
              </a:rPr>
              <a:t>A</a:t>
            </a:r>
            <a:r>
              <a:rPr lang="en-US" sz="2400" dirty="0" smtClean="0">
                <a:ea typeface="ヒラギノ角ゴ Pro W3" pitchFamily="-84" charset="-128"/>
              </a:rPr>
              <a:t>) is the equilibrium level of output.</a:t>
            </a:r>
          </a:p>
        </p:txBody>
      </p:sp>
    </p:spTree>
    <p:extLst>
      <p:ext uri="{BB962C8B-B14F-4D97-AF65-F5344CB8AC3E}">
        <p14:creationId xmlns="" xmlns:p14="http://schemas.microsoft.com/office/powerpoint/2010/main" val="3678199780"/>
      </p:ext>
    </p:extLst>
  </p:cSld>
  <p:clrMapOvr>
    <a:masterClrMapping/>
  </p:clrMapOvr>
  <p:transition>
    <p:strips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4343400" cy="1676400"/>
          </a:xfrm>
        </p:spPr>
        <p:txBody>
          <a:bodyPr anchor="t"/>
          <a:lstStyle/>
          <a:p>
            <a:r>
              <a:rPr lang="en-US" sz="2800" dirty="0" smtClean="0">
                <a:ea typeface="ヒラギノ角ゴ Pro W3" pitchFamily="-65" charset="-128"/>
              </a:rPr>
              <a:t>5-1 The Goods Market and the </a:t>
            </a:r>
            <a:r>
              <a:rPr lang="en-US" sz="2800" i="1" dirty="0" smtClean="0">
                <a:ea typeface="ヒラギノ角ゴ Pro W3" pitchFamily="-65" charset="-128"/>
              </a:rPr>
              <a:t>IS </a:t>
            </a:r>
            <a:r>
              <a:rPr lang="en-US" sz="2800" dirty="0" smtClean="0">
                <a:ea typeface="ヒラギノ角ゴ Pro W3" pitchFamily="-65" charset="-128"/>
              </a:rPr>
              <a:t>Relation</a:t>
            </a:r>
          </a:p>
        </p:txBody>
      </p:sp>
      <p:pic>
        <p:nvPicPr>
          <p:cNvPr id="18435" name="Picture 3" descr="fig05_02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28600"/>
            <a:ext cx="3352800" cy="615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Box 4"/>
          <p:cNvSpPr txBox="1">
            <a:spLocks noChangeArrowheads="1"/>
          </p:cNvSpPr>
          <p:nvPr/>
        </p:nvSpPr>
        <p:spPr bwMode="auto">
          <a:xfrm>
            <a:off x="390832" y="1908687"/>
            <a:ext cx="402876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5-2  </a:t>
            </a:r>
            <a:r>
              <a:rPr lang="en-US" sz="1800" dirty="0">
                <a:latin typeface="Verdana" panose="020B0604030504040204" pitchFamily="34" charset="0"/>
              </a:rPr>
              <a:t>The Derivation of the </a:t>
            </a:r>
            <a:r>
              <a:rPr lang="en-US" sz="1800" i="1" dirty="0">
                <a:latin typeface="Verdana" panose="020B0604030504040204" pitchFamily="34" charset="0"/>
              </a:rPr>
              <a:t>IS</a:t>
            </a:r>
            <a:r>
              <a:rPr lang="en-US" sz="1800" dirty="0">
                <a:latin typeface="Verdana" panose="020B0604030504040204" pitchFamily="34" charset="0"/>
              </a:rPr>
              <a:t> Curve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90832" y="2710887"/>
            <a:ext cx="4028768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dirty="0" smtClean="0">
                <a:latin typeface="Verdana" panose="020B0604030504040204" pitchFamily="34" charset="0"/>
              </a:rPr>
              <a:t>(a) An increase in the interest rate decreases the demand for goods at any level of output, leading to a decrease in the equilibrium level of output.</a:t>
            </a:r>
          </a:p>
          <a:p>
            <a:r>
              <a:rPr lang="en-US" sz="1600" dirty="0" smtClean="0">
                <a:latin typeface="Verdana" panose="020B0604030504040204" pitchFamily="34" charset="0"/>
              </a:rPr>
              <a:t>(b) Equilibrium in the goods market implies that an increase in the interest rate leads to a decrease in output. </a:t>
            </a:r>
          </a:p>
          <a:p>
            <a:r>
              <a:rPr lang="en-US" sz="1600" dirty="0" smtClean="0">
                <a:latin typeface="Verdana" panose="020B0604030504040204" pitchFamily="34" charset="0"/>
              </a:rPr>
              <a:t>The </a:t>
            </a:r>
            <a:r>
              <a:rPr lang="en-US" sz="1600" b="1" i="1" dirty="0" smtClean="0">
                <a:latin typeface="Verdana" panose="020B0604030504040204" pitchFamily="34" charset="0"/>
              </a:rPr>
              <a:t>IS</a:t>
            </a:r>
            <a:r>
              <a:rPr lang="en-US" sz="1600" b="1" dirty="0" smtClean="0">
                <a:latin typeface="Verdana" panose="020B0604030504040204" pitchFamily="34" charset="0"/>
              </a:rPr>
              <a:t> curve </a:t>
            </a:r>
            <a:r>
              <a:rPr lang="en-US" sz="1600" dirty="0" smtClean="0">
                <a:latin typeface="Verdana" panose="020B0604030504040204" pitchFamily="34" charset="0"/>
              </a:rPr>
              <a:t>is therefore downward sloping.</a:t>
            </a:r>
            <a:endParaRPr lang="en-US" sz="16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30769431"/>
      </p:ext>
    </p:extLst>
  </p:cSld>
  <p:clrMapOvr>
    <a:masterClrMapping/>
  </p:clrMapOvr>
  <p:transition>
    <p:strips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65" charset="-128"/>
              </a:rPr>
              <a:t>5-1 The Goods Market and the </a:t>
            </a:r>
            <a:r>
              <a:rPr lang="en-US" i="1" smtClean="0">
                <a:ea typeface="ヒラギノ角ゴ Pro W3" pitchFamily="-65" charset="-128"/>
              </a:rPr>
              <a:t>IS </a:t>
            </a:r>
            <a:r>
              <a:rPr lang="en-US" smtClean="0">
                <a:ea typeface="ヒラギノ角ゴ Pro W3" pitchFamily="-65" charset="-128"/>
              </a:rPr>
              <a:t>Relation</a:t>
            </a:r>
          </a:p>
        </p:txBody>
      </p:sp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381000" y="129540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2000" b="1">
                <a:latin typeface="Verdana" panose="020B0604030504040204" pitchFamily="34" charset="0"/>
              </a:rPr>
              <a:t>Figure 5-3  </a:t>
            </a:r>
            <a:r>
              <a:rPr lang="en-US" sz="2000">
                <a:latin typeface="Verdana" panose="020B0604030504040204" pitchFamily="34" charset="0"/>
              </a:rPr>
              <a:t>Shifts of the </a:t>
            </a:r>
            <a:r>
              <a:rPr lang="en-US" sz="2000" i="1">
                <a:latin typeface="Verdana" panose="020B0604030504040204" pitchFamily="34" charset="0"/>
              </a:rPr>
              <a:t>IS</a:t>
            </a:r>
            <a:r>
              <a:rPr lang="en-US" sz="2000">
                <a:latin typeface="Verdana" panose="020B0604030504040204" pitchFamily="34" charset="0"/>
              </a:rPr>
              <a:t> Curve</a:t>
            </a:r>
          </a:p>
        </p:txBody>
      </p:sp>
      <p:pic>
        <p:nvPicPr>
          <p:cNvPr id="19460" name="Picture 4" descr="fig05_03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738" y="1905000"/>
            <a:ext cx="5732462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81000" y="2133600"/>
            <a:ext cx="288576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dirty="0" smtClean="0">
                <a:latin typeface="Verdana" panose="020B0604030504040204" pitchFamily="34" charset="0"/>
              </a:rPr>
              <a:t>An increase in taxes shifts the </a:t>
            </a:r>
            <a:r>
              <a:rPr lang="en-US" sz="1600" i="1" dirty="0" smtClean="0">
                <a:latin typeface="Verdana" panose="020B0604030504040204" pitchFamily="34" charset="0"/>
              </a:rPr>
              <a:t>IS</a:t>
            </a:r>
            <a:r>
              <a:rPr lang="en-US" sz="1600" dirty="0" smtClean="0">
                <a:latin typeface="Verdana" panose="020B0604030504040204" pitchFamily="34" charset="0"/>
              </a:rPr>
              <a:t> curve to the left.</a:t>
            </a:r>
            <a:endParaRPr lang="en-US" sz="16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64520407"/>
      </p:ext>
    </p:extLst>
  </p:cSld>
  <p:clrMapOvr>
    <a:masterClrMapping/>
  </p:clrMapOvr>
  <p:transition>
    <p:strips dir="l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5-1 The Goods Market and the </a:t>
            </a:r>
            <a:r>
              <a:rPr lang="en-US" i="1" dirty="0" smtClean="0">
                <a:ea typeface="ヒラギノ角ゴ Pro W3" pitchFamily="-65" charset="-128"/>
              </a:rPr>
              <a:t>IS </a:t>
            </a:r>
            <a:r>
              <a:rPr lang="en-US" dirty="0" smtClean="0">
                <a:ea typeface="ヒラギノ角ゴ Pro W3" pitchFamily="-65" charset="-128"/>
              </a:rPr>
              <a:t>Relation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8710" y="1447800"/>
            <a:ext cx="847049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Downward-sloping </a:t>
            </a:r>
            <a:r>
              <a:rPr lang="en-US" sz="2400" i="1" dirty="0" smtClean="0">
                <a:ea typeface="ヒラギノ角ゴ Pro W3" pitchFamily="-84" charset="-128"/>
              </a:rPr>
              <a:t>IS</a:t>
            </a:r>
            <a:r>
              <a:rPr lang="en-US" sz="2400" dirty="0" smtClean="0">
                <a:ea typeface="ヒラギノ角ゴ Pro W3" pitchFamily="-84" charset="-128"/>
              </a:rPr>
              <a:t> curve: Equilibrium in the goods market implies that an increase in the interest rate leads to a decrease in output.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Shifting the </a:t>
            </a:r>
            <a:r>
              <a:rPr lang="en-US" sz="2400" i="1" dirty="0" smtClean="0">
                <a:ea typeface="ヒラギノ角ゴ Pro W3" pitchFamily="-84" charset="-128"/>
              </a:rPr>
              <a:t>IS</a:t>
            </a:r>
            <a:r>
              <a:rPr lang="en-US" sz="2400" dirty="0" smtClean="0">
                <a:ea typeface="ヒラギノ角ゴ Pro W3" pitchFamily="-84" charset="-128"/>
              </a:rPr>
              <a:t> curve: Changes in factors that decrease (increase) the demand for goods given the interest rate shift the </a:t>
            </a:r>
            <a:r>
              <a:rPr lang="en-US" sz="2400" i="1" dirty="0" smtClean="0">
                <a:ea typeface="ヒラギノ角ゴ Pro W3" pitchFamily="-84" charset="-128"/>
              </a:rPr>
              <a:t>IS</a:t>
            </a:r>
            <a:r>
              <a:rPr lang="en-US" sz="2400" dirty="0" smtClean="0">
                <a:ea typeface="ヒラギノ角ゴ Pro W3" pitchFamily="-84" charset="-128"/>
              </a:rPr>
              <a:t> curve to the left (right).</a:t>
            </a:r>
          </a:p>
        </p:txBody>
      </p:sp>
    </p:spTree>
    <p:extLst>
      <p:ext uri="{BB962C8B-B14F-4D97-AF65-F5344CB8AC3E}">
        <p14:creationId xmlns="" xmlns:p14="http://schemas.microsoft.com/office/powerpoint/2010/main" val="1623477940"/>
      </p:ext>
    </p:extLst>
  </p:cSld>
  <p:clrMapOvr>
    <a:masterClrMapping/>
  </p:clrMapOvr>
  <p:transition>
    <p:strips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65" charset="-128"/>
              </a:rPr>
              <a:t>5-2 Financial Markets and the </a:t>
            </a:r>
            <a:r>
              <a:rPr lang="en-US" i="1" smtClean="0">
                <a:ea typeface="ヒラギノ角ゴ Pro W3" pitchFamily="-65" charset="-128"/>
              </a:rPr>
              <a:t>LM </a:t>
            </a:r>
            <a:r>
              <a:rPr lang="en-US" smtClean="0">
                <a:ea typeface="ヒラギノ角ゴ Pro W3" pitchFamily="-65" charset="-128"/>
              </a:rPr>
              <a:t>Relation</a:t>
            </a:r>
          </a:p>
        </p:txBody>
      </p:sp>
      <p:pic>
        <p:nvPicPr>
          <p:cNvPr id="20483" name="Picture 3" descr="eq05_03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971800"/>
            <a:ext cx="74676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68710" y="1447800"/>
            <a:ext cx="8470490" cy="26670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Recall Chapter 4: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M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= $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L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</a:t>
            </a:r>
            <a:r>
              <a:rPr lang="en-US" i="1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Divide both sides of the equation by the price level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ea typeface="ヒラギノ角ゴ Pro W3" pitchFamily="-84" charset="-128"/>
              </a:rPr>
              <a:t>: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r>
              <a:rPr lang="en-US" sz="2400" dirty="0" smtClean="0">
                <a:ea typeface="ヒラギノ角ゴ Pro W3" pitchFamily="-84" charset="-128"/>
              </a:rPr>
              <a:t>   which is the </a:t>
            </a:r>
            <a:r>
              <a:rPr lang="en-US" sz="2400" i="1" dirty="0" smtClean="0">
                <a:ea typeface="ヒラギノ角ゴ Pro W3" pitchFamily="-84" charset="-128"/>
              </a:rPr>
              <a:t>LM</a:t>
            </a:r>
            <a:r>
              <a:rPr lang="en-US" sz="2400" dirty="0" smtClean="0">
                <a:ea typeface="ヒラギノ角ゴ Pro W3" pitchFamily="-84" charset="-128"/>
              </a:rPr>
              <a:t> relation.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In equilibrium, real money supply equals the real money demand, which depends on real income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ea typeface="ヒラギノ角ゴ Pro W3" pitchFamily="-84" charset="-128"/>
              </a:rPr>
              <a:t>, and the interest rate </a:t>
            </a:r>
            <a:r>
              <a:rPr lang="en-US" i="1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3036613095"/>
      </p:ext>
    </p:extLst>
  </p:cSld>
  <p:clrMapOvr>
    <a:masterClrMapping/>
  </p:clrMapOvr>
  <p:transition>
    <p:strips dir="l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65" charset="-128"/>
              </a:rPr>
              <a:t>5-2 Financial Markets and the </a:t>
            </a:r>
            <a:r>
              <a:rPr lang="en-US" i="1" smtClean="0">
                <a:ea typeface="ヒラギノ角ゴ Pro W3" pitchFamily="-65" charset="-128"/>
              </a:rPr>
              <a:t>LM </a:t>
            </a:r>
            <a:r>
              <a:rPr lang="en-US" smtClean="0">
                <a:ea typeface="ヒラギノ角ゴ Pro W3" pitchFamily="-65" charset="-128"/>
              </a:rPr>
              <a:t>Relation</a:t>
            </a:r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391886" y="1421368"/>
            <a:ext cx="8229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5-4  </a:t>
            </a:r>
            <a:r>
              <a:rPr lang="en-US" sz="1800" dirty="0">
                <a:latin typeface="Verdana" panose="020B0604030504040204" pitchFamily="34" charset="0"/>
              </a:rPr>
              <a:t>The </a:t>
            </a:r>
            <a:r>
              <a:rPr lang="en-US" sz="1800" i="1" dirty="0" smtClean="0">
                <a:latin typeface="Verdana" panose="020B0604030504040204" pitchFamily="34" charset="0"/>
              </a:rPr>
              <a:t>LM</a:t>
            </a:r>
            <a:r>
              <a:rPr lang="en-US" sz="1800" dirty="0" smtClean="0">
                <a:latin typeface="Verdana" panose="020B0604030504040204" pitchFamily="34" charset="0"/>
              </a:rPr>
              <a:t> </a:t>
            </a:r>
            <a:r>
              <a:rPr lang="en-US" sz="1800" dirty="0">
                <a:latin typeface="Verdana" panose="020B0604030504040204" pitchFamily="34" charset="0"/>
              </a:rPr>
              <a:t>Curve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81000" y="2438400"/>
            <a:ext cx="282431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dirty="0" smtClean="0">
                <a:latin typeface="Verdana" panose="020B0604030504040204" pitchFamily="34" charset="0"/>
              </a:rPr>
              <a:t>The central bank chooses the interest rate (and adjusts the money supply so as to achieve it).</a:t>
            </a:r>
            <a:endParaRPr lang="en-US" sz="1600" dirty="0">
              <a:latin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0" y="1911863"/>
            <a:ext cx="4435807" cy="372693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64985847"/>
      </p:ext>
    </p:extLst>
  </p:cSld>
  <p:clrMapOvr>
    <a:masterClrMapping/>
  </p:clrMapOvr>
  <p:transition>
    <p:strips dir="l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65" charset="-128"/>
              </a:rPr>
              <a:t>5-2 Financial Markets and the </a:t>
            </a:r>
            <a:r>
              <a:rPr lang="en-US" i="1" smtClean="0">
                <a:ea typeface="ヒラギノ角ゴ Pro W3" pitchFamily="-65" charset="-128"/>
              </a:rPr>
              <a:t>LM </a:t>
            </a:r>
            <a:r>
              <a:rPr lang="en-US" smtClean="0">
                <a:ea typeface="ヒラギノ角ゴ Pro W3" pitchFamily="-65" charset="-128"/>
              </a:rPr>
              <a:t>Relation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8710" y="1447800"/>
                <a:ext cx="8241890" cy="1524000"/>
              </a:xfrm>
            </p:spPr>
            <p:txBody>
              <a:bodyPr/>
              <a:lstStyle/>
              <a:p>
                <a:pPr>
                  <a:spcBef>
                    <a:spcPts val="525"/>
                  </a:spcBef>
                </a:pPr>
                <a:r>
                  <a:rPr lang="en-US" sz="2400" i="1" dirty="0" smtClean="0">
                    <a:ea typeface="ヒラギノ角ゴ Pro W3" pitchFamily="-84" charset="-128"/>
                  </a:rPr>
                  <a:t>IS</a:t>
                </a:r>
                <a:r>
                  <a:rPr lang="en-US" sz="2400" dirty="0" smtClean="0">
                    <a:ea typeface="ヒラギノ角ゴ Pro W3" pitchFamily="-84" charset="-128"/>
                  </a:rPr>
                  <a:t> relation: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Y</a:t>
                </a:r>
                <a:r>
                  <a:rPr lang="en-US" sz="2400" dirty="0" smtClean="0">
                    <a:ea typeface="ヒラギノ角ゴ Pro W3" pitchFamily="-84" charset="-128"/>
                  </a:rPr>
                  <a:t> = </a:t>
                </a: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C</a:t>
                </a:r>
                <a:r>
                  <a:rPr lang="en-US" sz="2400" dirty="0" smtClean="0">
                    <a:ea typeface="ヒラギノ角ゴ Pro W3" pitchFamily="-84" charset="-128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Y</a:t>
                </a:r>
                <a:r>
                  <a:rPr lang="en-US" sz="2400" dirty="0" smtClean="0">
                    <a:ea typeface="ヒラギノ角ゴ Pro W3" pitchFamily="-84" charset="-128"/>
                  </a:rPr>
                  <a:t>−</a:t>
                </a: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</a:t>
                </a:r>
                <a:r>
                  <a:rPr lang="en-US" sz="2400" dirty="0" smtClean="0">
                    <a:ea typeface="ヒラギノ角ゴ Pro W3" pitchFamily="-84" charset="-128"/>
                  </a:rPr>
                  <a:t>) + </a:t>
                </a: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ea typeface="ヒラギノ角ゴ Pro W3" pitchFamily="-84" charset="-128"/>
                  </a:rPr>
                  <a:t>(</a:t>
                </a:r>
                <a:r>
                  <a:rPr lang="en-US" i="1" dirty="0" err="1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Y</a:t>
                </a:r>
                <a:r>
                  <a:rPr lang="en-US" sz="2400" dirty="0" err="1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,</a:t>
                </a:r>
                <a:r>
                  <a:rPr lang="en-US" i="1" dirty="0" err="1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ea typeface="ヒラギノ角ゴ Pro W3" pitchFamily="-84" charset="-128"/>
                  </a:rPr>
                  <a:t>) + </a:t>
                </a: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G</a:t>
                </a:r>
              </a:p>
              <a:p>
                <a:pPr>
                  <a:spcBef>
                    <a:spcPts val="525"/>
                  </a:spcBef>
                </a:pPr>
                <a:r>
                  <a:rPr lang="en-US" sz="2400" i="1" dirty="0" smtClean="0">
                    <a:ea typeface="ヒラギノ角ゴ Pro W3" pitchFamily="-84" charset="-128"/>
                  </a:rPr>
                  <a:t>LM</a:t>
                </a:r>
                <a:r>
                  <a:rPr lang="en-US" sz="2400" dirty="0" smtClean="0">
                    <a:ea typeface="ヒラギノ角ゴ Pro W3" pitchFamily="-84" charset="-128"/>
                  </a:rPr>
                  <a:t> relation: </a:t>
                </a:r>
                <a:r>
                  <a:rPr lang="en-US" sz="2400" i="1" dirty="0" err="1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 smtClean="0">
                    <a:ea typeface="ヒラギノ角ゴ Pro W3" pitchFamily="-84" charset="-128"/>
                  </a:rPr>
                  <a:t> = </a:t>
                </a:r>
                <a14:m>
                  <m:oMath xmlns:m="http://schemas.openxmlformats.org/officeDocument/2006/math" xmlns="">
                    <m:bar>
                      <m:barPr>
                        <m:pos m:val="top"/>
                        <m:ctrlPr>
                          <a:rPr lang="en-US" sz="2400" i="1" smtClean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𝑖</m:t>
                        </m:r>
                      </m:e>
                    </m:bar>
                  </m:oMath>
                </a14:m>
                <a:endParaRPr lang="en-US" sz="2400" dirty="0" smtClean="0">
                  <a:ea typeface="ヒラギノ角ゴ Pro W3" pitchFamily="-84" charset="-128"/>
                </a:endParaRPr>
              </a:p>
              <a:p>
                <a:pPr>
                  <a:spcBef>
                    <a:spcPts val="525"/>
                  </a:spcBef>
                </a:pPr>
                <a:r>
                  <a:rPr lang="en-US" sz="2400" dirty="0" smtClean="0">
                    <a:ea typeface="ヒラギノ角ゴ Pro W3" pitchFamily="-84" charset="-128"/>
                  </a:rPr>
                  <a:t>The </a:t>
                </a:r>
                <a:r>
                  <a:rPr lang="en-US" sz="2400" i="1" dirty="0" smtClean="0">
                    <a:ea typeface="ヒラギノ角ゴ Pro W3" pitchFamily="-84" charset="-128"/>
                  </a:rPr>
                  <a:t>IS</a:t>
                </a:r>
                <a:r>
                  <a:rPr lang="en-US" sz="2400" dirty="0" smtClean="0">
                    <a:ea typeface="ヒラギノ角ゴ Pro W3" pitchFamily="-84" charset="-128"/>
                  </a:rPr>
                  <a:t> and </a:t>
                </a:r>
                <a:r>
                  <a:rPr lang="en-US" sz="2400" i="1" dirty="0" smtClean="0">
                    <a:ea typeface="ヒラギノ角ゴ Pro W3" pitchFamily="-84" charset="-128"/>
                  </a:rPr>
                  <a:t>LM</a:t>
                </a:r>
                <a:r>
                  <a:rPr lang="en-US" sz="2400" dirty="0" smtClean="0">
                    <a:ea typeface="ヒラギノ角ゴ Pro W3" pitchFamily="-84" charset="-128"/>
                  </a:rPr>
                  <a:t> relations together determine output.</a:t>
                </a:r>
              </a:p>
              <a:p>
                <a:pPr>
                  <a:spcBef>
                    <a:spcPts val="525"/>
                  </a:spcBef>
                </a:pPr>
                <a:r>
                  <a:rPr lang="en-US" sz="2400" i="1" dirty="0" smtClean="0">
                    <a:ea typeface="ヒラギノ角ゴ Pro W3" pitchFamily="-84" charset="-128"/>
                  </a:rPr>
                  <a:t>Any point </a:t>
                </a:r>
                <a:r>
                  <a:rPr lang="en-US" sz="2400" dirty="0" smtClean="0">
                    <a:ea typeface="ヒラギノ角ゴ Pro W3" pitchFamily="-84" charset="-128"/>
                  </a:rPr>
                  <a:t>on the downward sloping </a:t>
                </a:r>
                <a:r>
                  <a:rPr lang="en-US" sz="2400" i="1" dirty="0" smtClean="0">
                    <a:ea typeface="ヒラギノ角ゴ Pro W3" pitchFamily="-84" charset="-128"/>
                  </a:rPr>
                  <a:t>IS</a:t>
                </a:r>
                <a:r>
                  <a:rPr lang="en-US" sz="2400" dirty="0" smtClean="0">
                    <a:ea typeface="ヒラギノ角ゴ Pro W3" pitchFamily="-84" charset="-128"/>
                  </a:rPr>
                  <a:t> curve corresponds to equilibrium in the goods market.</a:t>
                </a:r>
              </a:p>
              <a:p>
                <a:pPr>
                  <a:spcBef>
                    <a:spcPts val="525"/>
                  </a:spcBef>
                </a:pPr>
                <a:r>
                  <a:rPr lang="en-US" sz="2400" i="1" dirty="0" smtClean="0">
                    <a:ea typeface="ヒラギノ角ゴ Pro W3" pitchFamily="-84" charset="-128"/>
                  </a:rPr>
                  <a:t>Any point </a:t>
                </a:r>
                <a:r>
                  <a:rPr lang="en-US" sz="2400" dirty="0" smtClean="0">
                    <a:ea typeface="ヒラギノ角ゴ Pro W3" pitchFamily="-84" charset="-128"/>
                  </a:rPr>
                  <a:t>on the horizontal </a:t>
                </a:r>
                <a:r>
                  <a:rPr lang="en-US" sz="2400" i="1" dirty="0" smtClean="0">
                    <a:ea typeface="ヒラギノ角ゴ Pro W3" pitchFamily="-84" charset="-128"/>
                  </a:rPr>
                  <a:t>LM</a:t>
                </a:r>
                <a:r>
                  <a:rPr lang="en-US" sz="2400" dirty="0" smtClean="0">
                    <a:ea typeface="ヒラギノ角ゴ Pro W3" pitchFamily="-84" charset="-128"/>
                  </a:rPr>
                  <a:t> curve corresponds to equilibrium in financial markets.</a:t>
                </a:r>
              </a:p>
              <a:p>
                <a:pPr>
                  <a:spcBef>
                    <a:spcPts val="525"/>
                  </a:spcBef>
                </a:pPr>
                <a:r>
                  <a:rPr lang="en-US" sz="2400" i="1" dirty="0" smtClean="0">
                    <a:ea typeface="ヒラギノ角ゴ Pro W3" pitchFamily="-84" charset="-128"/>
                  </a:rPr>
                  <a:t>Only at </a:t>
                </a:r>
                <a:r>
                  <a:rPr lang="en-US" sz="2400" dirty="0" smtClean="0">
                    <a:ea typeface="ヒラギノ角ゴ Pro W3" pitchFamily="-84" charset="-128"/>
                  </a:rPr>
                  <a:t>their intersection (</a:t>
                </a:r>
                <a:r>
                  <a:rPr lang="en-US" sz="2400" i="1" dirty="0" smtClean="0">
                    <a:ea typeface="ヒラギノ角ゴ Pro W3" pitchFamily="-84" charset="-128"/>
                  </a:rPr>
                  <a:t>point A</a:t>
                </a:r>
                <a:r>
                  <a:rPr lang="en-US" sz="2400" dirty="0" smtClean="0">
                    <a:ea typeface="ヒラギノ角ゴ Pro W3" pitchFamily="-84" charset="-128"/>
                  </a:rPr>
                  <a:t>) are both equilibrium relations satisfied.</a:t>
                </a:r>
              </a:p>
            </p:txBody>
          </p:sp>
        </mc:Choice>
        <mc:Fallback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8710" y="1447800"/>
                <a:ext cx="8241890" cy="1524000"/>
              </a:xfrm>
              <a:blipFill rotWithShape="0">
                <a:blip r:embed="rId2" cstate="print"/>
                <a:stretch>
                  <a:fillRect l="-2217" t="-7200" r="-370" b="-179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2378743220"/>
      </p:ext>
    </p:extLst>
  </p:cSld>
  <p:clrMapOvr>
    <a:masterClrMapping/>
  </p:clrMapOvr>
  <p:transition>
    <p:strips dir="l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5-3 Putting the </a:t>
            </a:r>
            <a:r>
              <a:rPr lang="en-US" i="1" dirty="0" smtClean="0">
                <a:ea typeface="ヒラギノ角ゴ Pro W3" pitchFamily="-65" charset="-128"/>
              </a:rPr>
              <a:t>IS </a:t>
            </a:r>
            <a:r>
              <a:rPr lang="en-US" dirty="0" smtClean="0">
                <a:ea typeface="ヒラギノ角ゴ Pro W3" pitchFamily="-65" charset="-128"/>
              </a:rPr>
              <a:t>and the </a:t>
            </a:r>
            <a:r>
              <a:rPr lang="en-US" i="1" dirty="0" smtClean="0">
                <a:ea typeface="ヒラギノ角ゴ Pro W3" pitchFamily="-65" charset="-128"/>
              </a:rPr>
              <a:t>LM </a:t>
            </a:r>
            <a:r>
              <a:rPr lang="en-US" dirty="0" smtClean="0">
                <a:ea typeface="ヒラギノ角ゴ Pro W3" pitchFamily="-65" charset="-128"/>
              </a:rPr>
              <a:t>Relations Together</a:t>
            </a:r>
          </a:p>
        </p:txBody>
      </p:sp>
      <p:sp>
        <p:nvSpPr>
          <p:cNvPr id="23556" name="TextBox 4"/>
          <p:cNvSpPr txBox="1">
            <a:spLocks noChangeArrowheads="1"/>
          </p:cNvSpPr>
          <p:nvPr/>
        </p:nvSpPr>
        <p:spPr bwMode="auto">
          <a:xfrm>
            <a:off x="432619" y="1333492"/>
            <a:ext cx="8305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</a:t>
            </a:r>
            <a:r>
              <a:rPr lang="en-US" sz="1800" b="1" dirty="0" smtClean="0">
                <a:latin typeface="Verdana" panose="020B0604030504040204" pitchFamily="34" charset="0"/>
              </a:rPr>
              <a:t>5-5  </a:t>
            </a:r>
            <a:r>
              <a:rPr lang="en-US" sz="1800" dirty="0">
                <a:latin typeface="Verdana" panose="020B0604030504040204" pitchFamily="34" charset="0"/>
              </a:rPr>
              <a:t>The </a:t>
            </a:r>
            <a:r>
              <a:rPr lang="en-US" sz="1800" i="1" dirty="0">
                <a:latin typeface="Verdana" panose="020B0604030504040204" pitchFamily="34" charset="0"/>
              </a:rPr>
              <a:t>IS–LM </a:t>
            </a:r>
            <a:r>
              <a:rPr lang="en-US" sz="1800" dirty="0">
                <a:latin typeface="Verdana" panose="020B0604030504040204" pitchFamily="34" charset="0"/>
              </a:rPr>
              <a:t>Model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64574" y="1924665"/>
            <a:ext cx="282431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dirty="0" smtClean="0">
                <a:latin typeface="Verdana" panose="020B0604030504040204" pitchFamily="34" charset="0"/>
              </a:rPr>
              <a:t>Equilibrium in the goods market implies that an increase in the interest rate leads to a decrease in output. </a:t>
            </a:r>
          </a:p>
          <a:p>
            <a:r>
              <a:rPr lang="en-US" sz="1600" dirty="0" smtClean="0">
                <a:latin typeface="Verdana" panose="020B0604030504040204" pitchFamily="34" charset="0"/>
              </a:rPr>
              <a:t>This is represented by the </a:t>
            </a:r>
            <a:r>
              <a:rPr lang="en-US" sz="1600" i="1" dirty="0" smtClean="0">
                <a:latin typeface="Verdana" panose="020B0604030504040204" pitchFamily="34" charset="0"/>
              </a:rPr>
              <a:t>IS</a:t>
            </a:r>
            <a:r>
              <a:rPr lang="en-US" sz="1600" dirty="0" smtClean="0">
                <a:latin typeface="Verdana" panose="020B0604030504040204" pitchFamily="34" charset="0"/>
              </a:rPr>
              <a:t> curve.</a:t>
            </a:r>
          </a:p>
          <a:p>
            <a:r>
              <a:rPr lang="en-US" sz="1600" dirty="0" smtClean="0">
                <a:latin typeface="Verdana" panose="020B0604030504040204" pitchFamily="34" charset="0"/>
              </a:rPr>
              <a:t>Equilibrium in financial markets is represented by the horizontal </a:t>
            </a:r>
            <a:r>
              <a:rPr lang="en-US" sz="1600" i="1" dirty="0" smtClean="0">
                <a:latin typeface="Verdana" panose="020B0604030504040204" pitchFamily="34" charset="0"/>
              </a:rPr>
              <a:t>LM</a:t>
            </a:r>
            <a:r>
              <a:rPr lang="en-US" sz="1600" dirty="0" smtClean="0">
                <a:latin typeface="Verdana" panose="020B0604030504040204" pitchFamily="34" charset="0"/>
              </a:rPr>
              <a:t> curve. Only at point </a:t>
            </a:r>
            <a:r>
              <a:rPr lang="en-US" sz="1600" i="1" dirty="0" smtClean="0">
                <a:latin typeface="Verdana" panose="020B0604030504040204" pitchFamily="34" charset="0"/>
              </a:rPr>
              <a:t>A</a:t>
            </a:r>
            <a:r>
              <a:rPr lang="en-US" sz="1600" dirty="0" smtClean="0">
                <a:latin typeface="Verdana" panose="020B0604030504040204" pitchFamily="34" charset="0"/>
              </a:rPr>
              <a:t>, which is on both curves, are both goods and financial markets in equilibrium.</a:t>
            </a:r>
            <a:endParaRPr lang="en-US" sz="1600" dirty="0">
              <a:latin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09219" y="1702824"/>
            <a:ext cx="5029200" cy="436012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43144123"/>
      </p:ext>
    </p:extLst>
  </p:cSld>
  <p:clrMapOvr>
    <a:masterClrMapping/>
  </p:clrMapOvr>
  <p:transition>
    <p:strips dir="l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ヒラギノ角ゴ Pro W3" pitchFamily="-65" charset="-128"/>
              </a:rPr>
              <a:t>5-3 Putting the </a:t>
            </a:r>
            <a:r>
              <a:rPr lang="en-US" i="1" dirty="0">
                <a:ea typeface="ヒラギノ角ゴ Pro W3" pitchFamily="-65" charset="-128"/>
              </a:rPr>
              <a:t>IS </a:t>
            </a:r>
            <a:r>
              <a:rPr lang="en-US" dirty="0">
                <a:ea typeface="ヒラギノ角ゴ Pro W3" pitchFamily="-65" charset="-128"/>
              </a:rPr>
              <a:t>and the </a:t>
            </a:r>
            <a:r>
              <a:rPr lang="en-US" i="1" dirty="0">
                <a:ea typeface="ヒラギノ角ゴ Pro W3" pitchFamily="-65" charset="-128"/>
              </a:rPr>
              <a:t>LM </a:t>
            </a:r>
            <a:r>
              <a:rPr lang="en-US" dirty="0">
                <a:ea typeface="ヒラギノ角ゴ Pro W3" pitchFamily="-65" charset="-128"/>
              </a:rPr>
              <a:t>Relations Together</a:t>
            </a:r>
            <a:endParaRPr lang="en-US" dirty="0" smtClean="0">
              <a:ea typeface="ヒラギノ角ゴ Pro W3" pitchFamily="-65" charset="-128"/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8710" y="1447800"/>
                <a:ext cx="8241890" cy="3733800"/>
              </a:xfrm>
            </p:spPr>
            <p:txBody>
              <a:bodyPr/>
              <a:lstStyle/>
              <a:p>
                <a:pPr>
                  <a:spcBef>
                    <a:spcPts val="525"/>
                  </a:spcBef>
                </a:pPr>
                <a:r>
                  <a:rPr lang="en-US" sz="2400" dirty="0" smtClean="0">
                    <a:ea typeface="ヒラギノ角ゴ Pro W3" pitchFamily="-84" charset="-128"/>
                  </a:rPr>
                  <a:t>Fiscal Policy:</a:t>
                </a:r>
              </a:p>
              <a:p>
                <a:pPr marL="914400" indent="0">
                  <a:spcBef>
                    <a:spcPts val="525"/>
                  </a:spcBef>
                  <a:buNone/>
                </a:pPr>
                <a:r>
                  <a:rPr lang="en-US" sz="2400" dirty="0" smtClean="0">
                    <a:ea typeface="ヒラギノ角ゴ Pro W3" pitchFamily="-84" charset="-128"/>
                  </a:rPr>
                  <a:t>Decrease in </a:t>
                </a:r>
                <a:r>
                  <a:rPr lang="en-US" sz="2400" i="1" dirty="0" smtClean="0">
                    <a:ea typeface="ヒラギノ角ゴ Pro W3" pitchFamily="-84" charset="-128"/>
                  </a:rPr>
                  <a:t>G</a:t>
                </a:r>
                <a:r>
                  <a:rPr lang="en-US" sz="2400" i="1" dirty="0" smtClean="0">
                    <a:latin typeface="Verdana" panose="020B0604030504040204" pitchFamily="34" charset="0"/>
                  </a:rPr>
                  <a:t>–T </a:t>
                </a:r>
                <a14:m>
                  <m:oMath xmlns:m="http://schemas.openxmlformats.org/officeDocument/2006/math" xmlns="">
                    <m:groupChr>
                      <m:groupChrPr>
                        <m:chr m:val="⇔"/>
                        <m:vertJc m:val="bot"/>
                        <m:ctrlPr>
                          <a:rPr lang="en-US" i="1" dirty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i="1" dirty="0" smtClean="0">
                    <a:latin typeface="Verdana" panose="020B0604030504040204" pitchFamily="34" charset="0"/>
                  </a:rPr>
                  <a:t> </a:t>
                </a:r>
                <a:r>
                  <a:rPr lang="en-US" sz="2400" b="1" dirty="0" smtClean="0">
                    <a:latin typeface="Verdana" panose="020B0604030504040204" pitchFamily="34" charset="0"/>
                  </a:rPr>
                  <a:t>fiscal contraction</a:t>
                </a:r>
                <a:r>
                  <a:rPr lang="en-US" sz="2400" dirty="0" smtClean="0">
                    <a:latin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 xmlns="">
                    <m:groupChr>
                      <m:groupChrPr>
                        <m:chr m:val="⇔"/>
                        <m:vertJc m:val="bot"/>
                        <m:ctrlPr>
                          <a:rPr lang="en-US" i="1" dirty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dirty="0" smtClean="0">
                    <a:latin typeface="Verdana" panose="020B0604030504040204" pitchFamily="34" charset="0"/>
                  </a:rPr>
                  <a:t>   </a:t>
                </a:r>
                <a:r>
                  <a:rPr lang="en-US" sz="2400" b="1" dirty="0" smtClean="0">
                    <a:latin typeface="Verdana" panose="020B0604030504040204" pitchFamily="34" charset="0"/>
                  </a:rPr>
                  <a:t>fiscal consolidation</a:t>
                </a:r>
              </a:p>
              <a:p>
                <a:pPr marL="914400" lvl="0" indent="0">
                  <a:spcBef>
                    <a:spcPts val="525"/>
                  </a:spcBef>
                  <a:buNone/>
                </a:pPr>
                <a:r>
                  <a:rPr lang="en-US" sz="2400" dirty="0" smtClean="0">
                    <a:ea typeface="ヒラギノ角ゴ Pro W3" pitchFamily="-84" charset="-128"/>
                  </a:rPr>
                  <a:t>Increase in </a:t>
                </a:r>
                <a:r>
                  <a:rPr lang="en-US" sz="2400" i="1" dirty="0" smtClean="0">
                    <a:ea typeface="ヒラギノ角ゴ Pro W3" pitchFamily="-84" charset="-128"/>
                  </a:rPr>
                  <a:t>G</a:t>
                </a:r>
                <a:r>
                  <a:rPr lang="en-US" sz="2400" i="1" dirty="0" smtClean="0">
                    <a:latin typeface="Verdana" panose="020B0604030504040204" pitchFamily="34" charset="0"/>
                  </a:rPr>
                  <a:t>–T </a:t>
                </a:r>
                <a14:m>
                  <m:oMath xmlns:m="http://schemas.openxmlformats.org/officeDocument/2006/math" xmlns="">
                    <m:groupChr>
                      <m:groupChrPr>
                        <m:chr m:val="⇔"/>
                        <m:vertJc m:val="bot"/>
                        <m:ctrlPr>
                          <a:rPr lang="en-US" i="1" dirty="0">
                            <a:solidFill>
                              <a:srgbClr val="000000"/>
                            </a:solidFill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i="1" dirty="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 </a:t>
                </a:r>
                <a:r>
                  <a:rPr lang="en-US" sz="2400" b="1" dirty="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fiscal </a:t>
                </a:r>
                <a:r>
                  <a:rPr lang="en-US" sz="2400" b="1" dirty="0" smtClean="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expansion</a:t>
                </a:r>
                <a:endParaRPr lang="en-US" sz="2400" dirty="0" smtClean="0">
                  <a:latin typeface="Verdana" panose="020B0604030504040204" pitchFamily="34" charset="0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</p:txBody>
          </p:sp>
        </mc:Choice>
        <mc:Fallback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8710" y="1447800"/>
                <a:ext cx="8241890" cy="3733800"/>
              </a:xfrm>
              <a:blipFill rotWithShape="0">
                <a:blip r:embed="rId2" cstate="print"/>
                <a:stretch>
                  <a:fillRect l="-2217" t="-2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818882858"/>
      </p:ext>
    </p:extLst>
  </p:cSld>
  <p:clrMapOvr>
    <a:masterClrMapping/>
  </p:clrMapOvr>
  <p:transition>
    <p:strips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ヒラギノ角ゴ Pro W3" pitchFamily="-65" charset="-128"/>
              </a:rPr>
              <a:t>5-3 Putting the </a:t>
            </a:r>
            <a:r>
              <a:rPr lang="en-US" i="1" dirty="0">
                <a:ea typeface="ヒラギノ角ゴ Pro W3" pitchFamily="-65" charset="-128"/>
              </a:rPr>
              <a:t>IS </a:t>
            </a:r>
            <a:r>
              <a:rPr lang="en-US" dirty="0">
                <a:ea typeface="ヒラギノ角ゴ Pro W3" pitchFamily="-65" charset="-128"/>
              </a:rPr>
              <a:t>and the </a:t>
            </a:r>
            <a:r>
              <a:rPr lang="en-US" i="1" dirty="0">
                <a:ea typeface="ヒラギノ角ゴ Pro W3" pitchFamily="-65" charset="-128"/>
              </a:rPr>
              <a:t>LM </a:t>
            </a:r>
            <a:r>
              <a:rPr lang="en-US" dirty="0">
                <a:ea typeface="ヒラギノ角ゴ Pro W3" pitchFamily="-65" charset="-128"/>
              </a:rPr>
              <a:t>Relations Together</a:t>
            </a:r>
            <a:endParaRPr lang="en-US" dirty="0" smtClean="0">
              <a:ea typeface="ヒラギノ角ゴ Pro W3" pitchFamily="-65" charset="-128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68710" y="1447800"/>
            <a:ext cx="8241890" cy="37338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Steps for analyzing the effects of changes in policy or exogenous variables:</a:t>
            </a:r>
          </a:p>
          <a:p>
            <a:pPr marL="857250" lvl="1" indent="-457200">
              <a:spcBef>
                <a:spcPts val="525"/>
              </a:spcBef>
              <a:buFont typeface="+mj-lt"/>
              <a:buAutoNum type="arabicPeriod"/>
            </a:pPr>
            <a:r>
              <a:rPr lang="en-US" sz="2200" dirty="0" smtClean="0">
                <a:ea typeface="ヒラギノ角ゴ Pro W3" pitchFamily="-84" charset="-128"/>
              </a:rPr>
              <a:t>Does it shift the </a:t>
            </a:r>
            <a:r>
              <a:rPr lang="en-US" sz="2200" i="1" dirty="0" smtClean="0">
                <a:ea typeface="ヒラギノ角ゴ Pro W3" pitchFamily="-84" charset="-128"/>
              </a:rPr>
              <a:t>IS</a:t>
            </a:r>
            <a:r>
              <a:rPr lang="en-US" sz="2200" dirty="0" smtClean="0">
                <a:ea typeface="ヒラギノ角ゴ Pro W3" pitchFamily="-84" charset="-128"/>
              </a:rPr>
              <a:t> curve and/or the </a:t>
            </a:r>
            <a:r>
              <a:rPr lang="en-US" sz="2200" i="1" dirty="0" smtClean="0">
                <a:ea typeface="ヒラギノ角ゴ Pro W3" pitchFamily="-84" charset="-128"/>
              </a:rPr>
              <a:t>LM</a:t>
            </a:r>
            <a:r>
              <a:rPr lang="en-US" sz="2200" dirty="0" smtClean="0">
                <a:ea typeface="ヒラギノ角ゴ Pro W3" pitchFamily="-84" charset="-128"/>
              </a:rPr>
              <a:t> curve?</a:t>
            </a:r>
          </a:p>
          <a:p>
            <a:pPr marL="857250" lvl="1" indent="-457200">
              <a:spcBef>
                <a:spcPts val="525"/>
              </a:spcBef>
              <a:buFont typeface="+mj-lt"/>
              <a:buAutoNum type="arabicPeriod"/>
            </a:pPr>
            <a:r>
              <a:rPr lang="en-US" sz="2200" dirty="0" smtClean="0">
                <a:ea typeface="ヒラギノ角ゴ Pro W3" pitchFamily="-84" charset="-128"/>
              </a:rPr>
              <a:t>What does this do to equilibrium output and the equilibrium interest rate?</a:t>
            </a:r>
          </a:p>
          <a:p>
            <a:pPr marL="857250" lvl="1" indent="-457200">
              <a:spcBef>
                <a:spcPts val="525"/>
              </a:spcBef>
              <a:buFont typeface="+mj-lt"/>
              <a:buAutoNum type="arabicPeriod"/>
            </a:pPr>
            <a:r>
              <a:rPr lang="en-US" sz="2200" dirty="0" smtClean="0">
                <a:ea typeface="ヒラギノ角ゴ Pro W3" pitchFamily="-84" charset="-128"/>
              </a:rPr>
              <a:t>Describe the effects in words.</a:t>
            </a:r>
          </a:p>
        </p:txBody>
      </p:sp>
    </p:spTree>
    <p:extLst>
      <p:ext uri="{BB962C8B-B14F-4D97-AF65-F5344CB8AC3E}">
        <p14:creationId xmlns="" xmlns:p14="http://schemas.microsoft.com/office/powerpoint/2010/main" val="2697895437"/>
      </p:ext>
    </p:extLst>
  </p:cSld>
  <p:clrMapOvr>
    <a:masterClrMapping/>
  </p:clrMapOvr>
  <p:transition>
    <p:strips dir="l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65" charset="-128"/>
              </a:rPr>
              <a:t>5-3 Putting the </a:t>
            </a:r>
            <a:r>
              <a:rPr lang="en-US" i="1" smtClean="0">
                <a:ea typeface="ヒラギノ角ゴ Pro W3" pitchFamily="-65" charset="-128"/>
              </a:rPr>
              <a:t>IS </a:t>
            </a:r>
            <a:r>
              <a:rPr lang="en-US" smtClean="0">
                <a:ea typeface="ヒラギノ角ゴ Pro W3" pitchFamily="-65" charset="-128"/>
              </a:rPr>
              <a:t>and the </a:t>
            </a:r>
            <a:r>
              <a:rPr lang="en-US" i="1" smtClean="0">
                <a:ea typeface="ヒラギノ角ゴ Pro W3" pitchFamily="-65" charset="-128"/>
              </a:rPr>
              <a:t>LM </a:t>
            </a:r>
            <a:r>
              <a:rPr lang="en-US" smtClean="0">
                <a:ea typeface="ヒラギノ角ゴ Pro W3" pitchFamily="-65" charset="-128"/>
              </a:rPr>
              <a:t>Relations Together</a:t>
            </a:r>
          </a:p>
        </p:txBody>
      </p:sp>
      <p:sp>
        <p:nvSpPr>
          <p:cNvPr id="24579" name="TextBox 4"/>
          <p:cNvSpPr txBox="1">
            <a:spLocks noChangeArrowheads="1"/>
          </p:cNvSpPr>
          <p:nvPr/>
        </p:nvSpPr>
        <p:spPr bwMode="auto">
          <a:xfrm>
            <a:off x="405581" y="1346906"/>
            <a:ext cx="8305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</a:t>
            </a:r>
            <a:r>
              <a:rPr lang="en-US" sz="1800" b="1" dirty="0" smtClean="0">
                <a:latin typeface="Verdana" panose="020B0604030504040204" pitchFamily="34" charset="0"/>
              </a:rPr>
              <a:t>5-6  </a:t>
            </a:r>
            <a:r>
              <a:rPr lang="en-US" sz="1800" dirty="0">
                <a:latin typeface="Verdana" panose="020B0604030504040204" pitchFamily="34" charset="0"/>
              </a:rPr>
              <a:t>The Effects of an Increase in </a:t>
            </a:r>
            <a:r>
              <a:rPr lang="en-US" sz="1800" dirty="0" smtClean="0">
                <a:latin typeface="Verdana" panose="020B0604030504040204" pitchFamily="34" charset="0"/>
              </a:rPr>
              <a:t>Taxes</a:t>
            </a:r>
            <a:endParaRPr lang="en-US" sz="1800" dirty="0">
              <a:latin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49163" y="1724947"/>
            <a:ext cx="5124450" cy="4336977"/>
          </a:xfrm>
          <a:prstGeom prst="rect">
            <a:avLst/>
          </a:prstGeom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16467" y="2895600"/>
            <a:ext cx="287101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dirty="0" smtClean="0">
                <a:latin typeface="Verdana" panose="020B0604030504040204" pitchFamily="34" charset="0"/>
              </a:rPr>
              <a:t>An increase in taxes shifts the </a:t>
            </a:r>
            <a:r>
              <a:rPr lang="en-US" sz="1600" i="1" dirty="0" smtClean="0">
                <a:latin typeface="Verdana" panose="020B0604030504040204" pitchFamily="34" charset="0"/>
              </a:rPr>
              <a:t>IS</a:t>
            </a:r>
            <a:r>
              <a:rPr lang="en-US" sz="1600" dirty="0" smtClean="0">
                <a:latin typeface="Verdana" panose="020B0604030504040204" pitchFamily="34" charset="0"/>
              </a:rPr>
              <a:t> curve to the left. </a:t>
            </a:r>
            <a:endParaRPr lang="en-US" sz="1600" dirty="0">
              <a:latin typeface="Verdana" panose="020B0604030504040204" pitchFamily="34" charset="0"/>
            </a:endParaRPr>
          </a:p>
          <a:p>
            <a:r>
              <a:rPr lang="en-US" sz="1600" dirty="0" smtClean="0">
                <a:latin typeface="Verdana" panose="020B0604030504040204" pitchFamily="34" charset="0"/>
              </a:rPr>
              <a:t>This leads to a decrease in the equilibrium level of output.</a:t>
            </a:r>
            <a:endParaRPr lang="en-US" sz="16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88673552"/>
      </p:ext>
    </p:extLst>
  </p:cSld>
  <p:clrMapOvr>
    <a:masterClrMapping/>
  </p:clrMapOvr>
  <p:transition>
    <p:strips dir="l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ヒラギノ角ゴ Pro W3" pitchFamily="-65" charset="-128"/>
              </a:rPr>
              <a:t>5-3 Putting the </a:t>
            </a:r>
            <a:r>
              <a:rPr lang="en-US" i="1" dirty="0">
                <a:ea typeface="ヒラギノ角ゴ Pro W3" pitchFamily="-65" charset="-128"/>
              </a:rPr>
              <a:t>IS </a:t>
            </a:r>
            <a:r>
              <a:rPr lang="en-US" dirty="0">
                <a:ea typeface="ヒラギノ角ゴ Pro W3" pitchFamily="-65" charset="-128"/>
              </a:rPr>
              <a:t>and the </a:t>
            </a:r>
            <a:r>
              <a:rPr lang="en-US" i="1" dirty="0">
                <a:ea typeface="ヒラギノ角ゴ Pro W3" pitchFamily="-65" charset="-128"/>
              </a:rPr>
              <a:t>LM </a:t>
            </a:r>
            <a:r>
              <a:rPr lang="en-US" dirty="0">
                <a:ea typeface="ヒラギノ角ゴ Pro W3" pitchFamily="-65" charset="-128"/>
              </a:rPr>
              <a:t>Relations Together</a:t>
            </a:r>
            <a:endParaRPr lang="en-US" dirty="0" smtClean="0">
              <a:ea typeface="ヒラギノ角ゴ Pro W3" pitchFamily="-65" charset="-128"/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8710" y="1447800"/>
                <a:ext cx="8241890" cy="3733800"/>
              </a:xfrm>
            </p:spPr>
            <p:txBody>
              <a:bodyPr/>
              <a:lstStyle/>
              <a:p>
                <a:pPr>
                  <a:spcBef>
                    <a:spcPts val="525"/>
                  </a:spcBef>
                </a:pPr>
                <a:r>
                  <a:rPr lang="en-US" sz="2400" dirty="0" smtClean="0">
                    <a:ea typeface="ヒラギノ角ゴ Pro W3" pitchFamily="-84" charset="-128"/>
                  </a:rPr>
                  <a:t>Monetary Policy:</a:t>
                </a:r>
              </a:p>
              <a:p>
                <a:pPr marL="914400" indent="0">
                  <a:spcBef>
                    <a:spcPts val="525"/>
                  </a:spcBef>
                  <a:buNone/>
                </a:pPr>
                <a:r>
                  <a:rPr lang="en-US" sz="2400" dirty="0" smtClean="0">
                    <a:ea typeface="ヒラギノ角ゴ Pro W3" pitchFamily="-84" charset="-128"/>
                  </a:rPr>
                  <a:t>Decrease in </a:t>
                </a:r>
                <a:r>
                  <a:rPr lang="en-US" sz="2400" i="1" dirty="0" err="1" smtClean="0">
                    <a:ea typeface="ヒラギノ角ゴ Pro W3" pitchFamily="-84" charset="-128"/>
                  </a:rPr>
                  <a:t>i</a:t>
                </a:r>
                <a:r>
                  <a:rPr lang="en-US" sz="2400" i="1" dirty="0" smtClean="0">
                    <a:latin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 xmlns="">
                    <m:groupChr>
                      <m:groupChrPr>
                        <m:chr m:val="⇔"/>
                        <m:vertJc m:val="bot"/>
                        <m:ctrlPr>
                          <a:rPr lang="en-US" i="1" dirty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i="1" dirty="0" smtClean="0">
                    <a:latin typeface="Verdana" panose="020B0604030504040204" pitchFamily="34" charset="0"/>
                  </a:rPr>
                  <a:t> </a:t>
                </a:r>
                <a:r>
                  <a:rPr lang="en-US" sz="2400" dirty="0" smtClean="0">
                    <a:latin typeface="Verdana" panose="020B0604030504040204" pitchFamily="34" charset="0"/>
                  </a:rPr>
                  <a:t>increase in </a:t>
                </a:r>
                <a:r>
                  <a:rPr lang="en-US" sz="2400" i="1" dirty="0" smtClean="0">
                    <a:latin typeface="Verdana" panose="020B0604030504040204" pitchFamily="34" charset="0"/>
                  </a:rPr>
                  <a:t>M </a:t>
                </a:r>
                <a14:m>
                  <m:oMath xmlns:m="http://schemas.openxmlformats.org/officeDocument/2006/math" xmlns="">
                    <m:groupChr>
                      <m:groupChrPr>
                        <m:chr m:val="⇔"/>
                        <m:vertJc m:val="bot"/>
                        <m:ctrlPr>
                          <a:rPr lang="en-US" i="1" dirty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dirty="0" smtClean="0">
                    <a:latin typeface="Verdana" panose="020B0604030504040204" pitchFamily="34" charset="0"/>
                  </a:rPr>
                  <a:t> </a:t>
                </a:r>
                <a:r>
                  <a:rPr lang="en-US" sz="2400" b="1" dirty="0" smtClean="0">
                    <a:latin typeface="Verdana" panose="020B0604030504040204" pitchFamily="34" charset="0"/>
                  </a:rPr>
                  <a:t>monetary expansion</a:t>
                </a:r>
              </a:p>
              <a:p>
                <a:pPr marL="914400" indent="0">
                  <a:spcBef>
                    <a:spcPts val="525"/>
                  </a:spcBef>
                  <a:buNone/>
                </a:pPr>
                <a:r>
                  <a:rPr lang="en-US" sz="2400" dirty="0" smtClean="0">
                    <a:ea typeface="ヒラギノ角ゴ Pro W3" pitchFamily="-84" charset="-128"/>
                  </a:rPr>
                  <a:t>Increase in </a:t>
                </a:r>
                <a:r>
                  <a:rPr lang="en-US" sz="2400" i="1" dirty="0" err="1" smtClean="0">
                    <a:ea typeface="ヒラギノ角ゴ Pro W3" pitchFamily="-84" charset="-128"/>
                  </a:rPr>
                  <a:t>i</a:t>
                </a:r>
                <a:r>
                  <a:rPr lang="en-US" sz="2400" i="1" dirty="0" smtClean="0">
                    <a:latin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 xmlns="">
                    <m:groupChr>
                      <m:groupChrPr>
                        <m:chr m:val="⇔"/>
                        <m:vertJc m:val="bot"/>
                        <m:ctrlPr>
                          <a:rPr lang="en-US" i="1" dirty="0">
                            <a:solidFill>
                              <a:srgbClr val="000000"/>
                            </a:solidFill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i="1" dirty="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 </a:t>
                </a:r>
                <a:r>
                  <a:rPr lang="en-US" sz="2400" dirty="0" smtClean="0">
                    <a:solidFill>
                      <a:srgbClr val="000000"/>
                    </a:solidFill>
                    <a:latin typeface="Verdana" panose="020B0604030504040204" pitchFamily="34" charset="0"/>
                  </a:rPr>
                  <a:t>decrease</a:t>
                </a:r>
                <a:r>
                  <a:rPr lang="en-US" sz="2400" dirty="0" smtClean="0">
                    <a:latin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</a:rPr>
                  <a:t>in </a:t>
                </a:r>
                <a:r>
                  <a:rPr lang="en-US" sz="2400" i="1" dirty="0">
                    <a:latin typeface="Verdana" panose="020B0604030504040204" pitchFamily="34" charset="0"/>
                  </a:rPr>
                  <a:t>M </a:t>
                </a:r>
                <a14:m>
                  <m:oMath xmlns:m="http://schemas.openxmlformats.org/officeDocument/2006/math" xmlns="">
                    <m:groupChr>
                      <m:groupChrPr>
                        <m:chr m:val="⇔"/>
                        <m:vertJc m:val="bot"/>
                        <m:ctrlPr>
                          <a:rPr lang="en-US" sz="2400" i="1" dirty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dirty="0">
                    <a:latin typeface="Verdana" panose="020B0604030504040204" pitchFamily="34" charset="0"/>
                  </a:rPr>
                  <a:t> </a:t>
                </a:r>
                <a:r>
                  <a:rPr lang="en-US" sz="2400" b="1" dirty="0">
                    <a:latin typeface="Verdana" panose="020B0604030504040204" pitchFamily="34" charset="0"/>
                  </a:rPr>
                  <a:t>monetary </a:t>
                </a:r>
                <a:r>
                  <a:rPr lang="en-US" sz="2400" b="1" dirty="0" smtClean="0">
                    <a:latin typeface="Verdana" panose="020B0604030504040204" pitchFamily="34" charset="0"/>
                  </a:rPr>
                  <a:t>contraction </a:t>
                </a:r>
                <a14:m>
                  <m:oMath xmlns:m="http://schemas.openxmlformats.org/officeDocument/2006/math" xmlns="">
                    <m:groupChr>
                      <m:groupChrPr>
                        <m:chr m:val="⇔"/>
                        <m:vertJc m:val="bot"/>
                        <m:ctrlPr>
                          <a:rPr lang="en-US" i="1" dirty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dirty="0">
                    <a:latin typeface="Verdana" panose="020B0604030504040204" pitchFamily="34" charset="0"/>
                  </a:rPr>
                  <a:t> </a:t>
                </a:r>
                <a:r>
                  <a:rPr lang="en-US" sz="2400" b="1" dirty="0">
                    <a:latin typeface="Verdana" panose="020B0604030504040204" pitchFamily="34" charset="0"/>
                  </a:rPr>
                  <a:t>monetary </a:t>
                </a:r>
                <a:r>
                  <a:rPr lang="en-US" sz="2400" b="1" dirty="0" smtClean="0">
                    <a:latin typeface="Verdana" panose="020B0604030504040204" pitchFamily="34" charset="0"/>
                  </a:rPr>
                  <a:t>tightening</a:t>
                </a:r>
                <a:endParaRPr lang="en-US" sz="2400" b="1" dirty="0">
                  <a:latin typeface="Verdana" panose="020B0604030504040204" pitchFamily="34" charset="0"/>
                </a:endParaRPr>
              </a:p>
              <a:p>
                <a:pPr marL="914400" indent="0">
                  <a:spcBef>
                    <a:spcPts val="525"/>
                  </a:spcBef>
                  <a:buNone/>
                </a:pPr>
                <a:endParaRPr lang="en-US" sz="2400" b="1" dirty="0">
                  <a:latin typeface="Verdana" panose="020B0604030504040204" pitchFamily="34" charset="0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</p:txBody>
          </p:sp>
        </mc:Choice>
        <mc:Fallback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8710" y="1447800"/>
                <a:ext cx="8241890" cy="3733800"/>
              </a:xfrm>
              <a:blipFill rotWithShape="0">
                <a:blip r:embed="rId2" cstate="print"/>
                <a:stretch>
                  <a:fillRect l="-2217" t="-2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3559762400"/>
      </p:ext>
    </p:extLst>
  </p:cSld>
  <p:clrMapOvr>
    <a:masterClrMapping/>
  </p:clrMapOvr>
  <p:transition>
    <p:strips dir="l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65" charset="-128"/>
              </a:rPr>
              <a:t>5-3 Putting the </a:t>
            </a:r>
            <a:r>
              <a:rPr lang="en-US" i="1" smtClean="0">
                <a:ea typeface="ヒラギノ角ゴ Pro W3" pitchFamily="-65" charset="-128"/>
              </a:rPr>
              <a:t>IS </a:t>
            </a:r>
            <a:r>
              <a:rPr lang="en-US" smtClean="0">
                <a:ea typeface="ヒラギノ角ゴ Pro W3" pitchFamily="-65" charset="-128"/>
              </a:rPr>
              <a:t>and the </a:t>
            </a:r>
            <a:r>
              <a:rPr lang="en-US" i="1" smtClean="0">
                <a:ea typeface="ヒラギノ角ゴ Pro W3" pitchFamily="-65" charset="-128"/>
              </a:rPr>
              <a:t>LM </a:t>
            </a:r>
            <a:r>
              <a:rPr lang="en-US" smtClean="0">
                <a:ea typeface="ヒラギノ角ゴ Pro W3" pitchFamily="-65" charset="-128"/>
              </a:rPr>
              <a:t>Relations Together</a:t>
            </a:r>
          </a:p>
        </p:txBody>
      </p:sp>
      <p:sp>
        <p:nvSpPr>
          <p:cNvPr id="26627" name="TextBox 4"/>
          <p:cNvSpPr txBox="1">
            <a:spLocks noChangeArrowheads="1"/>
          </p:cNvSpPr>
          <p:nvPr/>
        </p:nvSpPr>
        <p:spPr bwMode="auto">
          <a:xfrm>
            <a:off x="381000" y="1309943"/>
            <a:ext cx="8305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</a:t>
            </a:r>
            <a:r>
              <a:rPr lang="en-US" sz="1800" b="1" dirty="0" smtClean="0">
                <a:latin typeface="Verdana" panose="020B0604030504040204" pitchFamily="34" charset="0"/>
              </a:rPr>
              <a:t>5-7  </a:t>
            </a:r>
            <a:r>
              <a:rPr lang="en-US" sz="1800" dirty="0">
                <a:latin typeface="Verdana" panose="020B0604030504040204" pitchFamily="34" charset="0"/>
              </a:rPr>
              <a:t>The Effects of </a:t>
            </a:r>
            <a:r>
              <a:rPr lang="en-US" sz="1800" dirty="0" smtClean="0">
                <a:latin typeface="Verdana" panose="020B0604030504040204" pitchFamily="34" charset="0"/>
              </a:rPr>
              <a:t>a Decrease in the Interest Rate</a:t>
            </a:r>
            <a:endParaRPr lang="en-US" sz="1800" dirty="0">
              <a:latin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57600" y="1828800"/>
            <a:ext cx="4724400" cy="4201990"/>
          </a:xfrm>
          <a:prstGeom prst="rect">
            <a:avLst/>
          </a:prstGeom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3400" y="3200400"/>
            <a:ext cx="265962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dirty="0" smtClean="0">
                <a:latin typeface="Verdana" panose="020B0604030504040204" pitchFamily="34" charset="0"/>
              </a:rPr>
              <a:t>A monetary expansion shifts the </a:t>
            </a:r>
            <a:r>
              <a:rPr lang="en-US" sz="1600" i="1" dirty="0" smtClean="0">
                <a:latin typeface="Verdana" panose="020B0604030504040204" pitchFamily="34" charset="0"/>
              </a:rPr>
              <a:t>LM</a:t>
            </a:r>
            <a:r>
              <a:rPr lang="en-US" sz="1600" dirty="0" smtClean="0">
                <a:latin typeface="Verdana" panose="020B0604030504040204" pitchFamily="34" charset="0"/>
              </a:rPr>
              <a:t> curve down, and leads to higher output.</a:t>
            </a:r>
            <a:endParaRPr lang="en-US" sz="16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3723512"/>
      </p:ext>
    </p:extLst>
  </p:cSld>
  <p:clrMapOvr>
    <a:masterClrMapping/>
  </p:clrMapOvr>
  <p:transition>
    <p:strips dir="l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5-4 Using a Policy Mix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68710" y="1447800"/>
            <a:ext cx="8241890" cy="37338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Monetary-fiscal policy mix is the combination of monetary and fiscal policies.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Suppose that the economy is in a recession and output is too low.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Both fiscal and monetary policies can be used to increase output.</a:t>
            </a:r>
          </a:p>
          <a:p>
            <a:pPr marL="914400" indent="0">
              <a:spcBef>
                <a:spcPts val="525"/>
              </a:spcBef>
              <a:buNone/>
            </a:pPr>
            <a:endParaRPr lang="en-US" sz="2400" b="1" dirty="0">
              <a:latin typeface="Verdana" panose="020B0604030504040204" pitchFamily="34" charset="0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69504772"/>
      </p:ext>
    </p:extLst>
  </p:cSld>
  <p:clrMapOvr>
    <a:masterClrMapping/>
  </p:clrMapOvr>
  <p:transition>
    <p:strips dir="l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5-4 Using a Policy Mix</a:t>
            </a:r>
          </a:p>
        </p:txBody>
      </p:sp>
      <p:sp>
        <p:nvSpPr>
          <p:cNvPr id="26627" name="TextBox 4"/>
          <p:cNvSpPr txBox="1">
            <a:spLocks noChangeArrowheads="1"/>
          </p:cNvSpPr>
          <p:nvPr/>
        </p:nvSpPr>
        <p:spPr bwMode="auto">
          <a:xfrm>
            <a:off x="405581" y="1295400"/>
            <a:ext cx="8305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</a:t>
            </a:r>
            <a:r>
              <a:rPr lang="en-US" sz="1800" b="1" dirty="0" smtClean="0">
                <a:latin typeface="Verdana" panose="020B0604030504040204" pitchFamily="34" charset="0"/>
              </a:rPr>
              <a:t>5-8  </a:t>
            </a:r>
            <a:r>
              <a:rPr lang="en-US" sz="1800" dirty="0">
                <a:latin typeface="Verdana" panose="020B0604030504040204" pitchFamily="34" charset="0"/>
              </a:rPr>
              <a:t>The Effects of </a:t>
            </a:r>
            <a:r>
              <a:rPr lang="en-US" sz="1800" dirty="0" smtClean="0">
                <a:latin typeface="Verdana" panose="020B0604030504040204" pitchFamily="34" charset="0"/>
              </a:rPr>
              <a:t>a Combined Fiscal and Monetary Expansion</a:t>
            </a:r>
            <a:endParaRPr lang="en-US" sz="1800" dirty="0">
              <a:latin typeface="Verdana" panose="020B0604030504040204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82975" y="2590800"/>
            <a:ext cx="2659626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dirty="0" smtClean="0">
                <a:latin typeface="Verdana" panose="020B0604030504040204" pitchFamily="34" charset="0"/>
              </a:rPr>
              <a:t>The fiscal expansion shifts the </a:t>
            </a:r>
            <a:r>
              <a:rPr lang="en-US" sz="1600" i="1" dirty="0" smtClean="0">
                <a:latin typeface="Verdana" panose="020B0604030504040204" pitchFamily="34" charset="0"/>
              </a:rPr>
              <a:t>IS</a:t>
            </a:r>
            <a:r>
              <a:rPr lang="en-US" sz="1600" dirty="0" smtClean="0">
                <a:latin typeface="Verdana" panose="020B0604030504040204" pitchFamily="34" charset="0"/>
              </a:rPr>
              <a:t> curve to the right.</a:t>
            </a:r>
          </a:p>
          <a:p>
            <a:r>
              <a:rPr lang="en-US" sz="1600" dirty="0" smtClean="0">
                <a:latin typeface="Verdana" panose="020B0604030504040204" pitchFamily="34" charset="0"/>
              </a:rPr>
              <a:t>A monetary expansion shifts the </a:t>
            </a:r>
            <a:r>
              <a:rPr lang="en-US" sz="1600" i="1" dirty="0" smtClean="0">
                <a:latin typeface="Verdana" panose="020B0604030504040204" pitchFamily="34" charset="0"/>
              </a:rPr>
              <a:t>LM</a:t>
            </a:r>
            <a:r>
              <a:rPr lang="en-US" sz="1600" dirty="0" smtClean="0">
                <a:latin typeface="Verdana" panose="020B0604030504040204" pitchFamily="34" charset="0"/>
              </a:rPr>
              <a:t> curve down.</a:t>
            </a:r>
          </a:p>
          <a:p>
            <a:r>
              <a:rPr lang="en-US" sz="1600" dirty="0" smtClean="0">
                <a:latin typeface="Verdana" panose="020B0604030504040204" pitchFamily="34" charset="0"/>
              </a:rPr>
              <a:t>Both lead to higher output.</a:t>
            </a:r>
            <a:endParaRPr lang="en-US" sz="1600" dirty="0">
              <a:latin typeface="Verdan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76600" y="1752600"/>
            <a:ext cx="5124450" cy="44862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11560082"/>
      </p:ext>
    </p:extLst>
  </p:cSld>
  <p:clrMapOvr>
    <a:masterClrMapping/>
  </p:clrMapOvr>
  <p:transition>
    <p:strips dir="l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65" charset="-128"/>
              </a:rPr>
              <a:t>Focus: </a:t>
            </a:r>
            <a:r>
              <a:rPr lang="en-US" sz="2800" dirty="0" smtClean="0"/>
              <a:t>The German and French Recessions of 2001–2002</a:t>
            </a:r>
            <a:endParaRPr lang="en-US" sz="2800" dirty="0" smtClean="0">
              <a:ea typeface="ヒラギノ角ゴ Pro W3" pitchFamily="-65" charset="-128"/>
            </a:endParaRP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05581" y="1257300"/>
            <a:ext cx="8382000" cy="533400"/>
          </a:xfrm>
        </p:spPr>
        <p:txBody>
          <a:bodyPr/>
          <a:lstStyle/>
          <a:p>
            <a:pPr>
              <a:buFontTx/>
              <a:buNone/>
            </a:pPr>
            <a:r>
              <a:rPr lang="en-US" sz="1800" b="1" dirty="0" smtClean="0">
                <a:ea typeface="ヒラギノ角ゴ Pro W3" pitchFamily="-65" charset="-128"/>
              </a:rPr>
              <a:t>Figure 1</a:t>
            </a:r>
            <a:r>
              <a:rPr lang="en-US" sz="1800" dirty="0" smtClean="0">
                <a:ea typeface="ヒラギノ角ゴ Pro W3" pitchFamily="-65" charset="-128"/>
              </a:rPr>
              <a:t>  </a:t>
            </a:r>
            <a:r>
              <a:rPr lang="en-US" sz="1700" dirty="0" smtClean="0"/>
              <a:t>France and Germany Quarterly GDP Growth Rates (1999–2005)</a:t>
            </a:r>
            <a:endParaRPr lang="en-US" sz="1700" dirty="0" smtClean="0">
              <a:ea typeface="ヒラギノ角ゴ Pro W3" pitchFamily="-65" charset="-128"/>
            </a:endParaRPr>
          </a:p>
        </p:txBody>
      </p:sp>
      <p:pic>
        <p:nvPicPr>
          <p:cNvPr id="29700" name="Picture 4" descr="figure01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905000" y="2057144"/>
            <a:ext cx="5099050" cy="374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05581" y="5909846"/>
            <a:ext cx="74430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i="1" dirty="0" smtClean="0"/>
              <a:t>Source: </a:t>
            </a:r>
            <a:r>
              <a:rPr lang="en-US" sz="1600" dirty="0" err="1" smtClean="0"/>
              <a:t>OECD.Stat</a:t>
            </a:r>
            <a:r>
              <a:rPr lang="en-US" sz="1600" dirty="0" smtClean="0"/>
              <a:t>. https://stats.oecd.org/index.aspx?queryid=350#.</a:t>
            </a:r>
            <a:endParaRPr lang="en-US" sz="16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3853636"/>
      </p:ext>
    </p:extLst>
  </p:cSld>
  <p:clrMapOvr>
    <a:masterClrMapping/>
  </p:clrMapOvr>
  <p:transition>
    <p:strips dir="l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Focus: </a:t>
            </a:r>
            <a:r>
              <a:rPr lang="en-US" dirty="0" smtClean="0"/>
              <a:t>The German and French Recessions of 2001–2002</a:t>
            </a:r>
            <a:endParaRPr lang="en-US" dirty="0" smtClean="0">
              <a:ea typeface="ヒラギノ角ゴ Pro W3" pitchFamily="-65" charset="-128"/>
            </a:endParaRP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381000" y="1257300"/>
            <a:ext cx="8382000" cy="533400"/>
          </a:xfrm>
        </p:spPr>
        <p:txBody>
          <a:bodyPr/>
          <a:lstStyle/>
          <a:p>
            <a:pPr>
              <a:buFontTx/>
              <a:buNone/>
            </a:pPr>
            <a:r>
              <a:rPr lang="en-US" sz="1800" b="1" dirty="0" smtClean="0">
                <a:ea typeface="ヒラギノ角ゴ Pro W3" pitchFamily="-65" charset="-128"/>
              </a:rPr>
              <a:t>Figure 2 </a:t>
            </a:r>
            <a:r>
              <a:rPr lang="en-US" sz="1700" dirty="0" smtClean="0">
                <a:ea typeface="ヒラギノ角ゴ Pro W3" pitchFamily="-65" charset="-128"/>
              </a:rPr>
              <a:t>Government Expenditure in France and Germany (1999–2002)</a:t>
            </a:r>
            <a:endParaRPr lang="en-US" sz="1700" dirty="0" smtClean="0">
              <a:latin typeface="Verdana (Body)" charset="0"/>
              <a:ea typeface="ヒラギノ角ゴ Pro W3" pitchFamily="-65" charset="-128"/>
            </a:endParaRPr>
          </a:p>
        </p:txBody>
      </p:sp>
      <p:pic>
        <p:nvPicPr>
          <p:cNvPr id="30724" name="Picture 5" descr="figure02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862137" y="2005662"/>
            <a:ext cx="5148263" cy="386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5581" y="5986046"/>
            <a:ext cx="73668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i="1" dirty="0" smtClean="0"/>
              <a:t>Source: </a:t>
            </a:r>
            <a:r>
              <a:rPr lang="en-US" sz="1600" dirty="0" err="1" smtClean="0"/>
              <a:t>OECD.Stat</a:t>
            </a:r>
            <a:r>
              <a:rPr lang="en-US" sz="1600" dirty="0" smtClean="0"/>
              <a:t>, https://stats.oecd.org/index.aspx?queryid=350#.</a:t>
            </a:r>
            <a:endParaRPr lang="en-US" sz="16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48061139"/>
      </p:ext>
    </p:extLst>
  </p:cSld>
  <p:clrMapOvr>
    <a:masterClrMapping/>
  </p:clrMapOvr>
  <p:transition>
    <p:strips dir="l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Focus: </a:t>
            </a:r>
            <a:r>
              <a:rPr lang="en-US" dirty="0" smtClean="0"/>
              <a:t>The German and French Recessions of 2001–2002</a:t>
            </a:r>
            <a:endParaRPr lang="en-US" dirty="0" smtClean="0">
              <a:ea typeface="ヒラギノ角ゴ Pro W3" pitchFamily="-65" charset="-128"/>
            </a:endParaRP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382000" cy="533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800" b="1" dirty="0" smtClean="0">
                <a:ea typeface="ヒラギノ角ゴ Pro W3" pitchFamily="-65" charset="-128"/>
              </a:rPr>
              <a:t>Figure 3 </a:t>
            </a:r>
            <a:r>
              <a:rPr lang="en-US" sz="1700" dirty="0" smtClean="0">
                <a:ea typeface="ヒラギノ角ゴ Pro W3" pitchFamily="-65" charset="-128"/>
              </a:rPr>
              <a:t>European Central Bank Euro Interbank Rates (1999–2005)</a:t>
            </a:r>
            <a:endParaRPr lang="en-US" sz="1700" dirty="0" smtClean="0">
              <a:latin typeface="Verdana (Body)" charset="0"/>
              <a:ea typeface="ヒラギノ角ゴ Pro W3" pitchFamily="-65" charset="-128"/>
            </a:endParaRPr>
          </a:p>
        </p:txBody>
      </p:sp>
      <p:pic>
        <p:nvPicPr>
          <p:cNvPr id="31748" name="Picture 4" descr="figure03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863725" y="1981200"/>
            <a:ext cx="5299075" cy="3658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81000" y="5739825"/>
            <a:ext cx="8534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i="1" dirty="0" smtClean="0"/>
              <a:t>Source: </a:t>
            </a:r>
            <a:r>
              <a:rPr lang="en-US" sz="1600" dirty="0" smtClean="0"/>
              <a:t>European Central Bank; Key ECB Interest Rates, https://www.ecb.europa.eu/stats/</a:t>
            </a:r>
          </a:p>
          <a:p>
            <a:r>
              <a:rPr lang="en-US" sz="1600" dirty="0" smtClean="0"/>
              <a:t>monetary/rates/html/</a:t>
            </a:r>
            <a:r>
              <a:rPr lang="en-US" sz="1600" dirty="0" err="1" smtClean="0"/>
              <a:t>index.en.html</a:t>
            </a:r>
            <a:r>
              <a:rPr lang="en-US" sz="1600" dirty="0" smtClean="0"/>
              <a:t>.</a:t>
            </a:r>
            <a:endParaRPr lang="en-US" sz="16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61989873"/>
      </p:ext>
    </p:extLst>
  </p:cSld>
  <p:clrMapOvr>
    <a:masterClrMapping/>
  </p:clrMapOvr>
  <p:transition>
    <p:strips dir="l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65" charset="-128"/>
              </a:rPr>
              <a:t>FOCUS: Deficit Reduction: Good or Bad for Investment?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68710" y="1447800"/>
            <a:ext cx="8241890" cy="37338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Equilibrium in the goods market implies (recall Chapter 3):</a:t>
            </a:r>
          </a:p>
          <a:p>
            <a:pPr marL="0" indent="0" algn="ctr">
              <a:spcBef>
                <a:spcPts val="525"/>
              </a:spcBef>
              <a:buNone/>
            </a:pPr>
            <a:r>
              <a:rPr lang="en-US" sz="2400" i="1" dirty="0" smtClean="0">
                <a:ea typeface="ヒラギノ角ゴ Pro W3" pitchFamily="-84" charset="-128"/>
              </a:rPr>
              <a:t>I</a:t>
            </a:r>
            <a:r>
              <a:rPr lang="en-US" sz="2400" dirty="0" smtClean="0">
                <a:ea typeface="ヒラギノ角ゴ Pro W3" pitchFamily="-84" charset="-128"/>
              </a:rPr>
              <a:t>  =  </a:t>
            </a:r>
            <a:r>
              <a:rPr lang="en-US" sz="2400" i="1" dirty="0" smtClean="0">
                <a:ea typeface="ヒラギノ角ゴ Pro W3" pitchFamily="-84" charset="-128"/>
              </a:rPr>
              <a:t>S</a:t>
            </a:r>
            <a:r>
              <a:rPr lang="en-US" sz="2400" dirty="0" smtClean="0">
                <a:ea typeface="ヒラギノ角ゴ Pro W3" pitchFamily="-84" charset="-128"/>
              </a:rPr>
              <a:t>  + (</a:t>
            </a:r>
            <a:r>
              <a:rPr lang="en-US" sz="2400" i="1" dirty="0" smtClean="0">
                <a:ea typeface="ヒラギノ角ゴ Pro W3" pitchFamily="-84" charset="-128"/>
              </a:rPr>
              <a:t>T</a:t>
            </a:r>
            <a:r>
              <a:rPr lang="en-US" sz="2400" dirty="0" smtClean="0">
                <a:ea typeface="ヒラギノ角ゴ Pro W3" pitchFamily="-84" charset="-128"/>
              </a:rPr>
              <a:t> − </a:t>
            </a:r>
            <a:r>
              <a:rPr lang="en-US" sz="2400" i="1" dirty="0" smtClean="0">
                <a:ea typeface="ヒラギノ角ゴ Pro W3" pitchFamily="-84" charset="-128"/>
              </a:rPr>
              <a:t>G</a:t>
            </a:r>
            <a:r>
              <a:rPr lang="en-US" sz="2400" dirty="0" smtClean="0">
                <a:ea typeface="ヒラギノ角ゴ Pro W3" pitchFamily="-84" charset="-128"/>
              </a:rPr>
              <a:t>)</a:t>
            </a:r>
          </a:p>
          <a:p>
            <a:pPr marL="339725" indent="-339725">
              <a:spcBef>
                <a:spcPts val="1200"/>
              </a:spcBef>
            </a:pPr>
            <a:r>
              <a:rPr lang="en-US" sz="2400" dirty="0" smtClean="0">
                <a:latin typeface="Verdana" panose="020B0604030504040204" pitchFamily="34" charset="0"/>
              </a:rPr>
              <a:t>Given private saving (</a:t>
            </a:r>
            <a:r>
              <a:rPr lang="en-US" sz="2400" i="1" dirty="0" smtClean="0">
                <a:latin typeface="Verdana" panose="020B0604030504040204" pitchFamily="34" charset="0"/>
              </a:rPr>
              <a:t>S</a:t>
            </a:r>
            <a:r>
              <a:rPr lang="en-US" sz="2400" dirty="0" smtClean="0">
                <a:latin typeface="Verdana" panose="020B0604030504040204" pitchFamily="34" charset="0"/>
              </a:rPr>
              <a:t>), a lower government deficit (higher </a:t>
            </a:r>
            <a:r>
              <a:rPr lang="en-US" sz="2400" i="1" dirty="0" smtClean="0">
                <a:latin typeface="Verdana" panose="020B0604030504040204" pitchFamily="34" charset="0"/>
              </a:rPr>
              <a:t>T </a:t>
            </a:r>
            <a:r>
              <a:rPr lang="en-US" sz="2400" dirty="0" smtClean="0">
                <a:ea typeface="ヒラギノ角ゴ Pro W3" pitchFamily="-84" charset="-128"/>
              </a:rPr>
              <a:t>− </a:t>
            </a:r>
            <a:r>
              <a:rPr lang="en-US" sz="2400" i="1" dirty="0" smtClean="0">
                <a:latin typeface="Verdana" panose="020B0604030504040204" pitchFamily="34" charset="0"/>
              </a:rPr>
              <a:t>G</a:t>
            </a:r>
            <a:r>
              <a:rPr lang="en-US" sz="2400" dirty="0" smtClean="0">
                <a:latin typeface="Verdana" panose="020B0604030504040204" pitchFamily="34" charset="0"/>
              </a:rPr>
              <a:t>) means higher </a:t>
            </a:r>
            <a:r>
              <a:rPr lang="en-US" sz="2400" i="1" dirty="0" smtClean="0">
                <a:latin typeface="Verdana" panose="020B0604030504040204" pitchFamily="34" charset="0"/>
              </a:rPr>
              <a:t>I</a:t>
            </a:r>
            <a:r>
              <a:rPr lang="en-US" sz="2400" dirty="0" smtClean="0">
                <a:latin typeface="Verdana" panose="020B0604030504040204" pitchFamily="34" charset="0"/>
              </a:rPr>
              <a:t>.</a:t>
            </a:r>
            <a:endParaRPr lang="en-US" sz="2400" dirty="0">
              <a:latin typeface="Verdana" panose="020B0604030504040204" pitchFamily="34" charset="0"/>
            </a:endParaRP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However, a fiscal contraction lowers output and so </a:t>
            </a:r>
            <a:r>
              <a:rPr lang="en-US" sz="2400" i="1" dirty="0" smtClean="0">
                <a:ea typeface="ヒラギノ角ゴ Pro W3" pitchFamily="-84" charset="-128"/>
              </a:rPr>
              <a:t>S</a:t>
            </a:r>
            <a:r>
              <a:rPr lang="en-US" sz="2400" dirty="0" smtClean="0">
                <a:ea typeface="ヒラギノ角ゴ Pro W3" pitchFamily="-84" charset="-128"/>
              </a:rPr>
              <a:t> goes down by more than </a:t>
            </a:r>
            <a:r>
              <a:rPr lang="en-US" sz="2400" i="1" dirty="0" smtClean="0">
                <a:ea typeface="ヒラギノ角ゴ Pro W3" pitchFamily="-84" charset="-128"/>
              </a:rPr>
              <a:t>T </a:t>
            </a:r>
            <a:r>
              <a:rPr lang="en-US" sz="2400" dirty="0" smtClean="0">
                <a:ea typeface="ヒラギノ角ゴ Pro W3" pitchFamily="-84" charset="-128"/>
              </a:rPr>
              <a:t>− </a:t>
            </a:r>
            <a:r>
              <a:rPr lang="en-US" sz="2400" i="1" dirty="0" smtClean="0">
                <a:ea typeface="ヒラギノ角ゴ Pro W3" pitchFamily="-84" charset="-128"/>
              </a:rPr>
              <a:t>G</a:t>
            </a:r>
            <a:r>
              <a:rPr lang="en-US" sz="2400" dirty="0" smtClean="0">
                <a:ea typeface="ヒラギノ角ゴ Pro W3" pitchFamily="-84" charset="-128"/>
              </a:rPr>
              <a:t> increases, so </a:t>
            </a:r>
            <a:r>
              <a:rPr lang="en-US" sz="2400" i="1" dirty="0" smtClean="0">
                <a:ea typeface="ヒラギノ角ゴ Pro W3" pitchFamily="-84" charset="-128"/>
              </a:rPr>
              <a:t>I</a:t>
            </a:r>
            <a:r>
              <a:rPr lang="en-US" sz="2400" dirty="0" smtClean="0">
                <a:ea typeface="ヒラギノ角ゴ Pro W3" pitchFamily="-84" charset="-128"/>
              </a:rPr>
              <a:t> decreases.</a:t>
            </a:r>
          </a:p>
        </p:txBody>
      </p:sp>
    </p:spTree>
    <p:extLst>
      <p:ext uri="{BB962C8B-B14F-4D97-AF65-F5344CB8AC3E}">
        <p14:creationId xmlns="" xmlns:p14="http://schemas.microsoft.com/office/powerpoint/2010/main" val="1985421228"/>
      </p:ext>
    </p:extLst>
  </p:cSld>
  <p:clrMapOvr>
    <a:masterClrMapping/>
  </p:clrMapOvr>
  <p:transition>
    <p:strips dir="l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5-4 Using a Policy Mix</a:t>
            </a:r>
          </a:p>
        </p:txBody>
      </p:sp>
      <p:sp>
        <p:nvSpPr>
          <p:cNvPr id="26627" name="TextBox 4"/>
          <p:cNvSpPr txBox="1">
            <a:spLocks noChangeArrowheads="1"/>
          </p:cNvSpPr>
          <p:nvPr/>
        </p:nvSpPr>
        <p:spPr bwMode="auto">
          <a:xfrm>
            <a:off x="381000" y="1219200"/>
            <a:ext cx="8305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2000" b="1" dirty="0">
                <a:latin typeface="Verdana" panose="020B0604030504040204" pitchFamily="34" charset="0"/>
              </a:rPr>
              <a:t>Figure </a:t>
            </a:r>
            <a:r>
              <a:rPr lang="en-US" sz="2000" b="1" dirty="0" smtClean="0">
                <a:latin typeface="Verdana" panose="020B0604030504040204" pitchFamily="34" charset="0"/>
              </a:rPr>
              <a:t>5-9  </a:t>
            </a:r>
            <a:r>
              <a:rPr lang="en-US" sz="2000" dirty="0">
                <a:latin typeface="Verdana" panose="020B0604030504040204" pitchFamily="34" charset="0"/>
              </a:rPr>
              <a:t>The Effects of </a:t>
            </a:r>
            <a:r>
              <a:rPr lang="en-US" sz="2000" dirty="0" smtClean="0">
                <a:latin typeface="Verdana" panose="020B0604030504040204" pitchFamily="34" charset="0"/>
              </a:rPr>
              <a:t>a Combined Fiscal Consolidation and a Monetary Expansion</a:t>
            </a:r>
            <a:endParaRPr lang="en-US" sz="2000" dirty="0">
              <a:latin typeface="Verdana" panose="020B0604030504040204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05581" y="2438400"/>
            <a:ext cx="265962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dirty="0" smtClean="0">
                <a:latin typeface="Verdana" panose="020B0604030504040204" pitchFamily="34" charset="0"/>
              </a:rPr>
              <a:t>The fiscal consolidation shifts the </a:t>
            </a:r>
            <a:r>
              <a:rPr lang="en-US" sz="1600" i="1" dirty="0" smtClean="0">
                <a:latin typeface="Verdana" panose="020B0604030504040204" pitchFamily="34" charset="0"/>
              </a:rPr>
              <a:t>IS</a:t>
            </a:r>
            <a:r>
              <a:rPr lang="en-US" sz="1600" dirty="0" smtClean="0">
                <a:latin typeface="Verdana" panose="020B0604030504040204" pitchFamily="34" charset="0"/>
              </a:rPr>
              <a:t> curve to the left.</a:t>
            </a:r>
          </a:p>
          <a:p>
            <a:r>
              <a:rPr lang="en-US" sz="1600" dirty="0" smtClean="0">
                <a:latin typeface="Verdana" panose="020B0604030504040204" pitchFamily="34" charset="0"/>
              </a:rPr>
              <a:t>A monetary expansion shifts the </a:t>
            </a:r>
            <a:r>
              <a:rPr lang="en-US" sz="1600" i="1" dirty="0" smtClean="0">
                <a:latin typeface="Verdana" panose="020B0604030504040204" pitchFamily="34" charset="0"/>
              </a:rPr>
              <a:t>LM</a:t>
            </a:r>
            <a:r>
              <a:rPr lang="en-US" sz="1600" dirty="0" smtClean="0">
                <a:latin typeface="Verdana" panose="020B0604030504040204" pitchFamily="34" charset="0"/>
              </a:rPr>
              <a:t> curve down.</a:t>
            </a:r>
          </a:p>
          <a:p>
            <a:r>
              <a:rPr lang="en-US" sz="1600" dirty="0" smtClean="0">
                <a:latin typeface="Verdana" panose="020B0604030504040204" pitchFamily="34" charset="0"/>
              </a:rPr>
              <a:t>This allows for the reduction in the deficit without a recession.</a:t>
            </a:r>
            <a:endParaRPr lang="en-US" sz="1600" dirty="0">
              <a:latin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29000" y="2000828"/>
            <a:ext cx="4733925" cy="42576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61739064"/>
      </p:ext>
    </p:extLst>
  </p:cSld>
  <p:clrMapOvr>
    <a:masterClrMapping/>
  </p:clrMapOvr>
  <p:transition>
    <p:strips dir="l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65" charset="-128"/>
              </a:rPr>
              <a:t>5-5 How Does the </a:t>
            </a:r>
            <a:r>
              <a:rPr lang="en-US" i="1" smtClean="0">
                <a:ea typeface="ヒラギノ角ゴ Pro W3" pitchFamily="-65" charset="-128"/>
              </a:rPr>
              <a:t>IS-LM </a:t>
            </a:r>
            <a:r>
              <a:rPr lang="en-US" smtClean="0">
                <a:ea typeface="ヒラギノ角ゴ Pro W3" pitchFamily="-65" charset="-128"/>
              </a:rPr>
              <a:t>Model Fit the Facts?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Because the adjustment of output takes time, we need to reintroduce dynamics: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Consumers are likely to take time to adjust their consumption following a change in disposable income.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Firms are likely to take time to adjust investment spending following a change in their sales.</a:t>
            </a:r>
          </a:p>
          <a:p>
            <a:pPr lvl="1">
              <a:spcBef>
                <a:spcPts val="525"/>
              </a:spcBef>
            </a:pPr>
            <a:r>
              <a:rPr lang="en-US" sz="2000" dirty="0">
                <a:ea typeface="ヒラギノ角ゴ Pro W3" pitchFamily="-84" charset="-128"/>
              </a:rPr>
              <a:t>Firms are likely to take </a:t>
            </a:r>
            <a:r>
              <a:rPr lang="en-US" sz="2000" dirty="0" smtClean="0">
                <a:ea typeface="ヒラギノ角ゴ Pro W3" pitchFamily="-84" charset="-128"/>
              </a:rPr>
              <a:t>time </a:t>
            </a:r>
            <a:r>
              <a:rPr lang="en-US" sz="2000" dirty="0">
                <a:ea typeface="ヒラギノ角ゴ Pro W3" pitchFamily="-84" charset="-128"/>
              </a:rPr>
              <a:t>to adjust investment spending following a change in </a:t>
            </a:r>
            <a:r>
              <a:rPr lang="en-US" sz="2000" dirty="0" smtClean="0">
                <a:ea typeface="ヒラギノ角ゴ Pro W3" pitchFamily="-84" charset="-128"/>
              </a:rPr>
              <a:t>the interest rate.</a:t>
            </a:r>
          </a:p>
          <a:p>
            <a:pPr lvl="1">
              <a:spcBef>
                <a:spcPts val="525"/>
              </a:spcBef>
            </a:pPr>
            <a:r>
              <a:rPr lang="en-US" sz="2000" dirty="0">
                <a:ea typeface="ヒラギノ角ゴ Pro W3" pitchFamily="-84" charset="-128"/>
              </a:rPr>
              <a:t>Firms are likely to take </a:t>
            </a:r>
            <a:r>
              <a:rPr lang="en-US" sz="2000" dirty="0" smtClean="0">
                <a:ea typeface="ヒラギノ角ゴ Pro W3" pitchFamily="-84" charset="-128"/>
              </a:rPr>
              <a:t>time </a:t>
            </a:r>
            <a:r>
              <a:rPr lang="en-US" sz="2000" dirty="0">
                <a:ea typeface="ヒラギノ角ゴ Pro W3" pitchFamily="-84" charset="-128"/>
              </a:rPr>
              <a:t>to adjust </a:t>
            </a:r>
            <a:r>
              <a:rPr lang="en-US" sz="2000" dirty="0" smtClean="0">
                <a:ea typeface="ヒラギノ角ゴ Pro W3" pitchFamily="-84" charset="-128"/>
              </a:rPr>
              <a:t>production following </a:t>
            </a:r>
            <a:r>
              <a:rPr lang="en-US" sz="2000" dirty="0">
                <a:ea typeface="ヒラギノ角ゴ Pro W3" pitchFamily="-84" charset="-128"/>
              </a:rPr>
              <a:t>a change in </a:t>
            </a:r>
            <a:r>
              <a:rPr lang="en-US" sz="2000" dirty="0" smtClean="0">
                <a:ea typeface="ヒラギノ角ゴ Pro W3" pitchFamily="-84" charset="-128"/>
              </a:rPr>
              <a:t>their sales.</a:t>
            </a:r>
            <a:endParaRPr lang="en-US" sz="2000" dirty="0">
              <a:ea typeface="ヒラギノ角ゴ Pro W3" pitchFamily="-84" charset="-128"/>
            </a:endParaRPr>
          </a:p>
          <a:p>
            <a:pPr lvl="1">
              <a:spcBef>
                <a:spcPts val="525"/>
              </a:spcBef>
            </a:pPr>
            <a:endParaRPr lang="en-US" sz="2200" dirty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3148276"/>
      </p:ext>
    </p:extLst>
  </p:cSld>
  <p:clrMapOvr>
    <a:masterClrMapping/>
  </p:clrMapOvr>
  <p:transition>
    <p:strips dir="l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65" charset="-128"/>
              </a:rPr>
              <a:t>5-5 How Does the </a:t>
            </a:r>
            <a:r>
              <a:rPr lang="en-US" i="1" smtClean="0">
                <a:ea typeface="ヒラギノ角ゴ Pro W3" pitchFamily="-65" charset="-128"/>
              </a:rPr>
              <a:t>IS-LM </a:t>
            </a:r>
            <a:r>
              <a:rPr lang="en-US" smtClean="0">
                <a:ea typeface="ヒラギノ角ゴ Pro W3" pitchFamily="-65" charset="-128"/>
              </a:rPr>
              <a:t>Model Fit the Facts?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2057400" cy="36576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800" b="1" dirty="0" smtClean="0">
                <a:ea typeface="ヒラギノ角ゴ Pro W3" pitchFamily="-65" charset="-128"/>
              </a:rPr>
              <a:t>Figure 5-10  </a:t>
            </a:r>
            <a:r>
              <a:rPr lang="en-US" sz="1800" dirty="0" smtClean="0">
                <a:ea typeface="ヒラギノ角ゴ Pro W3" pitchFamily="-65" charset="-128"/>
              </a:rPr>
              <a:t>The Empirical Effects of an Increase in the Federal Funds Rate</a:t>
            </a:r>
            <a:endParaRPr lang="en-US" sz="1800" i="1" dirty="0" smtClean="0">
              <a:ea typeface="ヒラギノ角ゴ Pro W3" pitchFamily="-65" charset="-128"/>
            </a:endParaRPr>
          </a:p>
        </p:txBody>
      </p:sp>
      <p:pic>
        <p:nvPicPr>
          <p:cNvPr id="33796" name="Picture 3" descr="fig05_09a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371600"/>
            <a:ext cx="6129338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04800" y="3505200"/>
            <a:ext cx="2209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600" dirty="0" smtClean="0">
                <a:latin typeface="Verdana" panose="020B0604030504040204" pitchFamily="34" charset="0"/>
              </a:rPr>
              <a:t>In the short run, an increase in the federal funds rate leads to a decrease in output and to an increase in unemployment, but it has little effect on the price level.</a:t>
            </a:r>
            <a:endParaRPr lang="en-US" sz="1600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28865699"/>
      </p:ext>
    </p:extLst>
  </p:cSld>
  <p:clrMapOvr>
    <a:masterClrMapping/>
  </p:clrMapOvr>
  <p:transition>
    <p:strips dir="l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65" charset="-128"/>
              </a:rPr>
              <a:t>5-5 How Does the </a:t>
            </a:r>
            <a:r>
              <a:rPr lang="en-US" i="1" smtClean="0">
                <a:ea typeface="ヒラギノ角ゴ Pro W3" pitchFamily="-65" charset="-128"/>
              </a:rPr>
              <a:t>IS-LM </a:t>
            </a:r>
            <a:r>
              <a:rPr lang="en-US" smtClean="0">
                <a:ea typeface="ヒラギノ角ゴ Pro W3" pitchFamily="-65" charset="-128"/>
              </a:rPr>
              <a:t>Model Fit the Facts?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2057400" cy="36576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800" b="1" dirty="0" smtClean="0">
                <a:ea typeface="ヒラギノ角ゴ Pro W3" pitchFamily="-65" charset="-128"/>
              </a:rPr>
              <a:t>Figure 5-10  </a:t>
            </a:r>
            <a:r>
              <a:rPr lang="en-US" sz="1800" dirty="0" smtClean="0">
                <a:ea typeface="ヒラギノ角ゴ Pro W3" pitchFamily="-65" charset="-128"/>
              </a:rPr>
              <a:t>The Empirical Effects of an Increase in the Federal Funds Rate</a:t>
            </a:r>
          </a:p>
        </p:txBody>
      </p:sp>
      <p:pic>
        <p:nvPicPr>
          <p:cNvPr id="34820" name="Picture 4" descr="fig05_09b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039813"/>
            <a:ext cx="4724400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787407248"/>
      </p:ext>
    </p:extLst>
  </p:cSld>
  <p:clrMapOvr>
    <a:masterClrMapping/>
  </p:clrMapOvr>
  <p:transition>
    <p:strips dir="ld"/>
  </p:transition>
</p:sld>
</file>

<file path=ppt/theme/theme1.xml><?xml version="1.0" encoding="utf-8"?>
<a:theme xmlns:a="http://schemas.openxmlformats.org/drawingml/2006/main" name="template_LN01Brooks671956_02_LN01">
  <a:themeElements>
    <a:clrScheme name="Pearson_PowerPoint_Template_Bekaer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arson_PowerPoint_Template_Bekaer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earson_PowerPoint_Template_Bekaer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LN01Folland832739_07_LN01.pot</Template>
  <TotalTime>2563</TotalTime>
  <Words>1260</Words>
  <Application>Microsoft Office PowerPoint</Application>
  <PresentationFormat>On-screen Show (4:3)</PresentationFormat>
  <Paragraphs>118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template_LN01Brooks671956_02_LN01</vt:lpstr>
      <vt:lpstr>Goods and Financial Markets;  The IS-LM Model</vt:lpstr>
      <vt:lpstr>Chapter 5 Outline</vt:lpstr>
      <vt:lpstr>Goods and Financial Markets; The IS-LM Model</vt:lpstr>
      <vt:lpstr>5-1 The Goods Market and the IS Relation</vt:lpstr>
      <vt:lpstr>5-1 The Goods Market and the IS Relation</vt:lpstr>
      <vt:lpstr>5-1 The Goods Market and the IS Relation</vt:lpstr>
      <vt:lpstr>5-1 The Goods Market and the IS Relation</vt:lpstr>
      <vt:lpstr>5-1 The Goods Market and the IS Relation</vt:lpstr>
      <vt:lpstr>5-1 The Goods Market and the IS Relation</vt:lpstr>
      <vt:lpstr>5-2 Financial Markets and the LM Relation</vt:lpstr>
      <vt:lpstr>5-2 Financial Markets and the LM Relation</vt:lpstr>
      <vt:lpstr>5-2 Financial Markets and the LM Relation</vt:lpstr>
      <vt:lpstr>5-3 Putting the IS and the LM Relations Together</vt:lpstr>
      <vt:lpstr>5-3 Putting the IS and the LM Relations Together</vt:lpstr>
      <vt:lpstr>5-3 Putting the IS and the LM Relations Together</vt:lpstr>
      <vt:lpstr>5-3 Putting the IS and the LM Relations Together</vt:lpstr>
      <vt:lpstr>5-3 Putting the IS and the LM Relations Together</vt:lpstr>
      <vt:lpstr>5-3 Putting the IS and the LM Relations Together</vt:lpstr>
      <vt:lpstr>5-4 Using a Policy Mix</vt:lpstr>
      <vt:lpstr>5-4 Using a Policy Mix</vt:lpstr>
      <vt:lpstr>Focus: The German and French Recessions of 2001–2002</vt:lpstr>
      <vt:lpstr>Focus: The German and French Recessions of 2001–2002</vt:lpstr>
      <vt:lpstr>Focus: The German and French Recessions of 2001–2002</vt:lpstr>
      <vt:lpstr>FOCUS: Deficit Reduction: Good or Bad for Investment?</vt:lpstr>
      <vt:lpstr>5-4 Using a Policy Mix</vt:lpstr>
      <vt:lpstr>5-5 How Does the IS-LM Model Fit the Facts?</vt:lpstr>
      <vt:lpstr>5-5 How Does the IS-LM Model Fit the Facts?</vt:lpstr>
      <vt:lpstr>5-5 How Does the IS-LM Model Fit the Facts?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Oliver Blanchard</dc:creator>
  <cp:lastModifiedBy>Paromita</cp:lastModifiedBy>
  <cp:revision>137</cp:revision>
  <dcterms:created xsi:type="dcterms:W3CDTF">2012-08-09T20:37:31Z</dcterms:created>
  <dcterms:modified xsi:type="dcterms:W3CDTF">2016-10-06T04:20:24Z</dcterms:modified>
</cp:coreProperties>
</file>