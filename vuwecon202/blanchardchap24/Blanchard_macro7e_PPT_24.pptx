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6"/>
  </p:notesMasterIdLst>
  <p:sldIdLst>
    <p:sldId id="256" r:id="rId2"/>
    <p:sldId id="269" r:id="rId3"/>
    <p:sldId id="357" r:id="rId4"/>
    <p:sldId id="529" r:id="rId5"/>
    <p:sldId id="517" r:id="rId6"/>
    <p:sldId id="518" r:id="rId7"/>
    <p:sldId id="530" r:id="rId8"/>
    <p:sldId id="531" r:id="rId9"/>
    <p:sldId id="532" r:id="rId10"/>
    <p:sldId id="533" r:id="rId11"/>
    <p:sldId id="534" r:id="rId12"/>
    <p:sldId id="537" r:id="rId13"/>
    <p:sldId id="535" r:id="rId14"/>
    <p:sldId id="536" r:id="rId1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5pPr>
    <a:lvl6pPr marL="22860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6pPr>
    <a:lvl7pPr marL="27432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7pPr>
    <a:lvl8pPr marL="32004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8pPr>
    <a:lvl9pPr marL="36576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599D"/>
    <a:srgbClr val="BBE5FB"/>
    <a:srgbClr val="BFDC42"/>
    <a:srgbClr val="D8F2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295" autoAdjust="0"/>
    <p:restoredTop sz="94690"/>
  </p:normalViewPr>
  <p:slideViewPr>
    <p:cSldViewPr>
      <p:cViewPr varScale="1">
        <p:scale>
          <a:sx n="68" d="100"/>
          <a:sy n="68" d="100"/>
        </p:scale>
        <p:origin x="-121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358A83D-3E8E-422B-A1C7-AED542456985}" type="slidenum">
              <a:rPr lang="en-US"/>
              <a:pPr>
                <a:defRPr/>
              </a:pPr>
              <a:t>‹#›</a:t>
            </a:fld>
            <a:endParaRPr lang="en-US"/>
          </a:p>
        </p:txBody>
      </p:sp>
    </p:spTree>
    <p:extLst>
      <p:ext uri="{BB962C8B-B14F-4D97-AF65-F5344CB8AC3E}">
        <p14:creationId xmlns:p14="http://schemas.microsoft.com/office/powerpoint/2010/main" xmlns="" val="304106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ヒラギノ角ゴ Pro W3" pitchFamily="-65"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BBE5FB"/>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gray">
          <a:xfrm>
            <a:off x="0" y="6397625"/>
            <a:ext cx="9144000" cy="457200"/>
          </a:xfrm>
          <a:prstGeom prst="rect">
            <a:avLst/>
          </a:prstGeom>
          <a:solidFill>
            <a:srgbClr val="00599D"/>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Verdana" panose="020B0604030504040204" pitchFamily="34" charset="0"/>
            </a:endParaRPr>
          </a:p>
        </p:txBody>
      </p:sp>
      <p:pic>
        <p:nvPicPr>
          <p:cNvPr id="3" name="Picture 3" descr="Pearson_Bound_White"/>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88238" y="6356350"/>
            <a:ext cx="1655762" cy="493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 name="Picture 4" descr="Pearson_Strap_Bound_White"/>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0" y="6356350"/>
            <a:ext cx="1908175" cy="493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 name="Picture 5"/>
          <p:cNvPicPr>
            <a:picLocks noChangeAspect="1"/>
          </p:cNvPicPr>
          <p:nvPr userDrawn="1"/>
        </p:nvPicPr>
        <p:blipFill>
          <a:blip r:embed="rId4" cstate="print"/>
          <a:stretch>
            <a:fillRect/>
          </a:stretch>
        </p:blipFill>
        <p:spPr>
          <a:xfrm>
            <a:off x="0" y="0"/>
            <a:ext cx="5205590" cy="6400800"/>
          </a:xfrm>
          <a:prstGeom prst="rect">
            <a:avLst/>
          </a:prstGeom>
        </p:spPr>
      </p:pic>
    </p:spTree>
    <p:extLst>
      <p:ext uri="{BB962C8B-B14F-4D97-AF65-F5344CB8AC3E}">
        <p14:creationId xmlns:p14="http://schemas.microsoft.com/office/powerpoint/2010/main" xmlns="" val="3441087217"/>
      </p:ext>
    </p:extLst>
  </p:cSld>
  <p:clrMapOvr>
    <a:masterClrMapping/>
  </p:clrMapOvr>
  <p:timing>
    <p:tnLst>
      <p:par>
        <p:cTn id="1" dur="indefinite" restart="never" nodeType="tmRoot"/>
      </p:par>
    </p:tnLst>
  </p:timing>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494771439"/>
      </p:ext>
    </p:extLst>
  </p:cSld>
  <p:clrMapOvr>
    <a:masterClrMapping/>
  </p:clrMapOvr>
  <p:transition>
    <p:strips dir="l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352075451"/>
      </p:ext>
    </p:extLst>
  </p:cSld>
  <p:clrMapOvr>
    <a:masterClrMapping/>
  </p:clrMapOvr>
  <p:transition>
    <p:strips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950072493"/>
      </p:ext>
    </p:extLst>
  </p:cSld>
  <p:clrMapOvr>
    <a:masterClrMapping/>
  </p:clrMapOvr>
  <p:transition>
    <p:strips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087435220"/>
      </p:ext>
    </p:extLst>
  </p:cSld>
  <p:clrMapOvr>
    <a:masterClrMapping/>
  </p:clrMapOvr>
  <p:transition>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724062720"/>
      </p:ext>
    </p:extLst>
  </p:cSld>
  <p:clrMapOvr>
    <a:masterClrMapping/>
  </p:clrMapOvr>
  <p:transition>
    <p:strips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750255790"/>
      </p:ext>
    </p:extLst>
  </p:cSld>
  <p:clrMapOvr>
    <a:masterClrMapping/>
  </p:clrMapOvr>
  <p:transition>
    <p:strips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884679804"/>
      </p:ext>
    </p:extLst>
  </p:cSld>
  <p:clrMapOvr>
    <a:masterClrMapping/>
  </p:clrMapOvr>
  <p:transition>
    <p:strips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337429884"/>
      </p:ext>
    </p:extLst>
  </p:cSld>
  <p:clrMapOvr>
    <a:masterClrMapping/>
  </p:clrMapOvr>
  <p:transition>
    <p:strips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1938792299"/>
      </p:ext>
    </p:extLst>
  </p:cSld>
  <p:clrMapOvr>
    <a:masterClrMapping/>
  </p:clrMapOvr>
  <p:transition>
    <p:strips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0"/>
            <a:ext cx="211455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0"/>
            <a:ext cx="619125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945461388"/>
      </p:ext>
    </p:extLst>
  </p:cSld>
  <p:clrMapOvr>
    <a:masterClrMapping/>
  </p:clrMapOvr>
  <p:transition>
    <p:strips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fld id="{EF38A850-ADD0-4F7D-99F1-C19676CE30E4}" type="datetime1">
              <a:rPr lang="en-US"/>
              <a:pPr>
                <a:defRPr/>
              </a:pPr>
              <a:t>9/15/2016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r>
              <a:rPr lang="en-US"/>
              <a:t>Copyright © 2013 Pearson Education, Inc.</a:t>
            </a:r>
          </a:p>
          <a:p>
            <a:pPr>
              <a:defRPr/>
            </a:pPr>
            <a:r>
              <a:rPr lang="en-US"/>
              <a:t>Publishing as Prentice Hall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anose="020B0604030504040204" pitchFamily="34" charset="0"/>
              </a:defRPr>
            </a:lvl1pPr>
          </a:lstStyle>
          <a:p>
            <a:pPr>
              <a:defRPr/>
            </a:pPr>
            <a:fld id="{2A68BFA4-ED51-4D11-92C9-125F6EFF37D1}" type="slidenum">
              <a:rPr lang="en-US"/>
              <a:pPr>
                <a:defRPr/>
              </a:pPr>
              <a:t>‹#›</a:t>
            </a:fld>
            <a:endParaRPr lang="en-US"/>
          </a:p>
        </p:txBody>
      </p:sp>
    </p:spTree>
    <p:extLst>
      <p:ext uri="{BB962C8B-B14F-4D97-AF65-F5344CB8AC3E}">
        <p14:creationId xmlns:p14="http://schemas.microsoft.com/office/powerpoint/2010/main" xmlns="" val="2178001293"/>
      </p:ext>
    </p:extLst>
  </p:cSld>
  <p:clrMapOvr>
    <a:masterClrMapping/>
  </p:clrMapOvr>
  <p:transition>
    <p:strips dir="ld"/>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userDrawn="1"/>
        </p:nvSpPr>
        <p:spPr bwMode="gray">
          <a:xfrm>
            <a:off x="0" y="6397625"/>
            <a:ext cx="9144000" cy="457200"/>
          </a:xfrm>
          <a:prstGeom prst="rect">
            <a:avLst/>
          </a:prstGeom>
          <a:solidFill>
            <a:srgbClr val="0060A7"/>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Arial" panose="020B0604020202020204" pitchFamily="34" charset="0"/>
              <a:cs typeface="Arial" panose="020B0604020202020204" pitchFamily="34" charset="0"/>
            </a:endParaRPr>
          </a:p>
        </p:txBody>
      </p:sp>
      <p:sp>
        <p:nvSpPr>
          <p:cNvPr id="1027" name="Rectangle 4"/>
          <p:cNvSpPr>
            <a:spLocks noGrp="1" noChangeArrowheads="1"/>
          </p:cNvSpPr>
          <p:nvPr>
            <p:ph type="body" idx="1"/>
          </p:nvPr>
        </p:nvSpPr>
        <p:spPr bwMode="auto">
          <a:xfrm>
            <a:off x="381000" y="1447800"/>
            <a:ext cx="8382000" cy="464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5"/>
          <p:cNvSpPr>
            <a:spLocks noGrp="1" noChangeArrowheads="1"/>
          </p:cNvSpPr>
          <p:nvPr>
            <p:ph type="title"/>
          </p:nvPr>
        </p:nvSpPr>
        <p:spPr bwMode="auto">
          <a:xfrm>
            <a:off x="381000" y="0"/>
            <a:ext cx="84582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2" name="Rectangle 6"/>
          <p:cNvSpPr>
            <a:spLocks noChangeArrowheads="1"/>
          </p:cNvSpPr>
          <p:nvPr/>
        </p:nvSpPr>
        <p:spPr bwMode="gray">
          <a:xfrm>
            <a:off x="381000" y="6577013"/>
            <a:ext cx="5399088" cy="179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US" sz="900" dirty="0" smtClean="0">
                <a:solidFill>
                  <a:schemeClr val="bg1"/>
                </a:solidFill>
                <a:latin typeface="Verdana" panose="020B0604030504040204" pitchFamily="34" charset="0"/>
              </a:rPr>
              <a:t>Copyright ©2017 Pearson Education, Ltd. All rights reserved.</a:t>
            </a:r>
            <a:endParaRPr lang="en-GB" sz="900" dirty="0" smtClean="0">
              <a:solidFill>
                <a:schemeClr val="bg1"/>
              </a:solidFill>
              <a:latin typeface="Verdana" panose="020B0604030504040204" pitchFamily="34" charset="0"/>
            </a:endParaRPr>
          </a:p>
        </p:txBody>
      </p:sp>
      <p:sp>
        <p:nvSpPr>
          <p:cNvPr id="1029" name="Rectangle 7"/>
          <p:cNvSpPr>
            <a:spLocks noChangeArrowheads="1"/>
          </p:cNvSpPr>
          <p:nvPr/>
        </p:nvSpPr>
        <p:spPr bwMode="gray">
          <a:xfrm>
            <a:off x="8402638" y="6577013"/>
            <a:ext cx="360362" cy="179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GB" sz="900" dirty="0" smtClean="0">
                <a:solidFill>
                  <a:schemeClr val="bg1"/>
                </a:solidFill>
                <a:latin typeface="Verdana" panose="020B0604030504040204" pitchFamily="34" charset="0"/>
              </a:rPr>
              <a:t>24-</a:t>
            </a:r>
            <a:fld id="{604DE8C7-66CF-465F-9818-9F61582FDCEB}" type="slidenum">
              <a:rPr lang="en-GB" sz="900" smtClean="0">
                <a:solidFill>
                  <a:schemeClr val="bg1"/>
                </a:solidFill>
                <a:latin typeface="Verdana" panose="020B0604030504040204" pitchFamily="34" charset="0"/>
              </a:rPr>
              <a:pPr>
                <a:defRPr/>
              </a:pPr>
              <a:t>‹#›</a:t>
            </a:fld>
            <a:r>
              <a:rPr lang="en-GB" sz="900" dirty="0" smtClean="0">
                <a:solidFill>
                  <a:schemeClr val="bg1"/>
                </a:solidFill>
                <a:latin typeface="Verdana" panose="020B0604030504040204" pitchFamily="34" charset="0"/>
              </a:rPr>
              <a:t> </a:t>
            </a:r>
          </a:p>
        </p:txBody>
      </p:sp>
    </p:spTree>
  </p:cSld>
  <p:clrMap bg1="lt1" tx1="dk1" bg2="lt2" tx2="dk2" accent1="accent1" accent2="accent2" accent3="accent3" accent4="accent4" accent5="accent5" accent6="accent6" hlink="hlink" folHlink="folHlink"/>
  <p:sldLayoutIdLst>
    <p:sldLayoutId id="2147484039"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40" r:id="rId12"/>
  </p:sldLayoutIdLst>
  <p:transition>
    <p:strips dir="ld"/>
  </p:transition>
  <p:timing>
    <p:tnLst>
      <p:par>
        <p:cTn id="1" dur="indefinite" restart="never" nodeType="tmRoot"/>
      </p:par>
    </p:tnLst>
  </p:timing>
  <p:hf hdr="0" dt="0"/>
  <p:txStyles>
    <p:titleStyle>
      <a:lvl1pPr algn="l" rtl="0" eaLnBrk="0" fontAlgn="base" hangingPunct="0">
        <a:spcBef>
          <a:spcPct val="0"/>
        </a:spcBef>
        <a:spcAft>
          <a:spcPct val="0"/>
        </a:spcAft>
        <a:defRPr sz="3200" b="1">
          <a:solidFill>
            <a:schemeClr val="tx1"/>
          </a:solidFill>
          <a:latin typeface="+mj-lt"/>
          <a:ea typeface="ヒラギノ角ゴ Pro W3" pitchFamily="-1" charset="-128"/>
          <a:cs typeface="ヒラギノ角ゴ Pro W3" pitchFamily="-1" charset="-128"/>
        </a:defRPr>
      </a:lvl1pPr>
      <a:lvl2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2pPr>
      <a:lvl3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3pPr>
      <a:lvl4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4pPr>
      <a:lvl5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5pPr>
      <a:lvl6pPr marL="457200" algn="l" rtl="0" eaLnBrk="1" fontAlgn="base" hangingPunct="1">
        <a:spcBef>
          <a:spcPct val="0"/>
        </a:spcBef>
        <a:spcAft>
          <a:spcPct val="0"/>
        </a:spcAft>
        <a:defRPr sz="3200" b="1">
          <a:solidFill>
            <a:schemeClr val="tx1"/>
          </a:solidFill>
          <a:latin typeface="Verdana" pitchFamily="-1" charset="0"/>
        </a:defRPr>
      </a:lvl6pPr>
      <a:lvl7pPr marL="914400" algn="l" rtl="0" eaLnBrk="1" fontAlgn="base" hangingPunct="1">
        <a:spcBef>
          <a:spcPct val="0"/>
        </a:spcBef>
        <a:spcAft>
          <a:spcPct val="0"/>
        </a:spcAft>
        <a:defRPr sz="3200" b="1">
          <a:solidFill>
            <a:schemeClr val="tx1"/>
          </a:solidFill>
          <a:latin typeface="Verdana" pitchFamily="-1" charset="0"/>
        </a:defRPr>
      </a:lvl7pPr>
      <a:lvl8pPr marL="1371600" algn="l" rtl="0" eaLnBrk="1" fontAlgn="base" hangingPunct="1">
        <a:spcBef>
          <a:spcPct val="0"/>
        </a:spcBef>
        <a:spcAft>
          <a:spcPct val="0"/>
        </a:spcAft>
        <a:defRPr sz="3200" b="1">
          <a:solidFill>
            <a:schemeClr val="tx1"/>
          </a:solidFill>
          <a:latin typeface="Verdana" pitchFamily="-1" charset="0"/>
        </a:defRPr>
      </a:lvl8pPr>
      <a:lvl9pPr marL="1828800" algn="l" rtl="0" eaLnBrk="1" fontAlgn="base" hangingPunct="1">
        <a:spcBef>
          <a:spcPct val="0"/>
        </a:spcBef>
        <a:spcAft>
          <a:spcPct val="0"/>
        </a:spcAft>
        <a:defRPr sz="3200" b="1">
          <a:solidFill>
            <a:schemeClr val="tx1"/>
          </a:solidFill>
          <a:latin typeface="Verdana" pitchFamily="-1"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F2FF"/>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idx="4294967295"/>
          </p:nvPr>
        </p:nvSpPr>
        <p:spPr>
          <a:xfrm>
            <a:off x="5257800" y="990600"/>
            <a:ext cx="3733800" cy="2133600"/>
          </a:xfrm>
        </p:spPr>
        <p:txBody>
          <a:bodyPr/>
          <a:lstStyle/>
          <a:p>
            <a:pPr algn="ctr" eaLnBrk="1" hangingPunct="1"/>
            <a:r>
              <a:rPr lang="en-US" sz="2800" dirty="0" smtClean="0">
                <a:ea typeface="ヒラギノ角ゴ Pro W3" pitchFamily="-84" charset="-128"/>
              </a:rPr>
              <a:t>Epilogue: The Story of Macroeconomics</a:t>
            </a:r>
          </a:p>
        </p:txBody>
      </p:sp>
      <p:sp>
        <p:nvSpPr>
          <p:cNvPr id="5123" name="Rectangle 3"/>
          <p:cNvSpPr>
            <a:spLocks noGrp="1" noChangeArrowheads="1"/>
          </p:cNvSpPr>
          <p:nvPr>
            <p:ph type="subTitle" idx="4294967295"/>
          </p:nvPr>
        </p:nvSpPr>
        <p:spPr>
          <a:xfrm>
            <a:off x="4953000" y="3886200"/>
            <a:ext cx="4191000" cy="1752600"/>
          </a:xfrm>
        </p:spPr>
        <p:txBody>
          <a:bodyPr/>
          <a:lstStyle/>
          <a:p>
            <a:pPr algn="ctr" eaLnBrk="1" hangingPunct="1">
              <a:buFontTx/>
              <a:buNone/>
            </a:pPr>
            <a:r>
              <a:rPr lang="en-US" dirty="0" smtClean="0">
                <a:ea typeface="ヒラギノ角ゴ Pro W3" pitchFamily="-84" charset="-128"/>
              </a:rPr>
              <a:t>Chapter 24</a:t>
            </a:r>
          </a:p>
        </p:txBody>
      </p:sp>
    </p:spTree>
  </p:cSld>
  <p:clrMapOvr>
    <a:masterClrMapping/>
  </p:clrMapOvr>
  <p:transition>
    <p:strips dir="l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smtClean="0">
                <a:ea typeface="ヒラギノ角ゴ Pro W3" pitchFamily="-84" charset="-128"/>
              </a:rPr>
              <a:t>Chapter 24 Outline</a:t>
            </a:r>
          </a:p>
        </p:txBody>
      </p:sp>
      <p:sp>
        <p:nvSpPr>
          <p:cNvPr id="3" name="Content Placeholder 2"/>
          <p:cNvSpPr txBox="1">
            <a:spLocks/>
          </p:cNvSpPr>
          <p:nvPr/>
        </p:nvSpPr>
        <p:spPr bwMode="auto">
          <a:xfrm>
            <a:off x="419100" y="1524000"/>
            <a:ext cx="8382000" cy="4937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bIns="0"/>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eaLnBrk="1" hangingPunct="1">
              <a:buFontTx/>
              <a:buNone/>
              <a:defRPr/>
            </a:pPr>
            <a:r>
              <a:rPr lang="en-US" sz="2400" b="1" kern="0" dirty="0">
                <a:ea typeface="ヒラギノ角ゴ Pro W3" pitchFamily="-84" charset="-128"/>
              </a:rPr>
              <a:t>Epilogue: The Story of </a:t>
            </a:r>
            <a:r>
              <a:rPr lang="en-US" sz="2400" b="1" kern="0" dirty="0" smtClean="0">
                <a:ea typeface="ヒラギノ角ゴ Pro W3" pitchFamily="-84" charset="-128"/>
              </a:rPr>
              <a:t>Macroeconomics</a:t>
            </a:r>
          </a:p>
          <a:p>
            <a:pPr marL="0" indent="0" eaLnBrk="1" hangingPunct="1">
              <a:buFontTx/>
              <a:buNone/>
              <a:defRPr/>
            </a:pPr>
            <a:endParaRPr lang="en-US" sz="2400" kern="0" dirty="0" smtClean="0">
              <a:ea typeface="ヒラギノ角ゴ Pro W3" pitchFamily="-84" charset="-128"/>
            </a:endParaRPr>
          </a:p>
          <a:p>
            <a:pPr marL="1714500" indent="-1714500" eaLnBrk="1" hangingPunct="1">
              <a:buFontTx/>
              <a:buNone/>
              <a:defRPr/>
            </a:pPr>
            <a:r>
              <a:rPr lang="en-US" sz="2400" kern="0" dirty="0" smtClean="0">
                <a:ea typeface="ヒラギノ角ゴ Pro W3" pitchFamily="-84" charset="-128"/>
              </a:rPr>
              <a:t>24-1	Keynes and the Great Depression</a:t>
            </a:r>
          </a:p>
          <a:p>
            <a:pPr marL="1714500" indent="-1714500" eaLnBrk="1" hangingPunct="1">
              <a:buFontTx/>
              <a:buNone/>
              <a:defRPr/>
            </a:pPr>
            <a:r>
              <a:rPr lang="en-US" sz="2400" kern="0" dirty="0" smtClean="0">
                <a:ea typeface="ヒラギノ角ゴ Pro W3" pitchFamily="-84" charset="-128"/>
              </a:rPr>
              <a:t>24-2	The Neoclassical Synthesis</a:t>
            </a:r>
          </a:p>
          <a:p>
            <a:pPr marL="1714500" indent="-1714500" eaLnBrk="1" hangingPunct="1">
              <a:buFontTx/>
              <a:buNone/>
              <a:defRPr/>
            </a:pPr>
            <a:r>
              <a:rPr lang="en-US" sz="2400" kern="0" dirty="0" smtClean="0">
                <a:ea typeface="ヒラギノ角ゴ Pro W3" pitchFamily="-84" charset="-128"/>
              </a:rPr>
              <a:t>24-3	The Rational Expectations Critique</a:t>
            </a:r>
          </a:p>
          <a:p>
            <a:pPr marL="1714500" indent="-1714500" eaLnBrk="1" hangingPunct="1">
              <a:buFontTx/>
              <a:buNone/>
              <a:defRPr/>
            </a:pPr>
            <a:r>
              <a:rPr lang="en-US" sz="2400" kern="0" dirty="0" smtClean="0">
                <a:ea typeface="ヒラギノ角ゴ Pro W3" pitchFamily="-84" charset="-128"/>
              </a:rPr>
              <a:t>24-4</a:t>
            </a:r>
            <a:r>
              <a:rPr lang="en-US" sz="2400" kern="0" dirty="0">
                <a:ea typeface="ヒラギノ角ゴ Pro W3" pitchFamily="-84" charset="-128"/>
              </a:rPr>
              <a:t>	</a:t>
            </a:r>
            <a:r>
              <a:rPr lang="en-US" sz="2400" kern="0" dirty="0" smtClean="0">
                <a:ea typeface="ヒラギノ角ゴ Pro W3" pitchFamily="-84" charset="-128"/>
              </a:rPr>
              <a:t>Developments in Macroeconomics up to the 2009 Crisis</a:t>
            </a:r>
          </a:p>
          <a:p>
            <a:pPr marL="1714500" indent="-1714500" eaLnBrk="1" hangingPunct="1">
              <a:buFontTx/>
              <a:buNone/>
              <a:defRPr/>
            </a:pPr>
            <a:r>
              <a:rPr lang="en-US" sz="2400" kern="0" dirty="0" smtClean="0">
                <a:ea typeface="ヒラギノ角ゴ Pro W3" pitchFamily="-84" charset="-128"/>
              </a:rPr>
              <a:t>24-5	First Lessons for Macroeconomics after the Crisis</a:t>
            </a:r>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a:ea typeface="ヒラギノ角ゴ Pro W3" pitchFamily="-84" charset="-128"/>
              </a:rPr>
              <a:t>Epilogue: The Story of Macroeconomics</a:t>
            </a:r>
          </a:p>
        </p:txBody>
      </p:sp>
      <p:sp>
        <p:nvSpPr>
          <p:cNvPr id="7171" name="Content Placeholder 2"/>
          <p:cNvSpPr>
            <a:spLocks noGrp="1"/>
          </p:cNvSpPr>
          <p:nvPr>
            <p:ph idx="1"/>
          </p:nvPr>
        </p:nvSpPr>
        <p:spPr/>
        <p:txBody>
          <a:bodyPr/>
          <a:lstStyle/>
          <a:p>
            <a:r>
              <a:rPr lang="en-US" sz="2400" dirty="0" smtClean="0">
                <a:ea typeface="ヒラギノ角ゴ Pro W3" pitchFamily="-84" charset="-128"/>
              </a:rPr>
              <a:t>We have spent 23 chapters presenting the framework that most economists use to think about macroeconomic issues, the major conclusions they draw, and the issues on which they disagree.</a:t>
            </a:r>
          </a:p>
          <a:p>
            <a:r>
              <a:rPr lang="en-US" sz="2400" dirty="0" smtClean="0">
                <a:ea typeface="ヒラギノ角ゴ Pro W3" pitchFamily="-84" charset="-128"/>
              </a:rPr>
              <a:t>The chapter tells you how this framework has been built over time.</a:t>
            </a:r>
          </a:p>
        </p:txBody>
      </p:sp>
    </p:spTree>
    <p:extLst>
      <p:ext uri="{BB962C8B-B14F-4D97-AF65-F5344CB8AC3E}">
        <p14:creationId xmlns:p14="http://schemas.microsoft.com/office/powerpoint/2010/main" xmlns="" val="3014208771"/>
      </p:ext>
    </p:extLst>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smtClean="0">
                <a:ea typeface="ヒラギノ角ゴ Pro W3" pitchFamily="-84" charset="-128"/>
              </a:rPr>
              <a:t>24-1 Keynes and the Great Depression</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400" dirty="0" smtClean="0">
                <a:ea typeface="ヒラギノ角ゴ Pro W3" pitchFamily="-84" charset="-128"/>
              </a:rPr>
              <a:t>The history of modern macroeconomics starts with the publication of John Maynard Keynes’s </a:t>
            </a:r>
            <a:r>
              <a:rPr lang="en-US" sz="2400" i="1" dirty="0" smtClean="0">
                <a:ea typeface="ヒラギノ角ゴ Pro W3" pitchFamily="-84" charset="-128"/>
              </a:rPr>
              <a:t>General Theory of Employment, Interest, and Money</a:t>
            </a:r>
            <a:r>
              <a:rPr lang="en-US" sz="2400" dirty="0" smtClean="0">
                <a:ea typeface="ヒラギノ角ゴ Pro W3" pitchFamily="-84" charset="-128"/>
              </a:rPr>
              <a:t> in 1936.</a:t>
            </a:r>
          </a:p>
          <a:p>
            <a:r>
              <a:rPr lang="en-US" sz="2400" dirty="0" smtClean="0">
                <a:ea typeface="ヒラギノ角ゴ Pro W3" pitchFamily="-84" charset="-128"/>
              </a:rPr>
              <a:t>The General Theory is in fact </a:t>
            </a:r>
            <a:r>
              <a:rPr lang="en-US" sz="2400" b="1" dirty="0" smtClean="0">
                <a:ea typeface="ヒラギノ角ゴ Pro W3" pitchFamily="-84" charset="-128"/>
              </a:rPr>
              <a:t>business cycle theory </a:t>
            </a:r>
            <a:r>
              <a:rPr lang="en-US" sz="2400" dirty="0" smtClean="0">
                <a:ea typeface="ヒラギノ角ゴ Pro W3" pitchFamily="-84" charset="-128"/>
              </a:rPr>
              <a:t>that emphasizes </a:t>
            </a:r>
            <a:r>
              <a:rPr lang="en-US" sz="2400" b="1" dirty="0" smtClean="0">
                <a:ea typeface="ヒラギノ角ゴ Pro W3" pitchFamily="-84" charset="-128"/>
              </a:rPr>
              <a:t>effective demand </a:t>
            </a:r>
            <a:r>
              <a:rPr lang="en-US" sz="2400" dirty="0" smtClean="0">
                <a:ea typeface="ヒラギノ角ゴ Pro W3" pitchFamily="-84" charset="-128"/>
              </a:rPr>
              <a:t>(</a:t>
            </a:r>
            <a:r>
              <a:rPr lang="en-US" sz="2400" i="1" dirty="0" smtClean="0">
                <a:ea typeface="ヒラギノ角ゴ Pro W3" pitchFamily="-84" charset="-128"/>
              </a:rPr>
              <a:t>aggregate demand</a:t>
            </a:r>
            <a:r>
              <a:rPr lang="en-US" sz="2400" dirty="0" smtClean="0">
                <a:ea typeface="ヒラギノ角ゴ Pro W3" pitchFamily="-84" charset="-128"/>
              </a:rPr>
              <a:t>): Effective demand determines output.</a:t>
            </a:r>
          </a:p>
          <a:p>
            <a:endParaRPr lang="en-US" sz="2400" dirty="0" smtClean="0">
              <a:ea typeface="ヒラギノ角ゴ Pro W3" pitchFamily="-84" charset="-128"/>
            </a:endParaRPr>
          </a:p>
          <a:p>
            <a:endParaRPr lang="en-US" sz="2400" dirty="0" smtClean="0">
              <a:ea typeface="ヒラギノ角ゴ Pro W3" pitchFamily="-84" charset="-128"/>
            </a:endParaRPr>
          </a:p>
          <a:p>
            <a:endParaRPr lang="en-US" sz="2400" dirty="0" smtClean="0">
              <a:ea typeface="ヒラギノ角ゴ Pro W3" pitchFamily="-84" charset="-128"/>
            </a:endParaRPr>
          </a:p>
          <a:p>
            <a:endParaRPr lang="en-US" sz="2200" dirty="0" smtClean="0">
              <a:ea typeface="ヒラギノ角ゴ Pro W3" pitchFamily="-84" charset="-128"/>
            </a:endParaRPr>
          </a:p>
        </p:txBody>
      </p:sp>
    </p:spTree>
    <p:extLst>
      <p:ext uri="{BB962C8B-B14F-4D97-AF65-F5344CB8AC3E}">
        <p14:creationId xmlns:p14="http://schemas.microsoft.com/office/powerpoint/2010/main" xmlns="" val="1115444049"/>
      </p:ext>
    </p:extLst>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smtClean="0">
                <a:ea typeface="ヒラギノ角ゴ Pro W3" pitchFamily="-84" charset="-128"/>
              </a:rPr>
              <a:t>24-1 Keynes and the Great Depression</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400" dirty="0" smtClean="0">
                <a:ea typeface="ヒラギノ角ゴ Pro W3" pitchFamily="-84" charset="-128"/>
              </a:rPr>
              <a:t>Keynes built the building blocks of modern macroeconomics:</a:t>
            </a:r>
          </a:p>
          <a:p>
            <a:pPr lvl="1"/>
            <a:r>
              <a:rPr lang="en-US" sz="2000" dirty="0" smtClean="0">
                <a:ea typeface="ヒラギノ角ゴ Pro W3" pitchFamily="-84" charset="-128"/>
              </a:rPr>
              <a:t>The relation of consumption, to income and the multiplier effects</a:t>
            </a:r>
          </a:p>
          <a:p>
            <a:pPr lvl="1"/>
            <a:r>
              <a:rPr lang="en-US" sz="2000" dirty="0" smtClean="0">
                <a:ea typeface="ヒラギノ角ゴ Pro W3" pitchFamily="-84" charset="-128"/>
              </a:rPr>
              <a:t>Liquidity preference in the demand for money that explains how monetary policy affect interest rates and aggregate demand</a:t>
            </a:r>
          </a:p>
          <a:p>
            <a:pPr lvl="1"/>
            <a:r>
              <a:rPr lang="en-US" sz="2000" dirty="0" smtClean="0">
                <a:ea typeface="ヒラギノ角ゴ Pro W3" pitchFamily="-84" charset="-128"/>
              </a:rPr>
              <a:t>The importance of expectations in affecting consumption and investment; and shifts in expectations (animal spirits) behind shifts in demand and output</a:t>
            </a:r>
          </a:p>
          <a:p>
            <a:endParaRPr lang="en-US" sz="2400" dirty="0" smtClean="0">
              <a:ea typeface="ヒラギノ角ゴ Pro W3" pitchFamily="-84" charset="-128"/>
            </a:endParaRPr>
          </a:p>
          <a:p>
            <a:endParaRPr lang="en-US" sz="2400" dirty="0" smtClean="0">
              <a:ea typeface="ヒラギノ角ゴ Pro W3" pitchFamily="-84" charset="-128"/>
            </a:endParaRPr>
          </a:p>
          <a:p>
            <a:endParaRPr lang="en-US" sz="2400" dirty="0" smtClean="0">
              <a:ea typeface="ヒラギノ角ゴ Pro W3" pitchFamily="-84" charset="-128"/>
            </a:endParaRPr>
          </a:p>
          <a:p>
            <a:endParaRPr lang="en-US" sz="2200" dirty="0" smtClean="0">
              <a:ea typeface="ヒラギノ角ゴ Pro W3" pitchFamily="-84" charset="-128"/>
            </a:endParaRPr>
          </a:p>
        </p:txBody>
      </p:sp>
    </p:spTree>
    <p:extLst>
      <p:ext uri="{BB962C8B-B14F-4D97-AF65-F5344CB8AC3E}">
        <p14:creationId xmlns:p14="http://schemas.microsoft.com/office/powerpoint/2010/main" xmlns="" val="2455893981"/>
      </p:ext>
    </p:extLst>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10095" y="0"/>
            <a:ext cx="8458200" cy="1143000"/>
          </a:xfrm>
        </p:spPr>
        <p:txBody>
          <a:bodyPr/>
          <a:lstStyle/>
          <a:p>
            <a:pPr marL="0" indent="0" eaLnBrk="1" hangingPunct="1">
              <a:buFontTx/>
              <a:buNone/>
              <a:defRPr/>
            </a:pPr>
            <a:r>
              <a:rPr lang="en-US" dirty="0" smtClean="0">
                <a:ea typeface="ヒラギノ角ゴ Pro W3" pitchFamily="-84" charset="-128"/>
              </a:rPr>
              <a:t>24-2 The Neoclassical Synthesis</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400" dirty="0" smtClean="0">
                <a:ea typeface="ヒラギノ角ゴ Pro W3" pitchFamily="-84" charset="-128"/>
              </a:rPr>
              <a:t>By the 1950s, a consensus, called the </a:t>
            </a:r>
            <a:r>
              <a:rPr lang="en-US" sz="2400" b="1" dirty="0" smtClean="0">
                <a:ea typeface="ヒラギノ角ゴ Pro W3" pitchFamily="-84" charset="-128"/>
              </a:rPr>
              <a:t>neoclassical synthesis</a:t>
            </a:r>
            <a:r>
              <a:rPr lang="en-US" sz="2400" dirty="0" smtClean="0">
                <a:ea typeface="ヒラギノ角ゴ Pro W3" pitchFamily="-84" charset="-128"/>
              </a:rPr>
              <a:t>, had emerged.</a:t>
            </a:r>
          </a:p>
          <a:p>
            <a:r>
              <a:rPr lang="en-US" sz="2400" dirty="0" smtClean="0">
                <a:ea typeface="ヒラギノ角ゴ Pro W3" pitchFamily="-84" charset="-128"/>
              </a:rPr>
              <a:t>The </a:t>
            </a:r>
            <a:r>
              <a:rPr lang="en-US" sz="2400" i="1" dirty="0" smtClean="0">
                <a:ea typeface="ヒラギノ角ゴ Pro W3" pitchFamily="-84" charset="-128"/>
              </a:rPr>
              <a:t>IS-LM</a:t>
            </a:r>
            <a:r>
              <a:rPr lang="en-US" sz="2400" dirty="0" smtClean="0">
                <a:ea typeface="ヒラギノ角ゴ Pro W3" pitchFamily="-84" charset="-128"/>
              </a:rPr>
              <a:t> model, developed earlier by John Hicks and Alvin Hansen, was used to formalize Keynes’s ideas.</a:t>
            </a:r>
          </a:p>
          <a:p>
            <a:r>
              <a:rPr lang="en-US" sz="2400" dirty="0" smtClean="0">
                <a:ea typeface="ヒラギノ角ゴ Pro W3" pitchFamily="-84" charset="-128"/>
              </a:rPr>
              <a:t>Franco Modigliani and Milton Friedman independently developed the theory of consumption (Chapter 15) that emphasizes the importance of expectations in determining current consumption decision.</a:t>
            </a:r>
          </a:p>
          <a:p>
            <a:endParaRPr lang="en-US" sz="2400" dirty="0" smtClean="0">
              <a:ea typeface="ヒラギノ角ゴ Pro W3" pitchFamily="-84" charset="-128"/>
            </a:endParaRPr>
          </a:p>
        </p:txBody>
      </p:sp>
    </p:spTree>
    <p:extLst>
      <p:ext uri="{BB962C8B-B14F-4D97-AF65-F5344CB8AC3E}">
        <p14:creationId xmlns:p14="http://schemas.microsoft.com/office/powerpoint/2010/main" xmlns="" val="1294965501"/>
      </p:ext>
    </p:extLst>
  </p:cSld>
  <p:clrMapOvr>
    <a:masterClrMapping/>
  </p:clrMapOvr>
  <p:transition>
    <p:strips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10095" y="0"/>
            <a:ext cx="8458200" cy="1143000"/>
          </a:xfrm>
        </p:spPr>
        <p:txBody>
          <a:bodyPr/>
          <a:lstStyle/>
          <a:p>
            <a:pPr marL="0" indent="0" eaLnBrk="1" hangingPunct="1">
              <a:buFontTx/>
              <a:buNone/>
              <a:defRPr/>
            </a:pPr>
            <a:r>
              <a:rPr lang="en-US" dirty="0" smtClean="0">
                <a:ea typeface="ヒラギノ角ゴ Pro W3" pitchFamily="-84" charset="-128"/>
              </a:rPr>
              <a:t>24-2 The Neoclassical Synthesis</a:t>
            </a:r>
            <a:endParaRPr lang="en-US" dirty="0">
              <a:ea typeface="ヒラギノ角ゴ Pro W3" pitchFamily="-84" charset="-128"/>
            </a:endParaRPr>
          </a:p>
        </p:txBody>
      </p:sp>
      <p:sp>
        <p:nvSpPr>
          <p:cNvPr id="7171" name="Content Placeholder 2"/>
          <p:cNvSpPr>
            <a:spLocks noGrp="1"/>
          </p:cNvSpPr>
          <p:nvPr>
            <p:ph idx="1"/>
          </p:nvPr>
        </p:nvSpPr>
        <p:spPr>
          <a:xfrm>
            <a:off x="381000" y="1447800"/>
            <a:ext cx="8305800" cy="4648200"/>
          </a:xfrm>
        </p:spPr>
        <p:txBody>
          <a:bodyPr/>
          <a:lstStyle/>
          <a:p>
            <a:r>
              <a:rPr lang="en-US" sz="2400" dirty="0" smtClean="0">
                <a:ea typeface="ヒラギノ角ゴ Pro W3" pitchFamily="-84" charset="-128"/>
              </a:rPr>
              <a:t>John Tobin developed the theory of investment (Chapter 15), which was further developed by Dale Jorgenson.</a:t>
            </a:r>
          </a:p>
          <a:p>
            <a:r>
              <a:rPr lang="en-US" sz="2400" dirty="0" smtClean="0">
                <a:ea typeface="ヒラギノ角ゴ Pro W3" pitchFamily="-84" charset="-128"/>
              </a:rPr>
              <a:t>In light of rapid growth in the 1950s and 1960s, Robert Solow developed the growth model (Chapters 11 and 12) for us to think about the determinants of growth.</a:t>
            </a:r>
          </a:p>
          <a:p>
            <a:r>
              <a:rPr lang="en-US" sz="2400" dirty="0" smtClean="0">
                <a:ea typeface="ヒラギノ角ゴ Pro W3" pitchFamily="-84" charset="-128"/>
              </a:rPr>
              <a:t>All these contributions were integrated in larger and larger </a:t>
            </a:r>
            <a:r>
              <a:rPr lang="en-US" sz="2400" dirty="0" err="1" smtClean="0">
                <a:ea typeface="ヒラギノ角ゴ Pro W3" pitchFamily="-84" charset="-128"/>
              </a:rPr>
              <a:t>macroeconometric</a:t>
            </a:r>
            <a:r>
              <a:rPr lang="en-US" sz="2400" dirty="0" smtClean="0">
                <a:ea typeface="ヒラギノ角ゴ Pro W3" pitchFamily="-84" charset="-128"/>
              </a:rPr>
              <a:t> models, the first of which (16 equations) was developed by Lawrence Klein in the early 1950s for the United States.</a:t>
            </a:r>
          </a:p>
          <a:p>
            <a:endParaRPr lang="en-US" sz="2400" dirty="0" smtClean="0">
              <a:ea typeface="ヒラギノ角ゴ Pro W3" pitchFamily="-84" charset="-128"/>
            </a:endParaRPr>
          </a:p>
        </p:txBody>
      </p:sp>
    </p:spTree>
    <p:extLst>
      <p:ext uri="{BB962C8B-B14F-4D97-AF65-F5344CB8AC3E}">
        <p14:creationId xmlns:p14="http://schemas.microsoft.com/office/powerpoint/2010/main" xmlns="" val="485332333"/>
      </p:ext>
    </p:extLst>
  </p:cSld>
  <p:clrMapOvr>
    <a:masterClrMapping/>
  </p:clrMapOvr>
  <p:transition>
    <p:strips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10095" y="0"/>
            <a:ext cx="8458200" cy="1143000"/>
          </a:xfrm>
        </p:spPr>
        <p:txBody>
          <a:bodyPr/>
          <a:lstStyle/>
          <a:p>
            <a:pPr marL="0" indent="0" eaLnBrk="1" hangingPunct="1">
              <a:buFontTx/>
              <a:buNone/>
              <a:defRPr/>
            </a:pPr>
            <a:r>
              <a:rPr lang="en-US" dirty="0" smtClean="0">
                <a:ea typeface="ヒラギノ角ゴ Pro W3" pitchFamily="-84" charset="-128"/>
              </a:rPr>
              <a:t>24-2 The Neoclassical Synthesis</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400" dirty="0" smtClean="0">
                <a:ea typeface="ヒラギノ角ゴ Pro W3" pitchFamily="-84" charset="-128"/>
              </a:rPr>
              <a:t>The most impressive effort was the construction of the MPS model developed during the 1960s as an expanded version of the </a:t>
            </a:r>
            <a:r>
              <a:rPr lang="en-US" sz="2400" i="1" dirty="0" smtClean="0">
                <a:ea typeface="ヒラギノ角ゴ Pro W3" pitchFamily="-84" charset="-128"/>
              </a:rPr>
              <a:t>IS-LM</a:t>
            </a:r>
            <a:r>
              <a:rPr lang="en-US" sz="2400" dirty="0" smtClean="0">
                <a:ea typeface="ヒラギノ角ゴ Pro W3" pitchFamily="-84" charset="-128"/>
              </a:rPr>
              <a:t> model, plus a Phillips curve mechanism.</a:t>
            </a:r>
          </a:p>
          <a:p>
            <a:r>
              <a:rPr lang="en-US" sz="2400" dirty="0" smtClean="0">
                <a:ea typeface="ヒラギノ角ゴ Pro W3" pitchFamily="-84" charset="-128"/>
              </a:rPr>
              <a:t>In the 1960s, there were heated debates between “Keynesians” and “monetarists”, centering around three issues: (1) the effectiveness of monetary versus fiscal policy, (2) the Phillips curve, and (3) the role of policy.</a:t>
            </a:r>
          </a:p>
          <a:p>
            <a:r>
              <a:rPr lang="en-US" sz="2400" dirty="0" smtClean="0">
                <a:ea typeface="ヒラギノ角ゴ Pro W3" pitchFamily="-84" charset="-128"/>
              </a:rPr>
              <a:t>Keynes’s emphasis on fiscal rather than monetary policy was challenged by the opposite view of Friedman.</a:t>
            </a:r>
          </a:p>
          <a:p>
            <a:endParaRPr lang="en-US" sz="2400" dirty="0" smtClean="0">
              <a:ea typeface="ヒラギノ角ゴ Pro W3" pitchFamily="-84" charset="-128"/>
            </a:endParaRPr>
          </a:p>
          <a:p>
            <a:endParaRPr lang="en-US" sz="2400" dirty="0" smtClean="0">
              <a:ea typeface="ヒラギノ角ゴ Pro W3" pitchFamily="-84" charset="-128"/>
            </a:endParaRPr>
          </a:p>
          <a:p>
            <a:endParaRPr lang="en-US" sz="2400" dirty="0" smtClean="0">
              <a:ea typeface="ヒラギノ角ゴ Pro W3" pitchFamily="-84" charset="-128"/>
            </a:endParaRPr>
          </a:p>
        </p:txBody>
      </p:sp>
    </p:spTree>
    <p:extLst>
      <p:ext uri="{BB962C8B-B14F-4D97-AF65-F5344CB8AC3E}">
        <p14:creationId xmlns:p14="http://schemas.microsoft.com/office/powerpoint/2010/main" xmlns="" val="1141045788"/>
      </p:ext>
    </p:extLst>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10095" y="0"/>
            <a:ext cx="8458200" cy="1143000"/>
          </a:xfrm>
        </p:spPr>
        <p:txBody>
          <a:bodyPr/>
          <a:lstStyle/>
          <a:p>
            <a:pPr marL="0" indent="0" eaLnBrk="1" hangingPunct="1">
              <a:buFontTx/>
              <a:buNone/>
              <a:defRPr/>
            </a:pPr>
            <a:r>
              <a:rPr lang="en-US" dirty="0" smtClean="0">
                <a:ea typeface="ヒラギノ角ゴ Pro W3" pitchFamily="-84" charset="-128"/>
              </a:rPr>
              <a:t>24-2 The Neoclassical Synthesis</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400" dirty="0" smtClean="0">
                <a:ea typeface="ヒラギノ角ゴ Pro W3" pitchFamily="-84" charset="-128"/>
              </a:rPr>
              <a:t>Milton Friedman and Edmund Phelps also challenged the Keynesian view of a reliable trade-off between unemployment and inflation, even in the long run.</a:t>
            </a:r>
          </a:p>
          <a:p>
            <a:r>
              <a:rPr lang="en-US" sz="2400" dirty="0" smtClean="0">
                <a:ea typeface="ヒラギノ角ゴ Pro W3" pitchFamily="-84" charset="-128"/>
              </a:rPr>
              <a:t>In contrast to the Keynesians’ call for an active role of policy, Friedman argued for the use of simple rules, such as steady money growth (Chapter 23).</a:t>
            </a:r>
          </a:p>
          <a:p>
            <a:r>
              <a:rPr lang="en-US" sz="2400" dirty="0" smtClean="0">
                <a:ea typeface="ヒラギノ角ゴ Pro W3" pitchFamily="-84" charset="-128"/>
              </a:rPr>
              <a:t>This debate on the role of macroeconomic policy has not been settled.</a:t>
            </a:r>
          </a:p>
          <a:p>
            <a:endParaRPr lang="en-US" sz="2400" dirty="0" smtClean="0">
              <a:ea typeface="ヒラギノ角ゴ Pro W3" pitchFamily="-84" charset="-128"/>
            </a:endParaRPr>
          </a:p>
        </p:txBody>
      </p:sp>
    </p:spTree>
    <p:extLst>
      <p:ext uri="{BB962C8B-B14F-4D97-AF65-F5344CB8AC3E}">
        <p14:creationId xmlns:p14="http://schemas.microsoft.com/office/powerpoint/2010/main" xmlns="" val="450709983"/>
      </p:ext>
    </p:extLst>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10095" y="0"/>
            <a:ext cx="8458200" cy="1143000"/>
          </a:xfrm>
        </p:spPr>
        <p:txBody>
          <a:bodyPr/>
          <a:lstStyle/>
          <a:p>
            <a:pPr marL="0" indent="0" eaLnBrk="1" hangingPunct="1">
              <a:buFontTx/>
              <a:buNone/>
              <a:defRPr/>
            </a:pPr>
            <a:r>
              <a:rPr lang="en-US" dirty="0" smtClean="0">
                <a:ea typeface="ヒラギノ角ゴ Pro W3" pitchFamily="-84" charset="-128"/>
              </a:rPr>
              <a:t>24-3 The Rational Expectations Critique</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400" dirty="0" smtClean="0">
                <a:ea typeface="ヒラギノ角ゴ Pro W3" pitchFamily="-84" charset="-128"/>
              </a:rPr>
              <a:t>In the early 1970s, Robert Lucas, Thomas Sargent and Robert </a:t>
            </a:r>
            <a:r>
              <a:rPr lang="en-US" sz="2400" dirty="0" err="1" smtClean="0">
                <a:ea typeface="ヒラギノ角ゴ Pro W3" pitchFamily="-84" charset="-128"/>
              </a:rPr>
              <a:t>Barro</a:t>
            </a:r>
            <a:r>
              <a:rPr lang="en-US" sz="2400" dirty="0" smtClean="0">
                <a:ea typeface="ヒラギノ角ゴ Pro W3" pitchFamily="-84" charset="-128"/>
              </a:rPr>
              <a:t> led a strong attack against mainstream macroeconomics.</a:t>
            </a:r>
          </a:p>
          <a:p>
            <a:r>
              <a:rPr lang="en-US" sz="2400" dirty="0" smtClean="0">
                <a:ea typeface="ヒラギノ角ゴ Pro W3" pitchFamily="-84" charset="-128"/>
              </a:rPr>
              <a:t>Lucas and Sargent’s main argument was based on three implications of rational expectations, all highly damaging to Keynesian macroeconomics:</a:t>
            </a:r>
          </a:p>
          <a:p>
            <a:pPr lvl="1"/>
            <a:r>
              <a:rPr lang="en-US" sz="2000" dirty="0" smtClean="0">
                <a:ea typeface="ヒラギノ角ゴ Pro W3" pitchFamily="-84" charset="-128"/>
              </a:rPr>
              <a:t>Existing macroeconomic models could not be used to design policy, known as the </a:t>
            </a:r>
            <a:r>
              <a:rPr lang="en-US" sz="2000" b="1" dirty="0" smtClean="0">
                <a:ea typeface="ヒラギノ角ゴ Pro W3" pitchFamily="-84" charset="-128"/>
              </a:rPr>
              <a:t>Lucas critique.</a:t>
            </a:r>
          </a:p>
          <a:p>
            <a:pPr lvl="1"/>
            <a:r>
              <a:rPr lang="en-US" sz="2000" dirty="0" smtClean="0">
                <a:ea typeface="ヒラギノ角ゴ Pro W3" pitchFamily="-84" charset="-128"/>
              </a:rPr>
              <a:t>With rational expectations, only </a:t>
            </a:r>
            <a:r>
              <a:rPr lang="en-US" sz="2000" i="1" dirty="0" smtClean="0">
                <a:ea typeface="ヒラギノ角ゴ Pro W3" pitchFamily="-84" charset="-128"/>
              </a:rPr>
              <a:t>unanticipated changes in money </a:t>
            </a:r>
            <a:r>
              <a:rPr lang="en-US" sz="2000" dirty="0" smtClean="0">
                <a:ea typeface="ヒラギノ角ゴ Pro W3" pitchFamily="-84" charset="-128"/>
              </a:rPr>
              <a:t>should affect output.</a:t>
            </a:r>
          </a:p>
          <a:p>
            <a:pPr lvl="1"/>
            <a:r>
              <a:rPr lang="en-US" sz="2000" dirty="0" smtClean="0">
                <a:ea typeface="ヒラギノ角ゴ Pro W3" pitchFamily="-84" charset="-128"/>
              </a:rPr>
              <a:t>Game theory, rather than optimal control in Keynesian models, was the right tool to design policy.</a:t>
            </a:r>
          </a:p>
          <a:p>
            <a:endParaRPr lang="en-US" sz="2400" dirty="0" smtClean="0">
              <a:ea typeface="ヒラギノ角ゴ Pro W3" pitchFamily="-84" charset="-128"/>
            </a:endParaRPr>
          </a:p>
          <a:p>
            <a:endParaRPr lang="en-US" sz="2400" dirty="0" smtClean="0">
              <a:ea typeface="ヒラギノ角ゴ Pro W3" pitchFamily="-84" charset="-128"/>
            </a:endParaRPr>
          </a:p>
        </p:txBody>
      </p:sp>
    </p:spTree>
    <p:extLst>
      <p:ext uri="{BB962C8B-B14F-4D97-AF65-F5344CB8AC3E}">
        <p14:creationId xmlns:p14="http://schemas.microsoft.com/office/powerpoint/2010/main" xmlns="" val="3027043431"/>
      </p:ext>
    </p:extLst>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10095" y="0"/>
            <a:ext cx="8458200" cy="1143000"/>
          </a:xfrm>
        </p:spPr>
        <p:txBody>
          <a:bodyPr/>
          <a:lstStyle/>
          <a:p>
            <a:pPr marL="0" indent="0" eaLnBrk="1" hangingPunct="1">
              <a:buFontTx/>
              <a:buNone/>
              <a:defRPr/>
            </a:pPr>
            <a:r>
              <a:rPr lang="en-US" dirty="0">
                <a:ea typeface="ヒラギノ角ゴ Pro W3" pitchFamily="-84" charset="-128"/>
              </a:rPr>
              <a:t>24-3 The Rational Expectations Critique</a:t>
            </a:r>
          </a:p>
        </p:txBody>
      </p:sp>
      <p:sp>
        <p:nvSpPr>
          <p:cNvPr id="7171" name="Content Placeholder 2"/>
          <p:cNvSpPr>
            <a:spLocks noGrp="1"/>
          </p:cNvSpPr>
          <p:nvPr>
            <p:ph idx="1"/>
          </p:nvPr>
        </p:nvSpPr>
        <p:spPr/>
        <p:txBody>
          <a:bodyPr/>
          <a:lstStyle/>
          <a:p>
            <a:r>
              <a:rPr lang="en-US" sz="2200" dirty="0" smtClean="0">
                <a:ea typeface="ヒラギノ角ゴ Pro W3" pitchFamily="-84" charset="-128"/>
              </a:rPr>
              <a:t>The role of rational expectations has been integrated in different markets:</a:t>
            </a:r>
          </a:p>
          <a:p>
            <a:pPr lvl="1"/>
            <a:r>
              <a:rPr lang="en-US" sz="1800" dirty="0" smtClean="0">
                <a:ea typeface="ヒラギノ角ゴ Pro W3" pitchFamily="-84" charset="-128"/>
              </a:rPr>
              <a:t>Robert Hall showed that if consumers are foresighted, then consumption behavior became </a:t>
            </a:r>
            <a:r>
              <a:rPr lang="en-US" sz="1800" b="1" dirty="0" smtClean="0">
                <a:ea typeface="ヒラギノ角ゴ Pro W3" pitchFamily="-84" charset="-128"/>
              </a:rPr>
              <a:t>random walk</a:t>
            </a:r>
            <a:r>
              <a:rPr lang="en-US" sz="1800" dirty="0" smtClean="0">
                <a:ea typeface="ヒラギノ角ゴ Pro W3" pitchFamily="-84" charset="-128"/>
              </a:rPr>
              <a:t>, which is unpredictable.</a:t>
            </a:r>
          </a:p>
          <a:p>
            <a:pPr lvl="1"/>
            <a:r>
              <a:rPr lang="en-US" sz="1800" dirty="0" err="1" smtClean="0">
                <a:ea typeface="ヒラギノ角ゴ Pro W3" pitchFamily="-84" charset="-128"/>
              </a:rPr>
              <a:t>Rudiger</a:t>
            </a:r>
            <a:r>
              <a:rPr lang="en-US" sz="1800" dirty="0" smtClean="0">
                <a:ea typeface="ヒラギノ角ゴ Pro W3" pitchFamily="-84" charset="-128"/>
              </a:rPr>
              <a:t> </a:t>
            </a:r>
            <a:r>
              <a:rPr lang="en-US" sz="1800" dirty="0" err="1" smtClean="0">
                <a:ea typeface="ヒラギノ角ゴ Pro W3" pitchFamily="-84" charset="-128"/>
              </a:rPr>
              <a:t>Dornbusch</a:t>
            </a:r>
            <a:r>
              <a:rPr lang="en-US" sz="1800" dirty="0" smtClean="0">
                <a:ea typeface="ヒラギノ角ゴ Pro W3" pitchFamily="-84" charset="-128"/>
              </a:rPr>
              <a:t> showed that the large swings in exchange rates under flexible exchange rates were fully consistent with rationality rather than the result of speculation by irrational investors</a:t>
            </a:r>
          </a:p>
          <a:p>
            <a:pPr lvl="1"/>
            <a:r>
              <a:rPr lang="en-US" sz="1800" dirty="0" smtClean="0">
                <a:ea typeface="ヒラギノ角ゴ Pro W3" pitchFamily="-84" charset="-128"/>
              </a:rPr>
              <a:t>Stanley Fischer and John Taylor showed that, due to staggering of wage and price decisions, the adjustment of prices and wages in response to changes in unemployment can be slow even under rational expectations.</a:t>
            </a:r>
          </a:p>
          <a:p>
            <a:r>
              <a:rPr lang="en-US" sz="2200" dirty="0" smtClean="0">
                <a:ea typeface="ヒラギノ角ゴ Pro W3" pitchFamily="-84" charset="-128"/>
              </a:rPr>
              <a:t>By the end of the 1980s, the rational-expectations critique had led to an overhaul of macroeconomics.</a:t>
            </a:r>
          </a:p>
          <a:p>
            <a:endParaRPr lang="en-US" sz="2400" dirty="0" smtClean="0">
              <a:ea typeface="ヒラギノ角ゴ Pro W3" pitchFamily="-84" charset="-128"/>
            </a:endParaRPr>
          </a:p>
        </p:txBody>
      </p:sp>
    </p:spTree>
    <p:extLst>
      <p:ext uri="{BB962C8B-B14F-4D97-AF65-F5344CB8AC3E}">
        <p14:creationId xmlns:p14="http://schemas.microsoft.com/office/powerpoint/2010/main" xmlns="" val="993090894"/>
      </p:ext>
    </p:extLst>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10095" y="0"/>
            <a:ext cx="8458200" cy="1143000"/>
          </a:xfrm>
        </p:spPr>
        <p:txBody>
          <a:bodyPr/>
          <a:lstStyle/>
          <a:p>
            <a:pPr marL="0" indent="0" eaLnBrk="1" hangingPunct="1">
              <a:buFontTx/>
              <a:buNone/>
              <a:defRPr/>
            </a:pPr>
            <a:r>
              <a:rPr lang="en-US" sz="2800" dirty="0">
                <a:ea typeface="ヒラギノ角ゴ Pro W3" pitchFamily="-84" charset="-128"/>
              </a:rPr>
              <a:t>24-4 Developments in Macroeconomics up to the 2009 Crisis</a:t>
            </a:r>
          </a:p>
        </p:txBody>
      </p:sp>
      <p:sp>
        <p:nvSpPr>
          <p:cNvPr id="7171" name="Content Placeholder 2"/>
          <p:cNvSpPr>
            <a:spLocks noGrp="1"/>
          </p:cNvSpPr>
          <p:nvPr>
            <p:ph idx="1"/>
          </p:nvPr>
        </p:nvSpPr>
        <p:spPr/>
        <p:txBody>
          <a:bodyPr/>
          <a:lstStyle/>
          <a:p>
            <a:r>
              <a:rPr lang="en-US" sz="2400" dirty="0" smtClean="0">
                <a:ea typeface="ヒラギノ角ゴ Pro W3" pitchFamily="-84" charset="-128"/>
              </a:rPr>
              <a:t>From the late 1980s to the crisis, the </a:t>
            </a:r>
            <a:r>
              <a:rPr lang="en-US" sz="2400" b="1" dirty="0" smtClean="0">
                <a:ea typeface="ヒラギノ角ゴ Pro W3" pitchFamily="-84" charset="-128"/>
              </a:rPr>
              <a:t>new </a:t>
            </a:r>
            <a:r>
              <a:rPr lang="en-US" sz="2400" b="1" dirty="0" err="1" smtClean="0">
                <a:ea typeface="ヒラギノ角ゴ Pro W3" pitchFamily="-84" charset="-128"/>
              </a:rPr>
              <a:t>classicals</a:t>
            </a:r>
            <a:r>
              <a:rPr lang="en-US" sz="2400" b="1" dirty="0" smtClean="0">
                <a:ea typeface="ヒラギノ角ゴ Pro W3" pitchFamily="-84" charset="-128"/>
              </a:rPr>
              <a:t> </a:t>
            </a:r>
            <a:r>
              <a:rPr lang="en-US" sz="2400" dirty="0" smtClean="0">
                <a:ea typeface="ヒラギノ角ゴ Pro W3" pitchFamily="-84" charset="-128"/>
              </a:rPr>
              <a:t>developed </a:t>
            </a:r>
            <a:r>
              <a:rPr lang="en-US" sz="2400" b="1" dirty="0" smtClean="0">
                <a:ea typeface="ヒラギノ角ゴ Pro W3" pitchFamily="-84" charset="-128"/>
              </a:rPr>
              <a:t>the real business cycle (RBC)models</a:t>
            </a:r>
            <a:r>
              <a:rPr lang="en-US" sz="2400" dirty="0" smtClean="0">
                <a:ea typeface="ヒラギノ角ゴ Pro W3" pitchFamily="-84" charset="-128"/>
              </a:rPr>
              <a:t> based on two premises:</a:t>
            </a:r>
          </a:p>
          <a:p>
            <a:pPr lvl="1"/>
            <a:r>
              <a:rPr lang="en-US" sz="2000" dirty="0" smtClean="0">
                <a:ea typeface="ヒラギノ角ゴ Pro W3" pitchFamily="-84" charset="-128"/>
              </a:rPr>
              <a:t>Macroeconomic models should be constructed from explicit </a:t>
            </a:r>
            <a:r>
              <a:rPr lang="en-US" sz="2000" dirty="0" err="1" smtClean="0">
                <a:ea typeface="ヒラギノ角ゴ Pro W3" pitchFamily="-84" charset="-128"/>
              </a:rPr>
              <a:t>microfoundations</a:t>
            </a:r>
            <a:r>
              <a:rPr lang="en-US" sz="2000" dirty="0" smtClean="0">
                <a:ea typeface="ヒラギノ角ゴ Pro W3" pitchFamily="-84" charset="-128"/>
              </a:rPr>
              <a:t>.</a:t>
            </a:r>
          </a:p>
          <a:p>
            <a:pPr lvl="1"/>
            <a:r>
              <a:rPr lang="en-US" sz="2000" dirty="0" smtClean="0">
                <a:ea typeface="ヒラギノ角ゴ Pro W3" pitchFamily="-84" charset="-128"/>
              </a:rPr>
              <a:t>Most fluctuations until the 1970s were the results of imperfections, of deviations of actual output from a slowly moving potential level of output.</a:t>
            </a:r>
          </a:p>
          <a:p>
            <a:endParaRPr lang="en-US" sz="2400" dirty="0" smtClean="0">
              <a:ea typeface="ヒラギノ角ゴ Pro W3" pitchFamily="-84" charset="-128"/>
            </a:endParaRPr>
          </a:p>
          <a:p>
            <a:endParaRPr lang="en-US" sz="2400" dirty="0" smtClean="0">
              <a:ea typeface="ヒラギノ角ゴ Pro W3" pitchFamily="-84" charset="-128"/>
            </a:endParaRPr>
          </a:p>
          <a:p>
            <a:endParaRPr lang="en-US" sz="2400" dirty="0" smtClean="0">
              <a:ea typeface="ヒラギノ角ゴ Pro W3" pitchFamily="-84" charset="-128"/>
            </a:endParaRPr>
          </a:p>
        </p:txBody>
      </p:sp>
    </p:spTree>
    <p:extLst>
      <p:ext uri="{BB962C8B-B14F-4D97-AF65-F5344CB8AC3E}">
        <p14:creationId xmlns:p14="http://schemas.microsoft.com/office/powerpoint/2010/main" xmlns="" val="3178493239"/>
      </p:ext>
    </p:extLst>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10095" y="0"/>
            <a:ext cx="8458200" cy="1143000"/>
          </a:xfrm>
        </p:spPr>
        <p:txBody>
          <a:bodyPr/>
          <a:lstStyle/>
          <a:p>
            <a:pPr marL="0" indent="0" eaLnBrk="1" hangingPunct="1">
              <a:buFontTx/>
              <a:buNone/>
              <a:defRPr/>
            </a:pPr>
            <a:r>
              <a:rPr lang="en-US" sz="2800" dirty="0">
                <a:ea typeface="ヒラギノ角ゴ Pro W3" pitchFamily="-84" charset="-128"/>
              </a:rPr>
              <a:t>24-4 Developments in Macroeconomics up to the 2009 Crisis</a:t>
            </a:r>
          </a:p>
        </p:txBody>
      </p:sp>
      <p:sp>
        <p:nvSpPr>
          <p:cNvPr id="7171" name="Content Placeholder 2"/>
          <p:cNvSpPr>
            <a:spLocks noGrp="1"/>
          </p:cNvSpPr>
          <p:nvPr>
            <p:ph idx="1"/>
          </p:nvPr>
        </p:nvSpPr>
        <p:spPr/>
        <p:txBody>
          <a:bodyPr/>
          <a:lstStyle/>
          <a:p>
            <a:r>
              <a:rPr lang="en-US" sz="2200" b="1" dirty="0" smtClean="0">
                <a:ea typeface="ヒラギノ角ゴ Pro W3" pitchFamily="-84" charset="-128"/>
              </a:rPr>
              <a:t>New Keynesians </a:t>
            </a:r>
            <a:r>
              <a:rPr lang="en-US" sz="2200" dirty="0" smtClean="0">
                <a:ea typeface="ヒラギノ角ゴ Pro W3" pitchFamily="-84" charset="-128"/>
              </a:rPr>
              <a:t>recognized rational expectations, but believed that much remained to be learned about the nature of market imperfections and their implications for macroeconomic fluctuations.</a:t>
            </a:r>
          </a:p>
          <a:p>
            <a:r>
              <a:rPr lang="en-US" sz="2200" dirty="0" smtClean="0">
                <a:ea typeface="ヒラギノ角ゴ Pro W3" pitchFamily="-84" charset="-128"/>
              </a:rPr>
              <a:t>Their work included studying the nature and implications of </a:t>
            </a:r>
            <a:r>
              <a:rPr lang="en-US" sz="2200" b="1" dirty="0" smtClean="0">
                <a:ea typeface="ヒラギノ角ゴ Pro W3" pitchFamily="-84" charset="-128"/>
              </a:rPr>
              <a:t>nominal rigidities</a:t>
            </a:r>
            <a:r>
              <a:rPr lang="en-US" sz="2200" dirty="0" smtClean="0">
                <a:ea typeface="ヒラギノ角ゴ Pro W3" pitchFamily="-84" charset="-128"/>
              </a:rPr>
              <a:t>, and the </a:t>
            </a:r>
            <a:r>
              <a:rPr lang="en-US" sz="2200" b="1" dirty="0" smtClean="0">
                <a:ea typeface="ヒラギノ角ゴ Pro W3" pitchFamily="-84" charset="-128"/>
              </a:rPr>
              <a:t>menu cost</a:t>
            </a:r>
            <a:r>
              <a:rPr lang="en-US" sz="2200" dirty="0" smtClean="0">
                <a:ea typeface="ヒラギノ角ゴ Pro W3" pitchFamily="-84" charset="-128"/>
              </a:rPr>
              <a:t>, and </a:t>
            </a:r>
            <a:r>
              <a:rPr lang="en-US" sz="2200" b="1" dirty="0" smtClean="0">
                <a:ea typeface="ヒラギノ角ゴ Pro W3" pitchFamily="-84" charset="-128"/>
              </a:rPr>
              <a:t>efficiency wages</a:t>
            </a:r>
            <a:r>
              <a:rPr lang="en-US" sz="2200" dirty="0" smtClean="0">
                <a:ea typeface="ヒラギノ角ゴ Pro W3" pitchFamily="-84" charset="-128"/>
              </a:rPr>
              <a:t>.</a:t>
            </a:r>
            <a:r>
              <a:rPr lang="en-US" sz="2200" dirty="0">
                <a:ea typeface="ヒラギノ角ゴ Pro W3" pitchFamily="-84" charset="-128"/>
              </a:rPr>
              <a:t> </a:t>
            </a:r>
            <a:endParaRPr lang="en-US" sz="2200" dirty="0" smtClean="0">
              <a:ea typeface="ヒラギノ角ゴ Pro W3" pitchFamily="-84" charset="-128"/>
            </a:endParaRPr>
          </a:p>
          <a:p>
            <a:r>
              <a:rPr lang="en-US" sz="2200" dirty="0" smtClean="0">
                <a:ea typeface="ヒラギノ角ゴ Pro W3" pitchFamily="-84" charset="-128"/>
              </a:rPr>
              <a:t>Michael Woodford and </a:t>
            </a:r>
            <a:r>
              <a:rPr lang="en-US" sz="2200" dirty="0">
                <a:ea typeface="ヒラギノ角ゴ Pro W3" pitchFamily="-84" charset="-128"/>
              </a:rPr>
              <a:t>Jordi </a:t>
            </a:r>
            <a:r>
              <a:rPr lang="en-US" sz="2200" dirty="0" err="1">
                <a:ea typeface="ヒラギノ角ゴ Pro W3" pitchFamily="-84" charset="-128"/>
              </a:rPr>
              <a:t>Gali</a:t>
            </a:r>
            <a:r>
              <a:rPr lang="en-US" sz="2200" dirty="0">
                <a:ea typeface="ヒラギノ角ゴ Pro W3" pitchFamily="-84" charset="-128"/>
              </a:rPr>
              <a:t> </a:t>
            </a:r>
            <a:r>
              <a:rPr lang="en-US" sz="2200" dirty="0" smtClean="0">
                <a:ea typeface="ヒラギノ角ゴ Pro W3" pitchFamily="-84" charset="-128"/>
              </a:rPr>
              <a:t>built </a:t>
            </a:r>
            <a:r>
              <a:rPr lang="en-US" sz="2200" dirty="0">
                <a:ea typeface="ヒラギノ角ゴ Pro W3" pitchFamily="-84" charset="-128"/>
              </a:rPr>
              <a:t>the </a:t>
            </a:r>
            <a:r>
              <a:rPr lang="en-US" sz="2200" i="1" dirty="0">
                <a:ea typeface="ヒラギノ角ゴ Pro W3" pitchFamily="-84" charset="-128"/>
              </a:rPr>
              <a:t>new Keynesian model</a:t>
            </a:r>
            <a:r>
              <a:rPr lang="en-US" sz="2200" dirty="0">
                <a:ea typeface="ヒラギノ角ゴ Pro W3" pitchFamily="-84" charset="-128"/>
              </a:rPr>
              <a:t> that embodies utility and profit maximization, rational expectations, and nominal rigidities</a:t>
            </a:r>
            <a:r>
              <a:rPr lang="en-US" sz="2200" dirty="0" smtClean="0">
                <a:ea typeface="ヒラギノ角ゴ Pro W3" pitchFamily="-84" charset="-128"/>
              </a:rPr>
              <a:t>.</a:t>
            </a:r>
          </a:p>
          <a:p>
            <a:r>
              <a:rPr lang="en-US" sz="2200" dirty="0" smtClean="0">
                <a:ea typeface="ヒラギノ角ゴ Pro W3" pitchFamily="-84" charset="-128"/>
              </a:rPr>
              <a:t>Since the late 1980s, contributions to growth theory went under the name of </a:t>
            </a:r>
            <a:r>
              <a:rPr lang="en-US" sz="2200" b="1" dirty="0" smtClean="0">
                <a:ea typeface="ヒラギノ角ゴ Pro W3" pitchFamily="-84" charset="-128"/>
              </a:rPr>
              <a:t>new growth theory</a:t>
            </a:r>
            <a:r>
              <a:rPr lang="en-US" sz="2200" dirty="0" smtClean="0">
                <a:ea typeface="ヒラギノ角ゴ Pro W3" pitchFamily="-84" charset="-128"/>
              </a:rPr>
              <a:t>, led by Robert Lucas and Paul </a:t>
            </a:r>
            <a:r>
              <a:rPr lang="en-US" sz="2200" dirty="0" err="1" smtClean="0">
                <a:ea typeface="ヒラギノ角ゴ Pro W3" pitchFamily="-84" charset="-128"/>
              </a:rPr>
              <a:t>Romer</a:t>
            </a:r>
            <a:r>
              <a:rPr lang="en-US" sz="2200" dirty="0" smtClean="0">
                <a:ea typeface="ヒラギノ角ゴ Pro W3" pitchFamily="-84" charset="-128"/>
              </a:rPr>
              <a:t>.</a:t>
            </a:r>
          </a:p>
          <a:p>
            <a:endParaRPr lang="en-US" sz="2200" dirty="0" smtClean="0">
              <a:ea typeface="ヒラギノ角ゴ Pro W3" pitchFamily="-84" charset="-128"/>
            </a:endParaRPr>
          </a:p>
          <a:p>
            <a:endParaRPr lang="en-US" sz="2200" dirty="0" smtClean="0">
              <a:ea typeface="ヒラギノ角ゴ Pro W3" pitchFamily="-84" charset="-128"/>
            </a:endParaRPr>
          </a:p>
          <a:p>
            <a:endParaRPr lang="en-US" sz="2200" dirty="0" smtClean="0">
              <a:ea typeface="ヒラギノ角ゴ Pro W3" pitchFamily="-84" charset="-128"/>
            </a:endParaRPr>
          </a:p>
        </p:txBody>
      </p:sp>
    </p:spTree>
    <p:extLst>
      <p:ext uri="{BB962C8B-B14F-4D97-AF65-F5344CB8AC3E}">
        <p14:creationId xmlns:p14="http://schemas.microsoft.com/office/powerpoint/2010/main" xmlns="" val="2444551546"/>
      </p:ext>
    </p:extLst>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10095" y="0"/>
            <a:ext cx="8458200" cy="1143000"/>
          </a:xfrm>
        </p:spPr>
        <p:txBody>
          <a:bodyPr/>
          <a:lstStyle/>
          <a:p>
            <a:pPr marL="0" indent="0" eaLnBrk="1" hangingPunct="1">
              <a:buFontTx/>
              <a:buNone/>
              <a:defRPr/>
            </a:pPr>
            <a:r>
              <a:rPr lang="en-US" sz="2800" dirty="0" smtClean="0">
                <a:ea typeface="ヒラギノ角ゴ Pro W3" pitchFamily="-84" charset="-128"/>
              </a:rPr>
              <a:t>24-5 First Lessons for Macroeconomics after the Crisis</a:t>
            </a:r>
            <a:endParaRPr lang="en-US" sz="2800" dirty="0">
              <a:ea typeface="ヒラギノ角ゴ Pro W3" pitchFamily="-84" charset="-128"/>
            </a:endParaRPr>
          </a:p>
        </p:txBody>
      </p:sp>
      <p:sp>
        <p:nvSpPr>
          <p:cNvPr id="7171" name="Content Placeholder 2"/>
          <p:cNvSpPr>
            <a:spLocks noGrp="1"/>
          </p:cNvSpPr>
          <p:nvPr>
            <p:ph idx="1"/>
          </p:nvPr>
        </p:nvSpPr>
        <p:spPr/>
        <p:txBody>
          <a:bodyPr/>
          <a:lstStyle/>
          <a:p>
            <a:r>
              <a:rPr lang="en-US" sz="2400" dirty="0" smtClean="0">
                <a:ea typeface="ヒラギノ角ゴ Pro W3" pitchFamily="-84" charset="-128"/>
              </a:rPr>
              <a:t>The crisis reflects a major failure of macroeconomics to realize that a relatively small shock like the decrease in U.S. housing prices, could lead to a major financial and macroeconomic global crisis.</a:t>
            </a:r>
          </a:p>
          <a:p>
            <a:r>
              <a:rPr lang="en-US" sz="2400" dirty="0" smtClean="0">
                <a:ea typeface="ヒラギノ角ゴ Pro W3" pitchFamily="-84" charset="-128"/>
              </a:rPr>
              <a:t>Much of the work to understand the crisis was carried out outside macroeconomics, in the fields of finance or corporate finance.</a:t>
            </a:r>
          </a:p>
          <a:p>
            <a:r>
              <a:rPr lang="en-US" sz="2400" dirty="0" smtClean="0">
                <a:ea typeface="ヒラギノ角ゴ Pro W3" pitchFamily="-84" charset="-128"/>
              </a:rPr>
              <a:t>Researchers have turned their attention to the financial system, the nature of macro financial linkages, and integration of those pieces into large macroeconomic models.</a:t>
            </a:r>
          </a:p>
          <a:p>
            <a:endParaRPr lang="en-US" sz="2400" dirty="0" smtClean="0">
              <a:ea typeface="ヒラギノ角ゴ Pro W3" pitchFamily="-84" charset="-128"/>
            </a:endParaRPr>
          </a:p>
        </p:txBody>
      </p:sp>
    </p:spTree>
    <p:extLst>
      <p:ext uri="{BB962C8B-B14F-4D97-AF65-F5344CB8AC3E}">
        <p14:creationId xmlns:p14="http://schemas.microsoft.com/office/powerpoint/2010/main" xmlns="" val="160084294"/>
      </p:ext>
    </p:extLst>
  </p:cSld>
  <p:clrMapOvr>
    <a:masterClrMapping/>
  </p:clrMapOvr>
  <p:transition>
    <p:strips dir="ld"/>
  </p:transition>
</p:sld>
</file>

<file path=ppt/theme/theme1.xml><?xml version="1.0" encoding="utf-8"?>
<a:theme xmlns:a="http://schemas.openxmlformats.org/drawingml/2006/main" name="template_LN01Brooks671956_02_LN01">
  <a:themeElements>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earson_PowerPoint_Template_Bekaer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earson_PowerPoint_Template_Bekaer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earson_PowerPoint_Template_Bekaer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earson_PowerPoint_Template_Bekaer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earson_PowerPoint_Template_Bekaer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earson_PowerPoint_Template_Bekaer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earson_PowerPoint_Template_Bekaert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earson_PowerPoint_Template_Bekaer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earson_PowerPoint_Template_Bekaer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earson_PowerPoint_Template_Bekaer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earson_PowerPoint_Template_Bekaer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earson_PowerPoint_Template_Bekaer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LN01Folland832739_07_LN01.pot</Template>
  <TotalTime>6229</TotalTime>
  <Words>1001</Words>
  <Application>Microsoft Office PowerPoint</Application>
  <PresentationFormat>On-screen Show (4:3)</PresentationFormat>
  <Paragraphs>69</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template_LN01Brooks671956_02_LN01</vt:lpstr>
      <vt:lpstr>Epilogue: The Story of Macroeconomics</vt:lpstr>
      <vt:lpstr>Chapter 24 Outline</vt:lpstr>
      <vt:lpstr>Epilogue: The Story of Macroeconomics</vt:lpstr>
      <vt:lpstr>24-1 Keynes and the Great Depression</vt:lpstr>
      <vt:lpstr>24-1 Keynes and the Great Depression</vt:lpstr>
      <vt:lpstr>24-2 The Neoclassical Synthesis</vt:lpstr>
      <vt:lpstr>24-2 The Neoclassical Synthesis</vt:lpstr>
      <vt:lpstr>24-2 The Neoclassical Synthesis</vt:lpstr>
      <vt:lpstr>24-2 The Neoclassical Synthesis</vt:lpstr>
      <vt:lpstr>24-3 The Rational Expectations Critique</vt:lpstr>
      <vt:lpstr>24-3 The Rational Expectations Critique</vt:lpstr>
      <vt:lpstr>24-4 Developments in Macroeconomics up to the 2009 Crisis</vt:lpstr>
      <vt:lpstr>24-4 Developments in Macroeconomics up to the 2009 Crisis</vt:lpstr>
      <vt:lpstr>24-5 First Lessons for Macroeconomics after the Crisis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Oliver Blanchard</dc:creator>
  <cp:lastModifiedBy>utiwavi</cp:lastModifiedBy>
  <cp:revision>313</cp:revision>
  <dcterms:created xsi:type="dcterms:W3CDTF">2012-08-09T20:37:31Z</dcterms:created>
  <dcterms:modified xsi:type="dcterms:W3CDTF">2016-09-15T11:01:00Z</dcterms:modified>
</cp:coreProperties>
</file>