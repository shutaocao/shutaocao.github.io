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6"/>
  </p:notesMasterIdLst>
  <p:sldIdLst>
    <p:sldId id="256" r:id="rId2"/>
    <p:sldId id="269" r:id="rId3"/>
    <p:sldId id="268" r:id="rId4"/>
    <p:sldId id="270" r:id="rId5"/>
    <p:sldId id="331" r:id="rId6"/>
    <p:sldId id="299" r:id="rId7"/>
    <p:sldId id="300" r:id="rId8"/>
    <p:sldId id="311" r:id="rId9"/>
    <p:sldId id="310" r:id="rId10"/>
    <p:sldId id="301" r:id="rId11"/>
    <p:sldId id="312" r:id="rId12"/>
    <p:sldId id="295" r:id="rId13"/>
    <p:sldId id="314" r:id="rId14"/>
    <p:sldId id="303" r:id="rId15"/>
    <p:sldId id="315" r:id="rId16"/>
    <p:sldId id="316" r:id="rId17"/>
    <p:sldId id="317" r:id="rId18"/>
    <p:sldId id="332" r:id="rId19"/>
    <p:sldId id="318" r:id="rId20"/>
    <p:sldId id="305" r:id="rId21"/>
    <p:sldId id="306" r:id="rId22"/>
    <p:sldId id="319" r:id="rId23"/>
    <p:sldId id="320" r:id="rId24"/>
    <p:sldId id="321" r:id="rId25"/>
    <p:sldId id="322" r:id="rId26"/>
    <p:sldId id="307" r:id="rId27"/>
    <p:sldId id="308" r:id="rId28"/>
    <p:sldId id="333" r:id="rId29"/>
    <p:sldId id="325" r:id="rId30"/>
    <p:sldId id="326" r:id="rId31"/>
    <p:sldId id="327" r:id="rId32"/>
    <p:sldId id="328" r:id="rId33"/>
    <p:sldId id="329" r:id="rId34"/>
    <p:sldId id="330" r:id="rId3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ヒラギノ角ゴ Pro W3" pitchFamily="-8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599D"/>
    <a:srgbClr val="BBE5FB"/>
    <a:srgbClr val="BFDC42"/>
    <a:srgbClr val="D8F2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7" autoAdjust="0"/>
    <p:restoredTop sz="94686"/>
  </p:normalViewPr>
  <p:slideViewPr>
    <p:cSldViewPr>
      <p:cViewPr varScale="1">
        <p:scale>
          <a:sx n="68" d="100"/>
          <a:sy n="68" d="100"/>
        </p:scale>
        <p:origin x="-151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01F4AC9-2AE1-4E06-93C4-CFBCCABCD8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00985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ヒラギノ角ゴ Pro W3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ヒラギノ角ゴ Pro W3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BBE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599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Verdana" panose="020B0604030504040204" pitchFamily="34" charset="0"/>
            </a:endParaRPr>
          </a:p>
        </p:txBody>
      </p:sp>
      <p:pic>
        <p:nvPicPr>
          <p:cNvPr id="3" name="Picture 3" descr="Pearson_Bound_Whit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38" y="6356350"/>
            <a:ext cx="1655762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Pearson_Strap_Bound_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9081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5205590" cy="6400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1202054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9166009"/>
      </p:ext>
    </p:extLst>
  </p:cSld>
  <p:clrMapOvr>
    <a:masterClrMapping/>
  </p:clrMapOvr>
  <p:transition>
    <p:strips dir="l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1986612702"/>
      </p:ext>
    </p:extLst>
  </p:cSld>
  <p:clrMapOvr>
    <a:masterClrMapping/>
  </p:clrMapOvr>
  <p:transition>
    <p:strips dir="l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1148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94893246"/>
      </p:ext>
    </p:extLst>
  </p:cSld>
  <p:clrMapOvr>
    <a:masterClrMapping/>
  </p:clrMapOvr>
  <p:transition>
    <p:strips dir="l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39401384"/>
      </p:ext>
    </p:extLst>
  </p:cSld>
  <p:clrMapOvr>
    <a:masterClrMapping/>
  </p:clrMapOvr>
  <p:transition>
    <p:strips dir="l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79030345"/>
      </p:ext>
    </p:extLst>
  </p:cSld>
  <p:clrMapOvr>
    <a:masterClrMapping/>
  </p:clrMapOvr>
  <p:transition>
    <p:strips dir="l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9255432"/>
      </p:ext>
    </p:extLst>
  </p:cSld>
  <p:clrMapOvr>
    <a:masterClrMapping/>
  </p:clrMapOvr>
  <p:transition>
    <p:strips dir="l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670726905"/>
      </p:ext>
    </p:extLst>
  </p:cSld>
  <p:clrMapOvr>
    <a:masterClrMapping/>
  </p:clrMapOvr>
  <p:transition>
    <p:strips dir="l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2525896154"/>
      </p:ext>
    </p:extLst>
  </p:cSld>
  <p:clrMapOvr>
    <a:masterClrMapping/>
  </p:clrMapOvr>
  <p:transition>
    <p:strips dir="l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71355112"/>
      </p:ext>
    </p:extLst>
  </p:cSld>
  <p:clrMapOvr>
    <a:masterClrMapping/>
  </p:clrMapOvr>
  <p:transition>
    <p:strips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0"/>
            <a:ext cx="21145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1912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53717407"/>
      </p:ext>
    </p:extLst>
  </p:cSld>
  <p:clrMapOvr>
    <a:masterClrMapping/>
  </p:clrMapOvr>
  <p:transition>
    <p:strips dir="l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fld id="{A651AFC1-1DFB-4D3E-BDC8-A6429C753715}" type="datetime1">
              <a:rPr lang="en-US"/>
              <a:pPr>
                <a:defRPr/>
              </a:pPr>
              <a:t>9/15/2016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itchFamily="-65" charset="0"/>
                <a:ea typeface="ヒラギノ角ゴ Pro W3" pitchFamily="-65" charset="-128"/>
              </a:defRPr>
            </a:lvl1pPr>
          </a:lstStyle>
          <a:p>
            <a:pPr>
              <a:defRPr/>
            </a:pPr>
            <a:r>
              <a:rPr lang="en-US"/>
              <a:t>Copyright © 2013 Pearson Education, Inc.</a:t>
            </a:r>
          </a:p>
          <a:p>
            <a:pPr>
              <a:defRPr/>
            </a:pPr>
            <a:r>
              <a:rPr lang="en-US"/>
              <a:t>Publishing as Prentice Hall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F4EEE054-62AF-442C-BC22-335E1447BF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6038228"/>
      </p:ext>
    </p:extLst>
  </p:cSld>
  <p:clrMapOvr>
    <a:masterClrMapping/>
  </p:clrMapOvr>
  <p:transition>
    <p:strips dir="ld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gray">
          <a:xfrm>
            <a:off x="0" y="6397625"/>
            <a:ext cx="9144000" cy="457200"/>
          </a:xfrm>
          <a:prstGeom prst="rect">
            <a:avLst/>
          </a:prstGeom>
          <a:solidFill>
            <a:srgbClr val="0060A7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0"/>
            <a:ext cx="8458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gray">
          <a:xfrm>
            <a:off x="381000" y="6577013"/>
            <a:ext cx="53990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US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Copyright ©2017 Pearson Education, Ltd. All rights reserved.</a:t>
            </a:r>
            <a:endParaRPr lang="en-GB" sz="900" dirty="0" smtClean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029" name="Rectangle 7"/>
          <p:cNvSpPr>
            <a:spLocks noChangeArrowheads="1"/>
          </p:cNvSpPr>
          <p:nvPr/>
        </p:nvSpPr>
        <p:spPr bwMode="gray">
          <a:xfrm>
            <a:off x="8402638" y="6577013"/>
            <a:ext cx="3603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ヒラギノ角ゴ Pro W3" pitchFamily="-84" charset="-128"/>
              </a:defRPr>
            </a:lvl9pPr>
          </a:lstStyle>
          <a:p>
            <a:pPr>
              <a:defRPr/>
            </a:pPr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3-</a:t>
            </a:r>
            <a:fld id="{91A3651E-75FC-45B4-8B4D-C0DEE957564B}" type="slidenum">
              <a:rPr lang="en-GB" sz="900" smtClean="0">
                <a:solidFill>
                  <a:schemeClr val="bg1"/>
                </a:solidFill>
                <a:latin typeface="Verdana" panose="020B0604030504040204" pitchFamily="34" charset="0"/>
              </a:rPr>
              <a:pPr>
                <a:defRPr/>
              </a:pPr>
              <a:t>‹#›</a:t>
            </a:fld>
            <a:r>
              <a:rPr lang="en-GB" sz="900" dirty="0" smtClean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71" r:id="rId2"/>
    <p:sldLayoutId id="2147484072" r:id="rId3"/>
    <p:sldLayoutId id="2147484073" r:id="rId4"/>
    <p:sldLayoutId id="2147484074" r:id="rId5"/>
    <p:sldLayoutId id="2147484075" r:id="rId6"/>
    <p:sldLayoutId id="2147484076" r:id="rId7"/>
    <p:sldLayoutId id="2147484077" r:id="rId8"/>
    <p:sldLayoutId id="2147484078" r:id="rId9"/>
    <p:sldLayoutId id="2147484079" r:id="rId10"/>
    <p:sldLayoutId id="2147484080" r:id="rId11"/>
    <p:sldLayoutId id="2147484082" r:id="rId12"/>
  </p:sldLayoutIdLst>
  <p:transition>
    <p:strips dir="ld"/>
  </p:transition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ヒラギノ角ゴ Pro W3" pitchFamily="-1" charset="-128"/>
          <a:cs typeface="ヒラギノ角ゴ Pro W3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  <a:ea typeface="ヒラギノ角ゴ Pro W3" pitchFamily="-1" charset="-128"/>
          <a:cs typeface="ヒラギノ角ゴ Pro W3" pitchFamily="-1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-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ヒラギノ角ゴ Pro W3" pitchFamily="-1" charset="-128"/>
          <a:cs typeface="ヒラギノ角ゴ Pro W3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ヒラギノ角ゴ Pro W3" pitchFamily="-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ヒラギノ角ゴ Pro W3" pitchFamily="-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ヒラギノ角ゴ Pro W3" pitchFamily="-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ヒラギノ角ゴ Pro W3" pitchFamily="-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295900" y="1600200"/>
            <a:ext cx="3505200" cy="1600200"/>
          </a:xfrm>
        </p:spPr>
        <p:txBody>
          <a:bodyPr/>
          <a:lstStyle/>
          <a:p>
            <a:pPr algn="ctr" eaLnBrk="1" hangingPunct="1"/>
            <a:r>
              <a:rPr lang="en-US" sz="2800" dirty="0" smtClean="0">
                <a:ea typeface="ヒラギノ角ゴ Pro W3" pitchFamily="-84" charset="-128"/>
              </a:rPr>
              <a:t>The Goods Market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953000" y="3886200"/>
            <a:ext cx="4191000" cy="1752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smtClean="0">
                <a:ea typeface="ヒラギノ角ゴ Pro W3" pitchFamily="-84" charset="-128"/>
              </a:rPr>
              <a:t>Chapter 3</a:t>
            </a:r>
          </a:p>
        </p:txBody>
      </p:sp>
    </p:spTree>
  </p:cSld>
  <p:clrMapOvr>
    <a:masterClrMapping/>
  </p:clrMapOvr>
  <p:transition>
    <p:strips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Chapter 3 Outline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762000" y="1387475"/>
            <a:ext cx="80772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ヒラギノ角ゴ Pro W3" pitchFamily="-1" charset="-128"/>
                <a:cs typeface="ヒラギノ角ゴ Pro W3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ヒラギノ角ゴ Pro W3" pitchFamily="-1" charset="-128"/>
              </a:defRPr>
            </a:lvl9pPr>
          </a:lstStyle>
          <a:p>
            <a:pPr marL="1714500" indent="-1714500" eaLnBrk="1" hangingPunct="1">
              <a:buFontTx/>
              <a:buNone/>
              <a:defRPr/>
            </a:pPr>
            <a:r>
              <a:rPr lang="en-US" sz="2400" b="1" kern="0" dirty="0" smtClean="0">
                <a:ea typeface="ヒラギノ角ゴ Pro W3" pitchFamily="-84" charset="-128"/>
              </a:rPr>
              <a:t>The Goods Market</a:t>
            </a:r>
          </a:p>
          <a:p>
            <a:pPr marL="1714500" indent="-1714500" eaLnBrk="1" hangingPunct="1">
              <a:buFontTx/>
              <a:buNone/>
              <a:defRPr/>
            </a:pPr>
            <a:endParaRPr lang="en-US" sz="2400" kern="0" dirty="0" smtClean="0">
              <a:ea typeface="ヒラギノ角ゴ Pro W3" pitchFamily="-84" charset="-128"/>
            </a:endParaRP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3-1	The Composition of GDP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3-2	The Demand for Goods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3-3	The Determination of Equilibrium Output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3-4	</a:t>
            </a:r>
            <a:r>
              <a:rPr lang="en-US" sz="2400" kern="0" dirty="0">
                <a:ea typeface="ヒラギノ角ゴ Pro W3" pitchFamily="-84" charset="-128"/>
              </a:rPr>
              <a:t>Investment Equals Saving: An </a:t>
            </a:r>
            <a:r>
              <a:rPr lang="en-US" sz="2400" kern="0" dirty="0" smtClean="0">
                <a:ea typeface="ヒラギノ角ゴ Pro W3" pitchFamily="-84" charset="-128"/>
              </a:rPr>
              <a:t>Alternative Way </a:t>
            </a:r>
            <a:r>
              <a:rPr lang="en-US" sz="2400" kern="0" dirty="0">
                <a:ea typeface="ヒラギノ角ゴ Pro W3" pitchFamily="-84" charset="-128"/>
              </a:rPr>
              <a:t>of Thinking about Goods—Market </a:t>
            </a:r>
            <a:r>
              <a:rPr lang="en-US" sz="2400" kern="0" dirty="0" smtClean="0">
                <a:ea typeface="ヒラギノ角ゴ Pro W3" pitchFamily="-84" charset="-128"/>
              </a:rPr>
              <a:t>Equilibrium </a:t>
            </a:r>
          </a:p>
          <a:p>
            <a:pPr marL="1714500" indent="-1714500" eaLnBrk="1" hangingPunct="1">
              <a:buFontTx/>
              <a:buNone/>
              <a:defRPr/>
            </a:pPr>
            <a:r>
              <a:rPr lang="en-US" sz="2400" kern="0" dirty="0" smtClean="0">
                <a:ea typeface="ヒラギノ角ゴ Pro W3" pitchFamily="-84" charset="-128"/>
              </a:rPr>
              <a:t>3-5	Is the Government Omnipotent? A Warning</a:t>
            </a:r>
          </a:p>
        </p:txBody>
      </p:sp>
    </p:spTree>
  </p:cSld>
  <p:clrMapOvr>
    <a:masterClrMapping/>
  </p:clrMapOvr>
  <p:transition>
    <p:strips dir="l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The Goods Market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When economists think about year-to-year movements in economic activity, they focus on the interactions among </a:t>
            </a:r>
            <a:r>
              <a:rPr lang="en-US" sz="2400" i="1" dirty="0" smtClean="0">
                <a:ea typeface="ヒラギノ角ゴ Pro W3" pitchFamily="-84" charset="-128"/>
              </a:rPr>
              <a:t>production</a:t>
            </a:r>
            <a:r>
              <a:rPr lang="en-US" sz="2400" dirty="0" smtClean="0">
                <a:ea typeface="ヒラギノ角ゴ Pro W3" pitchFamily="-84" charset="-128"/>
              </a:rPr>
              <a:t>, </a:t>
            </a:r>
            <a:r>
              <a:rPr lang="en-US" sz="2400" i="1" dirty="0" smtClean="0">
                <a:ea typeface="ヒラギノ角ゴ Pro W3" pitchFamily="-84" charset="-128"/>
              </a:rPr>
              <a:t>income</a:t>
            </a:r>
            <a:r>
              <a:rPr lang="en-US" sz="2400" dirty="0" smtClean="0">
                <a:ea typeface="ヒラギノ角ゴ Pro W3" pitchFamily="-84" charset="-128"/>
              </a:rPr>
              <a:t>, and </a:t>
            </a:r>
            <a:r>
              <a:rPr lang="en-US" sz="2400" i="1" dirty="0" smtClean="0">
                <a:ea typeface="ヒラギノ角ゴ Pro W3" pitchFamily="-84" charset="-128"/>
              </a:rPr>
              <a:t>demand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pPr lvl="1"/>
            <a:r>
              <a:rPr lang="en-US" sz="2000" dirty="0" smtClean="0">
                <a:ea typeface="ヒラギノ角ゴ Pro W3" pitchFamily="-84" charset="-128"/>
              </a:rPr>
              <a:t>Changes in the demand for goods lead to changes in production</a:t>
            </a:r>
          </a:p>
          <a:p>
            <a:pPr lvl="1"/>
            <a:r>
              <a:rPr lang="en-US" sz="2000" dirty="0" smtClean="0">
                <a:ea typeface="ヒラギノ角ゴ Pro W3" pitchFamily="-84" charset="-128"/>
              </a:rPr>
              <a:t>Changes in production lead to changes in income</a:t>
            </a:r>
          </a:p>
          <a:p>
            <a:pPr lvl="1"/>
            <a:r>
              <a:rPr lang="en-US" sz="2000" dirty="0" smtClean="0">
                <a:ea typeface="ヒラギノ角ゴ Pro W3" pitchFamily="-84" charset="-128"/>
              </a:rPr>
              <a:t>Changes in income lead to changes in the demand for goods</a:t>
            </a:r>
          </a:p>
        </p:txBody>
      </p:sp>
    </p:spTree>
  </p:cSld>
  <p:clrMapOvr>
    <a:masterClrMapping/>
  </p:clrMapOvr>
  <p:transition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3-1 The Composition of GDP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b="1" smtClean="0">
                <a:ea typeface="ヒラギノ角ゴ Pro W3" pitchFamily="-84" charset="-128"/>
              </a:rPr>
              <a:t>Consumption </a:t>
            </a:r>
            <a:r>
              <a:rPr lang="en-US" sz="2400" smtClean="0">
                <a:ea typeface="ヒラギノ角ゴ Pro W3" pitchFamily="-84" charset="-128"/>
              </a:rPr>
              <a:t>(</a:t>
            </a:r>
            <a:r>
              <a:rPr lang="en-US" sz="2400" i="1" smtClean="0">
                <a:ea typeface="ヒラギノ角ゴ Pro W3" pitchFamily="-84" charset="-128"/>
              </a:rPr>
              <a:t>C</a:t>
            </a:r>
            <a:r>
              <a:rPr lang="en-US" sz="2400" smtClean="0">
                <a:ea typeface="ヒラギノ角ゴ Pro W3" pitchFamily="-84" charset="-128"/>
              </a:rPr>
              <a:t>): goods and services purchased by consumers</a:t>
            </a:r>
          </a:p>
          <a:p>
            <a:pPr>
              <a:spcBef>
                <a:spcPts val="525"/>
              </a:spcBef>
            </a:pPr>
            <a:r>
              <a:rPr lang="en-US" sz="2400" b="1" smtClean="0">
                <a:ea typeface="ヒラギノ角ゴ Pro W3" pitchFamily="-84" charset="-128"/>
              </a:rPr>
              <a:t>Investment</a:t>
            </a:r>
            <a:r>
              <a:rPr lang="en-US" sz="2400" smtClean="0">
                <a:ea typeface="ヒラギノ角ゴ Pro W3" pitchFamily="-84" charset="-128"/>
              </a:rPr>
              <a:t> (</a:t>
            </a:r>
            <a:r>
              <a:rPr lang="en-US" sz="2400" i="1" smtClean="0">
                <a:ea typeface="ヒラギノ角ゴ Pro W3" pitchFamily="-84" charset="-128"/>
              </a:rPr>
              <a:t>I</a:t>
            </a:r>
            <a:r>
              <a:rPr lang="en-US" sz="2400" smtClean="0">
                <a:ea typeface="ヒラギノ角ゴ Pro W3" pitchFamily="-84" charset="-128"/>
              </a:rPr>
              <a:t>) or </a:t>
            </a:r>
            <a:r>
              <a:rPr lang="en-US" sz="2400" i="1" smtClean="0">
                <a:ea typeface="ヒラギノ角ゴ Pro W3" pitchFamily="-84" charset="-128"/>
              </a:rPr>
              <a:t>fixed investment</a:t>
            </a:r>
            <a:r>
              <a:rPr lang="en-US" sz="2400" smtClean="0">
                <a:ea typeface="ヒラギノ角ゴ Pro W3" pitchFamily="-84" charset="-128"/>
              </a:rPr>
              <a:t>: the sum of nonresidential investment and residential investment</a:t>
            </a:r>
          </a:p>
          <a:p>
            <a:pPr>
              <a:spcBef>
                <a:spcPts val="525"/>
              </a:spcBef>
            </a:pPr>
            <a:r>
              <a:rPr lang="en-US" sz="2400" b="1" smtClean="0">
                <a:ea typeface="ヒラギノ角ゴ Pro W3" pitchFamily="-84" charset="-128"/>
              </a:rPr>
              <a:t>Government spending </a:t>
            </a:r>
            <a:r>
              <a:rPr lang="en-US" sz="2400" smtClean="0">
                <a:ea typeface="ヒラギノ角ゴ Pro W3" pitchFamily="-84" charset="-128"/>
              </a:rPr>
              <a:t>(</a:t>
            </a:r>
            <a:r>
              <a:rPr lang="en-US" sz="2400" i="1" smtClean="0">
                <a:ea typeface="ヒラギノ角ゴ Pro W3" pitchFamily="-84" charset="-128"/>
              </a:rPr>
              <a:t>G</a:t>
            </a:r>
            <a:r>
              <a:rPr lang="en-US" sz="2400" smtClean="0">
                <a:ea typeface="ヒラギノ角ゴ Pro W3" pitchFamily="-84" charset="-128"/>
              </a:rPr>
              <a:t>): purchases of goods and services by the federal, state, and local governments; excluding </a:t>
            </a:r>
            <a:r>
              <a:rPr lang="en-US" sz="2400" b="1" smtClean="0">
                <a:ea typeface="ヒラギノ角ゴ Pro W3" pitchFamily="-84" charset="-128"/>
              </a:rPr>
              <a:t>government transfers</a:t>
            </a:r>
          </a:p>
          <a:p>
            <a:pPr>
              <a:spcBef>
                <a:spcPts val="525"/>
              </a:spcBef>
            </a:pPr>
            <a:endParaRPr lang="en-US" sz="240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3-1 The Composition of GDP</a:t>
            </a:r>
            <a:endParaRPr lang="en-US" dirty="0" smtClean="0">
              <a:ea typeface="ヒラギノ角ゴ Pro W3" pitchFamily="-84" charset="-128"/>
            </a:endParaRP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819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295400"/>
                <a:ext cx="8382000" cy="4648200"/>
              </a:xfrm>
            </p:spPr>
            <p:txBody>
              <a:bodyPr/>
              <a:lstStyle/>
              <a:p>
                <a:pPr>
                  <a:spcBef>
                    <a:spcPts val="525"/>
                  </a:spcBef>
                </a:pPr>
                <a:r>
                  <a:rPr lang="en-US" sz="2400" b="1" dirty="0" smtClean="0">
                    <a:ea typeface="ヒラギノ角ゴ Pro W3" pitchFamily="-84" charset="-128"/>
                  </a:rPr>
                  <a:t>Exports </a:t>
                </a:r>
                <a:r>
                  <a:rPr lang="en-US" sz="2400" dirty="0" smtClean="0">
                    <a:ea typeface="ヒラギノ角ゴ Pro W3" pitchFamily="-84" charset="-128"/>
                  </a:rPr>
                  <a:t>(</a:t>
                </a:r>
                <a:r>
                  <a:rPr lang="en-US" sz="2400" i="1" dirty="0" smtClean="0">
                    <a:ea typeface="ヒラギノ角ゴ Pro W3" pitchFamily="-84" charset="-128"/>
                  </a:rPr>
                  <a:t>X</a:t>
                </a:r>
                <a:r>
                  <a:rPr lang="en-US" sz="2400" dirty="0" smtClean="0">
                    <a:ea typeface="ヒラギノ角ゴ Pro W3" pitchFamily="-84" charset="-128"/>
                  </a:rPr>
                  <a:t>): purchases of U.S. goods and services by foreigners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b="1" dirty="0" smtClean="0">
                    <a:ea typeface="ヒラギノ角ゴ Pro W3" pitchFamily="-84" charset="-128"/>
                  </a:rPr>
                  <a:t>Imports</a:t>
                </a:r>
                <a:r>
                  <a:rPr lang="en-US" sz="2400" dirty="0" smtClean="0">
                    <a:ea typeface="ヒラギノ角ゴ Pro W3" pitchFamily="-84" charset="-128"/>
                  </a:rPr>
                  <a:t> (</a:t>
                </a:r>
                <a:r>
                  <a:rPr lang="en-US" sz="2400" i="1" dirty="0" smtClean="0">
                    <a:ea typeface="ヒラギノ角ゴ Pro W3" pitchFamily="-84" charset="-128"/>
                  </a:rPr>
                  <a:t>IM</a:t>
                </a:r>
                <a:r>
                  <a:rPr lang="en-US" sz="2400" dirty="0" smtClean="0">
                    <a:ea typeface="ヒラギノ角ゴ Pro W3" pitchFamily="-84" charset="-128"/>
                  </a:rPr>
                  <a:t>): purchases of foreign goods and services by U.S. consumers, U.S. firms and the U.S. government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b="1" dirty="0" smtClean="0">
                    <a:ea typeface="ヒラギノ角ゴ Pro W3" pitchFamily="-84" charset="-128"/>
                  </a:rPr>
                  <a:t>Net exports </a:t>
                </a:r>
                <a:r>
                  <a:rPr lang="en-US" sz="2400" dirty="0" smtClean="0">
                    <a:ea typeface="ヒラギノ角ゴ Pro W3" pitchFamily="-84" charset="-128"/>
                  </a:rPr>
                  <a:t>or </a:t>
                </a:r>
                <a:r>
                  <a:rPr lang="en-US" sz="2400" b="1" dirty="0" smtClean="0">
                    <a:ea typeface="ヒラギノ角ゴ Pro W3" pitchFamily="-84" charset="-128"/>
                  </a:rPr>
                  <a:t>trade balance</a:t>
                </a:r>
                <a:r>
                  <a:rPr lang="en-US" sz="2400" dirty="0" smtClean="0">
                    <a:ea typeface="ヒラギノ角ゴ Pro W3" pitchFamily="-84" charset="-128"/>
                  </a:rPr>
                  <a:t>: </a:t>
                </a:r>
                <a:r>
                  <a:rPr lang="en-US" sz="2400" i="1" dirty="0" smtClean="0">
                    <a:ea typeface="ヒラギノ角ゴ Pro W3" pitchFamily="-84" charset="-128"/>
                  </a:rPr>
                  <a:t>X − IM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dirty="0" smtClean="0">
                    <a:ea typeface="ヒラギノ角ゴ Pro W3" pitchFamily="-84" charset="-128"/>
                  </a:rPr>
                  <a:t>Exports &gt; Imports 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vertJc m:val="bot"/>
                        <m:ctrlPr>
                          <a:rPr lang="en-US" sz="2400" i="1" dirty="0" smtClean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i="1" dirty="0" smtClean="0">
                    <a:ea typeface="ヒラギノ角ゴ Pro W3" pitchFamily="-84" charset="-128"/>
                  </a:rPr>
                  <a:t> </a:t>
                </a:r>
                <a:r>
                  <a:rPr lang="en-US" sz="2400" dirty="0" smtClean="0">
                    <a:ea typeface="ヒラギノ角ゴ Pro W3" pitchFamily="-84" charset="-128"/>
                  </a:rPr>
                  <a:t> trade surplus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dirty="0" smtClean="0">
                    <a:ea typeface="ヒラギノ角ゴ Pro W3" pitchFamily="-84" charset="-128"/>
                  </a:rPr>
                  <a:t>Imports &gt; Exports 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vertJc m:val="bot"/>
                        <m:ctrlPr>
                          <a:rPr lang="en-US" sz="2400" i="1" dirty="0" smtClean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i="1" dirty="0" smtClean="0">
                    <a:ea typeface="ヒラギノ角ゴ Pro W3" pitchFamily="-84" charset="-128"/>
                  </a:rPr>
                  <a:t> </a:t>
                </a:r>
                <a:r>
                  <a:rPr lang="en-US" sz="2400" dirty="0" smtClean="0">
                    <a:ea typeface="ヒラギノ角ゴ Pro W3" pitchFamily="-84" charset="-128"/>
                  </a:rPr>
                  <a:t> trade deficit</a:t>
                </a:r>
              </a:p>
              <a:p>
                <a:pPr>
                  <a:spcBef>
                    <a:spcPts val="525"/>
                  </a:spcBef>
                </a:pPr>
                <a:r>
                  <a:rPr lang="en-US" sz="2400" dirty="0" smtClean="0">
                    <a:ea typeface="ヒラギノ角ゴ Pro W3" pitchFamily="-84" charset="-128"/>
                  </a:rPr>
                  <a:t>Inventory investment: difference between production and sales</a:t>
                </a: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</p:txBody>
          </p:sp>
        </mc:Choice>
        <mc:Fallback>
          <p:sp>
            <p:nvSpPr>
              <p:cNvPr id="819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95400"/>
                <a:ext cx="8382000" cy="4648200"/>
              </a:xfrm>
              <a:blipFill rotWithShape="0">
                <a:blip r:embed="rId2" cstate="print"/>
                <a:stretch>
                  <a:fillRect l="-2255" t="-2100" r="-3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42205552"/>
      </p:ext>
    </p:extLst>
  </p:cSld>
  <p:clrMapOvr>
    <a:masterClrMapping/>
  </p:clrMapOvr>
  <p:transition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3-1 The Composition of GDP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12750" y="1293813"/>
            <a:ext cx="8382000" cy="609600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b="1" dirty="0" smtClean="0">
                <a:ea typeface="ヒラギノ角ゴ Pro W3" pitchFamily="-84" charset="-128"/>
              </a:rPr>
              <a:t>Table 3-1  </a:t>
            </a:r>
            <a:r>
              <a:rPr lang="en-US" sz="1800" dirty="0" smtClean="0">
                <a:ea typeface="ヒラギノ角ゴ Pro W3" pitchFamily="-84" charset="-128"/>
              </a:rPr>
              <a:t>The Composition of U.S. GDP, 2014</a:t>
            </a:r>
          </a:p>
        </p:txBody>
      </p:sp>
      <p:pic>
        <p:nvPicPr>
          <p:cNvPr id="10244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14457"/>
            <a:ext cx="7005638" cy="404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ヒラギノ角ゴ Pro W3" pitchFamily="-84" charset="-128"/>
              </a:rPr>
              <a:t>3-2 The Demand for Goods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4648200"/>
          </a:xfrm>
        </p:spPr>
        <p:txBody>
          <a:bodyPr/>
          <a:lstStyle/>
          <a:p>
            <a:pPr marL="0" indent="0" algn="ctr">
              <a:spcBef>
                <a:spcPts val="525"/>
              </a:spcBef>
              <a:buFontTx/>
              <a:buNone/>
              <a:defRPr/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Z ≡ C + I + G + X − IM</a:t>
            </a:r>
          </a:p>
          <a:p>
            <a:pPr marL="0" indent="0">
              <a:spcBef>
                <a:spcPts val="525"/>
              </a:spcBef>
              <a:buFontTx/>
              <a:buNone/>
              <a:defRPr/>
            </a:pPr>
            <a:endParaRPr lang="en-US" sz="12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r>
              <a:rPr lang="en-US" sz="2400" dirty="0" smtClean="0">
                <a:ea typeface="ヒラギノ角ゴ Pro W3" pitchFamily="-84" charset="-128"/>
              </a:rPr>
              <a:t>The above identity defines the total demand for goods (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ea typeface="ヒラギノ角ゴ Pro W3" pitchFamily="-84" charset="-128"/>
              </a:rPr>
              <a:t>) as consumption, plus investment, plus government, plus export, minus imports.</a:t>
            </a:r>
          </a:p>
          <a:p>
            <a:pPr>
              <a:spcBef>
                <a:spcPts val="525"/>
              </a:spcBef>
              <a:defRPr/>
            </a:pPr>
            <a:r>
              <a:rPr lang="en-US" sz="2400" dirty="0" smtClean="0">
                <a:ea typeface="ヒラギノ角ゴ Pro W3" pitchFamily="-84" charset="-128"/>
              </a:rPr>
              <a:t>In a closed economy (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X = IM = 0</a:t>
            </a:r>
            <a:r>
              <a:rPr lang="en-US" sz="2400" dirty="0" smtClean="0">
                <a:ea typeface="ヒラギノ角ゴ Pro W3" pitchFamily="-84" charset="-128"/>
              </a:rPr>
              <a:t>):</a:t>
            </a:r>
          </a:p>
          <a:p>
            <a:pPr>
              <a:spcBef>
                <a:spcPts val="525"/>
              </a:spcBef>
              <a:defRPr/>
            </a:pPr>
            <a:endParaRPr lang="en-US" sz="1100" dirty="0" smtClean="0">
              <a:ea typeface="ヒラギノ角ゴ Pro W3" pitchFamily="-84" charset="-128"/>
            </a:endParaRPr>
          </a:p>
          <a:p>
            <a:pPr marL="0" indent="0" algn="ctr">
              <a:spcBef>
                <a:spcPts val="1200"/>
              </a:spcBef>
              <a:buFontTx/>
              <a:buNone/>
              <a:defRPr/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Z ≡ C + I + G</a:t>
            </a:r>
            <a:endParaRPr lang="en-US" dirty="0" smtClean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  <a:defRPr/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3-2 The Demand for Goods</a:t>
            </a:r>
          </a:p>
        </p:txBody>
      </p:sp>
      <p:sp>
        <p:nvSpPr>
          <p:cNvPr id="12292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919662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Consumption (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ea typeface="ヒラギノ角ゴ Pro W3" pitchFamily="-84" charset="-128"/>
              </a:rPr>
              <a:t>) is a function of disposable income (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i="1" baseline="-25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D</a:t>
            </a:r>
            <a:r>
              <a:rPr lang="en-US" sz="2400" dirty="0" smtClean="0">
                <a:ea typeface="ヒラギノ角ゴ Pro W3" pitchFamily="-84" charset="-128"/>
              </a:rPr>
              <a:t>), which is the income that remains once consumers have received government transfers and paid their taxes.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ea typeface="ヒラギノ角ゴ Pro W3" pitchFamily="-84" charset="-128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D</a:t>
            </a:r>
            <a:r>
              <a:rPr lang="en-US" sz="2400" dirty="0" smtClean="0">
                <a:ea typeface="ヒラギノ角ゴ Pro W3" pitchFamily="-84" charset="-128"/>
              </a:rPr>
              <a:t>) is called the </a:t>
            </a:r>
            <a:r>
              <a:rPr lang="en-US" sz="2400" b="1" dirty="0" smtClean="0">
                <a:ea typeface="ヒラギノ角ゴ Pro W3" pitchFamily="-84" charset="-128"/>
              </a:rPr>
              <a:t>consumption function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This is a </a:t>
            </a:r>
            <a:r>
              <a:rPr lang="en-US" sz="2400" b="1" dirty="0" smtClean="0">
                <a:ea typeface="ヒラギノ角ゴ Pro W3" pitchFamily="-84" charset="-128"/>
              </a:rPr>
              <a:t>behavioral equation </a:t>
            </a:r>
            <a:r>
              <a:rPr lang="en-US" sz="2400" dirty="0" smtClean="0">
                <a:ea typeface="ヒラギノ角ゴ Pro W3" pitchFamily="-84" charset="-128"/>
              </a:rPr>
              <a:t>that captures the behavior of consumers.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2637" y="3200400"/>
            <a:ext cx="6695123" cy="806768"/>
          </a:xfrm>
          <a:prstGeom prst="rect">
            <a:avLst/>
          </a:prstGeom>
        </p:spPr>
      </p:pic>
    </p:spTree>
  </p:cSld>
  <p:clrMapOvr>
    <a:masterClrMapping/>
  </p:clrMapOvr>
  <p:transition>
    <p:strips dir="l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3-2 The Demand for Goods</a:t>
            </a:r>
          </a:p>
        </p:txBody>
      </p:sp>
      <p:pic>
        <p:nvPicPr>
          <p:cNvPr id="13315" name="Picture 4" descr="eq03_02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2590800"/>
            <a:ext cx="80010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Content Placeholder 2"/>
          <p:cNvSpPr>
            <a:spLocks noGrp="1"/>
          </p:cNvSpPr>
          <p:nvPr>
            <p:ph idx="1"/>
          </p:nvPr>
        </p:nvSpPr>
        <p:spPr>
          <a:xfrm>
            <a:off x="419100" y="1252538"/>
            <a:ext cx="8382000" cy="1795462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Assume that the consumption function is a </a:t>
            </a:r>
            <a:r>
              <a:rPr lang="en-US" sz="2400" b="1" dirty="0" smtClean="0">
                <a:ea typeface="ヒラギノ角ゴ Pro W3" pitchFamily="-84" charset="-128"/>
              </a:rPr>
              <a:t>linear relation</a:t>
            </a:r>
            <a:r>
              <a:rPr lang="en-US" sz="2400" dirty="0" smtClean="0">
                <a:ea typeface="ヒラギノ角ゴ Pro W3" pitchFamily="-84" charset="-128"/>
              </a:rPr>
              <a:t> with two </a:t>
            </a:r>
            <a:r>
              <a:rPr lang="en-US" sz="2400" b="1" dirty="0" smtClean="0">
                <a:ea typeface="ヒラギノ角ゴ Pro W3" pitchFamily="-84" charset="-128"/>
              </a:rPr>
              <a:t>parameters</a:t>
            </a:r>
            <a:r>
              <a:rPr lang="en-US" sz="2400" dirty="0" smtClean="0">
                <a:ea typeface="ヒラギノ角ゴ Pro W3" pitchFamily="-84" charset="-128"/>
              </a:rPr>
              <a:t>,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0</a:t>
            </a:r>
            <a:r>
              <a:rPr lang="en-US" sz="2400" dirty="0" smtClean="0">
                <a:ea typeface="ヒラギノ角ゴ Pro W3" pitchFamily="-84" charset="-128"/>
              </a:rPr>
              <a:t> and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dirty="0" smtClean="0">
                <a:ea typeface="ヒラギノ角ゴ Pro W3" pitchFamily="-84" charset="-128"/>
              </a:rPr>
              <a:t>: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dirty="0" smtClean="0">
                <a:ea typeface="ヒラギノ角ゴ Pro W3" pitchFamily="-84" charset="-128"/>
              </a:rPr>
              <a:t> is the </a:t>
            </a:r>
            <a:r>
              <a:rPr lang="en-US" sz="2400" b="1" dirty="0" smtClean="0">
                <a:ea typeface="ヒラギノ角ゴ Pro W3" pitchFamily="-84" charset="-128"/>
              </a:rPr>
              <a:t>propensity to consume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  <a:p>
            <a:pPr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0</a:t>
            </a:r>
            <a:r>
              <a:rPr lang="en-US" sz="2400" dirty="0" smtClean="0">
                <a:ea typeface="ヒラギノ角ゴ Pro W3" pitchFamily="-84" charset="-128"/>
              </a:rPr>
              <a:t> is what people would consume if their disposable income equals zero.</a:t>
            </a: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Changes in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0</a:t>
            </a:r>
            <a:r>
              <a:rPr lang="en-US" sz="2400" dirty="0" smtClean="0">
                <a:ea typeface="ヒラギノ角ゴ Pro W3" pitchFamily="-84" charset="-128"/>
              </a:rPr>
              <a:t> reflect changes in consumption for a given level of disposable income.</a:t>
            </a:r>
          </a:p>
        </p:txBody>
      </p:sp>
    </p:spTree>
  </p:cSld>
  <p:clrMapOvr>
    <a:masterClrMapping/>
  </p:clrMapOvr>
  <p:transition>
    <p:strips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3-2 The Demand for Goods</a:t>
            </a:r>
          </a:p>
        </p:txBody>
      </p:sp>
      <p:pic>
        <p:nvPicPr>
          <p:cNvPr id="14339" name="Picture 5" descr="fig03_0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676400"/>
            <a:ext cx="4648200" cy="3775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Box 6"/>
          <p:cNvSpPr txBox="1">
            <a:spLocks noChangeArrowheads="1"/>
          </p:cNvSpPr>
          <p:nvPr/>
        </p:nvSpPr>
        <p:spPr bwMode="auto">
          <a:xfrm>
            <a:off x="346364" y="1143000"/>
            <a:ext cx="8229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3-1  </a:t>
            </a:r>
            <a:r>
              <a:rPr lang="en-US" sz="1800" dirty="0"/>
              <a:t>Consumption and </a:t>
            </a:r>
            <a:r>
              <a:rPr lang="en-US" sz="1800" dirty="0" smtClean="0"/>
              <a:t>Disposable Income</a:t>
            </a:r>
            <a:endParaRPr lang="en-US" sz="1800" dirty="0"/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357794" y="2057400"/>
            <a:ext cx="301786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1600" dirty="0" smtClean="0"/>
              <a:t>Consumption increases with disposable income but less than one for one.</a:t>
            </a:r>
          </a:p>
          <a:p>
            <a:pPr>
              <a:spcBef>
                <a:spcPct val="0"/>
              </a:spcBef>
              <a:buNone/>
            </a:pPr>
            <a:r>
              <a:rPr lang="en-US" sz="1600" dirty="0" smtClean="0"/>
              <a:t>A lower value of </a:t>
            </a:r>
            <a:r>
              <a:rPr lang="en-US" sz="1600" i="1" dirty="0" smtClean="0"/>
              <a:t>c</a:t>
            </a:r>
            <a:r>
              <a:rPr lang="en-US" sz="1600" baseline="-25000" dirty="0" smtClean="0"/>
              <a:t>0</a:t>
            </a:r>
            <a:r>
              <a:rPr lang="en-US" sz="1600" dirty="0" smtClean="0"/>
              <a:t> will shift the entire line down.</a:t>
            </a:r>
            <a:endParaRPr lang="en-US" sz="1600" dirty="0"/>
          </a:p>
        </p:txBody>
      </p:sp>
    </p:spTree>
  </p:cSld>
  <p:clrMapOvr>
    <a:masterClrMapping/>
  </p:clrMapOvr>
  <p:transition>
    <p:strips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3-2 The Demand for Goods</a:t>
            </a:r>
          </a:p>
        </p:txBody>
      </p:sp>
      <p:pic>
        <p:nvPicPr>
          <p:cNvPr id="15363" name="Picture 4" descr="eq03_03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00"/>
            <a:ext cx="81534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9100" y="1357313"/>
            <a:ext cx="8382000" cy="2528887"/>
          </a:xfrm>
        </p:spPr>
        <p:txBody>
          <a:bodyPr/>
          <a:lstStyle/>
          <a:p>
            <a:pPr>
              <a:spcBef>
                <a:spcPts val="525"/>
              </a:spcBef>
              <a:defRPr/>
            </a:pPr>
            <a:r>
              <a:rPr lang="en-US" sz="2400" dirty="0" smtClean="0">
                <a:ea typeface="ヒラギノ角ゴ Pro W3" pitchFamily="-84" charset="-128"/>
              </a:rPr>
              <a:t>Disposable income is:</a:t>
            </a:r>
          </a:p>
          <a:p>
            <a:pPr>
              <a:spcBef>
                <a:spcPts val="525"/>
              </a:spcBef>
              <a:defRPr/>
            </a:pPr>
            <a:endParaRPr lang="en-US" sz="600" dirty="0" smtClean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buFontTx/>
              <a:buNone/>
              <a:defRPr/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i="1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D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≡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−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</a:t>
            </a:r>
          </a:p>
          <a:p>
            <a:pPr>
              <a:spcBef>
                <a:spcPts val="525"/>
              </a:spcBef>
              <a:defRPr/>
            </a:pPr>
            <a:endParaRPr lang="en-US" sz="600" dirty="0">
              <a:ea typeface="ヒラギノ角ゴ Pro W3" pitchFamily="-84" charset="-128"/>
            </a:endParaRPr>
          </a:p>
          <a:p>
            <a:pPr marL="341313" indent="0">
              <a:spcBef>
                <a:spcPts val="525"/>
              </a:spcBef>
              <a:buNone/>
              <a:defRPr/>
            </a:pPr>
            <a:r>
              <a:rPr lang="en-US" sz="2400" dirty="0" smtClean="0">
                <a:ea typeface="ヒラギノ角ゴ Pro W3" pitchFamily="-84" charset="-128"/>
              </a:rPr>
              <a:t>where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sz="2400" dirty="0" smtClean="0">
                <a:ea typeface="ヒラギノ角ゴ Pro W3" pitchFamily="-84" charset="-128"/>
              </a:rPr>
              <a:t> is income and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 is taxes minus government transfers.</a:t>
            </a:r>
          </a:p>
          <a:p>
            <a:pPr marL="0" indent="0">
              <a:spcBef>
                <a:spcPts val="525"/>
              </a:spcBef>
              <a:buNone/>
              <a:defRPr/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r>
              <a:rPr lang="en-US" sz="2400" dirty="0" smtClean="0">
                <a:ea typeface="ヒラギノ角ゴ Pro W3" pitchFamily="-84" charset="-128"/>
              </a:rPr>
              <a:t>Replacing </a:t>
            </a:r>
            <a:r>
              <a:rPr lang="en-US" sz="2400" i="1" dirty="0" smtClean="0">
                <a:ea typeface="ヒラギノ角ゴ Pro W3" pitchFamily="-84" charset="-128"/>
              </a:rPr>
              <a:t>Y</a:t>
            </a:r>
            <a:r>
              <a:rPr lang="en-US" sz="2400" i="1" baseline="-25000" dirty="0" smtClean="0">
                <a:ea typeface="ヒラギノ角ゴ Pro W3" pitchFamily="-84" charset="-128"/>
              </a:rPr>
              <a:t>D</a:t>
            </a:r>
            <a:r>
              <a:rPr lang="en-US" sz="2400" dirty="0" smtClean="0">
                <a:ea typeface="ヒラギノ角ゴ Pro W3" pitchFamily="-84" charset="-128"/>
              </a:rPr>
              <a:t> in equation (3.2) gives:</a:t>
            </a:r>
          </a:p>
        </p:txBody>
      </p:sp>
    </p:spTree>
  </p:cSld>
  <p:clrMapOvr>
    <a:masterClrMapping/>
  </p:clrMapOvr>
  <p:transition>
    <p:strips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3-2 The Demand for Goods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Endogenous variables</a:t>
            </a:r>
            <a:r>
              <a:rPr lang="en-US" sz="2400" dirty="0" smtClean="0">
                <a:ea typeface="ヒラギノ角ゴ Pro W3" pitchFamily="-84" charset="-128"/>
              </a:rPr>
              <a:t>: variables depend on other variables in the model</a:t>
            </a:r>
          </a:p>
          <a:p>
            <a:pPr>
              <a:spcBef>
                <a:spcPts val="525"/>
              </a:spcBef>
            </a:pPr>
            <a:r>
              <a:rPr lang="en-US" sz="2400" b="1" dirty="0" smtClean="0">
                <a:ea typeface="ヒラギノ角ゴ Pro W3" pitchFamily="-84" charset="-128"/>
              </a:rPr>
              <a:t>Exogenous variables</a:t>
            </a:r>
            <a:r>
              <a:rPr lang="en-US" sz="2400" dirty="0" smtClean="0">
                <a:ea typeface="ヒラギノ角ゴ Pro W3" pitchFamily="-84" charset="-128"/>
              </a:rPr>
              <a:t>: variables not explained within the model but are instead taken as given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A bar on investment means investment is taken as given.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17412" name="Picture 7" descr="eq03_04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352800"/>
            <a:ext cx="72310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3-2 The Demand for Goods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6482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T </a:t>
            </a:r>
            <a:r>
              <a:rPr lang="en-US" sz="2400" dirty="0" smtClean="0">
                <a:ea typeface="ヒラギノ角ゴ Pro W3" pitchFamily="-84" charset="-128"/>
              </a:rPr>
              <a:t>and</a:t>
            </a:r>
            <a:r>
              <a:rPr lang="en-US" sz="2400" i="1" dirty="0" smtClean="0">
                <a:ea typeface="ヒラギノ角ゴ Pro W3" pitchFamily="-84" charset="-128"/>
              </a:rPr>
              <a:t> G</a:t>
            </a:r>
            <a:r>
              <a:rPr lang="en-US" sz="2400" dirty="0" smtClean="0">
                <a:ea typeface="ヒラギノ角ゴ Pro W3" pitchFamily="-84" charset="-128"/>
              </a:rPr>
              <a:t> describe </a:t>
            </a:r>
            <a:r>
              <a:rPr lang="en-US" sz="2400" b="1" dirty="0" smtClean="0">
                <a:ea typeface="ヒラギノ角ゴ Pro W3" pitchFamily="-84" charset="-128"/>
              </a:rPr>
              <a:t>fiscal policy</a:t>
            </a:r>
            <a:r>
              <a:rPr lang="en-US" sz="2400" dirty="0" smtClean="0">
                <a:ea typeface="ヒラギノ角ゴ Pro W3" pitchFamily="-84" charset="-128"/>
              </a:rPr>
              <a:t>—the choice of taxes and spending by the government.</a:t>
            </a:r>
          </a:p>
          <a:p>
            <a:pPr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G</a:t>
            </a:r>
            <a:r>
              <a:rPr lang="en-US" sz="2400" dirty="0" smtClean="0">
                <a:ea typeface="ヒラギノ角ゴ Pro W3" pitchFamily="-84" charset="-128"/>
              </a:rPr>
              <a:t> and </a:t>
            </a:r>
            <a:r>
              <a:rPr lang="en-US" sz="2400" i="1" dirty="0" smtClean="0">
                <a:ea typeface="ヒラギノ角ゴ Pro W3" pitchFamily="-84" charset="-128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 are exogenous because: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Governments do not behave with the same regularity as consumer or firms.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This book will typically treat </a:t>
            </a:r>
            <a:r>
              <a:rPr lang="en-US" sz="2000" i="1" dirty="0" smtClean="0">
                <a:ea typeface="ヒラギノ角ゴ Pro W3" pitchFamily="-84" charset="-128"/>
              </a:rPr>
              <a:t>G</a:t>
            </a:r>
            <a:r>
              <a:rPr lang="en-US" sz="2000" dirty="0" smtClean="0">
                <a:ea typeface="ヒラギノ角ゴ Pro W3" pitchFamily="-84" charset="-128"/>
              </a:rPr>
              <a:t> and </a:t>
            </a:r>
            <a:r>
              <a:rPr lang="en-US" sz="2000" i="1" dirty="0" smtClean="0">
                <a:ea typeface="ヒラギノ角ゴ Pro W3" pitchFamily="-84" charset="-128"/>
              </a:rPr>
              <a:t>T</a:t>
            </a:r>
            <a:r>
              <a:rPr lang="en-US" sz="2000" dirty="0" smtClean="0">
                <a:ea typeface="ヒラギノ角ゴ Pro W3" pitchFamily="-84" charset="-128"/>
              </a:rPr>
              <a:t> as variables chosen by the government and will not try to explain them within the model.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pic>
        <p:nvPicPr>
          <p:cNvPr id="19459" name="Picture 3" descr="eq03_05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2800"/>
            <a:ext cx="8001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 descr="eq03_06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4737100"/>
            <a:ext cx="6219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8763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1200"/>
              </a:spcAft>
              <a:defRPr/>
            </a:pPr>
            <a:r>
              <a:rPr lang="en-US" sz="2400" dirty="0" smtClean="0">
                <a:ea typeface="ヒラギノ角ゴ Pro W3" pitchFamily="-84" charset="-128"/>
              </a:rPr>
              <a:t>Assume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X=IM=0</a:t>
            </a:r>
            <a:r>
              <a:rPr lang="en-US" sz="2400" dirty="0" smtClean="0">
                <a:ea typeface="ヒラギノ角ゴ Pro W3" pitchFamily="-84" charset="-128"/>
              </a:rPr>
              <a:t>, so</a:t>
            </a:r>
          </a:p>
          <a:p>
            <a:pPr marL="0" indent="0">
              <a:spcBef>
                <a:spcPts val="525"/>
              </a:spcBef>
              <a:spcAft>
                <a:spcPts val="1200"/>
              </a:spcAft>
              <a:buFontTx/>
              <a:buNone/>
              <a:defRPr/>
            </a:pPr>
            <a:r>
              <a:rPr lang="en-US" sz="2400" i="1" dirty="0" smtClean="0">
                <a:ea typeface="ヒラギノ角ゴ Pro W3" pitchFamily="-84" charset="-128"/>
              </a:rPr>
              <a:t>                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Z ≡ C + I + G</a:t>
            </a:r>
          </a:p>
          <a:p>
            <a:pPr>
              <a:spcBef>
                <a:spcPts val="525"/>
              </a:spcBef>
              <a:spcAft>
                <a:spcPts val="1200"/>
              </a:spcAft>
              <a:defRPr/>
            </a:pPr>
            <a:r>
              <a:rPr lang="en-US" sz="2400" dirty="0" smtClean="0">
                <a:ea typeface="ヒラギノ角ゴ Pro W3" pitchFamily="-84" charset="-128"/>
              </a:rPr>
              <a:t>Replacing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ea typeface="ヒラギノ角ゴ Pro W3" pitchFamily="-84" charset="-128"/>
              </a:rPr>
              <a:t> and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ea typeface="ヒラギノ角ゴ Pro W3" pitchFamily="-84" charset="-128"/>
              </a:rPr>
              <a:t> from equations (3.3) and (3.4):</a:t>
            </a:r>
            <a:endParaRPr lang="en-US" sz="20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r>
              <a:rPr lang="en-US" sz="2400" b="1" dirty="0" smtClean="0">
                <a:ea typeface="ヒラギノ角ゴ Pro W3" pitchFamily="-84" charset="-128"/>
              </a:rPr>
              <a:t>Equilibrium in the goods markets </a:t>
            </a:r>
            <a:r>
              <a:rPr lang="en-US" sz="2400" dirty="0" smtClean="0">
                <a:ea typeface="ヒラギノ角ゴ Pro W3" pitchFamily="-84" charset="-128"/>
              </a:rPr>
              <a:t>requires</a:t>
            </a:r>
          </a:p>
          <a:p>
            <a:pPr>
              <a:spcBef>
                <a:spcPts val="525"/>
              </a:spcBef>
              <a:defRPr/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r>
              <a:rPr lang="en-US" sz="2400" dirty="0" smtClean="0">
                <a:ea typeface="ヒラギノ角ゴ Pro W3" pitchFamily="-84" charset="-128"/>
              </a:rPr>
              <a:t>This is an </a:t>
            </a:r>
            <a:r>
              <a:rPr lang="en-US" sz="2400" b="1" dirty="0" smtClean="0">
                <a:ea typeface="ヒラギノ角ゴ Pro W3" pitchFamily="-84" charset="-128"/>
              </a:rPr>
              <a:t>equilibrium condition</a:t>
            </a:r>
            <a:r>
              <a:rPr lang="en-US" sz="2400" dirty="0" smtClean="0">
                <a:ea typeface="ヒラギノ角ゴ Pro W3" pitchFamily="-84" charset="-128"/>
              </a:rPr>
              <a:t>.</a:t>
            </a:r>
          </a:p>
        </p:txBody>
      </p:sp>
    </p:spTree>
  </p:cSld>
  <p:clrMapOvr>
    <a:masterClrMapping/>
  </p:clrMapOvr>
  <p:transition>
    <p:strips dir="l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pic>
        <p:nvPicPr>
          <p:cNvPr id="20483" name="Picture 5" descr="eq03_07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71700"/>
            <a:ext cx="80772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153400" cy="36576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1200"/>
              </a:spcAft>
            </a:pPr>
            <a:r>
              <a:rPr lang="en-US" sz="2400" dirty="0" smtClean="0">
                <a:ea typeface="ヒラギノ角ゴ Pro W3" pitchFamily="-84" charset="-128"/>
              </a:rPr>
              <a:t>Replacing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Z</a:t>
            </a:r>
            <a:r>
              <a:rPr lang="en-US" sz="2400" dirty="0" smtClean="0">
                <a:ea typeface="ヒラギノ角ゴ Pro W3" pitchFamily="-84" charset="-128"/>
              </a:rPr>
              <a:t> in (3.6) by equation (3.5) gives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r>
              <a:rPr lang="en-US" sz="2400" i="1" dirty="0" smtClean="0">
                <a:ea typeface="ヒラギノ角ゴ Pro W3" pitchFamily="-84" charset="-128"/>
              </a:rPr>
              <a:t>In equilibrium, production (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sz="2400" i="1" dirty="0" smtClean="0">
                <a:ea typeface="ヒラギノ角ゴ Pro W3" pitchFamily="-84" charset="-128"/>
              </a:rPr>
              <a:t>) is equal to demand, which in turn depends on income (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</a:t>
            </a:r>
            <a:r>
              <a:rPr lang="en-US" sz="2400" i="1" dirty="0" smtClean="0">
                <a:ea typeface="ヒラギノ角ゴ Pro W3" pitchFamily="-84" charset="-128"/>
              </a:rPr>
              <a:t>), which is itself equal to production.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26670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Macroeconomists always use three tools:</a:t>
            </a:r>
          </a:p>
          <a:p>
            <a:pPr marL="857250" lvl="1" indent="-457200">
              <a:spcBef>
                <a:spcPts val="525"/>
              </a:spcBef>
              <a:buFont typeface="Verdana" panose="020B0604030504040204" pitchFamily="34" charset="0"/>
              <a:buAutoNum type="arabicPeriod"/>
            </a:pPr>
            <a:r>
              <a:rPr lang="en-US" sz="2000" dirty="0" smtClean="0">
                <a:ea typeface="ヒラギノ角ゴ Pro W3" pitchFamily="-84" charset="-128"/>
              </a:rPr>
              <a:t>Algebra to make sure that the logic is correct</a:t>
            </a:r>
          </a:p>
          <a:p>
            <a:pPr marL="857250" lvl="1" indent="-457200">
              <a:spcBef>
                <a:spcPts val="525"/>
              </a:spcBef>
              <a:buFont typeface="Verdana" panose="020B0604030504040204" pitchFamily="34" charset="0"/>
              <a:buAutoNum type="arabicPeriod"/>
            </a:pPr>
            <a:r>
              <a:rPr lang="en-US" sz="2000" dirty="0" smtClean="0">
                <a:ea typeface="ヒラギノ角ゴ Pro W3" pitchFamily="-84" charset="-128"/>
              </a:rPr>
              <a:t>Graphs to build the tuition</a:t>
            </a:r>
          </a:p>
          <a:p>
            <a:pPr marL="857250" lvl="1" indent="-457200">
              <a:spcBef>
                <a:spcPts val="525"/>
              </a:spcBef>
              <a:buFont typeface="Verdana" panose="020B0604030504040204" pitchFamily="34" charset="0"/>
              <a:buAutoNum type="arabicPeriod"/>
            </a:pPr>
            <a:r>
              <a:rPr lang="en-US" sz="2000" dirty="0" smtClean="0">
                <a:ea typeface="ヒラギノ角ゴ Pro W3" pitchFamily="-84" charset="-128"/>
              </a:rPr>
              <a:t>Words to explain the results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pic>
        <p:nvPicPr>
          <p:cNvPr id="23555" name="Picture 6" descr="eq03_08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316730"/>
            <a:ext cx="84407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30480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1200"/>
              </a:spcAft>
            </a:pPr>
            <a:r>
              <a:rPr lang="en-US" sz="2400" dirty="0" smtClean="0">
                <a:ea typeface="ヒラギノ角ゴ Pro W3" pitchFamily="-84" charset="-128"/>
              </a:rPr>
              <a:t>Rewrite equation (3.7):</a:t>
            </a:r>
          </a:p>
          <a:p>
            <a:pPr>
              <a:spcBef>
                <a:spcPts val="525"/>
              </a:spcBef>
              <a:spcAft>
                <a:spcPts val="1200"/>
              </a:spcAft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spcAft>
                <a:spcPts val="1200"/>
              </a:spcAft>
            </a:pPr>
            <a:r>
              <a:rPr lang="en-US" sz="2400" dirty="0" smtClean="0">
                <a:ea typeface="ヒラギノ角ゴ Pro W3" pitchFamily="-84" charset="-128"/>
              </a:rPr>
              <a:t>Reorganize the equation:</a:t>
            </a:r>
          </a:p>
          <a:p>
            <a:pPr>
              <a:spcBef>
                <a:spcPts val="525"/>
              </a:spcBef>
              <a:spcAft>
                <a:spcPts val="1200"/>
              </a:spcAft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spcAft>
                <a:spcPts val="1200"/>
              </a:spcAft>
            </a:pPr>
            <a:r>
              <a:rPr lang="en-US" sz="2400" dirty="0" smtClean="0">
                <a:ea typeface="ヒラギノ角ゴ Pro W3" pitchFamily="-84" charset="-128"/>
              </a:rPr>
              <a:t>Divide both sides by (1 −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dirty="0" smtClean="0">
                <a:ea typeface="ヒラギノ角ゴ Pro W3" pitchFamily="-84" charset="-128"/>
              </a:rPr>
              <a:t>):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</a:pPr>
            <a:endParaRPr lang="en-US" sz="2400" dirty="0">
              <a:ea typeface="ヒラギノ角ゴ Pro W3" pitchFamily="-84" charset="-128"/>
            </a:endParaRPr>
          </a:p>
          <a:p>
            <a:pPr marL="341313" indent="0">
              <a:spcBef>
                <a:spcPts val="525"/>
              </a:spcBef>
              <a:buNone/>
            </a:pPr>
            <a:r>
              <a:rPr lang="en-US" sz="2400" dirty="0" smtClean="0">
                <a:ea typeface="ヒラギノ角ゴ Pro W3" pitchFamily="-84" charset="-128"/>
              </a:rPr>
              <a:t>which characterizes equilibrium output in algebra.</a:t>
            </a:r>
          </a:p>
        </p:txBody>
      </p:sp>
      <p:pic>
        <p:nvPicPr>
          <p:cNvPr id="23557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44799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2963863"/>
            <a:ext cx="48387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2355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295400"/>
                <a:ext cx="8382000" cy="4724400"/>
              </a:xfrm>
            </p:spPr>
            <p:txBody>
              <a:bodyPr/>
              <a:lstStyle/>
              <a:p>
                <a:pPr>
                  <a:spcBef>
                    <a:spcPts val="525"/>
                  </a:spcBef>
                  <a:spcAft>
                    <a:spcPts val="1200"/>
                  </a:spcAft>
                </a:pPr>
                <a:r>
                  <a:rPr lang="en-US" sz="2400" b="1" dirty="0" smtClean="0">
                    <a:ea typeface="ヒラギノ角ゴ Pro W3" pitchFamily="-84" charset="-128"/>
                  </a:rPr>
                  <a:t>Autonomous spending</a:t>
                </a: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  <a:ea typeface="ヒラギノ角ゴ Pro W3" pitchFamily="-84" charset="-128"/>
                  </a:rPr>
                  <a:t>: </a:t>
                </a: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[</a:t>
                </a:r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0</a:t>
                </a:r>
                <a:r>
                  <a:rPr lang="en-US" baseline="-25000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ヒラギノ角ゴ Pro W3" pitchFamily="-84" charset="-128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𝐼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+ </a:t>
                </a:r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G</a:t>
                </a: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– </a:t>
                </a:r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</a:t>
                </a: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]</a:t>
                </a:r>
              </a:p>
              <a:p>
                <a:pPr>
                  <a:spcBef>
                    <a:spcPts val="525"/>
                  </a:spcBef>
                  <a:spcAft>
                    <a:spcPts val="1200"/>
                  </a:spcAft>
                </a:pPr>
                <a:r>
                  <a:rPr lang="en-US" sz="2400" dirty="0" smtClean="0">
                    <a:ea typeface="ヒラギノ角ゴ Pro W3" pitchFamily="-84" charset="-128"/>
                  </a:rPr>
                  <a:t>Autonomous spending is positive because if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</a:t>
                </a:r>
                <a:r>
                  <a:rPr lang="en-US" sz="2400" i="1" dirty="0" smtClean="0">
                    <a:ea typeface="ヒラギノ角ゴ Pro W3" pitchFamily="-84" charset="-128"/>
                  </a:rPr>
                  <a:t> =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G</a:t>
                </a:r>
                <a:r>
                  <a:rPr lang="en-US" sz="2400" i="1" dirty="0" smtClean="0">
                    <a:ea typeface="ヒラギノ角ゴ Pro W3" pitchFamily="-84" charset="-128"/>
                  </a:rPr>
                  <a:t> </a:t>
                </a:r>
                <a:r>
                  <a:rPr lang="en-US" sz="2400" dirty="0" smtClean="0">
                    <a:ea typeface="ヒラギノ角ゴ Pro W3" pitchFamily="-84" charset="-128"/>
                  </a:rPr>
                  <a:t>(</a:t>
                </a:r>
                <a:r>
                  <a:rPr lang="en-US" sz="2400" b="1" dirty="0" smtClean="0">
                    <a:ea typeface="ヒラギノ角ゴ Pro W3" pitchFamily="-84" charset="-128"/>
                  </a:rPr>
                  <a:t>balanced budget</a:t>
                </a:r>
                <a:r>
                  <a:rPr lang="en-US" sz="2400" dirty="0" smtClean="0">
                    <a:ea typeface="ヒラギノ角ゴ Pro W3" pitchFamily="-84" charset="-128"/>
                  </a:rPr>
                  <a:t>) and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  <a:r>
                  <a:rPr lang="en-US" sz="2400" dirty="0" smtClean="0">
                    <a:ea typeface="ヒラギノ角ゴ Pro W3" pitchFamily="-84" charset="-128"/>
                  </a:rPr>
                  <a:t>is between 0 and 1, then (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G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:r>
                  <a:rPr lang="en-US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–</a:t>
                </a:r>
                <a:r>
                  <a:rPr lang="en-US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</a:t>
                </a:r>
                <a:r>
                  <a:rPr lang="en-US" sz="2400" dirty="0" smtClean="0">
                    <a:ea typeface="ヒラギノ角ゴ Pro W3" pitchFamily="-84" charset="-128"/>
                  </a:rPr>
                  <a:t>) is positive, and so is autonomous spending.</a:t>
                </a:r>
              </a:p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 smtClean="0">
                    <a:ea typeface="ヒラギノ角ゴ Pro W3" pitchFamily="-84" charset="-128"/>
                  </a:rPr>
                  <a:t>The term 1/(1-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  <a:r>
                  <a:rPr lang="en-US" sz="2400" dirty="0" smtClean="0">
                    <a:ea typeface="ヒラギノ角ゴ Pro W3" pitchFamily="-84" charset="-128"/>
                  </a:rPr>
                  <a:t>) is the </a:t>
                </a:r>
                <a:r>
                  <a:rPr lang="en-US" sz="2400" b="1" dirty="0" smtClean="0">
                    <a:ea typeface="ヒラギノ角ゴ Pro W3" pitchFamily="-84" charset="-128"/>
                  </a:rPr>
                  <a:t>multiplier</a:t>
                </a:r>
                <a:r>
                  <a:rPr lang="en-US" sz="2400" dirty="0" smtClean="0">
                    <a:ea typeface="ヒラギノ角ゴ Pro W3" pitchFamily="-84" charset="-128"/>
                  </a:rPr>
                  <a:t>, which is larger when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  <a:r>
                  <a:rPr lang="en-US" sz="2400" dirty="0" smtClean="0">
                    <a:ea typeface="ヒラギノ角ゴ Pro W3" pitchFamily="-84" charset="-128"/>
                  </a:rPr>
                  <a:t> is closer to 1.</a:t>
                </a:r>
              </a:p>
              <a:p>
                <a:pPr>
                  <a:spcBef>
                    <a:spcPts val="525"/>
                  </a:spcBef>
                  <a:spcAft>
                    <a:spcPts val="1200"/>
                  </a:spcAft>
                </a:pPr>
                <a:r>
                  <a:rPr lang="en-US" sz="2400" dirty="0" smtClean="0">
                    <a:ea typeface="ヒラギノ角ゴ Pro W3" pitchFamily="-84" charset="-128"/>
                  </a:rPr>
                  <a:t>If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1</a:t>
                </a:r>
                <a:r>
                  <a:rPr lang="en-US" sz="2400" dirty="0" smtClean="0">
                    <a:ea typeface="ヒラギノ角ゴ Pro W3" pitchFamily="-84" charset="-128"/>
                  </a:rPr>
                  <a:t> equals 0.6, the multiplier equals 1/(1</a:t>
                </a:r>
                <a:r>
                  <a:rPr lang="en-US" sz="2400" dirty="0">
                    <a:ea typeface="ヒラギノ角ゴ Pro W3" pitchFamily="-84" charset="-128"/>
                  </a:rPr>
                  <a:t> – </a:t>
                </a:r>
                <a:r>
                  <a:rPr lang="en-US" sz="2400" dirty="0" smtClean="0">
                    <a:ea typeface="ヒラギノ角ゴ Pro W3" pitchFamily="-84" charset="-128"/>
                  </a:rPr>
                  <a:t>0.6) = 2.5, meaning that an increase of consumption by $1 billion will increase output by 2.5 x $1 billion = $2.5 billion.</a:t>
                </a: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</a:pPr>
                <a:endParaRPr lang="en-US" sz="2400" dirty="0" smtClean="0">
                  <a:ea typeface="ヒラギノ角ゴ Pro W3" pitchFamily="-84" charset="-128"/>
                </a:endParaRPr>
              </a:p>
            </p:txBody>
          </p:sp>
        </mc:Choice>
        <mc:Fallback>
          <p:sp>
            <p:nvSpPr>
              <p:cNvPr id="2355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95400"/>
                <a:ext cx="8382000" cy="4724400"/>
              </a:xfrm>
              <a:blipFill rotWithShape="0">
                <a:blip r:embed="rId2" cstate="print"/>
                <a:stretch>
                  <a:fillRect l="-2255" t="-2323" r="-3055" b="-7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90152652"/>
      </p:ext>
    </p:extLst>
  </p:cSld>
  <p:clrMapOvr>
    <a:masterClrMapping/>
  </p:clrMapOvr>
  <p:transition>
    <p:strips dir="l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5720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1200"/>
              </a:spcAft>
              <a:defRPr/>
            </a:pPr>
            <a:r>
              <a:rPr lang="en-US" sz="2400" dirty="0" smtClean="0">
                <a:ea typeface="ヒラギノ角ゴ Pro W3" pitchFamily="-84" charset="-128"/>
              </a:rPr>
              <a:t>Steps to characterize the equilibrium graphically:</a:t>
            </a:r>
          </a:p>
          <a:p>
            <a:pPr marL="857250" lvl="1" indent="-457200">
              <a:spcBef>
                <a:spcPts val="525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 smtClean="0">
                <a:ea typeface="ヒラギノ角ゴ Pro W3" pitchFamily="-84" charset="-128"/>
              </a:rPr>
              <a:t>Plot production as a function of income. Because production equals income, their relation is the 45-degree line.</a:t>
            </a:r>
          </a:p>
          <a:p>
            <a:pPr marL="857250" lvl="1" indent="-457200">
              <a:spcBef>
                <a:spcPts val="525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 smtClean="0">
                <a:ea typeface="ヒラギノ角ゴ Pro W3" pitchFamily="-84" charset="-128"/>
              </a:rPr>
              <a:t>Plot demand as a function of income.</a:t>
            </a:r>
          </a:p>
          <a:p>
            <a:pPr marL="857250" lvl="1" indent="-457200">
              <a:spcBef>
                <a:spcPts val="525"/>
              </a:spcBef>
              <a:spcAft>
                <a:spcPts val="600"/>
              </a:spcAft>
              <a:buFont typeface="+mj-lt"/>
              <a:buAutoNum type="arabicPeriod"/>
              <a:defRPr/>
            </a:pPr>
            <a:endParaRPr lang="en-US" sz="2000" dirty="0">
              <a:ea typeface="ヒラギノ角ゴ Pro W3" pitchFamily="-84" charset="-128"/>
            </a:endParaRPr>
          </a:p>
          <a:p>
            <a:pPr marL="857250" lvl="1" indent="-457200">
              <a:spcBef>
                <a:spcPts val="525"/>
              </a:spcBef>
              <a:spcAft>
                <a:spcPts val="600"/>
              </a:spcAft>
              <a:buFont typeface="+mj-lt"/>
              <a:buAutoNum type="arabicPeriod"/>
              <a:defRPr/>
            </a:pPr>
            <a:endParaRPr lang="en-US" sz="2000" dirty="0" smtClean="0">
              <a:ea typeface="ヒラギノ角ゴ Pro W3" pitchFamily="-84" charset="-128"/>
            </a:endParaRPr>
          </a:p>
          <a:p>
            <a:pPr marL="857250" lvl="1" indent="-457200">
              <a:spcBef>
                <a:spcPts val="525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dirty="0" smtClean="0">
                <a:ea typeface="ヒラギノ角ゴ Pro W3" pitchFamily="-84" charset="-128"/>
              </a:rPr>
              <a:t>In equilibrium, production equals demand.</a:t>
            </a:r>
          </a:p>
          <a:p>
            <a:pPr>
              <a:spcBef>
                <a:spcPts val="525"/>
              </a:spcBef>
              <a:spcAft>
                <a:spcPts val="1200"/>
              </a:spcAft>
              <a:defRPr/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spcAft>
                <a:spcPts val="1200"/>
              </a:spcAft>
              <a:defRPr/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spcAft>
                <a:spcPts val="1200"/>
              </a:spcAft>
              <a:defRPr/>
            </a:pP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spcAft>
                <a:spcPts val="1200"/>
              </a:spcAft>
              <a:defRPr/>
            </a:pPr>
            <a:endParaRPr lang="en-US" sz="2400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spcAft>
                <a:spcPts val="1200"/>
              </a:spcAft>
              <a:defRPr/>
            </a:pPr>
            <a:r>
              <a:rPr lang="en-US" sz="2400" dirty="0" smtClean="0">
                <a:ea typeface="ヒラギノ角ゴ Pro W3" pitchFamily="-84" charset="-128"/>
              </a:rPr>
              <a:t>                       is   </a:t>
            </a:r>
            <a:r>
              <a:rPr lang="en-US" sz="2400" dirty="0" err="1" smtClean="0">
                <a:ea typeface="ヒラギノ角ゴ Pro W3" pitchFamily="-84" charset="-128"/>
              </a:rPr>
              <a:t>is</a:t>
            </a:r>
            <a:r>
              <a:rPr lang="en-US" sz="2400" dirty="0" smtClean="0">
                <a:ea typeface="ヒラギノ角ゴ Pro W3" pitchFamily="-84" charset="-128"/>
              </a:rPr>
              <a:t> called </a:t>
            </a:r>
            <a:r>
              <a:rPr lang="en-US" sz="2400" b="1" dirty="0" smtClean="0">
                <a:ea typeface="ヒラギノ角ゴ Pro W3" pitchFamily="-84" charset="-128"/>
              </a:rPr>
              <a:t>autonomous spending </a:t>
            </a:r>
            <a:r>
              <a:rPr lang="en-US" sz="2400" dirty="0" smtClean="0">
                <a:ea typeface="ヒラギノ角ゴ Pro W3" pitchFamily="-84" charset="-128"/>
              </a:rPr>
              <a:t>because it does not depend on output.</a:t>
            </a:r>
          </a:p>
          <a:p>
            <a:pPr>
              <a:spcBef>
                <a:spcPts val="525"/>
              </a:spcBef>
              <a:spcAft>
                <a:spcPts val="1200"/>
              </a:spcAft>
              <a:defRPr/>
            </a:pPr>
            <a:r>
              <a:rPr lang="en-US" sz="2400" dirty="0" smtClean="0">
                <a:ea typeface="ヒラギノ角ゴ Pro W3" pitchFamily="-84" charset="-128"/>
              </a:rPr>
              <a:t>If </a:t>
            </a:r>
            <a:r>
              <a:rPr lang="en-US" sz="2400" i="1" dirty="0" smtClean="0">
                <a:ea typeface="ヒラギノ角ゴ Pro W3" pitchFamily="-84" charset="-128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=</a:t>
            </a:r>
            <a:r>
              <a:rPr lang="en-US" sz="2400" i="1" dirty="0" smtClean="0">
                <a:ea typeface="ヒラギノ角ゴ Pro W3" pitchFamily="-84" charset="-128"/>
              </a:rPr>
              <a:t>G</a:t>
            </a:r>
            <a:r>
              <a:rPr lang="en-US" sz="2400" dirty="0" smtClean="0">
                <a:ea typeface="ヒラギノ角ゴ Pro W3" pitchFamily="-84" charset="-128"/>
              </a:rPr>
              <a:t> (</a:t>
            </a:r>
            <a:r>
              <a:rPr lang="en-US" sz="2400" b="1" dirty="0" smtClean="0">
                <a:ea typeface="ヒラギノ角ゴ Pro W3" pitchFamily="-84" charset="-128"/>
              </a:rPr>
              <a:t>balanced budget</a:t>
            </a:r>
            <a:r>
              <a:rPr lang="en-US" sz="2400" dirty="0" smtClean="0">
                <a:ea typeface="ヒラギノ角ゴ Pro W3" pitchFamily="-84" charset="-128"/>
              </a:rPr>
              <a:t>) and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dirty="0" smtClean="0">
                <a:ea typeface="ヒラギノ角ゴ Pro W3" pitchFamily="-84" charset="-128"/>
              </a:rPr>
              <a:t> is less than 1, then (</a:t>
            </a:r>
            <a:r>
              <a:rPr lang="en-US" sz="2400" i="1" dirty="0" smtClean="0">
                <a:ea typeface="ヒラギノ角ゴ Pro W3" pitchFamily="-84" charset="-128"/>
              </a:rPr>
              <a:t>G−c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i="1" dirty="0" smtClean="0">
                <a:ea typeface="ヒラギノ角ゴ Pro W3" pitchFamily="-84" charset="-128"/>
              </a:rPr>
              <a:t>T</a:t>
            </a:r>
            <a:r>
              <a:rPr lang="en-US" sz="2400" dirty="0" smtClean="0">
                <a:ea typeface="ヒラギノ角ゴ Pro W3" pitchFamily="-84" charset="-128"/>
              </a:rPr>
              <a:t>) is positive and so is autonomous spending. </a:t>
            </a:r>
            <a:endParaRPr lang="en-US" sz="24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spcAft>
                <a:spcPts val="1200"/>
              </a:spcAft>
              <a:defRPr/>
            </a:pPr>
            <a:r>
              <a:rPr lang="en-US" sz="2400" dirty="0" smtClean="0">
                <a:ea typeface="ヒラギノ角ゴ Pro W3" pitchFamily="-84" charset="-128"/>
              </a:rPr>
              <a:t>The term 1/(1</a:t>
            </a:r>
            <a:r>
              <a:rPr lang="en-US" sz="2400" i="1" dirty="0" smtClean="0">
                <a:ea typeface="ヒラギノ角ゴ Pro W3" pitchFamily="-84" charset="-128"/>
              </a:rPr>
              <a:t>−c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dirty="0" smtClean="0">
                <a:ea typeface="ヒラギノ角ゴ Pro W3" pitchFamily="-84" charset="-128"/>
              </a:rPr>
              <a:t>)</a:t>
            </a:r>
            <a:r>
              <a:rPr lang="en-US" sz="2400" i="1" dirty="0" smtClean="0">
                <a:ea typeface="ヒラギノ角ゴ Pro W3" pitchFamily="-84" charset="-128"/>
              </a:rPr>
              <a:t> </a:t>
            </a:r>
            <a:r>
              <a:rPr lang="en-US" sz="2400" dirty="0" smtClean="0">
                <a:ea typeface="ヒラギノ角ゴ Pro W3" pitchFamily="-84" charset="-128"/>
              </a:rPr>
              <a:t>is called the </a:t>
            </a:r>
            <a:r>
              <a:rPr lang="en-US" sz="2400" b="1" dirty="0" smtClean="0">
                <a:ea typeface="ヒラギノ角ゴ Pro W3" pitchFamily="-84" charset="-128"/>
              </a:rPr>
              <a:t>multiplier</a:t>
            </a:r>
            <a:r>
              <a:rPr lang="en-US" sz="2400" dirty="0" smtClean="0">
                <a:ea typeface="ヒラギノ角ゴ Pro W3" pitchFamily="-84" charset="-128"/>
              </a:rPr>
              <a:t>, which is larger if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dirty="0" smtClean="0">
                <a:ea typeface="ヒラギノ角ゴ Pro W3" pitchFamily="-84" charset="-128"/>
              </a:rPr>
              <a:t> is closer to 1.</a:t>
            </a:r>
          </a:p>
          <a:p>
            <a:pPr marL="0" indent="0">
              <a:spcBef>
                <a:spcPts val="525"/>
              </a:spcBef>
              <a:buFontTx/>
              <a:buNone/>
              <a:defRPr/>
            </a:pPr>
            <a:endParaRPr lang="en-US" sz="2400" dirty="0" smtClean="0">
              <a:ea typeface="ヒラギノ角ゴ Pro W3" pitchFamily="-84" charset="-128"/>
            </a:endParaRPr>
          </a:p>
        </p:txBody>
      </p:sp>
      <p:pic>
        <p:nvPicPr>
          <p:cNvPr id="24580" name="Picture 7" descr="eq03_09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81400"/>
            <a:ext cx="81534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pic>
        <p:nvPicPr>
          <p:cNvPr id="25603" name="Picture 4" descr="fig03_02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496714"/>
            <a:ext cx="4835525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357188" y="1447800"/>
            <a:ext cx="2767012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3-2  </a:t>
            </a:r>
            <a:r>
              <a:rPr lang="en-US" sz="1800" dirty="0"/>
              <a:t>Equilibrium in the </a:t>
            </a:r>
            <a:r>
              <a:rPr lang="en-US" sz="1800" dirty="0" smtClean="0"/>
              <a:t>Goods Market</a:t>
            </a:r>
            <a:endParaRPr lang="en-US" sz="1800" dirty="0"/>
          </a:p>
          <a:p>
            <a:pPr>
              <a:spcBef>
                <a:spcPct val="0"/>
              </a:spcBef>
              <a:buFontTx/>
              <a:buNone/>
            </a:pPr>
            <a:endParaRPr lang="en-US" sz="2000" dirty="0"/>
          </a:p>
          <a:p>
            <a:pPr>
              <a:spcBef>
                <a:spcPct val="0"/>
              </a:spcBef>
              <a:buFontTx/>
              <a:buNone/>
            </a:pPr>
            <a:endParaRPr lang="en-US" sz="20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Equilibrium output is determined by the condition that production is equal to demand.</a:t>
            </a:r>
          </a:p>
        </p:txBody>
      </p:sp>
    </p:spTree>
  </p:cSld>
  <p:clrMapOvr>
    <a:masterClrMapping/>
  </p:clrMapOvr>
  <p:transition>
    <p:strips dir="l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sp>
        <p:nvSpPr>
          <p:cNvPr id="26627" name="TextBox 5"/>
          <p:cNvSpPr txBox="1">
            <a:spLocks noChangeArrowheads="1"/>
          </p:cNvSpPr>
          <p:nvPr/>
        </p:nvSpPr>
        <p:spPr bwMode="auto">
          <a:xfrm>
            <a:off x="381000" y="2316163"/>
            <a:ext cx="342900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 b="1" dirty="0"/>
              <a:t>Figure 3-3  </a:t>
            </a:r>
            <a:r>
              <a:rPr lang="en-US" sz="1800" dirty="0"/>
              <a:t>The effects of an increase in autonomous spending on output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800" dirty="0"/>
          </a:p>
          <a:p>
            <a:pPr>
              <a:spcBef>
                <a:spcPct val="0"/>
              </a:spcBef>
              <a:buFontTx/>
              <a:buNone/>
            </a:pPr>
            <a:endParaRPr lang="en-US" sz="18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An increase in autonomous spending has a more than one-for-one effect on equilibrium output.</a:t>
            </a:r>
          </a:p>
        </p:txBody>
      </p:sp>
      <p:pic>
        <p:nvPicPr>
          <p:cNvPr id="26628" name="Picture 6" descr="fig03_03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992987"/>
            <a:ext cx="4572000" cy="442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5"/>
          <p:cNvSpPr txBox="1">
            <a:spLocks noChangeArrowheads="1"/>
          </p:cNvSpPr>
          <p:nvPr/>
        </p:nvSpPr>
        <p:spPr bwMode="auto">
          <a:xfrm>
            <a:off x="381000" y="1352550"/>
            <a:ext cx="6629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Verdana" panose="020B0604030504040204" pitchFamily="34" charset="0"/>
                <a:ea typeface="ヒラギノ角ゴ Pro W3" pitchFamily="-8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sz="2200" dirty="0"/>
              <a:t>Suppose </a:t>
            </a:r>
            <a:r>
              <a:rPr lang="en-US" sz="2200" i="1" dirty="0"/>
              <a:t>c</a:t>
            </a:r>
            <a:r>
              <a:rPr lang="en-US" sz="2200" baseline="-25000" dirty="0"/>
              <a:t>0</a:t>
            </a:r>
            <a:r>
              <a:rPr lang="en-US" sz="2200" dirty="0"/>
              <a:t> increases by $1 billion.</a:t>
            </a:r>
          </a:p>
        </p:txBody>
      </p:sp>
    </p:spTree>
  </p:cSld>
  <p:clrMapOvr>
    <a:masterClrMapping/>
  </p:clrMapOvr>
  <p:transition>
    <p:strips dir="l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191000"/>
          </a:xfrm>
        </p:spPr>
        <p:txBody>
          <a:bodyPr/>
          <a:lstStyle/>
          <a:p>
            <a:pPr>
              <a:spcBef>
                <a:spcPts val="525"/>
              </a:spcBef>
              <a:defRPr/>
            </a:pPr>
            <a:r>
              <a:rPr lang="en-US" sz="2400" i="1" dirty="0" smtClean="0">
                <a:ea typeface="ヒラギノ角ゴ Pro W3" pitchFamily="-84" charset="-128"/>
              </a:rPr>
              <a:t>AB</a:t>
            </a:r>
            <a:r>
              <a:rPr lang="en-US" sz="2400" dirty="0" smtClean="0">
                <a:ea typeface="ヒラギノ角ゴ Pro W3" pitchFamily="-84" charset="-128"/>
              </a:rPr>
              <a:t>: first-round increase in production</a:t>
            </a:r>
          </a:p>
          <a:p>
            <a:pPr>
              <a:spcBef>
                <a:spcPts val="525"/>
              </a:spcBef>
              <a:defRPr/>
            </a:pPr>
            <a:r>
              <a:rPr lang="en-US" sz="2400" i="1" dirty="0" smtClean="0">
                <a:ea typeface="ヒラギノ角ゴ Pro W3" pitchFamily="-84" charset="-128"/>
              </a:rPr>
              <a:t>BC</a:t>
            </a:r>
            <a:r>
              <a:rPr lang="en-US" sz="2400" dirty="0" smtClean="0">
                <a:ea typeface="ヒラギノ角ゴ Pro W3" pitchFamily="-84" charset="-128"/>
              </a:rPr>
              <a:t>: first-round increase in income</a:t>
            </a:r>
          </a:p>
          <a:p>
            <a:pPr>
              <a:spcBef>
                <a:spcPts val="525"/>
              </a:spcBef>
              <a:defRPr/>
            </a:pPr>
            <a:r>
              <a:rPr lang="en-US" sz="2400" i="1" dirty="0" smtClean="0">
                <a:ea typeface="ヒラギノ角ゴ Pro W3" pitchFamily="-84" charset="-128"/>
              </a:rPr>
              <a:t>CD</a:t>
            </a:r>
            <a:r>
              <a:rPr lang="en-US" sz="2400" dirty="0" smtClean="0">
                <a:ea typeface="ヒラギノ角ゴ Pro W3" pitchFamily="-84" charset="-128"/>
              </a:rPr>
              <a:t>: second-round increase in demand</a:t>
            </a:r>
          </a:p>
          <a:p>
            <a:pPr>
              <a:spcBef>
                <a:spcPts val="525"/>
              </a:spcBef>
              <a:defRPr/>
            </a:pPr>
            <a:r>
              <a:rPr lang="en-US" sz="2400" i="1" dirty="0" smtClean="0">
                <a:ea typeface="ヒラギノ角ゴ Pro W3" pitchFamily="-84" charset="-128"/>
              </a:rPr>
              <a:t>DE</a:t>
            </a:r>
            <a:r>
              <a:rPr lang="en-US" sz="2400" dirty="0" smtClean="0">
                <a:ea typeface="ヒラギノ角ゴ Pro W3" pitchFamily="-84" charset="-128"/>
              </a:rPr>
              <a:t>: second-round increase in production and income</a:t>
            </a:r>
          </a:p>
          <a:p>
            <a:pPr>
              <a:spcBef>
                <a:spcPts val="525"/>
              </a:spcBef>
              <a:defRPr/>
            </a:pPr>
            <a:r>
              <a:rPr lang="en-US" sz="2400" dirty="0" smtClean="0">
                <a:ea typeface="ヒラギノ角ゴ Pro W3" pitchFamily="-84" charset="-128"/>
              </a:rPr>
              <a:t>The total increase in production after n+1 rounds: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Tx/>
              <a:buNone/>
              <a:defRPr/>
            </a:pPr>
            <a:r>
              <a:rPr lang="en-US" sz="2400" dirty="0" smtClean="0">
                <a:ea typeface="ヒラギノ角ゴ Pro W3" pitchFamily="-84" charset="-128"/>
              </a:rPr>
              <a:t>               1 +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dirty="0" smtClean="0">
                <a:ea typeface="ヒラギノ角ゴ Pro W3" pitchFamily="-84" charset="-128"/>
              </a:rPr>
              <a:t> +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baseline="30000" dirty="0" smtClean="0">
                <a:ea typeface="ヒラギノ角ゴ Pro W3" pitchFamily="-84" charset="-128"/>
              </a:rPr>
              <a:t>2</a:t>
            </a:r>
            <a:r>
              <a:rPr lang="en-US" sz="2400" dirty="0" smtClean="0">
                <a:ea typeface="ヒラギノ角ゴ Pro W3" pitchFamily="-84" charset="-128"/>
              </a:rPr>
              <a:t> + … + 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baseline="30000" dirty="0">
                <a:ea typeface="ヒラギノ角ゴ Pro W3" pitchFamily="-84" charset="-128"/>
              </a:rPr>
              <a:t>n</a:t>
            </a:r>
            <a:endParaRPr lang="en-US" sz="2400" dirty="0" smtClean="0">
              <a:ea typeface="ヒラギノ角ゴ Pro W3" pitchFamily="-84" charset="-128"/>
            </a:endParaRPr>
          </a:p>
          <a:p>
            <a:pPr marL="341313" indent="0">
              <a:spcBef>
                <a:spcPts val="525"/>
              </a:spcBef>
              <a:buNone/>
              <a:defRPr/>
            </a:pPr>
            <a:r>
              <a:rPr lang="en-US" sz="2400" dirty="0" smtClean="0">
                <a:ea typeface="ヒラギノ角ゴ Pro W3" pitchFamily="-84" charset="-128"/>
              </a:rPr>
              <a:t>which is a </a:t>
            </a:r>
            <a:r>
              <a:rPr lang="en-US" sz="2400" b="1" dirty="0" smtClean="0">
                <a:ea typeface="ヒラギノ角ゴ Pro W3" pitchFamily="-84" charset="-128"/>
              </a:rPr>
              <a:t>geometric series </a:t>
            </a:r>
            <a:r>
              <a:rPr lang="en-US" sz="2400" dirty="0" smtClean="0">
                <a:ea typeface="ヒラギノ角ゴ Pro W3" pitchFamily="-84" charset="-128"/>
              </a:rPr>
              <a:t>with a limit of 1/(1-</a:t>
            </a:r>
            <a:r>
              <a:rPr lang="en-US" sz="2400" i="1" dirty="0" smtClean="0">
                <a:ea typeface="ヒラギノ角ゴ Pro W3" pitchFamily="-84" charset="-128"/>
              </a:rPr>
              <a:t>c</a:t>
            </a:r>
            <a:r>
              <a:rPr lang="en-US" sz="2400" baseline="-25000" dirty="0" smtClean="0">
                <a:ea typeface="ヒラギノ角ゴ Pro W3" pitchFamily="-84" charset="-128"/>
              </a:rPr>
              <a:t>1</a:t>
            </a:r>
            <a:r>
              <a:rPr lang="en-US" sz="2400" dirty="0" smtClean="0">
                <a:ea typeface="ヒラギノ角ゴ Pro W3" pitchFamily="-84" charset="-128"/>
              </a:rPr>
              <a:t>).</a:t>
            </a:r>
          </a:p>
        </p:txBody>
      </p:sp>
    </p:spTree>
  </p:cSld>
  <p:clrMapOvr>
    <a:masterClrMapping/>
  </p:clrMapOvr>
  <p:transition>
    <p:strips dir="l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1910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dirty="0" smtClean="0">
                <a:ea typeface="ヒラギノ角ゴ Pro W3" pitchFamily="-84" charset="-128"/>
              </a:rPr>
              <a:t>To summarize our findings using words: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Production depends on demand, which depends on income, which is itself equal to production.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An increase in demand leads to an increase in production and income, which in turn leads to a future increase in demand.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The increase in output that is larger than the initial shift in demand, by a factor equal to the multiplier.</a:t>
            </a:r>
          </a:p>
          <a:p>
            <a:pPr lvl="1"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The multiplier depends on the propensity to consume, which can be estimated using </a:t>
            </a:r>
            <a:r>
              <a:rPr lang="en-US" sz="2000" b="1" dirty="0" smtClean="0">
                <a:ea typeface="ヒラギノ角ゴ Pro W3" pitchFamily="-84" charset="-128"/>
              </a:rPr>
              <a:t>econometrics</a:t>
            </a:r>
            <a:r>
              <a:rPr lang="en-US" sz="2000" dirty="0" smtClean="0">
                <a:ea typeface="ヒラギノ角ゴ Pro W3" pitchFamily="-84" charset="-128"/>
              </a:rPr>
              <a:t>—the set of statistical methods used in economics.</a:t>
            </a:r>
          </a:p>
          <a:p>
            <a:pPr>
              <a:spcBef>
                <a:spcPts val="525"/>
              </a:spcBef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ヒラギノ角ゴ Pro W3" pitchFamily="-84" charset="-128"/>
              </a:rPr>
              <a:t>3-3 The Determination of Equilibrium Output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1910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400" smtClean="0">
                <a:ea typeface="ヒラギノ角ゴ Pro W3" pitchFamily="-84" charset="-128"/>
              </a:rPr>
              <a:t>The adjustment of output over time is called the </a:t>
            </a:r>
            <a:r>
              <a:rPr lang="en-US" sz="2400" b="1" smtClean="0">
                <a:ea typeface="ヒラギノ角ゴ Pro W3" pitchFamily="-84" charset="-128"/>
              </a:rPr>
              <a:t>dynamics</a:t>
            </a:r>
            <a:r>
              <a:rPr lang="en-US" sz="2400" smtClean="0">
                <a:ea typeface="ヒラギノ角ゴ Pro W3" pitchFamily="-84" charset="-128"/>
              </a:rPr>
              <a:t> of adjustment.</a:t>
            </a:r>
          </a:p>
          <a:p>
            <a:pPr>
              <a:spcBef>
                <a:spcPts val="525"/>
              </a:spcBef>
            </a:pPr>
            <a:r>
              <a:rPr lang="en-US" sz="2400" smtClean="0">
                <a:ea typeface="ヒラギノ角ゴ Pro W3" pitchFamily="-84" charset="-128"/>
              </a:rPr>
              <a:t>How long the adjustment takes depends on how and when firms revise their production schedule.</a:t>
            </a:r>
          </a:p>
        </p:txBody>
      </p:sp>
    </p:spTree>
  </p:cSld>
  <p:clrMapOvr>
    <a:masterClrMapping/>
  </p:clrMapOvr>
  <p:transition>
    <p:strips dir="l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01472" y="152400"/>
            <a:ext cx="8458200" cy="1143000"/>
          </a:xfrm>
        </p:spPr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FOCUS: The Lehman Bankruptcy, Fears of Another Great Depression, and Shifts in the Consumption Function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01472" y="1600200"/>
            <a:ext cx="8382000" cy="4191000"/>
          </a:xfrm>
        </p:spPr>
        <p:txBody>
          <a:bodyPr/>
          <a:lstStyle/>
          <a:p>
            <a:pPr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When people start worrying about the future, they decide to save more even if their current income has not changed.</a:t>
            </a:r>
          </a:p>
          <a:p>
            <a:pPr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News about Lehman Brothers going bankrupt in September 2008 reminded people of the Great Depression, as confirmed by the number of searches for “Great Depression” in Google.</a:t>
            </a:r>
          </a:p>
          <a:p>
            <a:pPr>
              <a:spcBef>
                <a:spcPts val="525"/>
              </a:spcBef>
            </a:pPr>
            <a:r>
              <a:rPr lang="en-US" sz="2000" dirty="0" smtClean="0">
                <a:ea typeface="ヒラギノ角ゴ Pro W3" pitchFamily="-84" charset="-128"/>
              </a:rPr>
              <a:t>Consumption fell even if disposable income had not yet changed.</a:t>
            </a:r>
          </a:p>
        </p:txBody>
      </p:sp>
    </p:spTree>
  </p:cSld>
  <p:clrMapOvr>
    <a:masterClrMapping/>
  </p:clrMapOvr>
  <p:transition>
    <p:strips dir="l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17459" cy="990600"/>
          </a:xfrm>
        </p:spPr>
        <p:txBody>
          <a:bodyPr/>
          <a:lstStyle/>
          <a:p>
            <a:pPr>
              <a:tabLst>
                <a:tab pos="969963" algn="l"/>
              </a:tabLst>
            </a:pPr>
            <a:r>
              <a:rPr lang="en-US" sz="2400" dirty="0" smtClean="0">
                <a:ea typeface="ヒラギノ角ゴ Pro W3" pitchFamily="-84" charset="-128"/>
              </a:rPr>
              <a:t>FOCUS: The Lehman Bankruptcy, Fears of Another Great Depression, and Shifts in the Consumption Function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34566" y="1752600"/>
            <a:ext cx="8382000" cy="762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800" b="1" dirty="0" smtClean="0">
                <a:ea typeface="ヒラギノ角ゴ Pro W3" pitchFamily="-84" charset="-128"/>
              </a:rPr>
              <a:t>Figure 1 </a:t>
            </a:r>
            <a:r>
              <a:rPr lang="en-US" sz="1800" dirty="0" smtClean="0">
                <a:ea typeface="ヒラギノ角ゴ Pro W3" pitchFamily="-84" charset="-128"/>
              </a:rPr>
              <a:t>Disposable Income, Consumption, and Consumption Of Durables In the United States, 2008:1 to 2009:3</a:t>
            </a:r>
          </a:p>
        </p:txBody>
      </p:sp>
      <p:pic>
        <p:nvPicPr>
          <p:cNvPr id="31748" name="Picture 4" descr="figure0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425286"/>
            <a:ext cx="6248400" cy="391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1295400"/>
          </a:xfrm>
        </p:spPr>
        <p:txBody>
          <a:bodyPr/>
          <a:lstStyle/>
          <a:p>
            <a:r>
              <a:rPr lang="en-US" sz="2400" dirty="0" smtClean="0">
                <a:ea typeface="ヒラギノ角ゴ Pro W3" pitchFamily="-84" charset="-128"/>
              </a:rPr>
              <a:t>FOCUS: The Lehman Bankruptcy, Fears of Another Great Depression, and Shifts in the Consumption Function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382000" cy="7620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800" b="1" dirty="0" smtClean="0">
                <a:ea typeface="ヒラギノ角ゴ Pro W3" pitchFamily="-84" charset="-128"/>
              </a:rPr>
              <a:t>Figure 2  </a:t>
            </a:r>
            <a:r>
              <a:rPr lang="en-US" sz="1800" dirty="0" smtClean="0">
                <a:ea typeface="ヒラギノ角ゴ Pro W3" pitchFamily="-84" charset="-128"/>
              </a:rPr>
              <a:t>Google Search Volume for “Great Depression,” January 2008 to September 2009</a:t>
            </a:r>
          </a:p>
        </p:txBody>
      </p:sp>
      <p:pic>
        <p:nvPicPr>
          <p:cNvPr id="32772" name="Picture 5" descr="figure02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6" y="2286000"/>
            <a:ext cx="770572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763000" cy="1143000"/>
          </a:xfrm>
        </p:spPr>
        <p:txBody>
          <a:bodyPr/>
          <a:lstStyle/>
          <a:p>
            <a:r>
              <a:rPr lang="en-US" sz="2400" smtClean="0">
                <a:ea typeface="ヒラギノ角ゴ Pro W3" pitchFamily="-84" charset="-128"/>
              </a:rPr>
              <a:t>3-4 Investment Equals Saving: An Alternative</a:t>
            </a:r>
            <a:br>
              <a:rPr lang="en-US" sz="2400" smtClean="0">
                <a:ea typeface="ヒラギノ角ゴ Pro W3" pitchFamily="-84" charset="-128"/>
              </a:rPr>
            </a:br>
            <a:r>
              <a:rPr lang="en-US" sz="2400" smtClean="0">
                <a:ea typeface="ヒラギノ角ゴ Pro W3" pitchFamily="-84" charset="-128"/>
              </a:rPr>
              <a:t>Way of Thinking about Goods—Market Equilibrium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295400"/>
                <a:ext cx="8382000" cy="5105400"/>
              </a:xfrm>
            </p:spPr>
            <p:txBody>
              <a:bodyPr/>
              <a:lstStyle/>
              <a:p>
                <a:pPr>
                  <a:spcBef>
                    <a:spcPts val="525"/>
                  </a:spcBef>
                  <a:spcAft>
                    <a:spcPts val="600"/>
                  </a:spcAft>
                  <a:defRPr/>
                </a:pPr>
                <a:r>
                  <a:rPr lang="en-US" sz="2400" dirty="0" smtClean="0">
                    <a:ea typeface="ヒラギノ角ゴ Pro W3" pitchFamily="-84" charset="-128"/>
                  </a:rPr>
                  <a:t>John Maynard Keynes articulated an alternative model that focuses instead on investment and saving in the General Theory of Employment, Interest and Money in 1936.</a:t>
                </a:r>
              </a:p>
              <a:p>
                <a:pPr>
                  <a:spcBef>
                    <a:spcPts val="525"/>
                  </a:spcBef>
                  <a:spcAft>
                    <a:spcPts val="600"/>
                  </a:spcAft>
                  <a:defRPr/>
                </a:pPr>
                <a:r>
                  <a:rPr lang="en-US" sz="2400" b="1" dirty="0" smtClean="0">
                    <a:ea typeface="ヒラギノ角ゴ Pro W3" pitchFamily="-84" charset="-128"/>
                  </a:rPr>
                  <a:t>Private saving </a:t>
                </a:r>
                <a:r>
                  <a:rPr lang="en-US" sz="2400" dirty="0" smtClean="0">
                    <a:ea typeface="ヒラギノ角ゴ Pro W3" pitchFamily="-84" charset="-128"/>
                  </a:rPr>
                  <a:t>(</a:t>
                </a:r>
                <a:r>
                  <a:rPr lang="en-US" sz="2400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S</a:t>
                </a:r>
                <a:r>
                  <a:rPr lang="en-US" sz="2400" dirty="0" smtClean="0">
                    <a:ea typeface="ヒラギノ角ゴ Pro W3" pitchFamily="-84" charset="-128"/>
                  </a:rPr>
                  <a:t>) is</a:t>
                </a:r>
              </a:p>
              <a:p>
                <a:pPr marL="0" indent="0" algn="ctr">
                  <a:spcBef>
                    <a:spcPts val="525"/>
                  </a:spcBef>
                  <a:spcAft>
                    <a:spcPts val="600"/>
                  </a:spcAft>
                  <a:buNone/>
                  <a:defRPr/>
                </a:pP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S ≡ Y</a:t>
                </a:r>
                <a:r>
                  <a:rPr lang="en-US" i="1" baseline="-25000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D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 − C</a:t>
                </a:r>
              </a:p>
              <a:p>
                <a:pPr marL="0" indent="0" algn="ctr">
                  <a:spcBef>
                    <a:spcPts val="525"/>
                  </a:spcBef>
                  <a:spcAft>
                    <a:spcPts val="600"/>
                  </a:spcAft>
                  <a:buNone/>
                  <a:defRPr/>
                </a:pP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S ≡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Y 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−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 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−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C</a:t>
                </a:r>
              </a:p>
              <a:p>
                <a:pPr>
                  <a:spcBef>
                    <a:spcPts val="525"/>
                  </a:spcBef>
                  <a:spcAft>
                    <a:spcPts val="600"/>
                  </a:spcAft>
                  <a:defRPr/>
                </a:pPr>
                <a:r>
                  <a:rPr lang="en-US" sz="2400" dirty="0" smtClean="0">
                    <a:ea typeface="ヒラギノ角ゴ Pro W3" pitchFamily="-84" charset="-128"/>
                  </a:rPr>
                  <a:t>By definition, </a:t>
                </a:r>
                <a:r>
                  <a:rPr lang="en-US" sz="2400" b="1" dirty="0" smtClean="0">
                    <a:ea typeface="ヒラギノ角ゴ Pro W3" pitchFamily="-84" charset="-128"/>
                  </a:rPr>
                  <a:t>public saving </a:t>
                </a:r>
                <a:r>
                  <a:rPr lang="en-US" sz="2400" dirty="0" smtClean="0">
                    <a:ea typeface="ヒラギノ角ゴ Pro W3" pitchFamily="-84" charset="-128"/>
                  </a:rPr>
                  <a:t>=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T </a:t>
                </a:r>
                <a:r>
                  <a:rPr lang="en-US" i="1" dirty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− </a:t>
                </a:r>
                <a:r>
                  <a:rPr lang="en-US" i="1" dirty="0" smtClean="0">
                    <a:latin typeface="Times New Roman" panose="02020603050405020304" pitchFamily="18" charset="0"/>
                    <a:ea typeface="ヒラギノ角ゴ Pro W3" pitchFamily="-84" charset="-128"/>
                    <a:cs typeface="Times New Roman" panose="02020603050405020304" pitchFamily="18" charset="0"/>
                  </a:rPr>
                  <a:t>G</a:t>
                </a:r>
                <a:r>
                  <a:rPr lang="en-US" sz="2400" i="1" dirty="0" smtClean="0">
                    <a:ea typeface="ヒラギノ角ゴ Pro W3" pitchFamily="-84" charset="-128"/>
                  </a:rPr>
                  <a:t>.</a:t>
                </a:r>
              </a:p>
              <a:p>
                <a:pPr>
                  <a:spcBef>
                    <a:spcPts val="525"/>
                  </a:spcBef>
                  <a:spcAft>
                    <a:spcPts val="600"/>
                  </a:spcAft>
                  <a:defRPr/>
                </a:pPr>
                <a:r>
                  <a:rPr lang="en-US" sz="2400" dirty="0" smtClean="0">
                    <a:ea typeface="ヒラギノ角ゴ Pro W3" pitchFamily="-84" charset="-128"/>
                  </a:rPr>
                  <a:t>Public saving &gt; 0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vertJc m:val="bot"/>
                        <m:ctrlPr>
                          <a:rPr lang="en-US" sz="2400" i="1" dirty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dirty="0" smtClean="0">
                    <a:ea typeface="ヒラギノ角ゴ Pro W3" pitchFamily="-84" charset="-128"/>
                  </a:rPr>
                  <a:t> </a:t>
                </a:r>
                <a:r>
                  <a:rPr lang="en-US" sz="2400" b="1" dirty="0" smtClean="0">
                    <a:ea typeface="ヒラギノ角ゴ Pro W3" pitchFamily="-84" charset="-128"/>
                  </a:rPr>
                  <a:t>Budget  surplus</a:t>
                </a:r>
              </a:p>
              <a:p>
                <a:pPr>
                  <a:spcBef>
                    <a:spcPts val="525"/>
                  </a:spcBef>
                  <a:spcAft>
                    <a:spcPts val="600"/>
                  </a:spcAft>
                  <a:defRPr/>
                </a:pPr>
                <a:r>
                  <a:rPr lang="en-US" sz="2400" dirty="0" smtClean="0">
                    <a:ea typeface="ヒラギノ角ゴ Pro W3" pitchFamily="-84" charset="-128"/>
                  </a:rPr>
                  <a:t>Public saving &lt; 0 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vertJc m:val="bot"/>
                        <m:ctrlPr>
                          <a:rPr lang="en-US" sz="2400" i="1" dirty="0">
                            <a:latin typeface="Cambria Math" charset="0"/>
                            <a:ea typeface="ヒラギノ角ゴ Pro W3" pitchFamily="-84" charset="-128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ヒラギノ角ゴ Pro W3" pitchFamily="-84" charset="-128"/>
                          </a:rPr>
                          <m:t>−</m:t>
                        </m:r>
                      </m:e>
                    </m:groupChr>
                  </m:oMath>
                </a14:m>
                <a:r>
                  <a:rPr lang="en-US" sz="2400" dirty="0" smtClean="0">
                    <a:ea typeface="ヒラギノ角ゴ Pro W3" pitchFamily="-84" charset="-128"/>
                  </a:rPr>
                  <a:t> </a:t>
                </a:r>
                <a:r>
                  <a:rPr lang="en-US" sz="2400" b="1" dirty="0" smtClean="0">
                    <a:ea typeface="ヒラギノ角ゴ Pro W3" pitchFamily="-84" charset="-128"/>
                  </a:rPr>
                  <a:t>Budget deficit</a:t>
                </a:r>
                <a:endParaRPr lang="en-US" sz="2400" b="1" dirty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  <a:spcAft>
                    <a:spcPts val="600"/>
                  </a:spcAft>
                  <a:defRPr/>
                </a:pPr>
                <a:endParaRPr lang="en-US" sz="2400" dirty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  <a:defRPr/>
                </a:pPr>
                <a:endParaRPr lang="en-US" sz="2400" dirty="0">
                  <a:ea typeface="ヒラギノ角ゴ Pro W3" pitchFamily="-84" charset="-128"/>
                </a:endParaRPr>
              </a:p>
              <a:p>
                <a:pPr marL="0" indent="0" algn="ctr">
                  <a:spcBef>
                    <a:spcPts val="525"/>
                  </a:spcBef>
                  <a:buFontTx/>
                  <a:buNone/>
                  <a:defRPr/>
                </a:pPr>
                <a:endParaRPr lang="en-US" sz="2400" i="1" dirty="0" smtClean="0">
                  <a:ea typeface="ヒラギノ角ゴ Pro W3" pitchFamily="-84" charset="-128"/>
                </a:endParaRPr>
              </a:p>
              <a:p>
                <a:pPr>
                  <a:spcBef>
                    <a:spcPts val="525"/>
                  </a:spcBef>
                  <a:defRPr/>
                </a:pPr>
                <a:endParaRPr lang="en-US" sz="2400" dirty="0" smtClean="0">
                  <a:ea typeface="ヒラギノ角ゴ Pro W3" pitchFamily="-84" charset="-128"/>
                </a:endParaRPr>
              </a:p>
            </p:txBody>
          </p:sp>
        </mc:Choice>
        <mc:Fallback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295400"/>
                <a:ext cx="8382000" cy="5105400"/>
              </a:xfrm>
              <a:blipFill rotWithShape="0">
                <a:blip r:embed="rId2" cstate="print"/>
                <a:stretch>
                  <a:fillRect l="-2255" t="-1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000381371"/>
      </p:ext>
    </p:extLst>
  </p:cSld>
  <p:clrMapOvr>
    <a:masterClrMapping/>
  </p:clrMapOvr>
  <p:transition>
    <p:strips dir="l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763000" cy="1143000"/>
          </a:xfrm>
        </p:spPr>
        <p:txBody>
          <a:bodyPr/>
          <a:lstStyle/>
          <a:p>
            <a:r>
              <a:rPr lang="en-US" sz="2400" smtClean="0">
                <a:ea typeface="ヒラギノ角ゴ Pro W3" pitchFamily="-84" charset="-128"/>
              </a:rPr>
              <a:t>3-4 Investment Equals Saving: An Alternative</a:t>
            </a:r>
            <a:br>
              <a:rPr lang="en-US" sz="2400" smtClean="0">
                <a:ea typeface="ヒラギノ角ゴ Pro W3" pitchFamily="-84" charset="-128"/>
              </a:rPr>
            </a:br>
            <a:r>
              <a:rPr lang="en-US" sz="2400" smtClean="0">
                <a:ea typeface="ヒラギノ角ゴ Pro W3" pitchFamily="-84" charset="-128"/>
              </a:rPr>
              <a:t>Way of Thinking about Goods—Market Equilibrium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105400"/>
          </a:xfrm>
        </p:spPr>
        <p:txBody>
          <a:bodyPr/>
          <a:lstStyle/>
          <a:p>
            <a:pPr>
              <a:spcBef>
                <a:spcPts val="525"/>
              </a:spcBef>
              <a:defRPr/>
            </a:pPr>
            <a:r>
              <a:rPr lang="en-US" sz="2200" dirty="0" smtClean="0">
                <a:ea typeface="ヒラギノ角ゴ Pro W3" pitchFamily="-84" charset="-128"/>
              </a:rPr>
              <a:t>In equilibrium:</a:t>
            </a:r>
          </a:p>
          <a:p>
            <a:pPr marL="0" indent="0" algn="ctr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 = C + I + G</a:t>
            </a:r>
          </a:p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Subtract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</a:t>
            </a:r>
            <a:r>
              <a:rPr lang="en-US" sz="2200" dirty="0" smtClean="0">
                <a:ea typeface="ヒラギノ角ゴ Pro W3" pitchFamily="-84" charset="-128"/>
              </a:rPr>
              <a:t> from both sides and move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C</a:t>
            </a:r>
            <a:r>
              <a:rPr lang="en-US" sz="2200" dirty="0" smtClean="0">
                <a:ea typeface="ヒラギノ角ゴ Pro W3" pitchFamily="-84" charset="-128"/>
              </a:rPr>
              <a:t> to the left side: </a:t>
            </a:r>
            <a:endParaRPr lang="en-US" sz="2200" dirty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 − T − C = I + G −T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The left side of the equation is simply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S</a:t>
            </a:r>
            <a:r>
              <a:rPr lang="en-US" sz="2200" dirty="0" smtClean="0">
                <a:ea typeface="ヒラギノ角ゴ Pro W3" pitchFamily="-84" charset="-128"/>
              </a:rPr>
              <a:t>, so</a:t>
            </a:r>
          </a:p>
          <a:p>
            <a:pPr marL="0" indent="0" algn="ctr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S = I + G −T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Or equivalently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This is the </a:t>
            </a:r>
            <a:r>
              <a:rPr lang="en-US" sz="2200" b="1" i="1" dirty="0" smtClean="0">
                <a:ea typeface="ヒラギノ角ゴ Pro W3" pitchFamily="-84" charset="-128"/>
              </a:rPr>
              <a:t>IS relation</a:t>
            </a:r>
            <a:r>
              <a:rPr lang="en-US" sz="2200" dirty="0" smtClean="0">
                <a:ea typeface="ヒラギノ角ゴ Pro W3" pitchFamily="-84" charset="-128"/>
              </a:rPr>
              <a:t>, which stands for “</a:t>
            </a:r>
            <a:r>
              <a:rPr lang="en-US" sz="2200" b="1" dirty="0" smtClean="0">
                <a:ea typeface="ヒラギノ角ゴ Pro W3" pitchFamily="-84" charset="-128"/>
              </a:rPr>
              <a:t>I</a:t>
            </a:r>
            <a:r>
              <a:rPr lang="en-US" sz="2200" dirty="0" smtClean="0">
                <a:ea typeface="ヒラギノ角ゴ Pro W3" pitchFamily="-84" charset="-128"/>
              </a:rPr>
              <a:t>nvestment equals </a:t>
            </a:r>
            <a:r>
              <a:rPr lang="en-US" sz="2200" b="1" dirty="0" smtClean="0">
                <a:ea typeface="ヒラギノ角ゴ Pro W3" pitchFamily="-84" charset="-128"/>
              </a:rPr>
              <a:t>S</a:t>
            </a:r>
            <a:r>
              <a:rPr lang="en-US" sz="2200" dirty="0" smtClean="0">
                <a:ea typeface="ヒラギノ角ゴ Pro W3" pitchFamily="-84" charset="-128"/>
              </a:rPr>
              <a:t>aving”.</a:t>
            </a:r>
          </a:p>
          <a:p>
            <a:pPr>
              <a:spcBef>
                <a:spcPts val="525"/>
              </a:spcBef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buFontTx/>
              <a:buNone/>
              <a:defRPr/>
            </a:pPr>
            <a:endParaRPr lang="en-US" sz="2200" i="1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200" dirty="0" smtClean="0">
              <a:ea typeface="ヒラギノ角ゴ Pro W3" pitchFamily="-84" charset="-128"/>
            </a:endParaRPr>
          </a:p>
        </p:txBody>
      </p:sp>
      <p:pic>
        <p:nvPicPr>
          <p:cNvPr id="34820" name="Picture 3" descr="eq03_10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932362"/>
            <a:ext cx="709771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763000" cy="1143000"/>
          </a:xfrm>
        </p:spPr>
        <p:txBody>
          <a:bodyPr/>
          <a:lstStyle/>
          <a:p>
            <a:r>
              <a:rPr lang="en-US" sz="2400" smtClean="0">
                <a:ea typeface="ヒラギノ角ゴ Pro W3" pitchFamily="-84" charset="-128"/>
              </a:rPr>
              <a:t>3-4 Investment Equals Saving: An Alternative</a:t>
            </a:r>
            <a:br>
              <a:rPr lang="en-US" sz="2400" smtClean="0">
                <a:ea typeface="ヒラギノ角ゴ Pro W3" pitchFamily="-84" charset="-128"/>
              </a:rPr>
            </a:br>
            <a:r>
              <a:rPr lang="en-US" sz="2400" smtClean="0">
                <a:ea typeface="ヒラギノ角ゴ Pro W3" pitchFamily="-84" charset="-128"/>
              </a:rPr>
              <a:t>Way of Thinking about Goods—Market Equilibrium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1054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400" dirty="0" smtClean="0">
                <a:ea typeface="ヒラギノ角ゴ Pro W3" pitchFamily="-84" charset="-128"/>
              </a:rPr>
              <a:t>Two equivalent ways of stating the condition for equilibrium in the goods market: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None/>
              <a:defRPr/>
            </a:pPr>
            <a:endParaRPr lang="en-US" sz="2400" dirty="0" smtClean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ea typeface="ヒラギノ角ゴ Pro W3" pitchFamily="-84" charset="-128"/>
              </a:rPr>
              <a:t>Production = Demand</a:t>
            </a:r>
          </a:p>
          <a:p>
            <a:pPr marL="0" indent="0" algn="ctr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sz="2400" dirty="0">
                <a:ea typeface="ヒラギノ角ゴ Pro W3" pitchFamily="-84" charset="-128"/>
              </a:rPr>
              <a:t>Investment = Saving</a:t>
            </a:r>
          </a:p>
          <a:p>
            <a:pPr>
              <a:spcBef>
                <a:spcPts val="525"/>
              </a:spcBef>
              <a:defRPr/>
            </a:pPr>
            <a:endParaRPr lang="en-US" sz="2400" dirty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buFontTx/>
              <a:buNone/>
              <a:defRPr/>
            </a:pPr>
            <a:endParaRPr lang="en-US" sz="2400" i="1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4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763000" cy="1143000"/>
          </a:xfrm>
        </p:spPr>
        <p:txBody>
          <a:bodyPr/>
          <a:lstStyle/>
          <a:p>
            <a:r>
              <a:rPr lang="en-US" sz="2400" smtClean="0">
                <a:ea typeface="ヒラギノ角ゴ Pro W3" pitchFamily="-84" charset="-128"/>
              </a:rPr>
              <a:t>3-4 Investment Equals Saving: An Alternative</a:t>
            </a:r>
            <a:br>
              <a:rPr lang="en-US" sz="2400" smtClean="0">
                <a:ea typeface="ヒラギノ角ゴ Pro W3" pitchFamily="-84" charset="-128"/>
              </a:rPr>
            </a:br>
            <a:r>
              <a:rPr lang="en-US" sz="2400" smtClean="0">
                <a:ea typeface="ヒラギノ角ゴ Pro W3" pitchFamily="-84" charset="-128"/>
              </a:rPr>
              <a:t>Way of Thinking about Goods—Market Equilibrium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1054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We can also derive equation (3.8) using equation (3.10).</a:t>
            </a:r>
          </a:p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Because consumption behavior implies that: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sz="26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		S = Y − T </a:t>
            </a:r>
            <a:r>
              <a:rPr lang="en-US" sz="26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−</a:t>
            </a:r>
            <a:r>
              <a:rPr lang="en-US" sz="26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C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sz="26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	</a:t>
            </a:r>
            <a:r>
              <a:rPr lang="en-US" sz="26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	   = </a:t>
            </a:r>
            <a:r>
              <a:rPr lang="en-US" sz="26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 − T − </a:t>
            </a:r>
            <a:r>
              <a:rPr lang="en-US" sz="26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c</a:t>
            </a:r>
            <a:r>
              <a:rPr lang="en-US" sz="2600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0</a:t>
            </a:r>
            <a:r>
              <a:rPr lang="en-US" sz="26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− c</a:t>
            </a:r>
            <a:r>
              <a:rPr lang="en-US" sz="2600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</a:t>
            </a:r>
            <a:r>
              <a:rPr lang="en-US" sz="26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sz="26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 </a:t>
            </a:r>
            <a:r>
              <a:rPr lang="en-US" sz="26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− T </a:t>
            </a:r>
            <a:r>
              <a:rPr lang="en-US" sz="26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sz="2200" dirty="0">
                <a:ea typeface="ヒラギノ角ゴ Pro W3" pitchFamily="-84" charset="-128"/>
              </a:rPr>
              <a:t> </a:t>
            </a:r>
            <a:r>
              <a:rPr lang="en-US" sz="2200" dirty="0" smtClean="0">
                <a:ea typeface="ヒラギノ角ゴ Pro W3" pitchFamily="-84" charset="-128"/>
              </a:rPr>
              <a:t>   Rearranging </a:t>
            </a:r>
            <a:r>
              <a:rPr lang="en-US" sz="2200" dirty="0">
                <a:ea typeface="ヒラギノ角ゴ Pro W3" pitchFamily="-84" charset="-128"/>
              </a:rPr>
              <a:t>terms, </a:t>
            </a:r>
            <a:r>
              <a:rPr lang="en-US" sz="2200" dirty="0" smtClean="0">
                <a:ea typeface="ヒラギノ角ゴ Pro W3" pitchFamily="-84" charset="-128"/>
              </a:rPr>
              <a:t>so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sz="900" dirty="0" smtClean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6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(1−</a:t>
            </a:r>
            <a:r>
              <a:rPr lang="en-US" sz="26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c</a:t>
            </a:r>
            <a:r>
              <a:rPr lang="en-US" sz="2600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</a:t>
            </a:r>
            <a:r>
              <a:rPr lang="en-US" sz="26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 </a:t>
            </a:r>
            <a:r>
              <a:rPr lang="en-US" sz="2200" dirty="0" smtClean="0">
                <a:ea typeface="ヒラギノ角ゴ Pro W3" pitchFamily="-84" charset="-128"/>
              </a:rPr>
              <a:t>is called the </a:t>
            </a:r>
            <a:r>
              <a:rPr lang="en-US" sz="2200" b="1" dirty="0" smtClean="0">
                <a:ea typeface="ヒラギノ角ゴ Pro W3" pitchFamily="-84" charset="-128"/>
              </a:rPr>
              <a:t>propensity to save</a:t>
            </a:r>
            <a:r>
              <a:rPr lang="en-US" sz="2200" dirty="0" smtClean="0">
                <a:ea typeface="ヒラギノ角ゴ Pro W3" pitchFamily="-84" charset="-128"/>
              </a:rPr>
              <a:t>, which is between zero and one.</a:t>
            </a:r>
            <a:endParaRPr lang="en-US" sz="2200" dirty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i="1" dirty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i="1" dirty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buFontTx/>
              <a:buNone/>
              <a:defRPr/>
            </a:pPr>
            <a:endParaRPr lang="en-US" sz="2200" i="1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200" dirty="0" smtClean="0">
              <a:ea typeface="ヒラギノ角ゴ Pro W3" pitchFamily="-84" charset="-128"/>
            </a:endParaRPr>
          </a:p>
        </p:txBody>
      </p:sp>
      <p:pic>
        <p:nvPicPr>
          <p:cNvPr id="36868" name="Picture 4" descr="eq03_11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0" y="3962400"/>
            <a:ext cx="76708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763000" cy="1143000"/>
          </a:xfrm>
        </p:spPr>
        <p:txBody>
          <a:bodyPr/>
          <a:lstStyle/>
          <a:p>
            <a:r>
              <a:rPr lang="en-US" sz="2400" smtClean="0">
                <a:ea typeface="ヒラギノ角ゴ Pro W3" pitchFamily="-84" charset="-128"/>
              </a:rPr>
              <a:t>3-4 Investment Equals Saving: An Alternative</a:t>
            </a:r>
            <a:br>
              <a:rPr lang="en-US" sz="2400" smtClean="0">
                <a:ea typeface="ヒラギノ角ゴ Pro W3" pitchFamily="-84" charset="-128"/>
              </a:rPr>
            </a:br>
            <a:r>
              <a:rPr lang="en-US" sz="2400" smtClean="0">
                <a:ea typeface="ヒラギノ角ゴ Pro W3" pitchFamily="-84" charset="-128"/>
              </a:rPr>
              <a:t>Way of Thinking about Goods—Market Equilibrium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1054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In equilibrium,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I = S</a:t>
            </a:r>
            <a:r>
              <a:rPr lang="en-US" sz="2200" dirty="0" smtClean="0">
                <a:ea typeface="ヒラギノ角ゴ Pro W3" pitchFamily="-84" charset="-128"/>
              </a:rPr>
              <a:t>, so that equation (3.10) becomes: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sz="2400" dirty="0" smtClean="0">
                <a:ea typeface="ヒラギノ角ゴ Pro W3" pitchFamily="-84" charset="-128"/>
              </a:rPr>
              <a:t>	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I = −c</a:t>
            </a:r>
            <a:r>
              <a:rPr lang="en-US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0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+ 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(1</a:t>
            </a:r>
            <a:r>
              <a:rPr lang="en-US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−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c</a:t>
            </a:r>
            <a:r>
              <a:rPr lang="en-US" baseline="-25000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1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)(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Y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− T 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 + (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−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G </a:t>
            </a:r>
            <a:r>
              <a:rPr lang="en-US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2200" dirty="0">
                <a:ea typeface="ヒラギノ角ゴ Pro W3" pitchFamily="-84" charset="-128"/>
              </a:rPr>
              <a:t> </a:t>
            </a:r>
            <a:r>
              <a:rPr lang="en-US" sz="2200" dirty="0" smtClean="0">
                <a:ea typeface="ヒラギノ角ゴ Pro W3" pitchFamily="-84" charset="-128"/>
              </a:rPr>
              <a:t>Solve </a:t>
            </a:r>
            <a:r>
              <a:rPr lang="en-US" sz="2200" dirty="0">
                <a:ea typeface="ヒラギノ角ゴ Pro W3" pitchFamily="-84" charset="-128"/>
              </a:rPr>
              <a:t>for </a:t>
            </a:r>
            <a:r>
              <a:rPr lang="en-US" sz="2200" dirty="0" smtClean="0">
                <a:ea typeface="ヒラギノ角ゴ Pro W3" pitchFamily="-84" charset="-128"/>
              </a:rPr>
              <a:t>output: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sz="2200" dirty="0" smtClean="0">
              <a:ea typeface="ヒラギノ角ゴ Pro W3" pitchFamily="-84" charset="-128"/>
            </a:endParaRPr>
          </a:p>
          <a:p>
            <a:pPr marL="0" indent="339725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sz="2200" dirty="0" smtClean="0">
                <a:ea typeface="ヒラギノ角ゴ Pro W3" pitchFamily="-84" charset="-128"/>
              </a:rPr>
              <a:t>  which is the same as equation (3.8).</a:t>
            </a:r>
            <a:endParaRPr lang="en-US" sz="2200" dirty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		</a:t>
            </a:r>
            <a:endParaRPr lang="en-US" i="1" dirty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i="1" dirty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buFontTx/>
              <a:buNone/>
              <a:defRPr/>
            </a:pPr>
            <a:endParaRPr lang="en-US" sz="2200" i="1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200" dirty="0" smtClean="0">
              <a:ea typeface="ヒラギノ角ゴ Pro W3" pitchFamily="-84" charset="-128"/>
            </a:endParaRPr>
          </a:p>
        </p:txBody>
      </p:sp>
      <p:pic>
        <p:nvPicPr>
          <p:cNvPr id="37892" name="Picture 5" descr="eq03_12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971800"/>
            <a:ext cx="737711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l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763000" cy="1143000"/>
          </a:xfrm>
        </p:spPr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FOCUS: The Paradox of Saving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1054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We are told about the virtues of thrift as we grow up, but the model in this chapter tells a different story.</a:t>
            </a:r>
          </a:p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Suppose that consumers decide to save more, so </a:t>
            </a:r>
            <a:r>
              <a:rPr lang="en-US" sz="26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c</a:t>
            </a:r>
            <a:r>
              <a:rPr lang="en-US" sz="2600" baseline="-25000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0</a:t>
            </a:r>
            <a:r>
              <a:rPr lang="en-US" sz="26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ea typeface="ヒラギノ角ゴ Pro W3" pitchFamily="-84" charset="-128"/>
              </a:rPr>
              <a:t>decreases.</a:t>
            </a:r>
          </a:p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Equation (3.12) implies that output decreases.</a:t>
            </a:r>
          </a:p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Saving cannot change either, because e</a:t>
            </a:r>
            <a:r>
              <a:rPr lang="en-US" sz="2200" dirty="0" smtClean="0">
                <a:ea typeface="ヒラギノ角ゴ Pro W3" pitchFamily="-84" charset="-128"/>
              </a:rPr>
              <a:t>quation (3.10) implies that at equilibrium: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sz="2600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		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I </a:t>
            </a:r>
            <a:r>
              <a:rPr lang="en-US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=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S + 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(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− G </a:t>
            </a:r>
            <a:r>
              <a:rPr lang="en-US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) </a:t>
            </a:r>
            <a:endParaRPr lang="en-US" dirty="0" smtClean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 marL="395288" indent="-395288"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i="1" dirty="0" smtClean="0">
                <a:ea typeface="ヒラギノ角ゴ Pro W3" pitchFamily="-84" charset="-128"/>
                <a:cs typeface="Times New Roman" panose="02020603050405020304" pitchFamily="18" charset="0"/>
              </a:rPr>
              <a:t>S</a:t>
            </a: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200" dirty="0">
                <a:ea typeface="ヒラギノ角ゴ Pro W3" pitchFamily="-84" charset="-128"/>
                <a:cs typeface="Times New Roman" panose="02020603050405020304" pitchFamily="18" charset="0"/>
              </a:rPr>
              <a:t>cannot change </a:t>
            </a: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because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I</a:t>
            </a:r>
            <a:r>
              <a:rPr lang="en-US" sz="2200" i="1" dirty="0">
                <a:ea typeface="ヒラギノ角ゴ Pro W3" pitchFamily="-84" charset="-128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T</a:t>
            </a:r>
            <a:r>
              <a:rPr lang="en-US" sz="2200" i="1" dirty="0"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200" dirty="0">
                <a:ea typeface="ヒラギノ角ゴ Pro W3" pitchFamily="-84" charset="-128"/>
                <a:cs typeface="Times New Roman" panose="02020603050405020304" pitchFamily="18" charset="0"/>
              </a:rPr>
              <a:t>or</a:t>
            </a:r>
            <a:r>
              <a:rPr lang="en-US" sz="2200" i="1" dirty="0"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G</a:t>
            </a:r>
            <a:r>
              <a:rPr lang="en-US" sz="2200" i="1" dirty="0">
                <a:ea typeface="ヒラギノ角ゴ Pro W3" pitchFamily="-84" charset="-128"/>
                <a:cs typeface="Times New Roman" panose="02020603050405020304" pitchFamily="18" charset="0"/>
              </a:rPr>
              <a:t> </a:t>
            </a:r>
            <a:r>
              <a:rPr lang="en-US" sz="2200" dirty="0">
                <a:ea typeface="ヒラギノ角ゴ Pro W3" pitchFamily="-84" charset="-128"/>
                <a:cs typeface="Times New Roman" panose="02020603050405020304" pitchFamily="18" charset="0"/>
              </a:rPr>
              <a:t>does not </a:t>
            </a:r>
            <a:r>
              <a:rPr lang="en-US" sz="2200" dirty="0" smtClean="0">
                <a:ea typeface="ヒラギノ角ゴ Pro W3" pitchFamily="-84" charset="-128"/>
                <a:cs typeface="Times New Roman" panose="02020603050405020304" pitchFamily="18" charset="0"/>
              </a:rPr>
              <a:t>change by assumption.</a:t>
            </a:r>
            <a:endParaRPr lang="en-US" sz="2200" dirty="0"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  <a:spcAft>
                <a:spcPts val="600"/>
              </a:spcAft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r>
              <a:rPr lang="en-US" i="1" dirty="0" smtClean="0">
                <a:latin typeface="Times New Roman" panose="02020603050405020304" pitchFamily="18" charset="0"/>
                <a:ea typeface="ヒラギノ角ゴ Pro W3" pitchFamily="-84" charset="-128"/>
                <a:cs typeface="Times New Roman" panose="02020603050405020304" pitchFamily="18" charset="0"/>
              </a:rPr>
              <a:t>		</a:t>
            </a:r>
            <a:endParaRPr lang="en-US" i="1" dirty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i="1" dirty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buFontTx/>
              <a:buNone/>
              <a:defRPr/>
            </a:pPr>
            <a:endParaRPr lang="en-US" sz="2200" i="1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2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763000" cy="1143000"/>
          </a:xfrm>
        </p:spPr>
        <p:txBody>
          <a:bodyPr/>
          <a:lstStyle/>
          <a:p>
            <a:r>
              <a:rPr lang="en-US" sz="2800" dirty="0" smtClean="0">
                <a:ea typeface="ヒラギノ角ゴ Pro W3" pitchFamily="-84" charset="-128"/>
              </a:rPr>
              <a:t>3-5 Is the Government Omnipotent? A Warning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5105400"/>
          </a:xfrm>
        </p:spPr>
        <p:txBody>
          <a:bodyPr/>
          <a:lstStyle/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Equation (3.8) implies that the government can choose the level of </a:t>
            </a:r>
            <a:r>
              <a:rPr lang="en-US" sz="2200" i="1" dirty="0" smtClean="0">
                <a:ea typeface="ヒラギノ角ゴ Pro W3" pitchFamily="-84" charset="-128"/>
              </a:rPr>
              <a:t>G</a:t>
            </a:r>
            <a:r>
              <a:rPr lang="en-US" sz="2200" dirty="0" smtClean="0">
                <a:ea typeface="ヒラギノ角ゴ Pro W3" pitchFamily="-84" charset="-128"/>
              </a:rPr>
              <a:t> or </a:t>
            </a:r>
            <a:r>
              <a:rPr lang="en-US" sz="2200" i="1" dirty="0" smtClean="0">
                <a:ea typeface="ヒラギノ角ゴ Pro W3" pitchFamily="-84" charset="-128"/>
              </a:rPr>
              <a:t>T</a:t>
            </a:r>
            <a:r>
              <a:rPr lang="en-US" sz="2200" dirty="0" smtClean="0">
                <a:ea typeface="ヒラギノ角ゴ Pro W3" pitchFamily="-84" charset="-128"/>
              </a:rPr>
              <a:t> to affect the level of output it wants.</a:t>
            </a:r>
          </a:p>
          <a:p>
            <a:pPr>
              <a:spcBef>
                <a:spcPts val="525"/>
              </a:spcBef>
              <a:spcAft>
                <a:spcPts val="600"/>
              </a:spcAft>
              <a:defRPr/>
            </a:pPr>
            <a:r>
              <a:rPr lang="en-US" sz="2200" dirty="0" smtClean="0">
                <a:ea typeface="ヒラギノ角ゴ Pro W3" pitchFamily="-84" charset="-128"/>
              </a:rPr>
              <a:t>However, there are many aspects of reality that we have not incorporated in our model:</a:t>
            </a:r>
          </a:p>
          <a:p>
            <a:pPr lvl="1">
              <a:spcBef>
                <a:spcPts val="525"/>
              </a:spcBef>
              <a:spcAft>
                <a:spcPts val="0"/>
              </a:spcAft>
              <a:defRPr/>
            </a:pPr>
            <a:r>
              <a:rPr lang="en-US" sz="1800" dirty="0" smtClean="0">
                <a:ea typeface="ヒラギノ角ゴ Pro W3" pitchFamily="-84" charset="-128"/>
              </a:rPr>
              <a:t>Changing </a:t>
            </a:r>
            <a:r>
              <a:rPr lang="en-US" sz="1800" i="1" dirty="0" smtClean="0">
                <a:ea typeface="ヒラギノ角ゴ Pro W3" pitchFamily="-84" charset="-128"/>
              </a:rPr>
              <a:t>G</a:t>
            </a:r>
            <a:r>
              <a:rPr lang="en-US" sz="1800" dirty="0" smtClean="0">
                <a:ea typeface="ヒラギノ角ゴ Pro W3" pitchFamily="-84" charset="-128"/>
              </a:rPr>
              <a:t> or </a:t>
            </a:r>
            <a:r>
              <a:rPr lang="en-US" sz="1800" i="1" dirty="0" smtClean="0">
                <a:ea typeface="ヒラギノ角ゴ Pro W3" pitchFamily="-84" charset="-128"/>
              </a:rPr>
              <a:t>T</a:t>
            </a:r>
            <a:r>
              <a:rPr lang="en-US" sz="1800" dirty="0" smtClean="0">
                <a:ea typeface="ヒラギノ角ゴ Pro W3" pitchFamily="-84" charset="-128"/>
              </a:rPr>
              <a:t> is not easy.</a:t>
            </a:r>
          </a:p>
          <a:p>
            <a:pPr lvl="1">
              <a:spcBef>
                <a:spcPts val="525"/>
              </a:spcBef>
              <a:spcAft>
                <a:spcPts val="0"/>
              </a:spcAft>
              <a:defRPr/>
            </a:pPr>
            <a:r>
              <a:rPr lang="en-US" sz="1800" dirty="0" smtClean="0">
                <a:ea typeface="ヒラギノ角ゴ Pro W3" pitchFamily="-84" charset="-128"/>
              </a:rPr>
              <a:t>Investment and imports may change, making it hard for governments to assess the effects of their policies (Chapters 5, 9, and 18 to 20).</a:t>
            </a:r>
          </a:p>
          <a:p>
            <a:pPr lvl="1">
              <a:spcBef>
                <a:spcPts val="525"/>
              </a:spcBef>
              <a:spcAft>
                <a:spcPts val="0"/>
              </a:spcAft>
              <a:defRPr/>
            </a:pPr>
            <a:r>
              <a:rPr lang="en-US" sz="1800" dirty="0" smtClean="0">
                <a:ea typeface="ヒラギノ角ゴ Pro W3" pitchFamily="-84" charset="-128"/>
              </a:rPr>
              <a:t>Expectations are likely to matter (Chapters 14 to 16).</a:t>
            </a:r>
          </a:p>
          <a:p>
            <a:pPr lvl="1">
              <a:spcBef>
                <a:spcPts val="525"/>
              </a:spcBef>
              <a:spcAft>
                <a:spcPts val="0"/>
              </a:spcAft>
              <a:defRPr/>
            </a:pPr>
            <a:r>
              <a:rPr lang="en-US" sz="1800" dirty="0" smtClean="0">
                <a:ea typeface="ヒラギノ角ゴ Pro W3" pitchFamily="-84" charset="-128"/>
              </a:rPr>
              <a:t>The effects on output may be unsustainable in the medium run (Chapter 9).</a:t>
            </a:r>
          </a:p>
          <a:p>
            <a:pPr lvl="1">
              <a:spcBef>
                <a:spcPts val="525"/>
              </a:spcBef>
              <a:spcAft>
                <a:spcPts val="0"/>
              </a:spcAft>
              <a:defRPr/>
            </a:pPr>
            <a:r>
              <a:rPr lang="en-US" sz="1800" dirty="0" smtClean="0">
                <a:ea typeface="ヒラギノ角ゴ Pro W3" pitchFamily="-84" charset="-128"/>
              </a:rPr>
              <a:t>Cutting </a:t>
            </a:r>
            <a:r>
              <a:rPr lang="en-US" sz="1800" i="1" dirty="0" smtClean="0">
                <a:ea typeface="ヒラギノ角ゴ Pro W3" pitchFamily="-84" charset="-128"/>
              </a:rPr>
              <a:t>T</a:t>
            </a:r>
            <a:r>
              <a:rPr lang="en-US" sz="1800" dirty="0" smtClean="0">
                <a:ea typeface="ヒラギノ角ゴ Pro W3" pitchFamily="-84" charset="-128"/>
              </a:rPr>
              <a:t> or increasing </a:t>
            </a:r>
            <a:r>
              <a:rPr lang="en-US" sz="1800" i="1" dirty="0" smtClean="0">
                <a:ea typeface="ヒラギノ角ゴ Pro W3" pitchFamily="-84" charset="-128"/>
              </a:rPr>
              <a:t>G</a:t>
            </a:r>
            <a:r>
              <a:rPr lang="en-US" sz="1800" dirty="0" smtClean="0">
                <a:ea typeface="ヒラギノ角ゴ Pro W3" pitchFamily="-84" charset="-128"/>
              </a:rPr>
              <a:t> can lead to large budget deficits and public debt in the long run (Chapters 9, 11, 16 and 22).</a:t>
            </a:r>
          </a:p>
          <a:p>
            <a:pPr marL="0" indent="0">
              <a:spcBef>
                <a:spcPts val="525"/>
              </a:spcBef>
              <a:spcAft>
                <a:spcPts val="600"/>
              </a:spcAft>
              <a:buFontTx/>
              <a:buNone/>
              <a:defRPr/>
            </a:pPr>
            <a:endParaRPr lang="en-US" i="1" dirty="0">
              <a:latin typeface="Times New Roman" panose="02020603050405020304" pitchFamily="18" charset="0"/>
              <a:ea typeface="ヒラギノ角ゴ Pro W3" pitchFamily="-84" charset="-128"/>
              <a:cs typeface="Times New Roman" panose="02020603050405020304" pitchFamily="18" charset="0"/>
            </a:endParaRPr>
          </a:p>
          <a:p>
            <a:pPr>
              <a:spcBef>
                <a:spcPts val="525"/>
              </a:spcBef>
              <a:defRPr/>
            </a:pPr>
            <a:endParaRPr lang="en-US" sz="2200" dirty="0">
              <a:ea typeface="ヒラギノ角ゴ Pro W3" pitchFamily="-84" charset="-128"/>
            </a:endParaRPr>
          </a:p>
          <a:p>
            <a:pPr marL="0" indent="0" algn="ctr">
              <a:spcBef>
                <a:spcPts val="525"/>
              </a:spcBef>
              <a:buFontTx/>
              <a:buNone/>
              <a:defRPr/>
            </a:pPr>
            <a:endParaRPr lang="en-US" sz="2200" i="1" dirty="0" smtClean="0">
              <a:ea typeface="ヒラギノ角ゴ Pro W3" pitchFamily="-84" charset="-128"/>
            </a:endParaRPr>
          </a:p>
          <a:p>
            <a:pPr>
              <a:spcBef>
                <a:spcPts val="525"/>
              </a:spcBef>
              <a:defRPr/>
            </a:pPr>
            <a:endParaRPr lang="en-US" sz="2200" dirty="0" smtClean="0">
              <a:ea typeface="ヒラギノ角ゴ Pro W3" pitchFamily="-84" charset="-128"/>
            </a:endParaRPr>
          </a:p>
        </p:txBody>
      </p:sp>
    </p:spTree>
  </p:cSld>
  <p:clrMapOvr>
    <a:masterClrMapping/>
  </p:clrMapOvr>
  <p:transition>
    <p:strips dir="ld"/>
  </p:transition>
</p:sld>
</file>

<file path=ppt/theme/theme1.xml><?xml version="1.0" encoding="utf-8"?>
<a:theme xmlns:a="http://schemas.openxmlformats.org/drawingml/2006/main" name="template_LN01Brooks671956_02_LN01">
  <a:themeElements>
    <a:clrScheme name="Pearson_PowerPoint_Template_Bekaer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arson_PowerPoint_Template_Bekaer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earson_PowerPoint_Template_Bekaer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arson_PowerPoint_Template_Bekaer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arson_PowerPoint_Template_Bekaer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LN01Folland832739_07_LN01.pot</Template>
  <TotalTime>3230</TotalTime>
  <Words>1543</Words>
  <Application>Microsoft Office PowerPoint</Application>
  <PresentationFormat>On-screen Show (4:3)</PresentationFormat>
  <Paragraphs>213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template_LN01Brooks671956_02_LN01</vt:lpstr>
      <vt:lpstr>The Goods Market</vt:lpstr>
      <vt:lpstr>Chapter 3 Outline</vt:lpstr>
      <vt:lpstr>The Goods Market</vt:lpstr>
      <vt:lpstr>3-1 The Composition of GDP</vt:lpstr>
      <vt:lpstr>3-1 The Composition of GDP</vt:lpstr>
      <vt:lpstr>3-1 The Composition of GDP</vt:lpstr>
      <vt:lpstr>3-2 The Demand for Goods</vt:lpstr>
      <vt:lpstr>3-2 The Demand for Goods</vt:lpstr>
      <vt:lpstr>3-2 The Demand for Goods</vt:lpstr>
      <vt:lpstr>3-2 The Demand for Goods</vt:lpstr>
      <vt:lpstr>3-2 The Demand for Goods</vt:lpstr>
      <vt:lpstr>3-2 The Demand for Goods</vt:lpstr>
      <vt:lpstr>3-2 The Demand for Goods</vt:lpstr>
      <vt:lpstr>3-3 The Determination of Equilibrium Output</vt:lpstr>
      <vt:lpstr>3-3 The Determination of Equilibrium Output</vt:lpstr>
      <vt:lpstr>3-3 The Determination of Equilibrium Output</vt:lpstr>
      <vt:lpstr>3-3 The Determination of Equilibrium Output</vt:lpstr>
      <vt:lpstr>3-3 The Determination of Equilibrium Output</vt:lpstr>
      <vt:lpstr>3-3 The Determination of Equilibrium Output</vt:lpstr>
      <vt:lpstr>3-3 The Determination of Equilibrium Output</vt:lpstr>
      <vt:lpstr>3-3 The Determination of Equilibrium Output</vt:lpstr>
      <vt:lpstr>3-3 The Determination of Equilibrium Output</vt:lpstr>
      <vt:lpstr>3-3 The Determination of Equilibrium Output</vt:lpstr>
      <vt:lpstr>3-3 The Determination of Equilibrium Output</vt:lpstr>
      <vt:lpstr>FOCUS: The Lehman Bankruptcy, Fears of Another Great Depression, and Shifts in the Consumption Function</vt:lpstr>
      <vt:lpstr>FOCUS: The Lehman Bankruptcy, Fears of Another Great Depression, and Shifts in the Consumption Function</vt:lpstr>
      <vt:lpstr>FOCUS: The Lehman Bankruptcy, Fears of Another Great Depression, and Shifts in the Consumption Function</vt:lpstr>
      <vt:lpstr>3-4 Investment Equals Saving: An Alternative Way of Thinking about Goods—Market Equilibrium</vt:lpstr>
      <vt:lpstr>3-4 Investment Equals Saving: An Alternative Way of Thinking about Goods—Market Equilibrium</vt:lpstr>
      <vt:lpstr>3-4 Investment Equals Saving: An Alternative Way of Thinking about Goods—Market Equilibrium</vt:lpstr>
      <vt:lpstr>3-4 Investment Equals Saving: An Alternative Way of Thinking about Goods—Market Equilibrium</vt:lpstr>
      <vt:lpstr>3-4 Investment Equals Saving: An Alternative Way of Thinking about Goods—Market Equilibrium</vt:lpstr>
      <vt:lpstr>FOCUS: The Paradox of Saving</vt:lpstr>
      <vt:lpstr>3-5 Is the Government Omnipotent? A Warning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Oliver Blanchard</dc:creator>
  <cp:lastModifiedBy>utiwavi</cp:lastModifiedBy>
  <cp:revision>158</cp:revision>
  <dcterms:created xsi:type="dcterms:W3CDTF">2012-08-09T20:37:31Z</dcterms:created>
  <dcterms:modified xsi:type="dcterms:W3CDTF">2016-09-15T10:58:48Z</dcterms:modified>
</cp:coreProperties>
</file>