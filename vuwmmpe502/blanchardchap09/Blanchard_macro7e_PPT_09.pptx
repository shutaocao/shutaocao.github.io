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2"/>
  </p:notesMasterIdLst>
  <p:sldIdLst>
    <p:sldId id="256" r:id="rId2"/>
    <p:sldId id="269" r:id="rId3"/>
    <p:sldId id="268" r:id="rId4"/>
    <p:sldId id="305" r:id="rId5"/>
    <p:sldId id="293" r:id="rId6"/>
    <p:sldId id="270" r:id="rId7"/>
    <p:sldId id="296" r:id="rId8"/>
    <p:sldId id="306" r:id="rId9"/>
    <p:sldId id="297" r:id="rId10"/>
    <p:sldId id="295" r:id="rId11"/>
    <p:sldId id="298" r:id="rId12"/>
    <p:sldId id="307" r:id="rId13"/>
    <p:sldId id="299" r:id="rId14"/>
    <p:sldId id="300" r:id="rId15"/>
    <p:sldId id="302" r:id="rId16"/>
    <p:sldId id="308" r:id="rId17"/>
    <p:sldId id="303" r:id="rId18"/>
    <p:sldId id="304" r:id="rId19"/>
    <p:sldId id="301" r:id="rId20"/>
    <p:sldId id="309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98" autoAdjust="0"/>
    <p:restoredTop sz="94690"/>
  </p:normalViewPr>
  <p:slideViewPr>
    <p:cSldViewPr>
      <p:cViewPr varScale="1">
        <p:scale>
          <a:sx n="72" d="100"/>
          <a:sy n="72" d="100"/>
        </p:scale>
        <p:origin x="-102" y="-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358A83D-3E8E-422B-A1C7-AED542456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58A83D-3E8E-422B-A1C7-AED54245698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0102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410872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771439"/>
      </p:ext>
    </p:extLst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352075451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50072493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7435220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4062720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750255790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884679804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33742988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792299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45461388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EF38A850-ADD0-4F7D-99F1-C19676CE30E4}" type="datetime1">
              <a:rPr lang="en-US"/>
              <a:pPr>
                <a:defRPr/>
              </a:pPr>
              <a:t>10/6/2016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2A68BFA4-ED51-4D11-92C9-125F6EFF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8001293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9-</a:t>
            </a:r>
            <a:fld id="{604DE8C7-66CF-465F-9818-9F61582FDCE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40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257800" y="1600200"/>
            <a:ext cx="3733800" cy="15240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From the Short to the Medium Run: The </a:t>
            </a:r>
            <a:r>
              <a:rPr lang="en-US" sz="2800" i="1" dirty="0" smtClean="0">
                <a:ea typeface="ヒラギノ角ゴ Pro W3" pitchFamily="-84" charset="-128"/>
              </a:rPr>
              <a:t>IS-LM-PC</a:t>
            </a:r>
            <a:r>
              <a:rPr lang="en-US" sz="2800" dirty="0" smtClean="0">
                <a:ea typeface="ヒラギノ角ゴ Pro W3" pitchFamily="-84" charset="-128"/>
              </a:rPr>
              <a:t>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 smtClean="0">
                <a:ea typeface="ヒラギノ角ゴ Pro W3" pitchFamily="-84" charset="-128"/>
              </a:rPr>
              <a:t>Chapter 9</a:t>
            </a: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Chapter 9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457200" y="1371600"/>
            <a:ext cx="83820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sz="2400" b="1" kern="0" dirty="0" smtClean="0">
                <a:ea typeface="ヒラギノ角ゴ Pro W3" pitchFamily="-84" charset="-128"/>
              </a:rPr>
              <a:t>From </a:t>
            </a:r>
            <a:r>
              <a:rPr lang="en-US" sz="2400" b="1" kern="0" dirty="0">
                <a:ea typeface="ヒラギノ角ゴ Pro W3" pitchFamily="-84" charset="-128"/>
              </a:rPr>
              <a:t>the Short to the Medium </a:t>
            </a:r>
            <a:r>
              <a:rPr lang="en-US" sz="2400" b="1" kern="0" dirty="0" smtClean="0">
                <a:ea typeface="ヒラギノ角ゴ Pro W3" pitchFamily="-84" charset="-128"/>
              </a:rPr>
              <a:t>Run: </a:t>
            </a:r>
            <a:r>
              <a:rPr lang="en-US" sz="2400" b="1" dirty="0">
                <a:ea typeface="ヒラギノ角ゴ Pro W3" pitchFamily="-84" charset="-128"/>
              </a:rPr>
              <a:t>The </a:t>
            </a:r>
            <a:r>
              <a:rPr lang="en-US" sz="2400" b="1" i="1" dirty="0">
                <a:ea typeface="ヒラギノ角ゴ Pro W3" pitchFamily="-84" charset="-128"/>
              </a:rPr>
              <a:t>IS-LM-PC</a:t>
            </a:r>
            <a:r>
              <a:rPr lang="en-US" sz="2400" b="1" dirty="0">
                <a:ea typeface="ヒラギノ角ゴ Pro W3" pitchFamily="-84" charset="-128"/>
              </a:rPr>
              <a:t> Model</a:t>
            </a:r>
            <a:endParaRPr lang="en-US" sz="2400" b="1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9-1	The IS-LM-PC Model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9-2	Dynamics and the Medium Run Equilibrium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9-3	Fiscal Consolidation Revisited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9-4	The Effects of an Increase in the Price of Oil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9-5	Conclusions</a:t>
            </a: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From </a:t>
            </a:r>
            <a:r>
              <a:rPr lang="en-US" dirty="0">
                <a:ea typeface="ヒラギノ角ゴ Pro W3" pitchFamily="-84" charset="-128"/>
              </a:rPr>
              <a:t>the Short to the Medium Run</a:t>
            </a:r>
            <a:r>
              <a:rPr lang="en-US" dirty="0" smtClean="0">
                <a:ea typeface="ヒラギノ角ゴ Pro W3" pitchFamily="-84" charset="-128"/>
              </a:rPr>
              <a:t>: The </a:t>
            </a:r>
            <a:r>
              <a:rPr lang="en-US" i="1" dirty="0">
                <a:ea typeface="ヒラギノ角ゴ Pro W3" pitchFamily="-84" charset="-128"/>
              </a:rPr>
              <a:t>IS-LM-PC</a:t>
            </a:r>
            <a:r>
              <a:rPr lang="en-US" dirty="0">
                <a:ea typeface="ヒラギノ角ゴ Pro W3" pitchFamily="-84" charset="-128"/>
              </a:rPr>
              <a:t> Model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In Chapters 3 through 6, we looked at equilibrium in the goods and financial markets, and how output is determined in the short run.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In Chapters 7 and 8, we looked at equilibrium in the labor market.</a:t>
            </a:r>
          </a:p>
          <a:p>
            <a:r>
              <a:rPr lang="en-US" sz="2400" dirty="0" smtClean="0">
                <a:ea typeface="ヒラギノ角ゴ Pro W3" pitchFamily="-84" charset="-128"/>
              </a:rPr>
              <a:t>We now put the two parts together and use this IS-LM-PC (PC for Phillips curve) model to characterize the behavior of output both in the short run and the medium runs.</a:t>
            </a:r>
          </a:p>
        </p:txBody>
      </p:sp>
    </p:spTree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9-1 The IS-LM-PC Model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In Chapter 6, </a:t>
            </a:r>
            <a:r>
              <a:rPr lang="en-US" sz="2200" dirty="0">
                <a:ea typeface="ヒラギノ角ゴ Pro W3" pitchFamily="-84" charset="-128"/>
              </a:rPr>
              <a:t>output in the short </a:t>
            </a:r>
            <a:r>
              <a:rPr lang="en-US" sz="2200" dirty="0" smtClean="0">
                <a:ea typeface="ヒラギノ角ゴ Pro W3" pitchFamily="-84" charset="-128"/>
              </a:rPr>
              <a:t>run is determined by demand (IS curve):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In Chapter 8, the relation between inflation and unemployment is called the Phillips curve: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When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= u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200" dirty="0" smtClean="0">
                <a:ea typeface="ヒラギノ角ゴ Pro W3" pitchFamily="-84" charset="-128"/>
              </a:rPr>
              <a:t>, natural employment is </a:t>
            </a:r>
            <a:r>
              <a:rPr lang="en-US" sz="24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Nn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= L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 u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525"/>
              </a:spcBef>
            </a:pPr>
            <a:r>
              <a:rPr lang="en-US" sz="2200" dirty="0">
                <a:ea typeface="ヒラギノ角ゴ Pro W3" pitchFamily="-84" charset="-128"/>
              </a:rPr>
              <a:t>When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= u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200" dirty="0">
                <a:ea typeface="ヒラギノ角ゴ Pro W3" pitchFamily="-84" charset="-128"/>
              </a:rPr>
              <a:t>, </a:t>
            </a:r>
            <a:r>
              <a:rPr lang="en-US" sz="2200" b="1" dirty="0" smtClean="0">
                <a:ea typeface="ヒラギノ角ゴ Pro W3" pitchFamily="-84" charset="-128"/>
              </a:rPr>
              <a:t>potential output </a:t>
            </a:r>
            <a:r>
              <a:rPr lang="en-US" sz="2200" dirty="0" smtClean="0">
                <a:ea typeface="ヒラギノ角ゴ Pro W3" pitchFamily="-84" charset="-128"/>
              </a:rPr>
              <a:t>is </a:t>
            </a:r>
            <a:r>
              <a:rPr lang="en-US" sz="2400" i="1" dirty="0" err="1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i="1" baseline="-25000" dirty="0" err="1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u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endParaRPr lang="en-US" sz="2400" i="1" dirty="0" smtClean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r>
              <a:rPr lang="en-US" sz="2200" dirty="0">
                <a:ea typeface="ヒラギノ角ゴ Pro W3" pitchFamily="-84" charset="-128"/>
              </a:rPr>
              <a:t>Output gap: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– </a:t>
            </a:r>
            <a:r>
              <a:rPr lang="en-US" sz="24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i="1" baseline="-25000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L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((1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u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u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L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– u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156" y="2236609"/>
            <a:ext cx="7131844" cy="3690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65951" y="3682931"/>
            <a:ext cx="6465094" cy="2976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89102809"/>
      </p:ext>
    </p:extLst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9-1 The IS-LM-PC Model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05581" y="1982222"/>
            <a:ext cx="2819400" cy="32766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Short-run equilibrium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Top graph: A low policy rate leads to higher output.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Bottom graph: A higher output leads to a larger change in inflation.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277813" y="942975"/>
            <a:ext cx="838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000" b="1" dirty="0"/>
              <a:t>Figure </a:t>
            </a:r>
            <a:r>
              <a:rPr lang="en-US" sz="2000" b="1" dirty="0" smtClean="0"/>
              <a:t>9-1  </a:t>
            </a:r>
            <a:r>
              <a:rPr lang="en-US" sz="2000" dirty="0" smtClean="0"/>
              <a:t>The IS-LM-PC Model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3400" y="1397223"/>
            <a:ext cx="3579934" cy="24982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7200" y="3620522"/>
            <a:ext cx="3733800" cy="2748865"/>
          </a:xfrm>
          <a:prstGeom prst="rect">
            <a:avLst/>
          </a:prstGeom>
        </p:spPr>
      </p:pic>
    </p:spTree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9-1 The IS-LM-PC Model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200" dirty="0">
                <a:ea typeface="ヒラギノ角ゴ Pro W3" pitchFamily="-84" charset="-128"/>
              </a:rPr>
              <a:t>Output gap: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– </a:t>
            </a:r>
            <a:r>
              <a:rPr lang="en-US" sz="2400" i="1" dirty="0" err="1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i="1" baseline="-25000" dirty="0" err="1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L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((1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u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– u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= – L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– u</a:t>
            </a:r>
            <a:r>
              <a:rPr lang="en-US" sz="2400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Replacing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– u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n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ea typeface="ヒラギノ角ゴ Pro W3" pitchFamily="-84" charset="-128"/>
                <a:cs typeface="Times New Roman" panose="02020603050405020304" pitchFamily="18" charset="0"/>
              </a:rPr>
              <a:t>in equation (9.2) gives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Assume wage setters expect inflation this year to be the same last year: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When output is above potential (positive output gap), inflation increases, and vice versa.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95500" y="2433637"/>
            <a:ext cx="6667500" cy="309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8227" y="3845709"/>
            <a:ext cx="6977063" cy="309563"/>
          </a:xfrm>
          <a:prstGeom prst="rect">
            <a:avLst/>
          </a:prstGeom>
        </p:spPr>
      </p:pic>
    </p:spTree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FOCUS: </a:t>
            </a:r>
            <a:r>
              <a:rPr lang="en-US" sz="2400" dirty="0" err="1" smtClean="0">
                <a:ea typeface="ヒラギノ角ゴ Pro W3" pitchFamily="-84" charset="-128"/>
              </a:rPr>
              <a:t>Okun’s</a:t>
            </a:r>
            <a:r>
              <a:rPr lang="en-US" sz="2400" dirty="0" smtClean="0">
                <a:ea typeface="ヒラギノ角ゴ Pro W3" pitchFamily="-84" charset="-128"/>
              </a:rPr>
              <a:t> Law across Time and Countries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33400" y="2749246"/>
            <a:ext cx="2362200" cy="1895709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High output growth is associated with a reduction in the unemployment rate; low growth is associated with an increase in the unemployment rate.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04800" y="1128121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1  </a:t>
            </a:r>
            <a:r>
              <a:rPr lang="en-US" sz="1800" dirty="0" smtClean="0"/>
              <a:t>Changes in the Unemployment Rate versus Output Growth in the United States, </a:t>
            </a:r>
            <a:r>
              <a:rPr lang="en-US" sz="1800" dirty="0"/>
              <a:t>1960−2014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05200" y="1774452"/>
            <a:ext cx="4758845" cy="40167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57600" y="5619750"/>
            <a:ext cx="1352550" cy="1714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47985178"/>
      </p:ext>
    </p:extLst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ea typeface="ヒラギノ角ゴ Pro W3" pitchFamily="-84" charset="-128"/>
              </a:rPr>
              <a:t>FOCUS: </a:t>
            </a:r>
            <a:r>
              <a:rPr lang="en-US" sz="2400" dirty="0" err="1">
                <a:solidFill>
                  <a:srgbClr val="000000"/>
                </a:solidFill>
                <a:ea typeface="ヒラギノ角ゴ Pro W3" pitchFamily="-84" charset="-128"/>
              </a:rPr>
              <a:t>Okun’s</a:t>
            </a:r>
            <a:r>
              <a:rPr lang="en-US" sz="2400" dirty="0">
                <a:solidFill>
                  <a:srgbClr val="000000"/>
                </a:solidFill>
                <a:ea typeface="ヒラギノ角ゴ Pro W3" pitchFamily="-84" charset="-128"/>
              </a:rPr>
              <a:t> Law across Time and Countries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200" dirty="0" err="1" smtClean="0">
                <a:ea typeface="ヒラギノ角ゴ Pro W3" pitchFamily="-84" charset="-128"/>
              </a:rPr>
              <a:t>Okun’s</a:t>
            </a:r>
            <a:r>
              <a:rPr lang="en-US" sz="2200" dirty="0" smtClean="0">
                <a:ea typeface="ヒラギノ角ゴ Pro W3" pitchFamily="-84" charset="-128"/>
              </a:rPr>
              <a:t> law can be written as the change in the unemployment that is approximately equal to the negative of the growth rate of output: </a:t>
            </a:r>
          </a:p>
          <a:p>
            <a:pPr marL="0" indent="0" algn="r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– u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1)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≈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 </a:t>
            </a:r>
            <a:r>
              <a:rPr lang="en-US" sz="24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g</a:t>
            </a:r>
            <a:r>
              <a:rPr lang="en-US" sz="2400" i="1" baseline="-25000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                            </a:t>
            </a:r>
            <a:r>
              <a:rPr lang="en-US" sz="2000" dirty="0" smtClean="0"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000" dirty="0">
                <a:ea typeface="ヒラギノ角ゴ Pro W3" pitchFamily="-84" charset="-128"/>
                <a:cs typeface="Times New Roman" panose="02020603050405020304" pitchFamily="18" charset="0"/>
              </a:rPr>
              <a:t>9B.1)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The regression that fits the points in Figure 1 is:</a:t>
            </a:r>
          </a:p>
          <a:p>
            <a:pPr marL="0" indent="0" algn="r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u – u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1)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=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 </a:t>
            </a:r>
            <a:r>
              <a:rPr lang="en-US" sz="24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0.4( </a:t>
            </a:r>
            <a:r>
              <a:rPr lang="en-US" sz="2400" i="1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g</a:t>
            </a:r>
            <a:r>
              <a:rPr lang="en-US" sz="2400" i="1" baseline="-25000" dirty="0" err="1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</a:t>
            </a:r>
            <a:r>
              <a:rPr lang="en-US" sz="2400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– </a:t>
            </a:r>
            <a:r>
              <a:rPr lang="en-US" sz="24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3%)                             </a:t>
            </a:r>
            <a:r>
              <a:rPr lang="en-US" sz="2400" dirty="0" smtClean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000" dirty="0"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000" dirty="0" smtClean="0">
                <a:ea typeface="ヒラギノ角ゴ Pro W3" pitchFamily="-84" charset="-128"/>
                <a:cs typeface="Times New Roman" panose="02020603050405020304" pitchFamily="18" charset="0"/>
              </a:rPr>
              <a:t>9B.2)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Annual output growth has to be at least 3% to prevent the unemployment rate from rising.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Output growth 1% above normal leads only to a 0.4% reduction in the unemployment rate due to such factors as labor hoarding and discouraged workers.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The coefficient (0.4) is called the </a:t>
            </a:r>
            <a:r>
              <a:rPr lang="en-US" sz="2200" b="1" dirty="0" err="1" smtClean="0">
                <a:ea typeface="ヒラギノ角ゴ Pro W3" pitchFamily="-84" charset="-128"/>
                <a:cs typeface="Times New Roman" panose="02020603050405020304" pitchFamily="18" charset="0"/>
              </a:rPr>
              <a:t>Okun</a:t>
            </a:r>
            <a:r>
              <a:rPr lang="en-US" sz="2200" b="1" dirty="0" smtClean="0">
                <a:ea typeface="ヒラギノ角ゴ Pro W3" pitchFamily="-84" charset="-128"/>
                <a:cs typeface="Times New Roman" panose="02020603050405020304" pitchFamily="18" charset="0"/>
              </a:rPr>
              <a:t> coefficient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.</a:t>
            </a: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93405967"/>
      </p:ext>
    </p:extLst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9-2 Dynamics and the Medium Run Equilibrium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26742" y="2133600"/>
            <a:ext cx="3352800" cy="1262255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Over the medium run, the economy converges to the natural level of output and stable inflation.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208752"/>
            <a:ext cx="3962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9-2  </a:t>
            </a:r>
            <a:r>
              <a:rPr lang="en-US" sz="1800" dirty="0" smtClean="0"/>
              <a:t>Medium-Run Output and Inflation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10100" y="781050"/>
            <a:ext cx="3724275" cy="53721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526742" y="3291825"/>
            <a:ext cx="2819400" cy="285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0" indent="0">
              <a:spcBef>
                <a:spcPts val="525"/>
              </a:spcBef>
              <a:buNone/>
            </a:pPr>
            <a:r>
              <a:rPr lang="en-US" sz="1600" kern="0" dirty="0" smtClean="0">
                <a:ea typeface="ヒラギノ角ゴ Pro W3" pitchFamily="-84" charset="-128"/>
              </a:rPr>
              <a:t>At the medium-run equilibrium (point </a:t>
            </a:r>
            <a:r>
              <a:rPr lang="en-US" sz="1600" i="1" kern="0" dirty="0" smtClean="0">
                <a:ea typeface="ヒラギノ角ゴ Pro W3" pitchFamily="-84" charset="-128"/>
              </a:rPr>
              <a:t>A</a:t>
            </a:r>
            <a:r>
              <a:rPr lang="en-US" sz="1600" kern="0" dirty="0" smtClean="0">
                <a:ea typeface="ヒラギノ角ゴ Pro W3" pitchFamily="-84" charset="-128"/>
              </a:rPr>
              <a:t>’), </a:t>
            </a:r>
            <a:r>
              <a:rPr lang="en-US" sz="1600" i="1" kern="0" dirty="0" err="1" smtClean="0">
                <a:ea typeface="ヒラギノ角ゴ Pro W3" pitchFamily="-84" charset="-128"/>
              </a:rPr>
              <a:t>r</a:t>
            </a:r>
            <a:r>
              <a:rPr lang="en-US" sz="1600" i="1" kern="0" baseline="-25000" dirty="0" err="1" smtClean="0">
                <a:ea typeface="ヒラギノ角ゴ Pro W3" pitchFamily="-84" charset="-128"/>
              </a:rPr>
              <a:t>n</a:t>
            </a:r>
            <a:r>
              <a:rPr lang="en-US" sz="1600" kern="0" dirty="0" smtClean="0">
                <a:ea typeface="ヒラギノ角ゴ Pro W3" pitchFamily="-84" charset="-128"/>
              </a:rPr>
              <a:t> is called the </a:t>
            </a:r>
            <a:r>
              <a:rPr lang="en-US" sz="1600" b="1" kern="0" dirty="0" smtClean="0">
                <a:ea typeface="ヒラギノ角ゴ Pro W3" pitchFamily="-84" charset="-128"/>
              </a:rPr>
              <a:t>natural</a:t>
            </a:r>
            <a:r>
              <a:rPr lang="en-US" sz="1600" kern="0" dirty="0" smtClean="0">
                <a:ea typeface="ヒラギノ角ゴ Pro W3" pitchFamily="-84" charset="-128"/>
              </a:rPr>
              <a:t>, </a:t>
            </a:r>
            <a:r>
              <a:rPr lang="en-US" sz="1600" b="1" kern="0" dirty="0" smtClean="0">
                <a:ea typeface="ヒラギノ角ゴ Pro W3" pitchFamily="-84" charset="-128"/>
              </a:rPr>
              <a:t>neutral</a:t>
            </a:r>
            <a:r>
              <a:rPr lang="en-US" sz="1600" kern="0" dirty="0" smtClean="0">
                <a:ea typeface="ヒラギノ角ゴ Pro W3" pitchFamily="-84" charset="-128"/>
              </a:rPr>
              <a:t>, or </a:t>
            </a:r>
            <a:r>
              <a:rPr lang="en-US" sz="1600" b="1" kern="0" dirty="0" err="1" smtClean="0">
                <a:ea typeface="ヒラギノ角ゴ Pro W3" pitchFamily="-84" charset="-128"/>
              </a:rPr>
              <a:t>Wicksellian</a:t>
            </a:r>
            <a:r>
              <a:rPr lang="en-US" sz="1600" b="1" kern="0" dirty="0" smtClean="0">
                <a:ea typeface="ヒラギノ角ゴ Pro W3" pitchFamily="-84" charset="-128"/>
              </a:rPr>
              <a:t> rate of interest</a:t>
            </a:r>
            <a:r>
              <a:rPr lang="en-US" sz="1600" kern="0" dirty="0" smtClean="0">
                <a:ea typeface="ヒラギノ角ゴ Pro W3" pitchFamily="-84" charset="-128"/>
              </a:rPr>
              <a:t>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 kern="0" dirty="0" smtClean="0">
                <a:ea typeface="ヒラギノ角ゴ Pro W3" pitchFamily="-84" charset="-128"/>
              </a:rPr>
              <a:t>If the central bank wants to achieve a constant level of inflation, then the initial boom must be followed by a recession.</a:t>
            </a:r>
          </a:p>
          <a:p>
            <a:pPr>
              <a:spcBef>
                <a:spcPts val="525"/>
              </a:spcBef>
            </a:pPr>
            <a:endParaRPr lang="en-US" sz="1600" kern="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40839753"/>
      </p:ext>
    </p:extLst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9-2 Dynamics and the Medium Run Equilibrium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Assume instead that the expected inflation rate is a constant, then equation (9.3) becomes:</a:t>
            </a:r>
          </a:p>
          <a:p>
            <a:pPr>
              <a:spcBef>
                <a:spcPts val="525"/>
              </a:spcBef>
            </a:pPr>
            <a:endParaRPr lang="en-US" sz="22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A positive output gap generates </a:t>
            </a:r>
            <a:r>
              <a:rPr lang="en-US" sz="2200" i="1" dirty="0" smtClean="0">
                <a:ea typeface="ヒラギノ角ゴ Pro W3" pitchFamily="-84" charset="-128"/>
              </a:rPr>
              <a:t>a higher level of inflation</a:t>
            </a:r>
            <a:r>
              <a:rPr lang="en-US" sz="2200" dirty="0" smtClean="0">
                <a:ea typeface="ヒラギノ角ゴ Pro W3" pitchFamily="-84" charset="-128"/>
              </a:rPr>
              <a:t>, rather than </a:t>
            </a:r>
            <a:r>
              <a:rPr lang="en-US" sz="2200" i="1" dirty="0" smtClean="0">
                <a:ea typeface="ヒラギノ角ゴ Pro W3" pitchFamily="-84" charset="-128"/>
              </a:rPr>
              <a:t>an increase in inflation</a:t>
            </a:r>
            <a:r>
              <a:rPr lang="en-US" sz="22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So long as inflation </a:t>
            </a:r>
            <a:r>
              <a:rPr lang="en-US" sz="2200" b="1" dirty="0" smtClean="0">
                <a:ea typeface="ヒラギノ角ゴ Pro W3" pitchFamily="-84" charset="-128"/>
              </a:rPr>
              <a:t>expectations</a:t>
            </a:r>
            <a:r>
              <a:rPr lang="en-US" sz="2200" dirty="0" smtClean="0">
                <a:ea typeface="ヒラギノ角ゴ Pro W3" pitchFamily="-84" charset="-128"/>
              </a:rPr>
              <a:t> remain </a:t>
            </a:r>
            <a:r>
              <a:rPr lang="en-US" sz="2200" b="1" dirty="0" smtClean="0">
                <a:ea typeface="ヒラギノ角ゴ Pro W3" pitchFamily="-84" charset="-128"/>
              </a:rPr>
              <a:t>anchored</a:t>
            </a:r>
            <a:r>
              <a:rPr lang="en-US" sz="2200" dirty="0" smtClean="0">
                <a:ea typeface="ヒラギノ角ゴ Pro W3" pitchFamily="-84" charset="-128"/>
              </a:rPr>
              <a:t>, the central bank does not need to compensate for the initial boom by a recession later. </a:t>
            </a: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1800" y="2362200"/>
            <a:ext cx="5560219" cy="261938"/>
          </a:xfrm>
          <a:prstGeom prst="rect">
            <a:avLst/>
          </a:prstGeom>
        </p:spPr>
      </p:pic>
    </p:spTree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9-2 Dynamics and the Medium Run Equilibrium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2819400" cy="32766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If the zero lower bound prevents monetary policy from increasing output back to potential, the result may be a deflation spiral. More deflation leads to a higher real policy rate, and the higher policy rate in turn leads to lower output and more deflation.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285875"/>
            <a:ext cx="3581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9-3  </a:t>
            </a:r>
            <a:r>
              <a:rPr lang="en-US" sz="1800" dirty="0" smtClean="0"/>
              <a:t>The Deflation Spiral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10100" y="1128252"/>
            <a:ext cx="3714750" cy="51625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55859256"/>
      </p:ext>
    </p:extLst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9-2 Dynamics and the Medium Run Equilibrium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The zero lower bound constraint may make it impossible to achieve a negative real policy rate.</a:t>
            </a:r>
          </a:p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Deflation spiral </a:t>
            </a:r>
            <a:r>
              <a:rPr lang="en-US" sz="2400" dirty="0" smtClean="0">
                <a:ea typeface="ヒラギノ角ゴ Pro W3" pitchFamily="-84" charset="-128"/>
              </a:rPr>
              <a:t>or </a:t>
            </a:r>
            <a:r>
              <a:rPr lang="en-US" sz="2400" b="1" dirty="0" smtClean="0">
                <a:ea typeface="ヒラギノ角ゴ Pro W3" pitchFamily="-84" charset="-128"/>
              </a:rPr>
              <a:t>deflation trap </a:t>
            </a:r>
            <a:r>
              <a:rPr lang="en-US" sz="2400" dirty="0" smtClean="0">
                <a:ea typeface="ヒラギノ角ゴ Pro W3" pitchFamily="-84" charset="-128"/>
              </a:rPr>
              <a:t>occurs at </a:t>
            </a:r>
            <a:r>
              <a:rPr lang="en-US" sz="2400" i="1" dirty="0" smtClean="0">
                <a:ea typeface="ヒラギノ角ゴ Pro W3" pitchFamily="-84" charset="-128"/>
              </a:rPr>
              <a:t>Y</a:t>
            </a:r>
            <a:r>
              <a:rPr lang="en-US" sz="2400" dirty="0" smtClean="0">
                <a:ea typeface="ヒラギノ角ゴ Pro W3" pitchFamily="-84" charset="-128"/>
              </a:rPr>
              <a:t>’ (Figure 9-3) when output is still below potential, and thus inflation is still decreasing.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Lower output leads to more deflation, and more deflation leads to a higher real interest rate and lower output.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5189386"/>
      </p:ext>
    </p:extLst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FOCUS: Deflation in the Great Depression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42404" y="1247073"/>
            <a:ext cx="7996561" cy="1600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The economy seemed to be in a deflation trap between 1929 and 1933.</a:t>
            </a:r>
          </a:p>
          <a:p>
            <a:pPr>
              <a:spcBef>
                <a:spcPts val="525"/>
              </a:spcBef>
            </a:pPr>
            <a:r>
              <a:rPr lang="en-US" sz="1800" dirty="0" smtClean="0">
                <a:ea typeface="ヒラギノ角ゴ Pro W3" pitchFamily="-84" charset="-128"/>
              </a:rPr>
              <a:t>Monetary policy decreased the nominal interest rate from 5.3% to 2.3% in 1933, but with negative inflation rates, the real rate reached 12.3% in 1931 and 7.8% in 1933.</a:t>
            </a:r>
          </a:p>
          <a:p>
            <a:pPr>
              <a:spcBef>
                <a:spcPts val="525"/>
              </a:spcBef>
            </a:pPr>
            <a:endParaRPr lang="en-US" sz="1800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buNone/>
            </a:pPr>
            <a:endParaRPr lang="en-US" sz="18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457200" y="3316069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 smtClean="0"/>
              <a:t>Table 1  </a:t>
            </a:r>
            <a:r>
              <a:rPr lang="en-US" sz="1800" dirty="0" smtClean="0"/>
              <a:t>The Nominal Interest Rate, Inflation, and the Real Interest Rate, 1929</a:t>
            </a:r>
            <a:r>
              <a:rPr lang="en-US" sz="1800" dirty="0" smtClean="0"/>
              <a:t>−1933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3962400"/>
            <a:ext cx="7239000" cy="229529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33148765"/>
      </p:ext>
    </p:extLst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ヒラギノ角ゴ Pro W3" pitchFamily="-84" charset="-128"/>
              </a:rPr>
              <a:t>9-3 Fiscal Consolidation Revisited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81000" y="2743200"/>
            <a:ext cx="2794794" cy="32766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Fiscal consolidation leads to a decrease in output in the short run.  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In the medium run, output returns to potential, and the interest rate is lower.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277813" y="942975"/>
            <a:ext cx="35321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9-4  </a:t>
            </a:r>
            <a:r>
              <a:rPr lang="en-US" sz="1800" dirty="0"/>
              <a:t>Fiscal Consolidation in the Short Run and the Medium Run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3229" y="942975"/>
            <a:ext cx="3810000" cy="53440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02348751"/>
      </p:ext>
    </p:extLst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9-4 The Effects of an Increase in the Price of Oil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2021824"/>
            <a:ext cx="1847850" cy="23622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Over the last 40 years, there have been two sharp increases in the real price of oil, the first in the 1970s and the second in the 2000s.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297048" y="1268469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9-5  </a:t>
            </a:r>
            <a:r>
              <a:rPr lang="en-US" sz="1800" dirty="0" smtClean="0"/>
              <a:t>The Nominal and the Real Price of Oil, 1970−2015</a:t>
            </a:r>
            <a:endParaRPr lang="en-US"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22989" y="1981200"/>
            <a:ext cx="6156059" cy="33526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4800600"/>
            <a:ext cx="1695450" cy="6667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33685367"/>
      </p:ext>
    </p:extLst>
  </p:cSld>
  <p:clrMapOvr>
    <a:masterClrMapping/>
  </p:clrMapOvr>
  <p:transition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ea typeface="ヒラギノ角ゴ Pro W3" pitchFamily="-84" charset="-128"/>
              </a:rPr>
              <a:t>9-4 The Effects of an Increase in the Price of Oil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1970s: OPEC (the Organization of Petroleum Exporting Countries) act as a monopoly and increased oil prices.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2000s: The fast growth of emerging economies led a rapid increase in world oil demand, and thus a steady increase in real oil prices.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2008:  A large recession led to a sudden decrease in the demand for oil, and thus falling oil prices.</a:t>
            </a:r>
          </a:p>
          <a:p>
            <a:pPr>
              <a:spcBef>
                <a:spcPts val="525"/>
              </a:spcBef>
            </a:pPr>
            <a:r>
              <a:rPr lang="en-US" sz="2200" dirty="0" smtClean="0">
                <a:ea typeface="ヒラギノ角ゴ Pro W3" pitchFamily="-84" charset="-128"/>
              </a:rPr>
              <a:t>2014 and after: A combination of increased supply due to the increase in U.S. shale oil production and the partial breakdown of OPEC led to sudden drop in oil prices.</a:t>
            </a: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2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54592741"/>
      </p:ext>
    </p:extLst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ea typeface="ヒラギノ角ゴ Pro W3" pitchFamily="-84" charset="-128"/>
              </a:rPr>
              <a:t>9-4 The Effects of an Increase in the Price of Oil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33400" y="2819400"/>
            <a:ext cx="2590800" cy="243840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An increase in the price of oil is equivalent to an </a:t>
            </a:r>
            <a:r>
              <a:rPr lang="en-US" sz="1600" i="1" dirty="0" smtClean="0">
                <a:ea typeface="ヒラギノ角ゴ Pro W3" pitchFamily="-84" charset="-128"/>
              </a:rPr>
              <a:t>increase in the markup</a:t>
            </a:r>
            <a:r>
              <a:rPr lang="en-US" sz="1600" dirty="0" smtClean="0">
                <a:ea typeface="ヒラギノ角ゴ Pro W3" pitchFamily="-84" charset="-128"/>
              </a:rPr>
              <a:t>.</a:t>
            </a:r>
          </a:p>
          <a:p>
            <a:pPr marL="0" indent="0">
              <a:spcBef>
                <a:spcPts val="525"/>
              </a:spcBef>
              <a:buNone/>
            </a:pPr>
            <a:r>
              <a:rPr lang="en-US" sz="1600" dirty="0" smtClean="0">
                <a:ea typeface="ヒラギノ角ゴ Pro W3" pitchFamily="-84" charset="-128"/>
              </a:rPr>
              <a:t>It leads to lower real wages and a higher natural rate of unemployment.</a:t>
            </a:r>
          </a:p>
          <a:p>
            <a:pPr marL="0" indent="0">
              <a:spcBef>
                <a:spcPts val="525"/>
              </a:spcBef>
              <a:buNone/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46587" y="1205681"/>
            <a:ext cx="838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9-6  </a:t>
            </a:r>
            <a:r>
              <a:rPr lang="en-US" sz="1800" dirty="0" smtClean="0"/>
              <a:t>The Effects of an Increase in the Price of Oil on the Natural Rate of Unemployment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62400" y="1933928"/>
            <a:ext cx="4613787" cy="38588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61825171"/>
      </p:ext>
    </p:extLst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ea typeface="ヒラギノ角ゴ Pro W3" pitchFamily="-84" charset="-128"/>
              </a:rPr>
              <a:t>9-4 The Effects of an Increase in the Price of Oil</a:t>
            </a:r>
            <a:endParaRPr lang="en-US" dirty="0" smtClean="0">
              <a:ea typeface="ヒラギノ角ゴ Pro W3" pitchFamily="-84" charset="-128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33400" y="2667000"/>
            <a:ext cx="3810000" cy="3048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1600" dirty="0" smtClean="0">
                <a:ea typeface="ヒラギノ角ゴ Pro W3" pitchFamily="-84" charset="-128"/>
              </a:rPr>
              <a:t>If </a:t>
            </a:r>
            <a:r>
              <a:rPr lang="en-US" sz="1600" i="1" dirty="0" smtClean="0">
                <a:ea typeface="ヒラギノ角ゴ Pro W3" pitchFamily="-84" charset="-128"/>
              </a:rPr>
              <a:t>A</a:t>
            </a:r>
            <a:r>
              <a:rPr lang="en-US" sz="1600" dirty="0" smtClean="0">
                <a:ea typeface="ヒラギノ角ゴ Pro W3" pitchFamily="-84" charset="-128"/>
              </a:rPr>
              <a:t>’ is the short-run equilibrium, then if the central bank increases the policy rate to stabilize inflation, then the economy moves to its medium-run equilibrium at point </a:t>
            </a:r>
            <a:r>
              <a:rPr lang="en-US" sz="1600" i="1" dirty="0" smtClean="0">
                <a:ea typeface="ヒラギノ角ゴ Pro W3" pitchFamily="-84" charset="-128"/>
              </a:rPr>
              <a:t>A</a:t>
            </a:r>
            <a:r>
              <a:rPr lang="en-US" sz="1600" dirty="0" smtClean="0">
                <a:ea typeface="ヒラギノ角ゴ Pro W3" pitchFamily="-84" charset="-128"/>
              </a:rPr>
              <a:t>”. </a:t>
            </a:r>
          </a:p>
          <a:p>
            <a:pPr>
              <a:spcBef>
                <a:spcPts val="525"/>
              </a:spcBef>
            </a:pPr>
            <a:r>
              <a:rPr lang="en-US" sz="1600" b="1" dirty="0" smtClean="0">
                <a:ea typeface="ヒラギノ角ゴ Pro W3" pitchFamily="-84" charset="-128"/>
              </a:rPr>
              <a:t>Stagflation</a:t>
            </a:r>
            <a:r>
              <a:rPr lang="en-US" sz="1600" dirty="0" smtClean="0">
                <a:ea typeface="ヒラギノ角ゴ Pro W3" pitchFamily="-84" charset="-128"/>
              </a:rPr>
              <a:t> (lower output and higher inflation) occurs along the way.</a:t>
            </a:r>
          </a:p>
          <a:p>
            <a:pPr>
              <a:spcBef>
                <a:spcPts val="525"/>
              </a:spcBef>
            </a:pP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1000" y="1295400"/>
            <a:ext cx="3962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9-7  </a:t>
            </a:r>
            <a:r>
              <a:rPr lang="en-US" sz="1800" dirty="0" smtClean="0"/>
              <a:t>Short and Medium Run Effects of an Increase in the Price of Oil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3000" y="782925"/>
            <a:ext cx="3886200" cy="5617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34033143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FOCUS: </a:t>
            </a:r>
            <a:r>
              <a:rPr lang="en-US" sz="2800" dirty="0" smtClean="0">
                <a:ea typeface="ヒラギノ角ゴ Pro W3" pitchFamily="-84" charset="-128"/>
              </a:rPr>
              <a:t>Plummeting Oil Price and Consumer Price Expectations</a:t>
            </a:r>
            <a:endParaRPr lang="en-US" sz="2800" dirty="0" smtClean="0">
              <a:ea typeface="ヒラギノ角ゴ Pro W3" pitchFamily="-84" charset="-128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80999" y="5730460"/>
            <a:ext cx="7620001" cy="594140"/>
          </a:xfrm>
        </p:spPr>
        <p:txBody>
          <a:bodyPr/>
          <a:lstStyle/>
          <a:p>
            <a:pPr marL="0" indent="0">
              <a:spcBef>
                <a:spcPts val="525"/>
              </a:spcBef>
              <a:buNone/>
            </a:pPr>
            <a:r>
              <a:rPr lang="en-US" sz="1600" i="1" dirty="0" smtClean="0">
                <a:ea typeface="ヒラギノ角ゴ Pro W3" pitchFamily="-84" charset="-128"/>
              </a:rPr>
              <a:t>Source</a:t>
            </a:r>
            <a:r>
              <a:rPr lang="en-US" sz="1600" dirty="0" smtClean="0">
                <a:ea typeface="ヒラギノ角ゴ Pro W3" pitchFamily="-84" charset="-128"/>
              </a:rPr>
              <a:t>: </a:t>
            </a:r>
            <a:r>
              <a:rPr lang="en-US" sz="1600" dirty="0" err="1" smtClean="0">
                <a:ea typeface="ヒラギノ角ゴ Pro W3" pitchFamily="-84" charset="-128"/>
              </a:rPr>
              <a:t>Zsolt</a:t>
            </a:r>
            <a:r>
              <a:rPr lang="en-US" sz="1600" dirty="0" smtClean="0">
                <a:ea typeface="ヒラギノ角ゴ Pro W3" pitchFamily="-84" charset="-128"/>
              </a:rPr>
              <a:t> </a:t>
            </a:r>
            <a:r>
              <a:rPr lang="en-US" sz="1600" dirty="0" err="1" smtClean="0">
                <a:ea typeface="ヒラギノ角ゴ Pro W3" pitchFamily="-84" charset="-128"/>
              </a:rPr>
              <a:t>Darvas</a:t>
            </a:r>
            <a:r>
              <a:rPr lang="en-US" sz="1600" dirty="0" smtClean="0">
                <a:ea typeface="ヒラギノ角ゴ Pro W3" pitchFamily="-84" charset="-128"/>
              </a:rPr>
              <a:t> and </a:t>
            </a:r>
            <a:r>
              <a:rPr lang="en-US" sz="1600" dirty="0" err="1" smtClean="0">
                <a:ea typeface="ヒラギノ角ゴ Pro W3" pitchFamily="-84" charset="-128"/>
              </a:rPr>
              <a:t>Pia</a:t>
            </a:r>
            <a:r>
              <a:rPr lang="en-US" sz="1600" dirty="0" smtClean="0">
                <a:ea typeface="ヒラギノ角ゴ Pro W3" pitchFamily="-84" charset="-128"/>
              </a:rPr>
              <a:t> </a:t>
            </a:r>
            <a:r>
              <a:rPr lang="en-US" sz="1600" dirty="0" err="1" smtClean="0">
                <a:ea typeface="ヒラギノ角ゴ Pro W3" pitchFamily="-84" charset="-128"/>
              </a:rPr>
              <a:t>Hüttl</a:t>
            </a:r>
            <a:r>
              <a:rPr lang="en-US" sz="1600" dirty="0" smtClean="0">
                <a:ea typeface="ヒラギノ角ゴ Pro W3" pitchFamily="-84" charset="-128"/>
              </a:rPr>
              <a:t> “Oil Prices and Inflation Expectations,” </a:t>
            </a:r>
            <a:r>
              <a:rPr lang="en-US" sz="1600" dirty="0" err="1" smtClean="0">
                <a:ea typeface="ヒラギノ角ゴ Pro W3" pitchFamily="-84" charset="-128"/>
              </a:rPr>
              <a:t>Bruegel</a:t>
            </a:r>
            <a:r>
              <a:rPr lang="en-US" sz="1600" dirty="0" smtClean="0">
                <a:ea typeface="ヒラギノ角ゴ Pro W3" pitchFamily="-84" charset="-128"/>
              </a:rPr>
              <a:t> | The Brussels-Based Economic Think Tank, January 21, 2016.</a:t>
            </a:r>
            <a:endParaRPr lang="en-US" sz="1600" dirty="0" smtClean="0">
              <a:ea typeface="ヒラギノ角ゴ Pro W3" pitchFamily="-84" charset="-128"/>
            </a:endParaRPr>
          </a:p>
        </p:txBody>
      </p:sp>
      <p:sp>
        <p:nvSpPr>
          <p:cNvPr id="10244" name="TextBox 4"/>
          <p:cNvSpPr txBox="1">
            <a:spLocks noChangeArrowheads="1"/>
          </p:cNvSpPr>
          <p:nvPr/>
        </p:nvSpPr>
        <p:spPr bwMode="auto">
          <a:xfrm>
            <a:off x="380999" y="1338492"/>
            <a:ext cx="838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</a:t>
            </a:r>
            <a:r>
              <a:rPr lang="en-US" sz="1800" b="1" dirty="0" smtClean="0"/>
              <a:t>1  </a:t>
            </a:r>
            <a:r>
              <a:rPr lang="en-US" sz="1800" dirty="0" smtClean="0"/>
              <a:t>Inflation Expectations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2123588"/>
            <a:ext cx="8001000" cy="28426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09834222"/>
      </p:ext>
    </p:extLst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ea typeface="ヒラギノ角ゴ Pro W3" pitchFamily="-84" charset="-128"/>
              </a:rPr>
              <a:t>9-5 Conclusions</a:t>
            </a:r>
            <a:endParaRPr lang="en-US" sz="3600" dirty="0" smtClean="0">
              <a:ea typeface="ヒラギノ角ゴ Pro W3" pitchFamily="-84" charset="-128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Shocks or changes in policy typically have different effects in the short run and in the medium run.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Disagreements about the effects of various policies depend on how fast you think the economy adjusts to shocks.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Movements </a:t>
            </a:r>
            <a:r>
              <a:rPr lang="en-US" sz="2400" dirty="0">
                <a:ea typeface="ヒラギノ角ゴ Pro W3" pitchFamily="-84" charset="-128"/>
              </a:rPr>
              <a:t>in output around its </a:t>
            </a:r>
            <a:r>
              <a:rPr lang="en-US" sz="2400" dirty="0" smtClean="0">
                <a:ea typeface="ヒラギノ角ゴ Pro W3" pitchFamily="-84" charset="-128"/>
              </a:rPr>
              <a:t>trend are called </a:t>
            </a:r>
            <a:r>
              <a:rPr lang="en-US" sz="2400" b="1" dirty="0" smtClean="0">
                <a:ea typeface="ヒラギノ角ゴ Pro W3" pitchFamily="-84" charset="-128"/>
              </a:rPr>
              <a:t>output fluctuations </a:t>
            </a:r>
            <a:r>
              <a:rPr lang="en-US" sz="2400" dirty="0" smtClean="0">
                <a:ea typeface="ヒラギノ角ゴ Pro W3" pitchFamily="-84" charset="-128"/>
              </a:rPr>
              <a:t>(</a:t>
            </a:r>
            <a:r>
              <a:rPr lang="en-US" sz="2400" b="1" dirty="0" smtClean="0">
                <a:ea typeface="ヒラギノ角ゴ Pro W3" pitchFamily="-84" charset="-128"/>
              </a:rPr>
              <a:t>business cycles</a:t>
            </a:r>
            <a:r>
              <a:rPr lang="en-US" sz="2400" dirty="0" smtClean="0">
                <a:ea typeface="ヒラギノ角ゴ Pro W3" pitchFamily="-84" charset="-128"/>
              </a:rPr>
              <a:t>).</a:t>
            </a:r>
          </a:p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Economic fluctuations </a:t>
            </a:r>
            <a:r>
              <a:rPr lang="en-US" sz="2400" dirty="0" smtClean="0">
                <a:ea typeface="ヒラギノ角ゴ Pro W3" pitchFamily="-84" charset="-128"/>
              </a:rPr>
              <a:t>are the results of shocks and their dynamic effects, called the </a:t>
            </a:r>
            <a:r>
              <a:rPr lang="en-US" sz="2400" b="1" dirty="0" smtClean="0">
                <a:ea typeface="ヒラギノ角ゴ Pro W3" pitchFamily="-84" charset="-128"/>
              </a:rPr>
              <a:t>propagation mechanism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8976784"/>
      </p:ext>
    </p:extLst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2627</TotalTime>
  <Words>1304</Words>
  <Application>Microsoft Office PowerPoint</Application>
  <PresentationFormat>On-screen Show (4:3)</PresentationFormat>
  <Paragraphs>102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template_LN01Brooks671956_02_LN01</vt:lpstr>
      <vt:lpstr>From the Short to the Medium Run: The IS-LM-PC Model</vt:lpstr>
      <vt:lpstr>Chapter 9 Outline</vt:lpstr>
      <vt:lpstr>From the Short to the Medium Run: The IS-LM-PC Model</vt:lpstr>
      <vt:lpstr>9-1 The IS-LM-PC Model</vt:lpstr>
      <vt:lpstr>9-1 The IS-LM-PC Model</vt:lpstr>
      <vt:lpstr>9-1 The IS-LM-PC Model</vt:lpstr>
      <vt:lpstr>FOCUS: Okun’s Law across Time and Countries</vt:lpstr>
      <vt:lpstr>FOCUS: Okun’s Law across Time and Countries</vt:lpstr>
      <vt:lpstr>9-2 Dynamics and the Medium Run Equilibrium</vt:lpstr>
      <vt:lpstr>9-2 Dynamics and the Medium Run Equilibrium</vt:lpstr>
      <vt:lpstr>9-2 Dynamics and the Medium Run Equilibrium</vt:lpstr>
      <vt:lpstr>9-2 Dynamics and the Medium Run Equilibrium</vt:lpstr>
      <vt:lpstr>FOCUS: Deflation in the Great Depression</vt:lpstr>
      <vt:lpstr>9-3 Fiscal Consolidation Revisited</vt:lpstr>
      <vt:lpstr>9-4 The Effects of an Increase in the Price of Oil</vt:lpstr>
      <vt:lpstr>9-4 The Effects of an Increase in the Price of Oil</vt:lpstr>
      <vt:lpstr>9-4 The Effects of an Increase in the Price of Oil</vt:lpstr>
      <vt:lpstr>9-4 The Effects of an Increase in the Price of Oil</vt:lpstr>
      <vt:lpstr>FOCUS: Plummeting Oil Price and Consumer Price Expectations</vt:lpstr>
      <vt:lpstr>9-5 Conclusions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Paromita</cp:lastModifiedBy>
  <cp:revision>143</cp:revision>
  <dcterms:created xsi:type="dcterms:W3CDTF">2012-08-09T20:37:31Z</dcterms:created>
  <dcterms:modified xsi:type="dcterms:W3CDTF">2016-10-06T05:06:35Z</dcterms:modified>
</cp:coreProperties>
</file>