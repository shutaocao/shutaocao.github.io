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3"/>
  </p:notesMasterIdLst>
  <p:sldIdLst>
    <p:sldId id="256" r:id="rId2"/>
    <p:sldId id="269" r:id="rId3"/>
    <p:sldId id="268" r:id="rId4"/>
    <p:sldId id="296" r:id="rId5"/>
    <p:sldId id="311" r:id="rId6"/>
    <p:sldId id="297" r:id="rId7"/>
    <p:sldId id="312" r:id="rId8"/>
    <p:sldId id="313" r:id="rId9"/>
    <p:sldId id="298" r:id="rId10"/>
    <p:sldId id="299" r:id="rId11"/>
    <p:sldId id="314" r:id="rId12"/>
    <p:sldId id="315" r:id="rId13"/>
    <p:sldId id="316" r:id="rId14"/>
    <p:sldId id="317" r:id="rId15"/>
    <p:sldId id="318" r:id="rId16"/>
    <p:sldId id="301" r:id="rId17"/>
    <p:sldId id="302" r:id="rId18"/>
    <p:sldId id="319" r:id="rId19"/>
    <p:sldId id="320" r:id="rId20"/>
    <p:sldId id="303" r:id="rId21"/>
    <p:sldId id="321" r:id="rId22"/>
    <p:sldId id="322" r:id="rId23"/>
    <p:sldId id="305" r:id="rId24"/>
    <p:sldId id="306" r:id="rId25"/>
    <p:sldId id="323" r:id="rId26"/>
    <p:sldId id="307" r:id="rId27"/>
    <p:sldId id="308" r:id="rId28"/>
    <p:sldId id="324" r:id="rId29"/>
    <p:sldId id="270" r:id="rId30"/>
    <p:sldId id="310" r:id="rId31"/>
    <p:sldId id="325" r:id="rId3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599D"/>
    <a:srgbClr val="BBE5FB"/>
    <a:srgbClr val="BFDC42"/>
    <a:srgbClr val="D8F2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970"/>
    <p:restoredTop sz="94690"/>
  </p:normalViewPr>
  <p:slideViewPr>
    <p:cSldViewPr>
      <p:cViewPr varScale="1">
        <p:scale>
          <a:sx n="63" d="100"/>
          <a:sy n="63" d="100"/>
        </p:scale>
        <p:origin x="-120" y="-1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 xmlns:p14="http://schemas.microsoft.com/office/powerpoint/2010/main"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488238" y="6356350"/>
            <a:ext cx="1655762"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6356350"/>
            <a:ext cx="1908175"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6"/>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 xmlns:p14="http://schemas.microsoft.com/office/powerpoint/2010/main" val="3441087217"/>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494771439"/>
      </p:ext>
    </p:extLst>
  </p:cSld>
  <p:clrMapOvr>
    <a:masterClrMapping/>
  </p:clrMapOvr>
  <p:transition>
    <p:strips dir="l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10/6/2016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 xmlns:p14="http://schemas.microsoft.com/office/powerpoint/2010/main"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7-</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334000" y="1600200"/>
            <a:ext cx="3581400" cy="2057400"/>
          </a:xfrm>
        </p:spPr>
        <p:txBody>
          <a:bodyPr/>
          <a:lstStyle/>
          <a:p>
            <a:pPr algn="ctr" eaLnBrk="1" hangingPunct="1"/>
            <a:r>
              <a:rPr lang="en-US" sz="2800" dirty="0" smtClean="0">
                <a:ea typeface="ヒラギノ角ゴ Pro W3" pitchFamily="-84" charset="-128"/>
              </a:rPr>
              <a:t>The Labor Market</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7</a:t>
            </a:r>
          </a:p>
        </p:txBody>
      </p:sp>
    </p:spTree>
  </p:cSld>
  <p:clrMapOvr>
    <a:masterClrMapping/>
  </p:clrMapOvr>
  <p:transition>
    <p:strips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mtClean="0">
                <a:ea typeface="ヒラギノ角ゴ Pro W3" pitchFamily="-84" charset="-128"/>
              </a:rPr>
              <a:t>Chapter 7 </a:t>
            </a:r>
            <a:r>
              <a:rPr lang="en-US" dirty="0" smtClean="0">
                <a:ea typeface="ヒラギノ角ゴ Pro W3" pitchFamily="-84" charset="-128"/>
              </a:rPr>
              <a:t>Outline</a:t>
            </a:r>
          </a:p>
        </p:txBody>
      </p:sp>
      <p:sp>
        <p:nvSpPr>
          <p:cNvPr id="3" name="Content Placeholder 2"/>
          <p:cNvSpPr txBox="1">
            <a:spLocks/>
          </p:cNvSpPr>
          <p:nvPr/>
        </p:nvSpPr>
        <p:spPr bwMode="auto">
          <a:xfrm>
            <a:off x="457200" y="1295400"/>
            <a:ext cx="8382000" cy="493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1714500" indent="-1714500" eaLnBrk="1" hangingPunct="1">
              <a:buFontTx/>
              <a:buNone/>
              <a:defRPr/>
            </a:pPr>
            <a:r>
              <a:rPr lang="en-US" sz="2400" b="1" kern="0" dirty="0" smtClean="0">
                <a:ea typeface="ヒラギノ角ゴ Pro W3" pitchFamily="-84" charset="-128"/>
              </a:rPr>
              <a:t>The Labor Market</a:t>
            </a:r>
          </a:p>
          <a:p>
            <a:pPr marL="1714500" indent="-171450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7-1	A Tour of the Labor Market</a:t>
            </a:r>
          </a:p>
          <a:p>
            <a:pPr marL="1714500" indent="-1714500" eaLnBrk="1" hangingPunct="1">
              <a:buFontTx/>
              <a:buNone/>
              <a:defRPr/>
            </a:pPr>
            <a:r>
              <a:rPr lang="en-US" sz="2400" kern="0" dirty="0" smtClean="0">
                <a:ea typeface="ヒラギノ角ゴ Pro W3" pitchFamily="-84" charset="-128"/>
              </a:rPr>
              <a:t>7-2	Movements in Unemployment</a:t>
            </a:r>
          </a:p>
          <a:p>
            <a:pPr marL="1714500" indent="-1714500" eaLnBrk="1" hangingPunct="1">
              <a:buFontTx/>
              <a:buNone/>
              <a:defRPr/>
            </a:pPr>
            <a:r>
              <a:rPr lang="en-US" sz="2400" kern="0" dirty="0" smtClean="0">
                <a:ea typeface="ヒラギノ角ゴ Pro W3" pitchFamily="-84" charset="-128"/>
              </a:rPr>
              <a:t>7-3	Wage Determination</a:t>
            </a:r>
          </a:p>
          <a:p>
            <a:pPr marL="1714500" indent="-1714500" eaLnBrk="1" hangingPunct="1">
              <a:buFontTx/>
              <a:buNone/>
              <a:defRPr/>
            </a:pPr>
            <a:r>
              <a:rPr lang="en-US" sz="2400" kern="0" dirty="0" smtClean="0">
                <a:ea typeface="ヒラギノ角ゴ Pro W3" pitchFamily="-84" charset="-128"/>
              </a:rPr>
              <a:t>7-4	Price Determination</a:t>
            </a:r>
          </a:p>
          <a:p>
            <a:pPr marL="1714500" indent="-1714500" eaLnBrk="1" hangingPunct="1">
              <a:buFontTx/>
              <a:buNone/>
              <a:defRPr/>
            </a:pPr>
            <a:r>
              <a:rPr lang="en-US" sz="2400" kern="0" dirty="0" smtClean="0">
                <a:ea typeface="ヒラギノ角ゴ Pro W3" pitchFamily="-84" charset="-128"/>
              </a:rPr>
              <a:t>7-5	The Natural Rate </a:t>
            </a:r>
            <a:r>
              <a:rPr lang="en-US" sz="2400" kern="0" dirty="0">
                <a:ea typeface="ヒラギノ角ゴ Pro W3" pitchFamily="-84" charset="-128"/>
              </a:rPr>
              <a:t>of Unemployment</a:t>
            </a:r>
          </a:p>
          <a:p>
            <a:pPr marL="1714500" indent="-1714500" eaLnBrk="1" hangingPunct="1">
              <a:buFontTx/>
              <a:buNone/>
              <a:defRPr/>
            </a:pPr>
            <a:r>
              <a:rPr lang="en-US" sz="2400" kern="0" dirty="0" smtClean="0">
                <a:ea typeface="ヒラギノ角ゴ Pro W3" pitchFamily="-84" charset="-128"/>
              </a:rPr>
              <a:t>7-6</a:t>
            </a:r>
            <a:r>
              <a:rPr lang="en-US" sz="2400" kern="0" dirty="0">
                <a:ea typeface="ヒラギノ角ゴ Pro W3" pitchFamily="-84" charset="-128"/>
              </a:rPr>
              <a:t>	</a:t>
            </a:r>
            <a:r>
              <a:rPr lang="en-US" sz="2400" kern="0" dirty="0" smtClean="0">
                <a:ea typeface="ヒラギノ角ゴ Pro W3" pitchFamily="-84" charset="-128"/>
              </a:rPr>
              <a:t>Where We Go from Here</a:t>
            </a:r>
          </a:p>
          <a:p>
            <a:pPr marL="1714500" indent="-1714500" eaLnBrk="1" hangingPunct="1">
              <a:buFontTx/>
              <a:buNone/>
              <a:defRPr/>
            </a:pPr>
            <a:r>
              <a:rPr lang="en-US" sz="2400" kern="0" smtClean="0">
                <a:ea typeface="ヒラギノ角ゴ Pro W3" pitchFamily="-84" charset="-128"/>
              </a:rPr>
              <a:t>APPENDIX </a:t>
            </a:r>
            <a:r>
              <a:rPr lang="en-US" sz="2400" kern="0">
                <a:ea typeface="ヒラギノ角ゴ Pro W3" pitchFamily="-84" charset="-128"/>
              </a:rPr>
              <a:t>Wage- and Price-Setting Relations versus Labor Supply and Labor Demand</a:t>
            </a:r>
            <a:endParaRPr lang="en-US" sz="2400" kern="0" dirty="0">
              <a:ea typeface="ヒラギノ角ゴ Pro W3" pitchFamily="-84" charset="-128"/>
            </a:endParaRPr>
          </a:p>
          <a:p>
            <a:pPr marL="1714500" indent="-1714500" eaLnBrk="1" hangingPunct="1">
              <a:buFontTx/>
              <a:buNone/>
              <a:defRPr/>
            </a:pPr>
            <a:endParaRPr lang="en-US" sz="2400" kern="0" dirty="0" smtClean="0">
              <a:ea typeface="ヒラギノ角ゴ Pro W3" pitchFamily="-84" charset="-128"/>
            </a:endParaRPr>
          </a:p>
          <a:p>
            <a:pPr marL="1714500" indent="-1714500" eaLnBrk="1" hangingPunct="1">
              <a:buFontTx/>
              <a:buNone/>
              <a:defRPr/>
            </a:pPr>
            <a:endParaRPr lang="en-US" sz="2400" kern="0" dirty="0" smtClean="0">
              <a:ea typeface="ヒラギノ角ゴ Pro W3" pitchFamily="-84" charset="-128"/>
            </a:endParaRP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ea typeface="ヒラギノ角ゴ Pro W3" pitchFamily="-84" charset="-128"/>
              </a:rPr>
              <a:t>The Labor Market</a:t>
            </a:r>
          </a:p>
        </p:txBody>
      </p:sp>
      <p:sp>
        <p:nvSpPr>
          <p:cNvPr id="7171" name="Content Placeholder 2"/>
          <p:cNvSpPr>
            <a:spLocks noGrp="1"/>
          </p:cNvSpPr>
          <p:nvPr>
            <p:ph idx="1"/>
          </p:nvPr>
        </p:nvSpPr>
        <p:spPr/>
        <p:txBody>
          <a:bodyPr/>
          <a:lstStyle/>
          <a:p>
            <a:pPr>
              <a:spcBef>
                <a:spcPts val="525"/>
              </a:spcBef>
            </a:pPr>
            <a:r>
              <a:rPr lang="en-US" sz="2400" dirty="0" smtClean="0">
                <a:ea typeface="ヒラギノ角ゴ Pro W3" pitchFamily="-84" charset="-128"/>
              </a:rPr>
              <a:t>We have focused on the </a:t>
            </a:r>
            <a:r>
              <a:rPr lang="en-US" sz="2400" i="1" dirty="0" smtClean="0">
                <a:ea typeface="ヒラギノ角ゴ Pro W3" pitchFamily="-84" charset="-128"/>
              </a:rPr>
              <a:t>short run </a:t>
            </a:r>
            <a:r>
              <a:rPr lang="en-US" sz="2400" dirty="0" smtClean="0">
                <a:ea typeface="ヒラギノ角ゴ Pro W3" pitchFamily="-84" charset="-128"/>
              </a:rPr>
              <a:t>by assuming a constant price level in the IS-LM model.</a:t>
            </a:r>
          </a:p>
          <a:p>
            <a:r>
              <a:rPr lang="en-US" sz="2400" dirty="0" smtClean="0">
                <a:ea typeface="ヒラギノ角ゴ Pro W3" pitchFamily="-84" charset="-128"/>
              </a:rPr>
              <a:t>We now turn to the </a:t>
            </a:r>
            <a:r>
              <a:rPr lang="en-US" sz="2400" i="1" dirty="0" smtClean="0">
                <a:ea typeface="ヒラギノ角ゴ Pro W3" pitchFamily="-84" charset="-128"/>
              </a:rPr>
              <a:t>medium run</a:t>
            </a:r>
            <a:r>
              <a:rPr lang="en-US" sz="2400" dirty="0" smtClean="0">
                <a:ea typeface="ヒラギノ角ゴ Pro W3" pitchFamily="-84" charset="-128"/>
              </a:rPr>
              <a:t> and explore how prices and wages adjust over time, and how this in turn affects output.</a:t>
            </a:r>
          </a:p>
          <a:p>
            <a:r>
              <a:rPr lang="en-US" sz="2400" dirty="0" smtClean="0">
                <a:ea typeface="ヒラギノ角ゴ Pro W3" pitchFamily="-84" charset="-128"/>
              </a:rPr>
              <a:t>The </a:t>
            </a:r>
            <a:r>
              <a:rPr lang="en-US" sz="2400" i="1" dirty="0" smtClean="0">
                <a:ea typeface="ヒラギノ角ゴ Pro W3" pitchFamily="-84" charset="-128"/>
              </a:rPr>
              <a:t>labor market </a:t>
            </a:r>
            <a:r>
              <a:rPr lang="en-US" sz="2400" dirty="0" smtClean="0">
                <a:ea typeface="ヒラギノ角ゴ Pro W3" pitchFamily="-84" charset="-128"/>
              </a:rPr>
              <a:t>is the center of that sequence of events.</a:t>
            </a:r>
          </a:p>
        </p:txBody>
      </p:sp>
    </p:spTree>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ea typeface="ヒラギノ角ゴ Pro W3" pitchFamily="-65" charset="-128"/>
              </a:rPr>
              <a:t>7-1 A Tour of the Labor Market</a:t>
            </a:r>
          </a:p>
        </p:txBody>
      </p:sp>
      <p:sp>
        <p:nvSpPr>
          <p:cNvPr id="16387" name="Content Placeholder 2"/>
          <p:cNvSpPr>
            <a:spLocks noGrp="1"/>
          </p:cNvSpPr>
          <p:nvPr>
            <p:ph idx="1"/>
          </p:nvPr>
        </p:nvSpPr>
        <p:spPr>
          <a:xfrm>
            <a:off x="381000" y="1370547"/>
            <a:ext cx="8382000" cy="533400"/>
          </a:xfrm>
        </p:spPr>
        <p:txBody>
          <a:bodyPr/>
          <a:lstStyle/>
          <a:p>
            <a:pPr marL="0" indent="0">
              <a:buFontTx/>
              <a:buNone/>
            </a:pPr>
            <a:r>
              <a:rPr lang="en-US" sz="1800" b="1" dirty="0" smtClean="0">
                <a:ea typeface="ヒラギノ角ゴ Pro W3" pitchFamily="-65" charset="-128"/>
              </a:rPr>
              <a:t>Figure 7-1 </a:t>
            </a:r>
            <a:r>
              <a:rPr lang="en-US" sz="1800" dirty="0" smtClean="0">
                <a:ea typeface="ヒラギノ角ゴ Pro W3" pitchFamily="-65" charset="-128"/>
              </a:rPr>
              <a:t>Population, Labor Force, Employment, and Unemployment in the United States (in millions), 2014</a:t>
            </a:r>
          </a:p>
        </p:txBody>
      </p:sp>
      <p:pic>
        <p:nvPicPr>
          <p:cNvPr id="2" name="Picture 1"/>
          <p:cNvPicPr>
            <a:picLocks noChangeAspect="1"/>
          </p:cNvPicPr>
          <p:nvPr/>
        </p:nvPicPr>
        <p:blipFill>
          <a:blip r:embed="rId2" cstate="print"/>
          <a:stretch>
            <a:fillRect/>
          </a:stretch>
        </p:blipFill>
        <p:spPr>
          <a:xfrm>
            <a:off x="3810000" y="2044215"/>
            <a:ext cx="4648200" cy="3902042"/>
          </a:xfrm>
          <a:prstGeom prst="rect">
            <a:avLst/>
          </a:prstGeom>
        </p:spPr>
      </p:pic>
      <p:pic>
        <p:nvPicPr>
          <p:cNvPr id="3" name="Picture 2"/>
          <p:cNvPicPr>
            <a:picLocks noChangeAspect="1"/>
          </p:cNvPicPr>
          <p:nvPr/>
        </p:nvPicPr>
        <p:blipFill>
          <a:blip r:embed="rId3" cstate="print"/>
          <a:stretch>
            <a:fillRect/>
          </a:stretch>
        </p:blipFill>
        <p:spPr>
          <a:xfrm>
            <a:off x="685800" y="5686131"/>
            <a:ext cx="2224564" cy="385763"/>
          </a:xfrm>
          <a:prstGeom prst="rect">
            <a:avLst/>
          </a:prstGeom>
        </p:spPr>
      </p:pic>
      <p:sp>
        <p:nvSpPr>
          <p:cNvPr id="7" name="Content Placeholder 2"/>
          <p:cNvSpPr txBox="1">
            <a:spLocks/>
          </p:cNvSpPr>
          <p:nvPr/>
        </p:nvSpPr>
        <p:spPr bwMode="auto">
          <a:xfrm>
            <a:off x="228600" y="2268830"/>
            <a:ext cx="2681764" cy="23031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a:spcBef>
                <a:spcPts val="525"/>
              </a:spcBef>
            </a:pPr>
            <a:r>
              <a:rPr lang="en-US" sz="1800" kern="0" dirty="0" smtClean="0">
                <a:ea typeface="ヒラギノ角ゴ Pro W3" pitchFamily="-84" charset="-128"/>
              </a:rPr>
              <a:t>The unemployment rate is the ratio of the unemployed to the labor force, was 9.5/155.9 = 6.1%.</a:t>
            </a:r>
          </a:p>
          <a:p>
            <a:pPr>
              <a:spcBef>
                <a:spcPts val="525"/>
              </a:spcBef>
            </a:pPr>
            <a:endParaRPr lang="en-US" sz="1800" kern="0" dirty="0" smtClean="0">
              <a:ea typeface="ヒラギノ角ゴ Pro W3" pitchFamily="-84" charset="-128"/>
            </a:endParaRPr>
          </a:p>
        </p:txBody>
      </p:sp>
    </p:spTree>
    <p:extLst>
      <p:ext uri="{BB962C8B-B14F-4D97-AF65-F5344CB8AC3E}">
        <p14:creationId xmlns="" xmlns:p14="http://schemas.microsoft.com/office/powerpoint/2010/main" val="3287760585"/>
      </p:ext>
    </p:extLst>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ea typeface="ヒラギノ角ゴ Pro W3" pitchFamily="-65" charset="-128"/>
              </a:rPr>
              <a:t>7-1 A Tour of the Labor Market</a:t>
            </a:r>
            <a:endParaRPr lang="en-US" dirty="0" smtClean="0">
              <a:ea typeface="ヒラギノ角ゴ Pro W3" pitchFamily="-84" charset="-128"/>
            </a:endParaRPr>
          </a:p>
        </p:txBody>
      </p:sp>
      <p:sp>
        <p:nvSpPr>
          <p:cNvPr id="7171" name="Content Placeholder 2"/>
          <p:cNvSpPr>
            <a:spLocks noGrp="1"/>
          </p:cNvSpPr>
          <p:nvPr>
            <p:ph idx="1"/>
          </p:nvPr>
        </p:nvSpPr>
        <p:spPr/>
        <p:txBody>
          <a:bodyPr/>
          <a:lstStyle/>
          <a:p>
            <a:pPr>
              <a:spcBef>
                <a:spcPts val="525"/>
              </a:spcBef>
            </a:pPr>
            <a:r>
              <a:rPr lang="en-US" sz="2400" dirty="0" smtClean="0">
                <a:ea typeface="ヒラギノ角ゴ Pro W3" pitchFamily="-84" charset="-128"/>
              </a:rPr>
              <a:t>A given unemployment rate may reflect either:</a:t>
            </a:r>
          </a:p>
          <a:p>
            <a:pPr lvl="1">
              <a:spcBef>
                <a:spcPts val="525"/>
              </a:spcBef>
            </a:pPr>
            <a:r>
              <a:rPr lang="en-US" sz="2200" dirty="0" smtClean="0">
                <a:ea typeface="ヒラギノ角ゴ Pro W3" pitchFamily="-84" charset="-128"/>
              </a:rPr>
              <a:t>An active labor market: Many </a:t>
            </a:r>
            <a:r>
              <a:rPr lang="en-US" sz="2200" b="1" dirty="0" smtClean="0">
                <a:ea typeface="ヒラギノ角ゴ Pro W3" pitchFamily="-84" charset="-128"/>
              </a:rPr>
              <a:t>separations</a:t>
            </a:r>
            <a:r>
              <a:rPr lang="en-US" sz="2200" dirty="0" smtClean="0">
                <a:ea typeface="ヒラギノ角ゴ Pro W3" pitchFamily="-84" charset="-128"/>
              </a:rPr>
              <a:t> and </a:t>
            </a:r>
            <a:r>
              <a:rPr lang="en-US" sz="2200" b="1" dirty="0" smtClean="0">
                <a:ea typeface="ヒラギノ角ゴ Pro W3" pitchFamily="-84" charset="-128"/>
              </a:rPr>
              <a:t>hires</a:t>
            </a:r>
            <a:r>
              <a:rPr lang="en-US" sz="2200" dirty="0" smtClean="0">
                <a:ea typeface="ヒラギノ角ゴ Pro W3" pitchFamily="-84" charset="-128"/>
              </a:rPr>
              <a:t>, </a:t>
            </a:r>
            <a:r>
              <a:rPr lang="en-US" sz="2200" dirty="0" err="1" smtClean="0">
                <a:ea typeface="ヒラギノ角ゴ Pro W3" pitchFamily="-84" charset="-128"/>
              </a:rPr>
              <a:t>i.e</a:t>
            </a:r>
            <a:r>
              <a:rPr lang="en-US" sz="2200" dirty="0" smtClean="0">
                <a:ea typeface="ヒラギノ角ゴ Pro W3" pitchFamily="-84" charset="-128"/>
              </a:rPr>
              <a:t>, many workers entering and exiting unemployment</a:t>
            </a:r>
          </a:p>
          <a:p>
            <a:pPr lvl="1">
              <a:spcBef>
                <a:spcPts val="525"/>
              </a:spcBef>
            </a:pPr>
            <a:r>
              <a:rPr lang="en-US" sz="2200" dirty="0" smtClean="0">
                <a:ea typeface="ヒラギノ角ゴ Pro W3" pitchFamily="-84" charset="-128"/>
              </a:rPr>
              <a:t>A sclerotic labor market: Few separations and hires, and a stagnant unemployment pool</a:t>
            </a:r>
          </a:p>
          <a:p>
            <a:pPr>
              <a:spcBef>
                <a:spcPts val="525"/>
              </a:spcBef>
            </a:pPr>
            <a:r>
              <a:rPr lang="en-US" sz="2400" dirty="0" smtClean="0">
                <a:ea typeface="ヒラギノ角ゴ Pro W3" pitchFamily="-84" charset="-128"/>
              </a:rPr>
              <a:t>The </a:t>
            </a:r>
            <a:r>
              <a:rPr lang="en-US" sz="2400" b="1" dirty="0" smtClean="0">
                <a:ea typeface="ヒラギノ角ゴ Pro W3" pitchFamily="-84" charset="-128"/>
              </a:rPr>
              <a:t>Current Population Survey (CPS) </a:t>
            </a:r>
            <a:r>
              <a:rPr lang="en-US" sz="2400" dirty="0" smtClean="0">
                <a:ea typeface="ヒラギノ角ゴ Pro W3" pitchFamily="-84" charset="-128"/>
              </a:rPr>
              <a:t>shows the average monthly flows.</a:t>
            </a:r>
          </a:p>
          <a:p>
            <a:pPr>
              <a:spcBef>
                <a:spcPts val="525"/>
              </a:spcBef>
            </a:pPr>
            <a:r>
              <a:rPr lang="en-US" sz="2400" dirty="0" smtClean="0">
                <a:ea typeface="ヒラギノ角ゴ Pro W3" pitchFamily="-84" charset="-128"/>
              </a:rPr>
              <a:t>Separations include quits and layoffs.</a:t>
            </a:r>
          </a:p>
          <a:p>
            <a:pPr>
              <a:spcBef>
                <a:spcPts val="525"/>
              </a:spcBef>
            </a:pPr>
            <a:r>
              <a:rPr lang="en-US" sz="2400" dirty="0" smtClean="0">
                <a:ea typeface="ヒラギノ角ゴ Pro W3" pitchFamily="-84" charset="-128"/>
              </a:rPr>
              <a:t>The </a:t>
            </a:r>
            <a:r>
              <a:rPr lang="en-US" sz="2400" b="1" dirty="0" smtClean="0">
                <a:ea typeface="ヒラギノ角ゴ Pro W3" pitchFamily="-84" charset="-128"/>
              </a:rPr>
              <a:t>average duration of unemployment</a:t>
            </a:r>
            <a:r>
              <a:rPr lang="en-US" sz="2400" dirty="0" smtClean="0">
                <a:ea typeface="ヒラギノ角ゴ Pro W3" pitchFamily="-84" charset="-128"/>
              </a:rPr>
              <a:t>—the length of time people spend unemployed—is 2 to 3 months.</a:t>
            </a:r>
          </a:p>
        </p:txBody>
      </p:sp>
    </p:spTree>
    <p:extLst>
      <p:ext uri="{BB962C8B-B14F-4D97-AF65-F5344CB8AC3E}">
        <p14:creationId xmlns="" xmlns:p14="http://schemas.microsoft.com/office/powerpoint/2010/main" val="4287684221"/>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ea typeface="ヒラギノ角ゴ Pro W3" pitchFamily="-65" charset="-128"/>
              </a:rPr>
              <a:t>7-1 A Tour of the Labor Market</a:t>
            </a:r>
          </a:p>
        </p:txBody>
      </p:sp>
      <p:sp>
        <p:nvSpPr>
          <p:cNvPr id="17411" name="Content Placeholder 2"/>
          <p:cNvSpPr>
            <a:spLocks noGrp="1"/>
          </p:cNvSpPr>
          <p:nvPr>
            <p:ph idx="1"/>
          </p:nvPr>
        </p:nvSpPr>
        <p:spPr>
          <a:xfrm>
            <a:off x="381000" y="1066800"/>
            <a:ext cx="8382000" cy="533400"/>
          </a:xfrm>
        </p:spPr>
        <p:txBody>
          <a:bodyPr/>
          <a:lstStyle/>
          <a:p>
            <a:pPr marL="0" indent="0">
              <a:buFontTx/>
              <a:buNone/>
            </a:pPr>
            <a:r>
              <a:rPr lang="en-US" sz="1800" b="1" dirty="0" smtClean="0">
                <a:ea typeface="ヒラギノ角ゴ Pro W3" pitchFamily="-65" charset="-128"/>
              </a:rPr>
              <a:t>Figure 7-2  </a:t>
            </a:r>
            <a:r>
              <a:rPr lang="en-US" sz="1800" dirty="0" smtClean="0">
                <a:ea typeface="ヒラギノ角ゴ Pro W3" pitchFamily="-65" charset="-128"/>
              </a:rPr>
              <a:t>Average Monthly Flows between Employment, Unemployment, and Nonparticipation in the United States, 1996 to 2014 (millions)</a:t>
            </a:r>
          </a:p>
        </p:txBody>
      </p:sp>
      <p:pic>
        <p:nvPicPr>
          <p:cNvPr id="2" name="Picture 1"/>
          <p:cNvPicPr>
            <a:picLocks noChangeAspect="1"/>
          </p:cNvPicPr>
          <p:nvPr/>
        </p:nvPicPr>
        <p:blipFill>
          <a:blip r:embed="rId2" cstate="print"/>
          <a:stretch>
            <a:fillRect/>
          </a:stretch>
        </p:blipFill>
        <p:spPr>
          <a:xfrm>
            <a:off x="4038600" y="1905000"/>
            <a:ext cx="4043363" cy="4068555"/>
          </a:xfrm>
          <a:prstGeom prst="rect">
            <a:avLst/>
          </a:prstGeom>
        </p:spPr>
      </p:pic>
      <p:pic>
        <p:nvPicPr>
          <p:cNvPr id="3" name="Picture 2"/>
          <p:cNvPicPr>
            <a:picLocks noChangeAspect="1"/>
          </p:cNvPicPr>
          <p:nvPr/>
        </p:nvPicPr>
        <p:blipFill>
          <a:blip r:embed="rId3" cstate="print"/>
          <a:stretch>
            <a:fillRect/>
          </a:stretch>
        </p:blipFill>
        <p:spPr>
          <a:xfrm>
            <a:off x="609600" y="5486400"/>
            <a:ext cx="2209800" cy="622177"/>
          </a:xfrm>
          <a:prstGeom prst="rect">
            <a:avLst/>
          </a:prstGeom>
        </p:spPr>
      </p:pic>
      <p:sp>
        <p:nvSpPr>
          <p:cNvPr id="7" name="Content Placeholder 2"/>
          <p:cNvSpPr txBox="1">
            <a:spLocks/>
          </p:cNvSpPr>
          <p:nvPr/>
        </p:nvSpPr>
        <p:spPr bwMode="auto">
          <a:xfrm>
            <a:off x="417786" y="2224548"/>
            <a:ext cx="3200400" cy="29127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(1) The flows of workers in and out of employment are large. </a:t>
            </a:r>
          </a:p>
          <a:p>
            <a:pPr marL="0" indent="0">
              <a:spcBef>
                <a:spcPts val="525"/>
              </a:spcBef>
              <a:buNone/>
            </a:pPr>
            <a:r>
              <a:rPr lang="en-US" sz="1600" kern="0" dirty="0" smtClean="0">
                <a:ea typeface="ヒラギノ角ゴ Pro W3" pitchFamily="-84" charset="-128"/>
              </a:rPr>
              <a:t>(2) The flows in and out of unemployment are large relative to the number of unemployed. </a:t>
            </a:r>
          </a:p>
          <a:p>
            <a:pPr marL="0" indent="0">
              <a:spcBef>
                <a:spcPts val="525"/>
              </a:spcBef>
              <a:buNone/>
            </a:pPr>
            <a:r>
              <a:rPr lang="en-US" sz="1600" kern="0" dirty="0" smtClean="0">
                <a:ea typeface="ヒラギノ角ゴ Pro W3" pitchFamily="-84" charset="-128"/>
              </a:rPr>
              <a:t>(3) There are also large flows in and out of the labor force, much of it directly to and from employment.</a:t>
            </a:r>
          </a:p>
          <a:p>
            <a:pPr>
              <a:spcBef>
                <a:spcPts val="525"/>
              </a:spcBef>
            </a:pPr>
            <a:endParaRPr lang="en-US" sz="1800" kern="0" dirty="0" smtClean="0">
              <a:ea typeface="ヒラギノ角ゴ Pro W3" pitchFamily="-84" charset="-128"/>
            </a:endParaRPr>
          </a:p>
        </p:txBody>
      </p:sp>
    </p:spTree>
    <p:extLst>
      <p:ext uri="{BB962C8B-B14F-4D97-AF65-F5344CB8AC3E}">
        <p14:creationId xmlns="" xmlns:p14="http://schemas.microsoft.com/office/powerpoint/2010/main" val="1575348594"/>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ea typeface="ヒラギノ角ゴ Pro W3" pitchFamily="-65" charset="-128"/>
              </a:rPr>
              <a:t>7-1 A Tour of the Labor Market</a:t>
            </a:r>
            <a:endParaRPr lang="en-US" dirty="0" smtClean="0">
              <a:ea typeface="ヒラギノ角ゴ Pro W3" pitchFamily="-84" charset="-128"/>
            </a:endParaRPr>
          </a:p>
        </p:txBody>
      </p:sp>
      <p:sp>
        <p:nvSpPr>
          <p:cNvPr id="7171" name="Content Placeholder 2"/>
          <p:cNvSpPr>
            <a:spLocks noGrp="1"/>
          </p:cNvSpPr>
          <p:nvPr>
            <p:ph idx="1"/>
          </p:nvPr>
        </p:nvSpPr>
        <p:spPr/>
        <p:txBody>
          <a:bodyPr/>
          <a:lstStyle/>
          <a:p>
            <a:pPr>
              <a:spcBef>
                <a:spcPts val="525"/>
              </a:spcBef>
            </a:pPr>
            <a:r>
              <a:rPr lang="en-US" sz="2400" dirty="0" smtClean="0">
                <a:ea typeface="ヒラギノ角ゴ Pro W3" pitchFamily="-84" charset="-128"/>
              </a:rPr>
              <a:t>Many who are classified as “out of the labor force” are in fact </a:t>
            </a:r>
            <a:r>
              <a:rPr lang="en-US" sz="2400" b="1" dirty="0" smtClean="0">
                <a:ea typeface="ヒラギノ角ゴ Pro W3" pitchFamily="-84" charset="-128"/>
              </a:rPr>
              <a:t>discouraged workers</a:t>
            </a:r>
            <a:r>
              <a:rPr lang="en-US" sz="2400" dirty="0" smtClean="0">
                <a:ea typeface="ヒラギノ角ゴ Pro W3" pitchFamily="-84" charset="-128"/>
              </a:rPr>
              <a:t>—not actively looking for a job but will take it if they find one.</a:t>
            </a:r>
          </a:p>
          <a:p>
            <a:pPr>
              <a:spcBef>
                <a:spcPts val="525"/>
              </a:spcBef>
            </a:pPr>
            <a:r>
              <a:rPr lang="en-US" sz="2400" dirty="0" smtClean="0">
                <a:ea typeface="ヒラギノ角ゴ Pro W3" pitchFamily="-84" charset="-128"/>
              </a:rPr>
              <a:t>So, rather than the unemployment rate, economists sometimes focus on the </a:t>
            </a:r>
            <a:r>
              <a:rPr lang="en-US" sz="2400" b="1" dirty="0" smtClean="0">
                <a:ea typeface="ヒラギノ角ゴ Pro W3" pitchFamily="-84" charset="-128"/>
              </a:rPr>
              <a:t>employment rate</a:t>
            </a:r>
            <a:r>
              <a:rPr lang="en-US" sz="2400" dirty="0" smtClean="0">
                <a:ea typeface="ヒラギノ角ゴ Pro W3" pitchFamily="-84" charset="-128"/>
              </a:rPr>
              <a:t>—the ratio of employment to the population.</a:t>
            </a: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1642262755"/>
      </p:ext>
    </p:extLst>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2800" dirty="0" smtClean="0">
                <a:ea typeface="ヒラギノ角ゴ Pro W3" pitchFamily="-65" charset="-128"/>
              </a:rPr>
              <a:t>FOCUS: </a:t>
            </a:r>
            <a:r>
              <a:rPr lang="en-US" sz="2800" dirty="0" smtClean="0"/>
              <a:t>The Australian Monthly Population Survey</a:t>
            </a:r>
            <a:endParaRPr lang="en-US" sz="2800" dirty="0" smtClean="0">
              <a:ea typeface="ヒラギノ角ゴ Pro W3" pitchFamily="-84" charset="-128"/>
            </a:endParaRPr>
          </a:p>
        </p:txBody>
      </p:sp>
      <p:sp>
        <p:nvSpPr>
          <p:cNvPr id="7171" name="Content Placeholder 2"/>
          <p:cNvSpPr>
            <a:spLocks noGrp="1"/>
          </p:cNvSpPr>
          <p:nvPr>
            <p:ph idx="1"/>
          </p:nvPr>
        </p:nvSpPr>
        <p:spPr>
          <a:xfrm>
            <a:off x="381000" y="1310640"/>
            <a:ext cx="8382000" cy="5013960"/>
          </a:xfrm>
        </p:spPr>
        <p:txBody>
          <a:bodyPr/>
          <a:lstStyle/>
          <a:p>
            <a:pPr>
              <a:spcBef>
                <a:spcPts val="525"/>
              </a:spcBef>
            </a:pPr>
            <a:r>
              <a:rPr lang="en-US" sz="2400" dirty="0" smtClean="0">
                <a:ea typeface="ヒラギノ角ゴ Pro W3" pitchFamily="-84" charset="-128"/>
              </a:rPr>
              <a:t>The Australia Bureau of Statistics’ Monthly Population Surveys (MPS) gathers varied information about the country's labor force. One of the main objectives of the survey is to measure changes in the households over time</a:t>
            </a:r>
            <a:r>
              <a:rPr lang="en-US" sz="2400" dirty="0" smtClean="0">
                <a:ea typeface="ヒラギノ角ゴ Pro W3" pitchFamily="-84" charset="-128"/>
              </a:rPr>
              <a:t>.</a:t>
            </a:r>
          </a:p>
          <a:p>
            <a:pPr>
              <a:spcBef>
                <a:spcPts val="525"/>
              </a:spcBef>
            </a:pPr>
            <a:r>
              <a:rPr lang="en-US" sz="2400" dirty="0" smtClean="0">
                <a:ea typeface="ヒラギノ角ゴ Pro W3" pitchFamily="-84" charset="-128"/>
              </a:rPr>
              <a:t>The sample size used has increased from 30,000 to 300,000 households</a:t>
            </a:r>
            <a:r>
              <a:rPr lang="en-US" sz="2400" dirty="0" smtClean="0">
                <a:ea typeface="ヒラギノ角ゴ Pro W3" pitchFamily="-84" charset="-128"/>
              </a:rPr>
              <a:t>.</a:t>
            </a:r>
            <a:endParaRPr lang="en-US" sz="2400" dirty="0" smtClean="0">
              <a:ea typeface="ヒラギノ角ゴ Pro W3" pitchFamily="-84" charset="-128"/>
            </a:endParaRPr>
          </a:p>
          <a:p>
            <a:pPr>
              <a:spcBef>
                <a:spcPts val="525"/>
              </a:spcBef>
            </a:pPr>
            <a:r>
              <a:rPr lang="en-US" sz="2400" dirty="0" smtClean="0">
                <a:ea typeface="ヒラギノ角ゴ Pro W3" pitchFamily="-84" charset="-128"/>
              </a:rPr>
              <a:t>Census data are used in compiling the monthly national statistics on employment, unemployment, gender, size, and earnings of households. </a:t>
            </a:r>
            <a:endParaRPr lang="en-US" sz="2400" dirty="0" smtClean="0">
              <a:ea typeface="ヒラギノ角ゴ Pro W3" pitchFamily="-84" charset="-128"/>
            </a:endParaRPr>
          </a:p>
          <a:p>
            <a:pPr>
              <a:spcBef>
                <a:spcPts val="525"/>
              </a:spcBef>
            </a:pPr>
            <a:r>
              <a:rPr lang="en-US" sz="2400" dirty="0" smtClean="0">
                <a:ea typeface="ヒラギノ角ゴ Pro W3" pitchFamily="-84" charset="-128"/>
              </a:rPr>
              <a:t>It </a:t>
            </a:r>
            <a:r>
              <a:rPr lang="en-US" sz="2400" dirty="0" smtClean="0">
                <a:ea typeface="ヒラギノ角ゴ Pro W3" pitchFamily="-84" charset="-128"/>
              </a:rPr>
              <a:t>also counts </a:t>
            </a:r>
            <a:r>
              <a:rPr lang="en-US" sz="2400" dirty="0" smtClean="0">
                <a:ea typeface="ヒラギノ角ゴ Pro W3" pitchFamily="-84" charset="-128"/>
              </a:rPr>
              <a:t>individuals in </a:t>
            </a:r>
            <a:r>
              <a:rPr lang="en-US" sz="2400" dirty="0" smtClean="0">
                <a:ea typeface="ヒラギノ角ゴ Pro W3" pitchFamily="-84" charset="-128"/>
              </a:rPr>
              <a:t>each geographic area </a:t>
            </a:r>
            <a:r>
              <a:rPr lang="en-US" sz="2400" dirty="0" smtClean="0">
                <a:ea typeface="ヒラギノ角ゴ Pro W3" pitchFamily="-84" charset="-128"/>
              </a:rPr>
              <a:t>to </a:t>
            </a:r>
            <a:r>
              <a:rPr lang="en-US" sz="2400" dirty="0" smtClean="0">
                <a:ea typeface="ヒラギノ角ゴ Pro W3" pitchFamily="-84" charset="-128"/>
              </a:rPr>
              <a:t>allocate </a:t>
            </a:r>
            <a:r>
              <a:rPr lang="en-US" sz="2400" dirty="0" smtClean="0">
                <a:ea typeface="ヒラギノ角ゴ Pro W3" pitchFamily="-84" charset="-128"/>
              </a:rPr>
              <a:t>Commonwealth funds </a:t>
            </a:r>
            <a:r>
              <a:rPr lang="en-US" sz="2400" dirty="0" smtClean="0">
                <a:ea typeface="ヒラギノ角ゴ Pro W3" pitchFamily="-84" charset="-128"/>
              </a:rPr>
              <a:t>to state and local governments.</a:t>
            </a: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1631378905"/>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ea typeface="ヒラギノ角ゴ Pro W3" pitchFamily="-65" charset="-128"/>
              </a:rPr>
              <a:t>7-2 Movements in Unemployment</a:t>
            </a:r>
          </a:p>
        </p:txBody>
      </p:sp>
      <p:sp>
        <p:nvSpPr>
          <p:cNvPr id="18435" name="Content Placeholder 2"/>
          <p:cNvSpPr>
            <a:spLocks noGrp="1"/>
          </p:cNvSpPr>
          <p:nvPr>
            <p:ph idx="1"/>
          </p:nvPr>
        </p:nvSpPr>
        <p:spPr>
          <a:xfrm>
            <a:off x="381000" y="1562100"/>
            <a:ext cx="8382000" cy="685800"/>
          </a:xfrm>
        </p:spPr>
        <p:txBody>
          <a:bodyPr/>
          <a:lstStyle/>
          <a:p>
            <a:pPr marL="0" indent="0">
              <a:buFontTx/>
              <a:buNone/>
            </a:pPr>
            <a:r>
              <a:rPr lang="en-US" sz="1800" b="1" dirty="0" smtClean="0">
                <a:ea typeface="ヒラギノ角ゴ Pro W3" pitchFamily="-65" charset="-128"/>
              </a:rPr>
              <a:t>Figure 7-3  </a:t>
            </a:r>
            <a:r>
              <a:rPr lang="en-US" sz="1800" dirty="0" smtClean="0">
                <a:ea typeface="ヒラギノ角ゴ Pro W3" pitchFamily="-65" charset="-128"/>
              </a:rPr>
              <a:t>Movements in the U.S. Unemployment Rate, 1948–2014</a:t>
            </a:r>
          </a:p>
        </p:txBody>
      </p:sp>
      <p:pic>
        <p:nvPicPr>
          <p:cNvPr id="2" name="Picture 1"/>
          <p:cNvPicPr>
            <a:picLocks noChangeAspect="1"/>
          </p:cNvPicPr>
          <p:nvPr/>
        </p:nvPicPr>
        <p:blipFill>
          <a:blip r:embed="rId2" cstate="print"/>
          <a:stretch>
            <a:fillRect/>
          </a:stretch>
        </p:blipFill>
        <p:spPr>
          <a:xfrm>
            <a:off x="533400" y="1905000"/>
            <a:ext cx="7596121" cy="3323303"/>
          </a:xfrm>
          <a:prstGeom prst="rect">
            <a:avLst/>
          </a:prstGeom>
        </p:spPr>
      </p:pic>
      <p:pic>
        <p:nvPicPr>
          <p:cNvPr id="3" name="Picture 2"/>
          <p:cNvPicPr>
            <a:picLocks noChangeAspect="1"/>
          </p:cNvPicPr>
          <p:nvPr/>
        </p:nvPicPr>
        <p:blipFill>
          <a:blip r:embed="rId3" cstate="print"/>
          <a:stretch>
            <a:fillRect/>
          </a:stretch>
        </p:blipFill>
        <p:spPr>
          <a:xfrm>
            <a:off x="838200" y="5265173"/>
            <a:ext cx="4476750" cy="161925"/>
          </a:xfrm>
          <a:prstGeom prst="rect">
            <a:avLst/>
          </a:prstGeom>
        </p:spPr>
      </p:pic>
      <p:sp>
        <p:nvSpPr>
          <p:cNvPr id="7" name="Content Placeholder 2"/>
          <p:cNvSpPr txBox="1">
            <a:spLocks/>
          </p:cNvSpPr>
          <p:nvPr/>
        </p:nvSpPr>
        <p:spPr bwMode="auto">
          <a:xfrm>
            <a:off x="722586" y="5791200"/>
            <a:ext cx="8040414" cy="5948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Since 1948, the average yearly U.S. unemployment rate has fluctuated between 3 and 10%.</a:t>
            </a:r>
          </a:p>
          <a:p>
            <a:pPr>
              <a:spcBef>
                <a:spcPts val="525"/>
              </a:spcBef>
            </a:pPr>
            <a:endParaRPr lang="en-US" sz="1800" kern="0" dirty="0" smtClean="0">
              <a:ea typeface="ヒラギノ角ゴ Pro W3" pitchFamily="-84" charset="-128"/>
            </a:endParaRPr>
          </a:p>
        </p:txBody>
      </p:sp>
    </p:spTree>
    <p:extLst>
      <p:ext uri="{BB962C8B-B14F-4D97-AF65-F5344CB8AC3E}">
        <p14:creationId xmlns="" xmlns:p14="http://schemas.microsoft.com/office/powerpoint/2010/main" val="3815090122"/>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ea typeface="ヒラギノ角ゴ Pro W3" pitchFamily="-65" charset="-128"/>
              </a:rPr>
              <a:t>7-2 Movements in Unemployment</a:t>
            </a:r>
          </a:p>
        </p:txBody>
      </p:sp>
      <p:sp>
        <p:nvSpPr>
          <p:cNvPr id="19459" name="Content Placeholder 2"/>
          <p:cNvSpPr>
            <a:spLocks noGrp="1"/>
          </p:cNvSpPr>
          <p:nvPr>
            <p:ph idx="1"/>
          </p:nvPr>
        </p:nvSpPr>
        <p:spPr>
          <a:xfrm>
            <a:off x="381000" y="990600"/>
            <a:ext cx="8382000" cy="762000"/>
          </a:xfrm>
        </p:spPr>
        <p:txBody>
          <a:bodyPr/>
          <a:lstStyle/>
          <a:p>
            <a:pPr marL="0" indent="0">
              <a:buFontTx/>
              <a:buNone/>
            </a:pPr>
            <a:r>
              <a:rPr lang="en-US" sz="1800" b="1" dirty="0" smtClean="0">
                <a:ea typeface="ヒラギノ角ゴ Pro W3" pitchFamily="-65" charset="-128"/>
              </a:rPr>
              <a:t>Figure 7-4  </a:t>
            </a:r>
            <a:r>
              <a:rPr lang="en-US" sz="1800" dirty="0" smtClean="0">
                <a:ea typeface="ヒラギノ角ゴ Pro W3" pitchFamily="-65" charset="-128"/>
              </a:rPr>
              <a:t>The Unemployment Rate and the Proportion of Unemployed Finding Jobs, 1996–2014</a:t>
            </a:r>
          </a:p>
        </p:txBody>
      </p:sp>
      <p:pic>
        <p:nvPicPr>
          <p:cNvPr id="2" name="Picture 1"/>
          <p:cNvPicPr>
            <a:picLocks noChangeAspect="1"/>
          </p:cNvPicPr>
          <p:nvPr/>
        </p:nvPicPr>
        <p:blipFill>
          <a:blip r:embed="rId2" cstate="print"/>
          <a:stretch>
            <a:fillRect/>
          </a:stretch>
        </p:blipFill>
        <p:spPr>
          <a:xfrm>
            <a:off x="2376931" y="1945557"/>
            <a:ext cx="6386069" cy="3135399"/>
          </a:xfrm>
          <a:prstGeom prst="rect">
            <a:avLst/>
          </a:prstGeom>
        </p:spPr>
      </p:pic>
      <p:pic>
        <p:nvPicPr>
          <p:cNvPr id="3" name="Picture 2"/>
          <p:cNvPicPr>
            <a:picLocks noChangeAspect="1"/>
          </p:cNvPicPr>
          <p:nvPr/>
        </p:nvPicPr>
        <p:blipFill>
          <a:blip r:embed="rId3" cstate="print"/>
          <a:stretch>
            <a:fillRect/>
          </a:stretch>
        </p:blipFill>
        <p:spPr>
          <a:xfrm>
            <a:off x="381000" y="4071306"/>
            <a:ext cx="1804129" cy="1009650"/>
          </a:xfrm>
          <a:prstGeom prst="rect">
            <a:avLst/>
          </a:prstGeom>
        </p:spPr>
      </p:pic>
      <p:sp>
        <p:nvSpPr>
          <p:cNvPr id="8" name="Content Placeholder 2"/>
          <p:cNvSpPr txBox="1">
            <a:spLocks/>
          </p:cNvSpPr>
          <p:nvPr/>
        </p:nvSpPr>
        <p:spPr bwMode="auto">
          <a:xfrm>
            <a:off x="551793" y="5273914"/>
            <a:ext cx="8040414" cy="5948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When unemployment is higher, the proportion of unemployed finding jobs within one month is lower. Note that the scale on the right is an inverse scale.</a:t>
            </a:r>
          </a:p>
          <a:p>
            <a:pPr>
              <a:spcBef>
                <a:spcPts val="525"/>
              </a:spcBef>
            </a:pPr>
            <a:endParaRPr lang="en-US" sz="1800" kern="0" dirty="0" smtClean="0">
              <a:ea typeface="ヒラギノ角ゴ Pro W3" pitchFamily="-84" charset="-128"/>
            </a:endParaRPr>
          </a:p>
        </p:txBody>
      </p:sp>
    </p:spTree>
    <p:extLst>
      <p:ext uri="{BB962C8B-B14F-4D97-AF65-F5344CB8AC3E}">
        <p14:creationId xmlns="" xmlns:p14="http://schemas.microsoft.com/office/powerpoint/2010/main" val="335709650"/>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ea typeface="ヒラギノ角ゴ Pro W3" pitchFamily="-65" charset="-128"/>
              </a:rPr>
              <a:t>7-2 Movements in Unemployment</a:t>
            </a:r>
          </a:p>
        </p:txBody>
      </p:sp>
      <p:sp>
        <p:nvSpPr>
          <p:cNvPr id="19459" name="Content Placeholder 2"/>
          <p:cNvSpPr>
            <a:spLocks noGrp="1"/>
          </p:cNvSpPr>
          <p:nvPr>
            <p:ph idx="1"/>
          </p:nvPr>
        </p:nvSpPr>
        <p:spPr>
          <a:xfrm>
            <a:off x="381000" y="1217565"/>
            <a:ext cx="8382000" cy="762000"/>
          </a:xfrm>
        </p:spPr>
        <p:txBody>
          <a:bodyPr/>
          <a:lstStyle/>
          <a:p>
            <a:pPr marL="0" indent="0">
              <a:buFontTx/>
              <a:buNone/>
            </a:pPr>
            <a:r>
              <a:rPr lang="en-US" sz="1800" b="1" dirty="0" smtClean="0">
                <a:ea typeface="ヒラギノ角ゴ Pro W3" pitchFamily="-65" charset="-128"/>
              </a:rPr>
              <a:t>Figure 7-5  </a:t>
            </a:r>
            <a:r>
              <a:rPr lang="en-US" sz="1800" dirty="0" smtClean="0">
                <a:ea typeface="ヒラギノ角ゴ Pro W3" pitchFamily="-65" charset="-128"/>
              </a:rPr>
              <a:t>The Unemployment Rate and the Monthly Separation Rate from Employment, 1996–2014</a:t>
            </a:r>
          </a:p>
        </p:txBody>
      </p:sp>
      <p:sp>
        <p:nvSpPr>
          <p:cNvPr id="8" name="Content Placeholder 2"/>
          <p:cNvSpPr txBox="1">
            <a:spLocks/>
          </p:cNvSpPr>
          <p:nvPr/>
        </p:nvSpPr>
        <p:spPr bwMode="auto">
          <a:xfrm>
            <a:off x="551793" y="5560449"/>
            <a:ext cx="8040414" cy="5948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When unemployment is higher, a higher proportion of workers lose their jobs.</a:t>
            </a:r>
          </a:p>
          <a:p>
            <a:pPr>
              <a:spcBef>
                <a:spcPts val="525"/>
              </a:spcBef>
            </a:pPr>
            <a:endParaRPr lang="en-US" sz="1800" kern="0" dirty="0" smtClean="0">
              <a:ea typeface="ヒラギノ角ゴ Pro W3" pitchFamily="-84" charset="-128"/>
            </a:endParaRPr>
          </a:p>
        </p:txBody>
      </p:sp>
      <p:pic>
        <p:nvPicPr>
          <p:cNvPr id="4" name="Picture 3"/>
          <p:cNvPicPr>
            <a:picLocks noChangeAspect="1"/>
          </p:cNvPicPr>
          <p:nvPr/>
        </p:nvPicPr>
        <p:blipFill>
          <a:blip r:embed="rId2" cstate="print"/>
          <a:stretch>
            <a:fillRect/>
          </a:stretch>
        </p:blipFill>
        <p:spPr>
          <a:xfrm>
            <a:off x="361406" y="3886200"/>
            <a:ext cx="1877957" cy="1209675"/>
          </a:xfrm>
          <a:prstGeom prst="rect">
            <a:avLst/>
          </a:prstGeom>
        </p:spPr>
      </p:pic>
      <p:pic>
        <p:nvPicPr>
          <p:cNvPr id="5" name="Picture 4"/>
          <p:cNvPicPr>
            <a:picLocks noChangeAspect="1"/>
          </p:cNvPicPr>
          <p:nvPr/>
        </p:nvPicPr>
        <p:blipFill>
          <a:blip r:embed="rId3" cstate="print"/>
          <a:stretch>
            <a:fillRect/>
          </a:stretch>
        </p:blipFill>
        <p:spPr>
          <a:xfrm>
            <a:off x="2438399" y="1988305"/>
            <a:ext cx="6272229" cy="3193295"/>
          </a:xfrm>
          <a:prstGeom prst="rect">
            <a:avLst/>
          </a:prstGeom>
        </p:spPr>
      </p:pic>
    </p:spTree>
    <p:extLst>
      <p:ext uri="{BB962C8B-B14F-4D97-AF65-F5344CB8AC3E}">
        <p14:creationId xmlns="" xmlns:p14="http://schemas.microsoft.com/office/powerpoint/2010/main" val="1596911239"/>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ea typeface="ヒラギノ角ゴ Pro W3" pitchFamily="-65" charset="-128"/>
              </a:rPr>
              <a:t>7-2 </a:t>
            </a:r>
            <a:r>
              <a:rPr lang="en-US" dirty="0">
                <a:ea typeface="ヒラギノ角ゴ Pro W3" pitchFamily="-65" charset="-128"/>
              </a:rPr>
              <a:t>Movements in Unemployment</a:t>
            </a:r>
            <a:endParaRPr lang="en-US" dirty="0" smtClean="0">
              <a:ea typeface="ヒラギノ角ゴ Pro W3" pitchFamily="-84" charset="-128"/>
            </a:endParaRPr>
          </a:p>
        </p:txBody>
      </p:sp>
      <p:sp>
        <p:nvSpPr>
          <p:cNvPr id="7171" name="Content Placeholder 2"/>
          <p:cNvSpPr>
            <a:spLocks noGrp="1"/>
          </p:cNvSpPr>
          <p:nvPr>
            <p:ph idx="1"/>
          </p:nvPr>
        </p:nvSpPr>
        <p:spPr/>
        <p:txBody>
          <a:bodyPr/>
          <a:lstStyle/>
          <a:p>
            <a:pPr>
              <a:spcBef>
                <a:spcPts val="525"/>
              </a:spcBef>
            </a:pPr>
            <a:r>
              <a:rPr lang="en-US" sz="2400" dirty="0" smtClean="0">
                <a:ea typeface="ヒラギノ角ゴ Pro W3" pitchFamily="-84" charset="-128"/>
              </a:rPr>
              <a:t>When unemployment is high, workers are worse off in two ways:</a:t>
            </a:r>
          </a:p>
          <a:p>
            <a:pPr lvl="1">
              <a:spcBef>
                <a:spcPts val="525"/>
              </a:spcBef>
            </a:pPr>
            <a:r>
              <a:rPr lang="en-US" sz="2000" dirty="0" smtClean="0">
                <a:ea typeface="ヒラギノ角ゴ Pro W3" pitchFamily="-84" charset="-128"/>
              </a:rPr>
              <a:t>Employed workers face a higher probability of losing their job.</a:t>
            </a:r>
          </a:p>
          <a:p>
            <a:pPr lvl="1">
              <a:spcBef>
                <a:spcPts val="525"/>
              </a:spcBef>
            </a:pPr>
            <a:r>
              <a:rPr lang="en-US" sz="2000" dirty="0" smtClean="0">
                <a:ea typeface="ヒラギノ角ゴ Pro W3" pitchFamily="-84" charset="-128"/>
              </a:rPr>
              <a:t>Unemployed workers face a lower probability of finding a job; or they can expect to remain unemployed for a longer time.</a:t>
            </a: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1246905056"/>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ea typeface="ヒラギノ角ゴ Pro W3" pitchFamily="-65" charset="-128"/>
              </a:rPr>
              <a:t>7-3 Wage Determination</a:t>
            </a:r>
            <a:endParaRPr lang="en-US" dirty="0" smtClean="0">
              <a:ea typeface="ヒラギノ角ゴ Pro W3" pitchFamily="-84" charset="-128"/>
            </a:endParaRPr>
          </a:p>
        </p:txBody>
      </p:sp>
      <p:sp>
        <p:nvSpPr>
          <p:cNvPr id="7171" name="Content Placeholder 2"/>
          <p:cNvSpPr>
            <a:spLocks noGrp="1"/>
          </p:cNvSpPr>
          <p:nvPr>
            <p:ph idx="1"/>
          </p:nvPr>
        </p:nvSpPr>
        <p:spPr/>
        <p:txBody>
          <a:bodyPr/>
          <a:lstStyle/>
          <a:p>
            <a:pPr>
              <a:spcBef>
                <a:spcPts val="525"/>
              </a:spcBef>
            </a:pPr>
            <a:r>
              <a:rPr lang="en-US" sz="2400" dirty="0" smtClean="0">
                <a:ea typeface="ヒラギノ角ゴ Pro W3" pitchFamily="-84" charset="-128"/>
              </a:rPr>
              <a:t>Sometimes wages are set by </a:t>
            </a:r>
            <a:r>
              <a:rPr lang="en-US" sz="2400" b="1" dirty="0" smtClean="0">
                <a:ea typeface="ヒラギノ角ゴ Pro W3" pitchFamily="-84" charset="-128"/>
              </a:rPr>
              <a:t>collective bargaining</a:t>
            </a:r>
            <a:r>
              <a:rPr lang="en-US" sz="2400" dirty="0" smtClean="0">
                <a:ea typeface="ヒラギノ角ゴ Pro W3" pitchFamily="-84" charset="-128"/>
              </a:rPr>
              <a:t>—a bargaining between unions and firms.</a:t>
            </a:r>
          </a:p>
          <a:p>
            <a:pPr>
              <a:spcBef>
                <a:spcPts val="525"/>
              </a:spcBef>
            </a:pPr>
            <a:r>
              <a:rPr lang="en-US" sz="2400" dirty="0" smtClean="0">
                <a:ea typeface="ヒラギノ角ゴ Pro W3" pitchFamily="-84" charset="-128"/>
              </a:rPr>
              <a:t>Slightly more than 10% of U.S. workers’ wages are set by collective bargaining.</a:t>
            </a:r>
          </a:p>
          <a:p>
            <a:pPr>
              <a:spcBef>
                <a:spcPts val="525"/>
              </a:spcBef>
            </a:pPr>
            <a:r>
              <a:rPr lang="en-US" sz="2400" dirty="0" smtClean="0">
                <a:ea typeface="ヒラギノ角ゴ Pro W3" pitchFamily="-84" charset="-128"/>
              </a:rPr>
              <a:t>The higher the skills needed to do the job, the more likely there is to be bargaining between employers and individual employees.</a:t>
            </a:r>
          </a:p>
          <a:p>
            <a:pPr>
              <a:spcBef>
                <a:spcPts val="525"/>
              </a:spcBef>
            </a:pPr>
            <a:r>
              <a:rPr lang="en-US" sz="2400" dirty="0" smtClean="0">
                <a:ea typeface="ヒラギノ角ゴ Pro W3" pitchFamily="-84" charset="-128"/>
              </a:rPr>
              <a:t>Collective bargaining plays an important role in Japan and most European countries.</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825115997"/>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ea typeface="ヒラギノ角ゴ Pro W3" pitchFamily="-65" charset="-128"/>
              </a:rPr>
              <a:t>7-3 Wage Determination</a:t>
            </a:r>
            <a:endParaRPr lang="en-US" dirty="0" smtClean="0">
              <a:ea typeface="ヒラギノ角ゴ Pro W3" pitchFamily="-84" charset="-128"/>
            </a:endParaRPr>
          </a:p>
        </p:txBody>
      </p:sp>
      <p:sp>
        <p:nvSpPr>
          <p:cNvPr id="7171" name="Content Placeholder 2"/>
          <p:cNvSpPr>
            <a:spLocks noGrp="1"/>
          </p:cNvSpPr>
          <p:nvPr>
            <p:ph idx="1"/>
          </p:nvPr>
        </p:nvSpPr>
        <p:spPr/>
        <p:txBody>
          <a:bodyPr/>
          <a:lstStyle/>
          <a:p>
            <a:pPr>
              <a:spcBef>
                <a:spcPts val="525"/>
              </a:spcBef>
            </a:pPr>
            <a:r>
              <a:rPr lang="en-US" sz="2400" dirty="0" smtClean="0">
                <a:ea typeface="ヒラギノ角ゴ Pro W3" pitchFamily="-84" charset="-128"/>
              </a:rPr>
              <a:t>Workers are typically paid a wage exceeding their </a:t>
            </a:r>
            <a:r>
              <a:rPr lang="en-US" sz="2400" b="1" dirty="0" smtClean="0">
                <a:ea typeface="ヒラギノ角ゴ Pro W3" pitchFamily="-84" charset="-128"/>
              </a:rPr>
              <a:t>reservation wage</a:t>
            </a:r>
            <a:r>
              <a:rPr lang="en-US" sz="2400" dirty="0" smtClean="0">
                <a:ea typeface="ヒラギノ角ゴ Pro W3" pitchFamily="-84" charset="-128"/>
              </a:rPr>
              <a:t>—the wage that would make them indifferent between working or being unemployed.</a:t>
            </a:r>
          </a:p>
          <a:p>
            <a:pPr>
              <a:spcBef>
                <a:spcPts val="525"/>
              </a:spcBef>
            </a:pPr>
            <a:r>
              <a:rPr lang="en-US" sz="2400" dirty="0" smtClean="0">
                <a:ea typeface="ヒラギノ角ゴ Pro W3" pitchFamily="-84" charset="-128"/>
              </a:rPr>
              <a:t>Wages typically depends on labor-market conditions: The lower the unemployment rate, the higher the wages.</a:t>
            </a:r>
          </a:p>
          <a:p>
            <a:pPr>
              <a:spcBef>
                <a:spcPts val="525"/>
              </a:spcBef>
            </a:pPr>
            <a:r>
              <a:rPr lang="en-US" sz="2400" dirty="0" smtClean="0">
                <a:ea typeface="ヒラギノ角ゴ Pro W3" pitchFamily="-84" charset="-128"/>
              </a:rPr>
              <a:t>Workers’ </a:t>
            </a:r>
            <a:r>
              <a:rPr lang="en-US" sz="2400" b="1" dirty="0" smtClean="0">
                <a:ea typeface="ヒラギノ角ゴ Pro W3" pitchFamily="-84" charset="-128"/>
              </a:rPr>
              <a:t>bargaining power </a:t>
            </a:r>
            <a:r>
              <a:rPr lang="en-US" sz="2400" dirty="0" smtClean="0">
                <a:ea typeface="ヒラギノ角ゴ Pro W3" pitchFamily="-84" charset="-128"/>
              </a:rPr>
              <a:t>depends on:</a:t>
            </a:r>
          </a:p>
          <a:p>
            <a:pPr lvl="1">
              <a:spcBef>
                <a:spcPts val="525"/>
              </a:spcBef>
            </a:pPr>
            <a:r>
              <a:rPr lang="en-US" sz="2000" dirty="0" smtClean="0">
                <a:ea typeface="ヒラギノ角ゴ Pro W3" pitchFamily="-84" charset="-128"/>
              </a:rPr>
              <a:t>How costly for the firm to find other workers</a:t>
            </a:r>
          </a:p>
          <a:p>
            <a:pPr lvl="1">
              <a:spcBef>
                <a:spcPts val="525"/>
              </a:spcBef>
            </a:pPr>
            <a:r>
              <a:rPr lang="en-US" sz="2000" dirty="0" smtClean="0">
                <a:ea typeface="ヒラギノ角ゴ Pro W3" pitchFamily="-84" charset="-128"/>
              </a:rPr>
              <a:t>How hard for workers to find another job if they were to leave the firm</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2585826472"/>
      </p:ext>
    </p:extLst>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ea typeface="ヒラギノ角ゴ Pro W3" pitchFamily="-65" charset="-128"/>
              </a:rPr>
              <a:t>7-3 Wage Determination</a:t>
            </a:r>
            <a:endParaRPr lang="en-US" dirty="0" smtClean="0">
              <a:ea typeface="ヒラギノ角ゴ Pro W3" pitchFamily="-84" charset="-128"/>
            </a:endParaRPr>
          </a:p>
        </p:txBody>
      </p:sp>
      <p:sp>
        <p:nvSpPr>
          <p:cNvPr id="7171" name="Content Placeholder 2"/>
          <p:cNvSpPr>
            <a:spLocks noGrp="1"/>
          </p:cNvSpPr>
          <p:nvPr>
            <p:ph idx="1"/>
          </p:nvPr>
        </p:nvSpPr>
        <p:spPr/>
        <p:txBody>
          <a:bodyPr/>
          <a:lstStyle/>
          <a:p>
            <a:pPr>
              <a:spcBef>
                <a:spcPts val="525"/>
              </a:spcBef>
            </a:pPr>
            <a:r>
              <a:rPr lang="en-US" sz="2400" b="1" dirty="0" smtClean="0">
                <a:ea typeface="ヒラギノ角ゴ Pro W3" pitchFamily="-84" charset="-128"/>
              </a:rPr>
              <a:t>Efficiency wage theories </a:t>
            </a:r>
            <a:r>
              <a:rPr lang="en-US" sz="2400" dirty="0" smtClean="0">
                <a:ea typeface="ヒラギノ角ゴ Pro W3" pitchFamily="-84" charset="-128"/>
              </a:rPr>
              <a:t>link the productivity of the efficiency of workers to the wage they are paid.</a:t>
            </a:r>
          </a:p>
          <a:p>
            <a:pPr>
              <a:spcBef>
                <a:spcPts val="525"/>
              </a:spcBef>
            </a:pPr>
            <a:r>
              <a:rPr lang="en-US" sz="2400" dirty="0" smtClean="0">
                <a:ea typeface="ヒラギノ角ゴ Pro W3" pitchFamily="-84" charset="-128"/>
              </a:rPr>
              <a:t>Firms may want to pay a wage above the reservation wage in order to decrease workers’ turnover and increase productivity.</a:t>
            </a:r>
          </a:p>
          <a:p>
            <a:pPr>
              <a:spcBef>
                <a:spcPts val="525"/>
              </a:spcBef>
            </a:pPr>
            <a:r>
              <a:rPr lang="en-US" sz="2400" dirty="0" smtClean="0">
                <a:ea typeface="ヒラギノ角ゴ Pro W3" pitchFamily="-84" charset="-128"/>
              </a:rPr>
              <a:t>Firms that see employee morale and commitment as essential to the quality of workers’ work will pay more than those whose activities are routine.</a:t>
            </a:r>
          </a:p>
          <a:p>
            <a:pPr>
              <a:spcBef>
                <a:spcPts val="525"/>
              </a:spcBef>
            </a:pPr>
            <a:r>
              <a:rPr lang="en-US" sz="2400" dirty="0" smtClean="0">
                <a:ea typeface="ヒラギノ角ゴ Pro W3" pitchFamily="-84" charset="-128"/>
              </a:rPr>
              <a:t>When unemployment is low, firms that want to avoid an increase in quits will increase wages to induce workers to stay with the firms.</a:t>
            </a:r>
          </a:p>
          <a:p>
            <a:pPr>
              <a:spcBef>
                <a:spcPts val="525"/>
              </a:spcBef>
            </a:pPr>
            <a:endParaRPr lang="en-US" sz="22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558981939"/>
      </p:ext>
    </p:extLst>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z="2800" dirty="0" smtClean="0">
                <a:ea typeface="ヒラギノ角ゴ Pro W3" pitchFamily="-65" charset="-128"/>
              </a:rPr>
              <a:t>FOCUS: Henry Ford and Efficiency Wages</a:t>
            </a:r>
          </a:p>
        </p:txBody>
      </p:sp>
      <p:sp>
        <p:nvSpPr>
          <p:cNvPr id="21507" name="Content Placeholder 2"/>
          <p:cNvSpPr>
            <a:spLocks noGrp="1"/>
          </p:cNvSpPr>
          <p:nvPr>
            <p:ph idx="1"/>
          </p:nvPr>
        </p:nvSpPr>
        <p:spPr>
          <a:xfrm>
            <a:off x="419100" y="1828800"/>
            <a:ext cx="8382000" cy="4648200"/>
          </a:xfrm>
        </p:spPr>
        <p:txBody>
          <a:bodyPr/>
          <a:lstStyle/>
          <a:p>
            <a:pPr marL="0" indent="0">
              <a:buFontTx/>
              <a:buNone/>
            </a:pPr>
            <a:r>
              <a:rPr lang="en-US" sz="1800" b="1" dirty="0" smtClean="0">
                <a:ea typeface="ヒラギノ角ゴ Pro W3" pitchFamily="-65" charset="-128"/>
              </a:rPr>
              <a:t>Table 1  </a:t>
            </a:r>
            <a:r>
              <a:rPr lang="en-US" sz="1800" dirty="0" smtClean="0">
                <a:ea typeface="ヒラギノ角ゴ Pro W3" pitchFamily="-65" charset="-128"/>
              </a:rPr>
              <a:t>Annual Turnover and Layoff Rates (%) at Ford, 1913–1915</a:t>
            </a:r>
          </a:p>
        </p:txBody>
      </p:sp>
      <p:pic>
        <p:nvPicPr>
          <p:cNvPr id="21508" name="Picture 3" descr="table01.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219200" y="2154509"/>
            <a:ext cx="6477000" cy="1550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Content Placeholder 2"/>
          <p:cNvSpPr txBox="1">
            <a:spLocks/>
          </p:cNvSpPr>
          <p:nvPr/>
        </p:nvSpPr>
        <p:spPr bwMode="auto">
          <a:xfrm>
            <a:off x="568999" y="4763948"/>
            <a:ext cx="8040414" cy="19001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a:spcBef>
                <a:spcPts val="525"/>
              </a:spcBef>
            </a:pPr>
            <a:r>
              <a:rPr lang="en-US" sz="1600" kern="0" dirty="0" smtClean="0">
                <a:ea typeface="ヒラギノ角ゴ Pro W3" pitchFamily="-84" charset="-128"/>
              </a:rPr>
              <a:t>In 1914, Henry Ford, the builder of Model-T, announced that his company would pay all qualified employees a minimum of $5.00 a day for an eight-hour day, compared to previously an average $2.30 for a nine-hour day.</a:t>
            </a:r>
          </a:p>
          <a:p>
            <a:pPr>
              <a:spcBef>
                <a:spcPts val="525"/>
              </a:spcBef>
            </a:pPr>
            <a:r>
              <a:rPr lang="en-US" sz="1600" kern="0" dirty="0" smtClean="0">
                <a:ea typeface="ヒラギノ角ゴ Pro W3" pitchFamily="-84" charset="-128"/>
              </a:rPr>
              <a:t>The turnover rate plunged from 370% in 1913 to 16% in 1915.</a:t>
            </a:r>
          </a:p>
          <a:p>
            <a:pPr>
              <a:spcBef>
                <a:spcPts val="525"/>
              </a:spcBef>
            </a:pPr>
            <a:r>
              <a:rPr lang="en-US" sz="1600" kern="0" dirty="0" smtClean="0">
                <a:ea typeface="ヒラギノ角ゴ Pro W3" pitchFamily="-84" charset="-128"/>
              </a:rPr>
              <a:t>The layoff rate collapsed from 62% to nearly 0%. </a:t>
            </a:r>
          </a:p>
          <a:p>
            <a:pPr>
              <a:spcBef>
                <a:spcPts val="525"/>
              </a:spcBef>
            </a:pPr>
            <a:endParaRPr lang="en-US" sz="1800" kern="0" dirty="0" smtClean="0">
              <a:ea typeface="ヒラギノ角ゴ Pro W3" pitchFamily="-84" charset="-128"/>
            </a:endParaRPr>
          </a:p>
        </p:txBody>
      </p:sp>
      <p:pic>
        <p:nvPicPr>
          <p:cNvPr id="2" name="Picture 1"/>
          <p:cNvPicPr>
            <a:picLocks noChangeAspect="1"/>
          </p:cNvPicPr>
          <p:nvPr/>
        </p:nvPicPr>
        <p:blipFill>
          <a:blip r:embed="rId3" cstate="print"/>
          <a:stretch>
            <a:fillRect/>
          </a:stretch>
        </p:blipFill>
        <p:spPr>
          <a:xfrm>
            <a:off x="1219200" y="3733800"/>
            <a:ext cx="3952875" cy="571500"/>
          </a:xfrm>
          <a:prstGeom prst="rect">
            <a:avLst/>
          </a:prstGeom>
        </p:spPr>
      </p:pic>
    </p:spTree>
    <p:extLst>
      <p:ext uri="{BB962C8B-B14F-4D97-AF65-F5344CB8AC3E}">
        <p14:creationId xmlns="" xmlns:p14="http://schemas.microsoft.com/office/powerpoint/2010/main" val="516451471"/>
      </p:ext>
    </p:extLst>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smtClean="0">
                <a:ea typeface="ヒラギノ角ゴ Pro W3" pitchFamily="-65" charset="-128"/>
              </a:rPr>
              <a:t>7-3 Wage Determination</a:t>
            </a:r>
          </a:p>
        </p:txBody>
      </p:sp>
      <p:sp>
        <p:nvSpPr>
          <p:cNvPr id="4" name="Content Placeholder 2"/>
          <p:cNvSpPr>
            <a:spLocks noGrp="1"/>
          </p:cNvSpPr>
          <p:nvPr>
            <p:ph idx="1"/>
          </p:nvPr>
        </p:nvSpPr>
        <p:spPr>
          <a:xfrm>
            <a:off x="403123" y="1295400"/>
            <a:ext cx="7999413" cy="2514600"/>
          </a:xfrm>
        </p:spPr>
        <p:txBody>
          <a:bodyPr/>
          <a:lstStyle/>
          <a:p>
            <a:pPr>
              <a:spcBef>
                <a:spcPts val="525"/>
              </a:spcBef>
            </a:pPr>
            <a:r>
              <a:rPr lang="en-US" sz="2400" dirty="0" smtClean="0">
                <a:ea typeface="ヒラギノ角ゴ Pro W3" pitchFamily="-84" charset="-128"/>
              </a:rPr>
              <a:t>The aggregate nominal wage </a:t>
            </a:r>
            <a:r>
              <a:rPr lang="en-US" i="1" dirty="0">
                <a:latin typeface="Times New Roman" panose="02020603050405020304" pitchFamily="18" charset="0"/>
                <a:ea typeface="ヒラギノ角ゴ Pro W3" pitchFamily="-84" charset="-128"/>
                <a:cs typeface="Times New Roman" panose="02020603050405020304" pitchFamily="18" charset="0"/>
              </a:rPr>
              <a:t>W</a:t>
            </a:r>
            <a:r>
              <a:rPr lang="en-US" sz="2400" dirty="0" smtClean="0">
                <a:ea typeface="ヒラギノ角ゴ Pro W3" pitchFamily="-84" charset="-128"/>
              </a:rPr>
              <a:t> depends on:</a:t>
            </a:r>
          </a:p>
          <a:p>
            <a:pPr lvl="1">
              <a:spcBef>
                <a:spcPts val="525"/>
              </a:spcBef>
            </a:pPr>
            <a:r>
              <a:rPr lang="en-US" sz="2000" dirty="0" smtClean="0">
                <a:ea typeface="ヒラギノ角ゴ Pro W3" pitchFamily="-84" charset="-128"/>
              </a:rPr>
              <a:t>the expected price level </a:t>
            </a:r>
            <a:r>
              <a:rPr lang="en-US" i="1" dirty="0" err="1">
                <a:latin typeface="Times New Roman" panose="02020603050405020304" pitchFamily="18" charset="0"/>
                <a:ea typeface="ヒラギノ角ゴ Pro W3" pitchFamily="-84" charset="-128"/>
                <a:cs typeface="Times New Roman" panose="02020603050405020304" pitchFamily="18" charset="0"/>
              </a:rPr>
              <a:t>P</a:t>
            </a:r>
            <a:r>
              <a:rPr lang="en-US" i="1" baseline="30000" dirty="0" err="1">
                <a:latin typeface="Times New Roman" panose="02020603050405020304" pitchFamily="18" charset="0"/>
                <a:ea typeface="ヒラギノ角ゴ Pro W3" pitchFamily="-84" charset="-128"/>
                <a:cs typeface="Times New Roman" panose="02020603050405020304" pitchFamily="18" charset="0"/>
              </a:rPr>
              <a:t>e</a:t>
            </a:r>
            <a:endParaRPr lang="en-US" i="1" baseline="30000" dirty="0">
              <a:latin typeface="Times New Roman" panose="02020603050405020304" pitchFamily="18" charset="0"/>
              <a:ea typeface="ヒラギノ角ゴ Pro W3" pitchFamily="-84" charset="-128"/>
              <a:cs typeface="Times New Roman" panose="02020603050405020304" pitchFamily="18" charset="0"/>
            </a:endParaRPr>
          </a:p>
          <a:p>
            <a:pPr lvl="1">
              <a:spcBef>
                <a:spcPts val="525"/>
              </a:spcBef>
            </a:pPr>
            <a:r>
              <a:rPr lang="en-US" sz="2000" dirty="0" smtClean="0">
                <a:ea typeface="ヒラギノ角ゴ Pro W3" pitchFamily="-84" charset="-128"/>
              </a:rPr>
              <a:t>the unemployment rate </a:t>
            </a:r>
            <a:r>
              <a:rPr lang="en-US" i="1" dirty="0">
                <a:latin typeface="Times New Roman" panose="02020603050405020304" pitchFamily="18" charset="0"/>
                <a:ea typeface="ヒラギノ角ゴ Pro W3" pitchFamily="-84" charset="-128"/>
                <a:cs typeface="Times New Roman" panose="02020603050405020304" pitchFamily="18" charset="0"/>
              </a:rPr>
              <a:t>u</a:t>
            </a:r>
          </a:p>
          <a:p>
            <a:pPr lvl="1">
              <a:spcBef>
                <a:spcPts val="525"/>
              </a:spcBef>
            </a:pPr>
            <a:r>
              <a:rPr lang="en-US" sz="2000" dirty="0" smtClean="0">
                <a:ea typeface="ヒラギノ角ゴ Pro W3" pitchFamily="-84" charset="-128"/>
              </a:rPr>
              <a:t>a catch-all variable </a:t>
            </a:r>
            <a:r>
              <a:rPr lang="en-US" i="1" dirty="0" smtClean="0">
                <a:latin typeface="Times New Roman" panose="02020603050405020304" pitchFamily="18" charset="0"/>
                <a:ea typeface="ヒラギノ角ゴ Pro W3" pitchFamily="-84" charset="-128"/>
                <a:cs typeface="Times New Roman" panose="02020603050405020304" pitchFamily="18" charset="0"/>
              </a:rPr>
              <a:t>z</a:t>
            </a:r>
            <a:endParaRPr lang="en-US" sz="2000" i="1" dirty="0" smtClean="0">
              <a:latin typeface="Times New Roman" panose="02020603050405020304" pitchFamily="18" charset="0"/>
              <a:ea typeface="ヒラギノ角ゴ Pro W3" pitchFamily="-84" charset="-128"/>
              <a:cs typeface="Times New Roman" panose="02020603050405020304" pitchFamily="18" charset="0"/>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990600" y="3349201"/>
            <a:ext cx="7491691" cy="921597"/>
          </a:xfrm>
          <a:prstGeom prst="rect">
            <a:avLst/>
          </a:prstGeom>
        </p:spPr>
      </p:pic>
    </p:spTree>
    <p:extLst>
      <p:ext uri="{BB962C8B-B14F-4D97-AF65-F5344CB8AC3E}">
        <p14:creationId xmlns="" xmlns:p14="http://schemas.microsoft.com/office/powerpoint/2010/main" val="483703377"/>
      </p:ext>
    </p:extLst>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ea typeface="ヒラギノ角ゴ Pro W3" pitchFamily="-65" charset="-128"/>
              </a:rPr>
              <a:t>7-3 Wage Determination</a:t>
            </a:r>
            <a:endParaRPr lang="en-US" dirty="0" smtClean="0">
              <a:ea typeface="ヒラギノ角ゴ Pro W3" pitchFamily="-84" charset="-128"/>
            </a:endParaRPr>
          </a:p>
        </p:txBody>
      </p:sp>
      <p:sp>
        <p:nvSpPr>
          <p:cNvPr id="7171" name="Content Placeholder 2"/>
          <p:cNvSpPr>
            <a:spLocks noGrp="1"/>
          </p:cNvSpPr>
          <p:nvPr>
            <p:ph idx="1"/>
          </p:nvPr>
        </p:nvSpPr>
        <p:spPr/>
        <p:txBody>
          <a:bodyPr/>
          <a:lstStyle/>
          <a:p>
            <a:pPr>
              <a:spcBef>
                <a:spcPts val="525"/>
              </a:spcBef>
            </a:pPr>
            <a:r>
              <a:rPr lang="en-US" sz="2400" dirty="0" smtClean="0">
                <a:ea typeface="ヒラギノ角ゴ Pro W3" pitchFamily="-84" charset="-128"/>
              </a:rPr>
              <a:t>Both workers and firms care about real wages (</a:t>
            </a:r>
            <a:r>
              <a:rPr lang="en-US" i="1" dirty="0" smtClean="0">
                <a:latin typeface="Times New Roman" panose="02020603050405020304" pitchFamily="18" charset="0"/>
                <a:ea typeface="ヒラギノ角ゴ Pro W3" pitchFamily="-84" charset="-128"/>
                <a:cs typeface="Times New Roman" panose="02020603050405020304" pitchFamily="18" charset="0"/>
              </a:rPr>
              <a:t>W/P</a:t>
            </a:r>
            <a:r>
              <a:rPr lang="en-US" sz="2400" dirty="0" smtClean="0">
                <a:ea typeface="ヒラギノ角ゴ Pro W3" pitchFamily="-84" charset="-128"/>
              </a:rPr>
              <a:t>), not nominal wages.</a:t>
            </a:r>
          </a:p>
          <a:p>
            <a:pPr>
              <a:spcBef>
                <a:spcPts val="525"/>
              </a:spcBef>
            </a:pPr>
            <a:r>
              <a:rPr lang="en-US" sz="2200" dirty="0" smtClean="0">
                <a:ea typeface="ヒラギノ角ゴ Pro W3" pitchFamily="-84" charset="-128"/>
              </a:rPr>
              <a:t>The nominal wage depends on the </a:t>
            </a:r>
            <a:r>
              <a:rPr lang="en-US" sz="2200" i="1" dirty="0" smtClean="0">
                <a:ea typeface="ヒラギノ角ゴ Pro W3" pitchFamily="-84" charset="-128"/>
              </a:rPr>
              <a:t>expected price level </a:t>
            </a:r>
            <a:r>
              <a:rPr lang="en-US" sz="2200" dirty="0" smtClean="0">
                <a:ea typeface="ヒラギノ角ゴ Pro W3" pitchFamily="-84" charset="-128"/>
              </a:rPr>
              <a:t>(rather than the </a:t>
            </a:r>
            <a:r>
              <a:rPr lang="en-US" sz="2200" i="1" dirty="0" smtClean="0">
                <a:ea typeface="ヒラギノ角ゴ Pro W3" pitchFamily="-84" charset="-128"/>
              </a:rPr>
              <a:t>actual price level</a:t>
            </a:r>
            <a:r>
              <a:rPr lang="en-US" sz="2200" dirty="0" smtClean="0">
                <a:ea typeface="ヒラギノ角ゴ Pro W3" pitchFamily="-84" charset="-128"/>
              </a:rPr>
              <a:t>) because when nominal wages are set, the relevant price levels are not yet known.</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4267281403"/>
      </p:ext>
    </p:extLst>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smtClean="0">
                <a:ea typeface="ヒラギノ角ゴ Pro W3" pitchFamily="-65" charset="-128"/>
              </a:rPr>
              <a:t>7-3 Wage Determination</a:t>
            </a:r>
            <a:endParaRPr lang="en-US" dirty="0" smtClean="0">
              <a:ea typeface="ヒラギノ角ゴ Pro W3" pitchFamily="-84" charset="-128"/>
            </a:endParaRPr>
          </a:p>
        </p:txBody>
      </p:sp>
      <p:sp>
        <p:nvSpPr>
          <p:cNvPr id="7171" name="Content Placeholder 2"/>
          <p:cNvSpPr>
            <a:spLocks noGrp="1"/>
          </p:cNvSpPr>
          <p:nvPr>
            <p:ph idx="1"/>
          </p:nvPr>
        </p:nvSpPr>
        <p:spPr>
          <a:xfrm>
            <a:off x="381000" y="1143000"/>
            <a:ext cx="8382000" cy="4648200"/>
          </a:xfrm>
        </p:spPr>
        <p:txBody>
          <a:bodyPr/>
          <a:lstStyle/>
          <a:p>
            <a:pPr>
              <a:spcBef>
                <a:spcPts val="525"/>
              </a:spcBef>
            </a:pPr>
            <a:r>
              <a:rPr lang="en-US" sz="2400" dirty="0" smtClean="0">
                <a:ea typeface="ヒラギノ角ゴ Pro W3" pitchFamily="-84" charset="-128"/>
              </a:rPr>
              <a:t>An increase in the unemployment rate </a:t>
            </a:r>
            <a:r>
              <a:rPr lang="en-US" sz="2400" i="1" dirty="0" smtClean="0">
                <a:ea typeface="ヒラギノ角ゴ Pro W3" pitchFamily="-84" charset="-128"/>
              </a:rPr>
              <a:t>decreases</a:t>
            </a:r>
            <a:r>
              <a:rPr lang="en-US" sz="2400" dirty="0" smtClean="0">
                <a:ea typeface="ヒラギノ角ゴ Pro W3" pitchFamily="-84" charset="-128"/>
              </a:rPr>
              <a:t> wages.</a:t>
            </a:r>
          </a:p>
          <a:p>
            <a:pPr>
              <a:spcBef>
                <a:spcPts val="525"/>
              </a:spcBef>
            </a:pPr>
            <a:r>
              <a:rPr lang="en-US" sz="2400" dirty="0" smtClean="0">
                <a:ea typeface="ヒラギノ角ゴ Pro W3" pitchFamily="-84" charset="-128"/>
              </a:rPr>
              <a:t>Higher unemployment either weakens worker’ bargaining power, or allows firms to pay lower wages and still keep workers willing to work.</a:t>
            </a:r>
          </a:p>
          <a:p>
            <a:pPr>
              <a:spcBef>
                <a:spcPts val="525"/>
              </a:spcBef>
            </a:pPr>
            <a:r>
              <a:rPr lang="en-US" i="1" dirty="0" smtClean="0">
                <a:latin typeface="Times New Roman" panose="02020603050405020304" pitchFamily="18" charset="0"/>
                <a:ea typeface="ヒラギノ角ゴ Pro W3" pitchFamily="-84" charset="-128"/>
                <a:cs typeface="Times New Roman" panose="02020603050405020304" pitchFamily="18" charset="0"/>
              </a:rPr>
              <a:t>z</a:t>
            </a:r>
            <a:r>
              <a:rPr lang="en-US" sz="2400" dirty="0" smtClean="0">
                <a:ea typeface="ヒラギノ角ゴ Pro W3" pitchFamily="-84" charset="-128"/>
              </a:rPr>
              <a:t> stands for all the factors that affect wages given the expected price level and the unemployment rate, for example:</a:t>
            </a:r>
          </a:p>
          <a:p>
            <a:pPr lvl="1">
              <a:spcBef>
                <a:spcPts val="525"/>
              </a:spcBef>
            </a:pPr>
            <a:r>
              <a:rPr lang="en-US" sz="2200" b="1" dirty="0" smtClean="0">
                <a:ea typeface="ヒラギノ角ゴ Pro W3" pitchFamily="-84" charset="-128"/>
              </a:rPr>
              <a:t>unemployment insurance </a:t>
            </a:r>
            <a:r>
              <a:rPr lang="en-US" sz="2200" dirty="0">
                <a:ea typeface="ヒラギノ角ゴ Pro W3" pitchFamily="-84" charset="-128"/>
              </a:rPr>
              <a:t>a</a:t>
            </a:r>
            <a:r>
              <a:rPr lang="en-US" sz="2200" dirty="0" smtClean="0">
                <a:ea typeface="ヒラギノ角ゴ Pro W3" pitchFamily="-84" charset="-128"/>
              </a:rPr>
              <a:t>s the payment of unemployment benefits to workers who lose their jobs</a:t>
            </a:r>
          </a:p>
          <a:p>
            <a:pPr lvl="1">
              <a:spcBef>
                <a:spcPts val="525"/>
              </a:spcBef>
            </a:pPr>
            <a:r>
              <a:rPr lang="en-US" sz="2200" b="1" dirty="0" smtClean="0">
                <a:ea typeface="ヒラギノ角ゴ Pro W3" pitchFamily="-84" charset="-128"/>
              </a:rPr>
              <a:t>employment protection </a:t>
            </a:r>
            <a:r>
              <a:rPr lang="en-US" sz="2200" dirty="0" smtClean="0">
                <a:ea typeface="ヒラギノ角ゴ Pro W3" pitchFamily="-84" charset="-128"/>
              </a:rPr>
              <a:t>makes it more expensive for firms to lay off workers</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2939475166"/>
      </p:ext>
    </p:extLst>
  </p:cSld>
  <p:clrMapOvr>
    <a:masterClrMapping/>
  </p:clrMapOvr>
  <p:transition>
    <p:strips dir="l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ea typeface="ヒラギノ角ゴ Pro W3" pitchFamily="-65" charset="-128"/>
              </a:rPr>
              <a:t>7-4 Price Determination</a:t>
            </a:r>
          </a:p>
        </p:txBody>
      </p:sp>
      <p:sp>
        <p:nvSpPr>
          <p:cNvPr id="5" name="Content Placeholder 2"/>
          <p:cNvSpPr>
            <a:spLocks noGrp="1"/>
          </p:cNvSpPr>
          <p:nvPr>
            <p:ph idx="1"/>
          </p:nvPr>
        </p:nvSpPr>
        <p:spPr>
          <a:xfrm>
            <a:off x="381000" y="1143000"/>
            <a:ext cx="8382000" cy="4648200"/>
          </a:xfrm>
        </p:spPr>
        <p:txBody>
          <a:bodyPr/>
          <a:lstStyle/>
          <a:p>
            <a:pPr>
              <a:spcBef>
                <a:spcPts val="525"/>
              </a:spcBef>
            </a:pPr>
            <a:r>
              <a:rPr lang="en-US" sz="2400" dirty="0" smtClean="0">
                <a:ea typeface="ヒラギノ角ゴ Pro W3" pitchFamily="-84" charset="-128"/>
              </a:rPr>
              <a:t>The prices set by firms depends on their costs, which in turn depends on the nature of the </a:t>
            </a:r>
            <a:r>
              <a:rPr lang="en-US" sz="2400" b="1" dirty="0" smtClean="0">
                <a:ea typeface="ヒラギノ角ゴ Pro W3" pitchFamily="-84" charset="-128"/>
              </a:rPr>
              <a:t>production function:</a:t>
            </a:r>
          </a:p>
          <a:p>
            <a:pPr marL="0" indent="0" algn="ctr">
              <a:spcBef>
                <a:spcPts val="1200"/>
              </a:spcBef>
              <a:spcAft>
                <a:spcPts val="1200"/>
              </a:spcAft>
              <a:buNone/>
            </a:pPr>
            <a:r>
              <a:rPr lang="en-US" i="1" dirty="0" smtClean="0">
                <a:latin typeface="Times New Roman" panose="02020603050405020304" pitchFamily="18" charset="0"/>
                <a:ea typeface="ヒラギノ角ゴ Pro W3" pitchFamily="-84" charset="-128"/>
                <a:cs typeface="Times New Roman" panose="02020603050405020304" pitchFamily="18" charset="0"/>
              </a:rPr>
              <a:t>Y = AN</a:t>
            </a:r>
          </a:p>
          <a:p>
            <a:pPr marL="339725" indent="0">
              <a:spcBef>
                <a:spcPts val="525"/>
              </a:spcBef>
              <a:buNone/>
            </a:pPr>
            <a:r>
              <a:rPr lang="en-US" sz="2400" dirty="0" smtClean="0">
                <a:ea typeface="ヒラギノ角ゴ Pro W3" pitchFamily="-84" charset="-128"/>
              </a:rPr>
              <a:t>where </a:t>
            </a:r>
            <a:r>
              <a:rPr lang="en-US" i="1" dirty="0">
                <a:latin typeface="Times New Roman" panose="02020603050405020304" pitchFamily="18" charset="0"/>
                <a:ea typeface="ヒラギノ角ゴ Pro W3" pitchFamily="-84" charset="-128"/>
                <a:cs typeface="Times New Roman" panose="02020603050405020304" pitchFamily="18" charset="0"/>
              </a:rPr>
              <a:t>Y</a:t>
            </a:r>
            <a:r>
              <a:rPr lang="en-US" sz="2400" dirty="0" smtClean="0">
                <a:ea typeface="ヒラギノ角ゴ Pro W3" pitchFamily="-84" charset="-128"/>
              </a:rPr>
              <a:t> is output, </a:t>
            </a:r>
            <a:r>
              <a:rPr lang="en-US" i="1" dirty="0">
                <a:latin typeface="Times New Roman" panose="02020603050405020304" pitchFamily="18" charset="0"/>
                <a:ea typeface="ヒラギノ角ゴ Pro W3" pitchFamily="-84" charset="-128"/>
                <a:cs typeface="Times New Roman" panose="02020603050405020304" pitchFamily="18" charset="0"/>
              </a:rPr>
              <a:t>N</a:t>
            </a:r>
            <a:r>
              <a:rPr lang="en-US" sz="2400" dirty="0" smtClean="0">
                <a:ea typeface="ヒラギノ角ゴ Pro W3" pitchFamily="-84" charset="-128"/>
              </a:rPr>
              <a:t> is employment and </a:t>
            </a:r>
            <a:r>
              <a:rPr lang="en-US" i="1" dirty="0">
                <a:latin typeface="Times New Roman" panose="02020603050405020304" pitchFamily="18" charset="0"/>
                <a:ea typeface="ヒラギノ角ゴ Pro W3" pitchFamily="-84" charset="-128"/>
                <a:cs typeface="Times New Roman" panose="02020603050405020304" pitchFamily="18" charset="0"/>
              </a:rPr>
              <a:t>A</a:t>
            </a:r>
            <a:r>
              <a:rPr lang="en-US" sz="2400" dirty="0" smtClean="0">
                <a:ea typeface="ヒラギノ角ゴ Pro W3" pitchFamily="-84" charset="-128"/>
              </a:rPr>
              <a:t> is </a:t>
            </a:r>
            <a:r>
              <a:rPr lang="en-US" sz="2400" b="1" dirty="0" smtClean="0">
                <a:ea typeface="ヒラギノ角ゴ Pro W3" pitchFamily="-84" charset="-128"/>
              </a:rPr>
              <a:t>labor productivity</a:t>
            </a:r>
            <a:r>
              <a:rPr lang="en-US" sz="2400" dirty="0" smtClean="0">
                <a:ea typeface="ヒラギノ角ゴ Pro W3" pitchFamily="-84" charset="-128"/>
              </a:rPr>
              <a:t> (output per worker).</a:t>
            </a:r>
          </a:p>
          <a:p>
            <a:pPr>
              <a:spcBef>
                <a:spcPts val="525"/>
              </a:spcBef>
            </a:pPr>
            <a:r>
              <a:rPr lang="en-US" sz="2400" dirty="0" smtClean="0">
                <a:ea typeface="ヒラギノ角ゴ Pro W3" pitchFamily="-84" charset="-128"/>
              </a:rPr>
              <a:t>The production function is the relation between the inputs used in production and the quantity of output produced, and on the prices of these inputs.</a:t>
            </a:r>
            <a:endParaRPr lang="en-US" sz="22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3598050868"/>
      </p:ext>
    </p:extLst>
  </p:cSld>
  <p:clrMapOvr>
    <a:masterClrMapping/>
  </p:clrMapOvr>
  <p:transition>
    <p:strips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ea typeface="ヒラギノ角ゴ Pro W3" pitchFamily="-65" charset="-128"/>
              </a:rPr>
              <a:t>7-4 Price Determination</a:t>
            </a:r>
          </a:p>
        </p:txBody>
      </p:sp>
      <p:sp>
        <p:nvSpPr>
          <p:cNvPr id="5" name="Content Placeholder 2"/>
          <p:cNvSpPr>
            <a:spLocks noGrp="1"/>
          </p:cNvSpPr>
          <p:nvPr>
            <p:ph idx="1"/>
          </p:nvPr>
        </p:nvSpPr>
        <p:spPr>
          <a:xfrm>
            <a:off x="381000" y="1143000"/>
            <a:ext cx="8382000" cy="4648200"/>
          </a:xfrm>
        </p:spPr>
        <p:txBody>
          <a:bodyPr/>
          <a:lstStyle/>
          <a:p>
            <a:pPr>
              <a:spcBef>
                <a:spcPts val="525"/>
              </a:spcBef>
            </a:pPr>
            <a:r>
              <a:rPr lang="en-US" sz="2400" dirty="0" smtClean="0">
                <a:ea typeface="ヒラギノ角ゴ Pro W3" pitchFamily="-84" charset="-128"/>
              </a:rPr>
              <a:t>Assume that </a:t>
            </a:r>
            <a:r>
              <a:rPr lang="en-US" sz="2400" i="1" dirty="0" smtClean="0">
                <a:ea typeface="ヒラギノ角ゴ Pro W3" pitchFamily="-84" charset="-128"/>
              </a:rPr>
              <a:t>A</a:t>
            </a:r>
            <a:r>
              <a:rPr lang="en-US" sz="2400" dirty="0" smtClean="0">
                <a:ea typeface="ヒラギノ角ゴ Pro W3" pitchFamily="-84" charset="-128"/>
              </a:rPr>
              <a:t> is constant and </a:t>
            </a:r>
            <a:r>
              <a:rPr lang="en-US" sz="2400" i="1" dirty="0" smtClean="0">
                <a:ea typeface="ヒラギノ角ゴ Pro W3" pitchFamily="-84" charset="-128"/>
              </a:rPr>
              <a:t>A</a:t>
            </a:r>
            <a:r>
              <a:rPr lang="en-US" sz="2400" dirty="0" smtClean="0">
                <a:ea typeface="ヒラギノ角ゴ Pro W3" pitchFamily="-84" charset="-128"/>
              </a:rPr>
              <a:t> = 1, then:</a:t>
            </a:r>
            <a:endParaRPr lang="en-US" sz="2400" b="1" dirty="0" smtClean="0">
              <a:ea typeface="ヒラギノ角ゴ Pro W3" pitchFamily="-84" charset="-128"/>
            </a:endParaRPr>
          </a:p>
          <a:p>
            <a:pPr marL="339725" indent="0">
              <a:spcBef>
                <a:spcPts val="525"/>
              </a:spcBef>
              <a:buNone/>
            </a:pPr>
            <a:endParaRPr lang="en-US" sz="2400" dirty="0" smtClean="0">
              <a:ea typeface="ヒラギノ角ゴ Pro W3" pitchFamily="-84" charset="-128"/>
            </a:endParaRPr>
          </a:p>
          <a:p>
            <a:pPr marL="339725" indent="0">
              <a:spcBef>
                <a:spcPts val="525"/>
              </a:spcBef>
              <a:buNone/>
            </a:pPr>
            <a:endParaRPr lang="en-US" sz="2400" dirty="0">
              <a:ea typeface="ヒラギノ角ゴ Pro W3" pitchFamily="-84" charset="-128"/>
            </a:endParaRPr>
          </a:p>
          <a:p>
            <a:pPr marL="339725" indent="0">
              <a:spcBef>
                <a:spcPts val="525"/>
              </a:spcBef>
              <a:buNone/>
            </a:pPr>
            <a:r>
              <a:rPr lang="en-US" sz="2400" dirty="0" smtClean="0">
                <a:ea typeface="ヒラギノ角ゴ Pro W3" pitchFamily="-84" charset="-128"/>
              </a:rPr>
              <a:t>which implies that the cost of producing one more unit of output is the cost of employing one more worker at </a:t>
            </a:r>
            <a:r>
              <a:rPr lang="en-US" i="1" dirty="0">
                <a:latin typeface="Times New Roman" panose="02020603050405020304" pitchFamily="18" charset="0"/>
                <a:ea typeface="ヒラギノ角ゴ Pro W3" pitchFamily="-84" charset="-128"/>
                <a:cs typeface="Times New Roman" panose="02020603050405020304" pitchFamily="18" charset="0"/>
              </a:rPr>
              <a:t>W</a:t>
            </a:r>
            <a:r>
              <a:rPr lang="en-US" sz="2400" dirty="0" smtClean="0">
                <a:ea typeface="ヒラギノ角ゴ Pro W3" pitchFamily="-84" charset="-128"/>
              </a:rPr>
              <a:t>.</a:t>
            </a:r>
          </a:p>
          <a:p>
            <a:pPr>
              <a:spcBef>
                <a:spcPts val="525"/>
              </a:spcBef>
            </a:pPr>
            <a:r>
              <a:rPr lang="en-US" sz="2400" dirty="0" smtClean="0">
                <a:ea typeface="ヒラギノ角ゴ Pro W3" pitchFamily="-84" charset="-128"/>
              </a:rPr>
              <a:t>The marginal cost of production is equal to </a:t>
            </a:r>
            <a:r>
              <a:rPr lang="en-US" i="1" dirty="0">
                <a:latin typeface="Times New Roman" panose="02020603050405020304" pitchFamily="18" charset="0"/>
                <a:ea typeface="ヒラギノ角ゴ Pro W3" pitchFamily="-84" charset="-128"/>
                <a:cs typeface="Times New Roman" panose="02020603050405020304" pitchFamily="18" charset="0"/>
              </a:rPr>
              <a:t>W</a:t>
            </a:r>
            <a:r>
              <a:rPr lang="en-US" sz="2400" dirty="0" smtClean="0">
                <a:ea typeface="ヒラギノ角ゴ Pro W3" pitchFamily="-84" charset="-128"/>
              </a:rPr>
              <a:t>.</a:t>
            </a:r>
          </a:p>
          <a:p>
            <a:pPr>
              <a:spcBef>
                <a:spcPts val="525"/>
              </a:spcBef>
            </a:pPr>
            <a:r>
              <a:rPr lang="en-US" sz="2400" dirty="0" smtClean="0">
                <a:ea typeface="ヒラギノ角ゴ Pro W3" pitchFamily="-84" charset="-128"/>
              </a:rPr>
              <a:t>Now assume firms set their price according to a </a:t>
            </a:r>
            <a:r>
              <a:rPr lang="en-US" sz="2400" b="1" dirty="0" smtClean="0">
                <a:ea typeface="ヒラギノ角ゴ Pro W3" pitchFamily="-84" charset="-128"/>
              </a:rPr>
              <a:t>markup</a:t>
            </a:r>
            <a:r>
              <a:rPr lang="en-US" sz="2400" dirty="0" smtClean="0">
                <a:ea typeface="ヒラギノ角ゴ Pro W3" pitchFamily="-84" charset="-128"/>
              </a:rPr>
              <a:t> </a:t>
            </a:r>
            <a:r>
              <a:rPr lang="en-US" i="1" dirty="0" smtClean="0">
                <a:latin typeface="Times New Roman" panose="02020603050405020304" pitchFamily="18" charset="0"/>
                <a:ea typeface="ヒラギノ角ゴ Pro W3" pitchFamily="-84" charset="-128"/>
                <a:cs typeface="Times New Roman" panose="02020603050405020304" pitchFamily="18" charset="0"/>
              </a:rPr>
              <a:t>m</a:t>
            </a:r>
            <a:r>
              <a:rPr lang="en-US" sz="2400" dirty="0" smtClean="0">
                <a:ea typeface="ヒラギノ角ゴ Pro W3" pitchFamily="-84" charset="-128"/>
              </a:rPr>
              <a:t> over the cost so that: </a:t>
            </a:r>
            <a:endParaRPr lang="en-US" sz="22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2119312" y="1854456"/>
            <a:ext cx="6643688" cy="414338"/>
          </a:xfrm>
          <a:prstGeom prst="rect">
            <a:avLst/>
          </a:prstGeom>
        </p:spPr>
      </p:pic>
      <p:pic>
        <p:nvPicPr>
          <p:cNvPr id="3" name="Picture 2"/>
          <p:cNvPicPr>
            <a:picLocks noChangeAspect="1"/>
          </p:cNvPicPr>
          <p:nvPr/>
        </p:nvPicPr>
        <p:blipFill>
          <a:blip r:embed="rId3" cstate="print"/>
          <a:stretch>
            <a:fillRect/>
          </a:stretch>
        </p:blipFill>
        <p:spPr>
          <a:xfrm>
            <a:off x="1376362" y="5257800"/>
            <a:ext cx="7386638" cy="400050"/>
          </a:xfrm>
          <a:prstGeom prst="rect">
            <a:avLst/>
          </a:prstGeom>
        </p:spPr>
      </p:pic>
    </p:spTree>
    <p:extLst>
      <p:ext uri="{BB962C8B-B14F-4D97-AF65-F5344CB8AC3E}">
        <p14:creationId xmlns="" xmlns:p14="http://schemas.microsoft.com/office/powerpoint/2010/main" val="533611174"/>
      </p:ext>
    </p:extLst>
  </p:cSld>
  <p:clrMapOvr>
    <a:masterClrMapping/>
  </p:clrMapOvr>
  <p:transition>
    <p:strips dir="l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ea typeface="ヒラギノ角ゴ Pro W3" pitchFamily="-65" charset="-128"/>
              </a:rPr>
              <a:t>7-5 The Natural Rate of Unemployment</a:t>
            </a:r>
          </a:p>
        </p:txBody>
      </p:sp>
      <p:sp>
        <p:nvSpPr>
          <p:cNvPr id="5"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Assume that </a:t>
            </a:r>
            <a:r>
              <a:rPr lang="en-US" i="1" dirty="0">
                <a:latin typeface="Times New Roman" panose="02020603050405020304" pitchFamily="18" charset="0"/>
                <a:ea typeface="ヒラギノ角ゴ Pro W3" pitchFamily="-84" charset="-128"/>
                <a:cs typeface="Times New Roman" panose="02020603050405020304" pitchFamily="18" charset="0"/>
              </a:rPr>
              <a:t>W</a:t>
            </a:r>
            <a:r>
              <a:rPr lang="en-US" sz="2400" dirty="0" smtClean="0">
                <a:ea typeface="ヒラギノ角ゴ Pro W3" pitchFamily="-84" charset="-128"/>
              </a:rPr>
              <a:t> depends on the actual price level (</a:t>
            </a:r>
            <a:r>
              <a:rPr lang="en-US" i="1" dirty="0">
                <a:latin typeface="Times New Roman" panose="02020603050405020304" pitchFamily="18" charset="0"/>
                <a:ea typeface="ヒラギノ角ゴ Pro W3" pitchFamily="-84" charset="-128"/>
                <a:cs typeface="Times New Roman" panose="02020603050405020304" pitchFamily="18" charset="0"/>
              </a:rPr>
              <a:t>P</a:t>
            </a:r>
            <a:r>
              <a:rPr lang="en-US" sz="2400" dirty="0" smtClean="0">
                <a:ea typeface="ヒラギノ角ゴ Pro W3" pitchFamily="-84" charset="-128"/>
              </a:rPr>
              <a:t>) rather than the expected price level (</a:t>
            </a:r>
            <a:r>
              <a:rPr lang="en-US" i="1" dirty="0" err="1" smtClean="0">
                <a:latin typeface="Times New Roman" panose="02020603050405020304" pitchFamily="18" charset="0"/>
                <a:ea typeface="ヒラギノ角ゴ Pro W3" pitchFamily="-84" charset="-128"/>
                <a:cs typeface="Times New Roman" panose="02020603050405020304" pitchFamily="18" charset="0"/>
              </a:rPr>
              <a:t>P</a:t>
            </a:r>
            <a:r>
              <a:rPr lang="en-US" i="1" baseline="30000" dirty="0" err="1" smtClean="0">
                <a:latin typeface="Times New Roman" panose="02020603050405020304" pitchFamily="18" charset="0"/>
                <a:ea typeface="ヒラギノ角ゴ Pro W3" pitchFamily="-84" charset="-128"/>
                <a:cs typeface="Times New Roman" panose="02020603050405020304" pitchFamily="18" charset="0"/>
              </a:rPr>
              <a:t>e</a:t>
            </a:r>
            <a:r>
              <a:rPr lang="en-US" sz="2400" dirty="0" smtClean="0">
                <a:ea typeface="ヒラギノ角ゴ Pro W3" pitchFamily="-84" charset="-128"/>
              </a:rPr>
              <a:t>), equation (7.1) becomes:</a:t>
            </a: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sz="2400" i="1" dirty="0" smtClean="0">
                <a:ea typeface="ヒラギノ角ゴ Pro W3" pitchFamily="-84" charset="-128"/>
              </a:rPr>
              <a:t>The higher the unemployment rate, the lower the real wage chosen by wage setters.</a:t>
            </a:r>
          </a:p>
          <a:p>
            <a:pPr>
              <a:spcBef>
                <a:spcPts val="525"/>
              </a:spcBef>
            </a:pPr>
            <a:r>
              <a:rPr lang="en-US" sz="2400" dirty="0" smtClean="0">
                <a:ea typeface="ヒラギノ角ゴ Pro W3" pitchFamily="-84" charset="-128"/>
              </a:rPr>
              <a:t>The wage-setting relation is the relation between the real wage and the rate of unemployment.</a:t>
            </a:r>
          </a:p>
          <a:p>
            <a:pPr marL="339725" indent="0">
              <a:spcBef>
                <a:spcPts val="525"/>
              </a:spcBef>
              <a:buNone/>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4" name="Picture 3"/>
          <p:cNvPicPr>
            <a:picLocks noChangeAspect="1"/>
          </p:cNvPicPr>
          <p:nvPr/>
        </p:nvPicPr>
        <p:blipFill>
          <a:blip r:embed="rId2" cstate="print"/>
          <a:stretch>
            <a:fillRect/>
          </a:stretch>
        </p:blipFill>
        <p:spPr>
          <a:xfrm>
            <a:off x="1600200" y="2667000"/>
            <a:ext cx="7058025" cy="1285875"/>
          </a:xfrm>
          <a:prstGeom prst="rect">
            <a:avLst/>
          </a:prstGeom>
        </p:spPr>
      </p:pic>
    </p:spTree>
    <p:extLst>
      <p:ext uri="{BB962C8B-B14F-4D97-AF65-F5344CB8AC3E}">
        <p14:creationId xmlns="" xmlns:p14="http://schemas.microsoft.com/office/powerpoint/2010/main" val="1618727362"/>
      </p:ext>
    </p:extLst>
  </p:cSld>
  <p:clrMapOvr>
    <a:masterClrMapping/>
  </p:clrMapOvr>
  <p:transition>
    <p:strips dir="l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smtClean="0">
                <a:ea typeface="ヒラギノ角ゴ Pro W3" pitchFamily="-65" charset="-128"/>
              </a:rPr>
              <a:t>7-5 The Natural Rate of Unemployment</a:t>
            </a:r>
          </a:p>
        </p:txBody>
      </p:sp>
      <p:pic>
        <p:nvPicPr>
          <p:cNvPr id="25603" name="Picture 6" descr="fig06_06.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222126" y="1828800"/>
            <a:ext cx="5427663" cy="4359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604" name="TextBox 7"/>
          <p:cNvSpPr txBox="1">
            <a:spLocks noChangeArrowheads="1"/>
          </p:cNvSpPr>
          <p:nvPr/>
        </p:nvSpPr>
        <p:spPr bwMode="auto">
          <a:xfrm>
            <a:off x="457200" y="1400129"/>
            <a:ext cx="82296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7-6  </a:t>
            </a:r>
            <a:r>
              <a:rPr lang="en-US" sz="1800" dirty="0">
                <a:latin typeface="Verdana" panose="020B0604030504040204" pitchFamily="34" charset="0"/>
              </a:rPr>
              <a:t>Wages, Prices, and the Natural Rate of Unemployment</a:t>
            </a:r>
          </a:p>
        </p:txBody>
      </p:sp>
      <p:sp>
        <p:nvSpPr>
          <p:cNvPr id="5" name="Content Placeholder 2"/>
          <p:cNvSpPr txBox="1">
            <a:spLocks/>
          </p:cNvSpPr>
          <p:nvPr/>
        </p:nvSpPr>
        <p:spPr bwMode="auto">
          <a:xfrm>
            <a:off x="533400" y="2209800"/>
            <a:ext cx="2286000" cy="2514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The natural rate of unemployment is the unemployment rate such that the real wage chosen in wage setting is equal to the real wage implied by price setting.</a:t>
            </a:r>
          </a:p>
          <a:p>
            <a:pPr>
              <a:spcBef>
                <a:spcPts val="525"/>
              </a:spcBef>
            </a:pPr>
            <a:endParaRPr lang="en-US" sz="1800" kern="0" dirty="0" smtClean="0">
              <a:ea typeface="ヒラギノ角ゴ Pro W3" pitchFamily="-84" charset="-128"/>
            </a:endParaRPr>
          </a:p>
        </p:txBody>
      </p:sp>
    </p:spTree>
    <p:extLst>
      <p:ext uri="{BB962C8B-B14F-4D97-AF65-F5344CB8AC3E}">
        <p14:creationId xmlns="" xmlns:p14="http://schemas.microsoft.com/office/powerpoint/2010/main" val="193022558"/>
      </p:ext>
    </p:extLst>
  </p:cSld>
  <p:clrMapOvr>
    <a:masterClrMapping/>
  </p:clrMapOvr>
  <p:transition>
    <p:strips dir="l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ea typeface="ヒラギノ角ゴ Pro W3" pitchFamily="-65" charset="-128"/>
              </a:rPr>
              <a:t>7-5 The Natural Rate of Unemployment</a:t>
            </a:r>
          </a:p>
        </p:txBody>
      </p:sp>
      <p:sp>
        <p:nvSpPr>
          <p:cNvPr id="4" name="Content Placeholder 2"/>
          <p:cNvSpPr>
            <a:spLocks noGrp="1"/>
          </p:cNvSpPr>
          <p:nvPr>
            <p:ph idx="1"/>
          </p:nvPr>
        </p:nvSpPr>
        <p:spPr>
          <a:xfrm>
            <a:off x="381000" y="1219200"/>
            <a:ext cx="8382000" cy="4648200"/>
          </a:xfrm>
        </p:spPr>
        <p:txBody>
          <a:bodyPr/>
          <a:lstStyle/>
          <a:p>
            <a:pPr>
              <a:spcBef>
                <a:spcPts val="525"/>
              </a:spcBef>
            </a:pPr>
            <a:r>
              <a:rPr lang="en-US" sz="2400" dirty="0" smtClean="0">
                <a:ea typeface="ヒラギノ角ゴ Pro W3" pitchFamily="-84" charset="-128"/>
              </a:rPr>
              <a:t>Now divide both sides of the price-determination equation (7.3) by the nominal wage:</a:t>
            </a: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sz="2400" dirty="0" smtClean="0">
                <a:ea typeface="ヒラギノ角ゴ Pro W3" pitchFamily="-84" charset="-128"/>
              </a:rPr>
              <a:t>Inverting both sides gives the implied real wage, or the </a:t>
            </a:r>
            <a:r>
              <a:rPr lang="en-US" sz="2400" b="1" dirty="0" smtClean="0">
                <a:ea typeface="ヒラギノ角ゴ Pro W3" pitchFamily="-84" charset="-128"/>
              </a:rPr>
              <a:t>price-setting relation</a:t>
            </a:r>
            <a:r>
              <a:rPr lang="en-US" sz="2400" dirty="0" smtClean="0">
                <a:ea typeface="ヒラギノ角ゴ Pro W3" pitchFamily="-84" charset="-128"/>
              </a:rPr>
              <a:t>:</a:t>
            </a: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r>
              <a:rPr lang="en-US" sz="2400" i="1" dirty="0" smtClean="0">
                <a:ea typeface="ヒラギノ角ゴ Pro W3" pitchFamily="-84" charset="-128"/>
              </a:rPr>
              <a:t>Price-setting decisions determine the real wage paid by firms.</a:t>
            </a:r>
          </a:p>
          <a:p>
            <a:pPr marL="339725" indent="0">
              <a:spcBef>
                <a:spcPts val="525"/>
              </a:spcBef>
              <a:buNone/>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1733550" y="2133600"/>
            <a:ext cx="7029450" cy="785813"/>
          </a:xfrm>
          <a:prstGeom prst="rect">
            <a:avLst/>
          </a:prstGeom>
        </p:spPr>
      </p:pic>
      <p:pic>
        <p:nvPicPr>
          <p:cNvPr id="3" name="Picture 2"/>
          <p:cNvPicPr>
            <a:picLocks noChangeAspect="1"/>
          </p:cNvPicPr>
          <p:nvPr/>
        </p:nvPicPr>
        <p:blipFill>
          <a:blip r:embed="rId3" cstate="print"/>
          <a:stretch>
            <a:fillRect/>
          </a:stretch>
        </p:blipFill>
        <p:spPr>
          <a:xfrm>
            <a:off x="1747837" y="4157125"/>
            <a:ext cx="7015163" cy="757238"/>
          </a:xfrm>
          <a:prstGeom prst="rect">
            <a:avLst/>
          </a:prstGeom>
        </p:spPr>
      </p:pic>
    </p:spTree>
    <p:extLst>
      <p:ext uri="{BB962C8B-B14F-4D97-AF65-F5344CB8AC3E}">
        <p14:creationId xmlns="" xmlns:p14="http://schemas.microsoft.com/office/powerpoint/2010/main" val="2160727916"/>
      </p:ext>
    </p:extLst>
  </p:cSld>
  <p:clrMapOvr>
    <a:masterClrMapping/>
  </p:clrMapOvr>
  <p:transition>
    <p:strips dir="l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ea typeface="ヒラギノ角ゴ Pro W3" pitchFamily="-65" charset="-128"/>
              </a:rPr>
              <a:t>7-5 The Natural Rate of Unemployment</a:t>
            </a:r>
          </a:p>
        </p:txBody>
      </p:sp>
      <p:sp>
        <p:nvSpPr>
          <p:cNvPr id="4" name="Content Placeholder 2"/>
          <p:cNvSpPr>
            <a:spLocks noGrp="1"/>
          </p:cNvSpPr>
          <p:nvPr>
            <p:ph idx="1"/>
          </p:nvPr>
        </p:nvSpPr>
        <p:spPr>
          <a:xfrm>
            <a:off x="381000" y="1219200"/>
            <a:ext cx="8382000" cy="4648200"/>
          </a:xfrm>
        </p:spPr>
        <p:txBody>
          <a:bodyPr/>
          <a:lstStyle/>
          <a:p>
            <a:pPr>
              <a:spcBef>
                <a:spcPts val="525"/>
              </a:spcBef>
            </a:pPr>
            <a:r>
              <a:rPr lang="en-US" sz="2400" dirty="0" smtClean="0">
                <a:ea typeface="ヒラギノ角ゴ Pro W3" pitchFamily="-84" charset="-128"/>
              </a:rPr>
              <a:t>The equilibrium unemployment rate </a:t>
            </a:r>
            <a:r>
              <a:rPr lang="en-US" i="1" dirty="0" smtClean="0">
                <a:latin typeface="Times New Roman" panose="02020603050405020304" pitchFamily="18" charset="0"/>
                <a:ea typeface="ヒラギノ角ゴ Pro W3" pitchFamily="-84" charset="-128"/>
                <a:cs typeface="Times New Roman" panose="02020603050405020304" pitchFamily="18" charset="0"/>
              </a:rPr>
              <a:t>u</a:t>
            </a:r>
            <a:r>
              <a:rPr lang="en-US" i="1" baseline="-25000" dirty="0" smtClean="0">
                <a:latin typeface="Times New Roman" panose="02020603050405020304" pitchFamily="18" charset="0"/>
                <a:ea typeface="ヒラギノ角ゴ Pro W3" pitchFamily="-84" charset="-128"/>
                <a:cs typeface="Times New Roman" panose="02020603050405020304" pitchFamily="18" charset="0"/>
              </a:rPr>
              <a:t>n</a:t>
            </a:r>
            <a:r>
              <a:rPr lang="en-US" sz="2400" dirty="0">
                <a:ea typeface="ヒラギノ角ゴ Pro W3" pitchFamily="-84" charset="-128"/>
                <a:cs typeface="Times New Roman" panose="02020603050405020304" pitchFamily="18" charset="0"/>
              </a:rPr>
              <a:t> </a:t>
            </a:r>
            <a:r>
              <a:rPr lang="en-US" sz="2400" dirty="0" smtClean="0">
                <a:ea typeface="ヒラギノ角ゴ Pro W3" pitchFamily="-84" charset="-128"/>
              </a:rPr>
              <a:t>can be derived by eliminating </a:t>
            </a:r>
            <a:r>
              <a:rPr lang="en-US" i="1" dirty="0" smtClean="0">
                <a:latin typeface="Times New Roman" panose="02020603050405020304" pitchFamily="18" charset="0"/>
                <a:ea typeface="ヒラギノ角ゴ Pro W3" pitchFamily="-84" charset="-128"/>
                <a:cs typeface="Times New Roman" panose="02020603050405020304" pitchFamily="18" charset="0"/>
              </a:rPr>
              <a:t>W/P</a:t>
            </a:r>
            <a:r>
              <a:rPr lang="en-US" sz="2400" dirty="0" smtClean="0">
                <a:ea typeface="ヒラギノ角ゴ Pro W3" pitchFamily="-84" charset="-128"/>
              </a:rPr>
              <a:t> between equations (7.4) and (7.6):</a:t>
            </a:r>
          </a:p>
          <a:p>
            <a:pPr>
              <a:spcBef>
                <a:spcPts val="525"/>
              </a:spcBef>
            </a:pPr>
            <a:endParaRPr lang="en-US" sz="2400" dirty="0" smtClean="0">
              <a:ea typeface="ヒラギノ角ゴ Pro W3" pitchFamily="-84" charset="-128"/>
            </a:endParaRPr>
          </a:p>
          <a:p>
            <a:pPr>
              <a:spcBef>
                <a:spcPts val="525"/>
              </a:spcBef>
            </a:pPr>
            <a:endParaRPr lang="en-US" sz="2400"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r>
              <a:rPr lang="en-US" i="1" dirty="0">
                <a:latin typeface="Times New Roman" panose="02020603050405020304" pitchFamily="18" charset="0"/>
                <a:ea typeface="ヒラギノ角ゴ Pro W3" pitchFamily="-84" charset="-128"/>
                <a:cs typeface="Times New Roman" panose="02020603050405020304" pitchFamily="18" charset="0"/>
              </a:rPr>
              <a:t>u</a:t>
            </a:r>
            <a:r>
              <a:rPr lang="en-US" i="1" baseline="-25000" dirty="0">
                <a:latin typeface="Times New Roman" panose="02020603050405020304" pitchFamily="18" charset="0"/>
                <a:ea typeface="ヒラギノ角ゴ Pro W3" pitchFamily="-84" charset="-128"/>
                <a:cs typeface="Times New Roman" panose="02020603050405020304" pitchFamily="18" charset="0"/>
              </a:rPr>
              <a:t>n</a:t>
            </a:r>
            <a:r>
              <a:rPr lang="en-US" i="1" dirty="0">
                <a:latin typeface="Times New Roman" panose="02020603050405020304" pitchFamily="18" charset="0"/>
                <a:ea typeface="ヒラギノ角ゴ Pro W3" pitchFamily="-84" charset="-128"/>
                <a:cs typeface="Times New Roman" panose="02020603050405020304" pitchFamily="18" charset="0"/>
              </a:rPr>
              <a:t> </a:t>
            </a:r>
            <a:r>
              <a:rPr lang="en-US" sz="2400" dirty="0">
                <a:ea typeface="ヒラギノ角ゴ Pro W3" pitchFamily="-84" charset="-128"/>
                <a:cs typeface="Times New Roman" panose="02020603050405020304" pitchFamily="18" charset="0"/>
              </a:rPr>
              <a:t>depends on </a:t>
            </a:r>
            <a:r>
              <a:rPr lang="en-US" i="1" dirty="0">
                <a:latin typeface="Times New Roman" panose="02020603050405020304" pitchFamily="18" charset="0"/>
                <a:ea typeface="ヒラギノ角ゴ Pro W3" pitchFamily="-84" charset="-128"/>
                <a:cs typeface="Times New Roman" panose="02020603050405020304" pitchFamily="18" charset="0"/>
              </a:rPr>
              <a:t>z </a:t>
            </a:r>
            <a:r>
              <a:rPr lang="en-US" sz="2400" dirty="0">
                <a:ea typeface="ヒラギノ角ゴ Pro W3" pitchFamily="-84" charset="-128"/>
                <a:cs typeface="Times New Roman" panose="02020603050405020304" pitchFamily="18" charset="0"/>
              </a:rPr>
              <a:t>and</a:t>
            </a:r>
            <a:r>
              <a:rPr lang="en-US" i="1" dirty="0">
                <a:latin typeface="Times New Roman" panose="02020603050405020304" pitchFamily="18" charset="0"/>
                <a:ea typeface="ヒラギノ角ゴ Pro W3" pitchFamily="-84" charset="-128"/>
                <a:cs typeface="Times New Roman" panose="02020603050405020304" pitchFamily="18" charset="0"/>
              </a:rPr>
              <a:t> m</a:t>
            </a:r>
            <a:r>
              <a:rPr lang="en-US" i="1" dirty="0" smtClean="0">
                <a:latin typeface="Times New Roman" panose="02020603050405020304" pitchFamily="18" charset="0"/>
                <a:ea typeface="ヒラギノ角ゴ Pro W3" pitchFamily="-84" charset="-128"/>
                <a:cs typeface="Times New Roman" panose="02020603050405020304" pitchFamily="18" charset="0"/>
              </a:rPr>
              <a:t>.</a:t>
            </a:r>
          </a:p>
          <a:p>
            <a:pPr>
              <a:spcBef>
                <a:spcPts val="525"/>
              </a:spcBef>
            </a:pPr>
            <a:r>
              <a:rPr lang="en-US" i="1" dirty="0">
                <a:latin typeface="Times New Roman" panose="02020603050405020304" pitchFamily="18" charset="0"/>
                <a:ea typeface="ヒラギノ角ゴ Pro W3" pitchFamily="-84" charset="-128"/>
                <a:cs typeface="Times New Roman" panose="02020603050405020304" pitchFamily="18" charset="0"/>
              </a:rPr>
              <a:t>u</a:t>
            </a:r>
            <a:r>
              <a:rPr lang="en-US" i="1" baseline="-25000" dirty="0">
                <a:latin typeface="Times New Roman" panose="02020603050405020304" pitchFamily="18" charset="0"/>
                <a:ea typeface="ヒラギノ角ゴ Pro W3" pitchFamily="-84" charset="-128"/>
                <a:cs typeface="Times New Roman" panose="02020603050405020304" pitchFamily="18" charset="0"/>
              </a:rPr>
              <a:t>n</a:t>
            </a:r>
            <a:r>
              <a:rPr lang="en-US" i="1" dirty="0">
                <a:latin typeface="Times New Roman" panose="02020603050405020304" pitchFamily="18" charset="0"/>
                <a:ea typeface="ヒラギノ角ゴ Pro W3" pitchFamily="-84" charset="-128"/>
                <a:cs typeface="Times New Roman" panose="02020603050405020304" pitchFamily="18" charset="0"/>
              </a:rPr>
              <a:t> </a:t>
            </a:r>
            <a:r>
              <a:rPr lang="en-US" sz="2400" dirty="0" smtClean="0">
                <a:ea typeface="ヒラギノ角ゴ Pro W3" pitchFamily="-84" charset="-128"/>
                <a:cs typeface="Times New Roman" panose="02020603050405020304" pitchFamily="18" charset="0"/>
              </a:rPr>
              <a:t>is also called the </a:t>
            </a:r>
            <a:r>
              <a:rPr lang="en-US" sz="2400" b="1" dirty="0">
                <a:ea typeface="ヒラギノ角ゴ Pro W3" pitchFamily="-84" charset="-128"/>
                <a:cs typeface="Times New Roman" panose="02020603050405020304" pitchFamily="18" charset="0"/>
              </a:rPr>
              <a:t>natural rate of </a:t>
            </a:r>
            <a:r>
              <a:rPr lang="en-US" sz="2400" b="1" dirty="0" smtClean="0">
                <a:ea typeface="ヒラギノ角ゴ Pro W3" pitchFamily="-84" charset="-128"/>
                <a:cs typeface="Times New Roman" panose="02020603050405020304" pitchFamily="18" charset="0"/>
              </a:rPr>
              <a:t>unemployment </a:t>
            </a:r>
            <a:r>
              <a:rPr lang="en-US" sz="2400" dirty="0" smtClean="0">
                <a:ea typeface="ヒラギノ角ゴ Pro W3" pitchFamily="-84" charset="-128"/>
                <a:cs typeface="Times New Roman" panose="02020603050405020304" pitchFamily="18" charset="0"/>
              </a:rPr>
              <a:t>or the </a:t>
            </a:r>
            <a:r>
              <a:rPr lang="en-US" sz="2400" b="1" dirty="0" smtClean="0">
                <a:ea typeface="ヒラギノ角ゴ Pro W3" pitchFamily="-84" charset="-128"/>
                <a:cs typeface="Times New Roman" panose="02020603050405020304" pitchFamily="18" charset="0"/>
              </a:rPr>
              <a:t>structural rate of unemployment.</a:t>
            </a:r>
            <a:endParaRPr lang="en-US" sz="2400" i="1" dirty="0">
              <a:ea typeface="ヒラギノ角ゴ Pro W3" pitchFamily="-84" charset="-128"/>
              <a:cs typeface="Times New Roman" panose="02020603050405020304" pitchFamily="18" charset="0"/>
            </a:endParaRPr>
          </a:p>
          <a:p>
            <a:pPr>
              <a:spcBef>
                <a:spcPts val="525"/>
              </a:spcBef>
            </a:pPr>
            <a:endParaRPr lang="en-US" i="1" dirty="0">
              <a:latin typeface="Times New Roman" panose="02020603050405020304" pitchFamily="18" charset="0"/>
              <a:ea typeface="ヒラギノ角ゴ Pro W3" pitchFamily="-84" charset="-128"/>
              <a:cs typeface="Times New Roman" panose="02020603050405020304" pitchFamily="18" charset="0"/>
            </a:endParaRPr>
          </a:p>
          <a:p>
            <a:pPr>
              <a:spcBef>
                <a:spcPts val="525"/>
              </a:spcBef>
            </a:pPr>
            <a:endParaRPr lang="en-US" sz="2400" dirty="0">
              <a:ea typeface="ヒラギノ角ゴ Pro W3" pitchFamily="-84" charset="-128"/>
            </a:endParaRPr>
          </a:p>
          <a:p>
            <a:pPr marL="339725" indent="0">
              <a:spcBef>
                <a:spcPts val="525"/>
              </a:spcBef>
              <a:buNone/>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pic>
        <p:nvPicPr>
          <p:cNvPr id="5" name="Picture 4"/>
          <p:cNvPicPr>
            <a:picLocks noChangeAspect="1"/>
          </p:cNvPicPr>
          <p:nvPr/>
        </p:nvPicPr>
        <p:blipFill>
          <a:blip r:embed="rId2" cstate="print"/>
          <a:stretch>
            <a:fillRect/>
          </a:stretch>
        </p:blipFill>
        <p:spPr>
          <a:xfrm>
            <a:off x="1375440" y="2590800"/>
            <a:ext cx="7358063" cy="757238"/>
          </a:xfrm>
          <a:prstGeom prst="rect">
            <a:avLst/>
          </a:prstGeom>
        </p:spPr>
      </p:pic>
    </p:spTree>
    <p:extLst>
      <p:ext uri="{BB962C8B-B14F-4D97-AF65-F5344CB8AC3E}">
        <p14:creationId xmlns="" xmlns:p14="http://schemas.microsoft.com/office/powerpoint/2010/main" val="91481501"/>
      </p:ext>
    </p:extLst>
  </p:cSld>
  <p:clrMapOvr>
    <a:masterClrMapping/>
  </p:clrMapOvr>
  <p:transition>
    <p:strips dir="l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smtClean="0">
                <a:ea typeface="ヒラギノ角ゴ Pro W3" pitchFamily="-65" charset="-128"/>
              </a:rPr>
              <a:t>7-5 The Natural Rate of Unemployment</a:t>
            </a:r>
          </a:p>
        </p:txBody>
      </p:sp>
      <p:sp>
        <p:nvSpPr>
          <p:cNvPr id="27651" name="TextBox 3"/>
          <p:cNvSpPr txBox="1">
            <a:spLocks noChangeArrowheads="1"/>
          </p:cNvSpPr>
          <p:nvPr/>
        </p:nvSpPr>
        <p:spPr bwMode="auto">
          <a:xfrm>
            <a:off x="457200" y="1315243"/>
            <a:ext cx="838200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7-7</a:t>
            </a:r>
            <a:r>
              <a:rPr lang="en-US" sz="1800" dirty="0" smtClean="0">
                <a:latin typeface="Verdana" panose="020B0604030504040204" pitchFamily="34" charset="0"/>
              </a:rPr>
              <a:t>  </a:t>
            </a:r>
            <a:r>
              <a:rPr lang="en-US" sz="1800" dirty="0">
                <a:latin typeface="Verdana" panose="020B0604030504040204" pitchFamily="34" charset="0"/>
              </a:rPr>
              <a:t>Unemployment Benefits and the Natural Rate of Unemployment</a:t>
            </a:r>
          </a:p>
        </p:txBody>
      </p:sp>
      <p:pic>
        <p:nvPicPr>
          <p:cNvPr id="27652" name="Picture 5" descr="fig06_07.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505200" y="2133599"/>
            <a:ext cx="4886325" cy="41862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Content Placeholder 2"/>
          <p:cNvSpPr txBox="1">
            <a:spLocks/>
          </p:cNvSpPr>
          <p:nvPr/>
        </p:nvSpPr>
        <p:spPr bwMode="auto">
          <a:xfrm>
            <a:off x="609600" y="2667000"/>
            <a:ext cx="2286000" cy="2514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An increase in unemployment benefits leads to an increase in the natural rate of unemployment.</a:t>
            </a:r>
          </a:p>
          <a:p>
            <a:pPr>
              <a:spcBef>
                <a:spcPts val="525"/>
              </a:spcBef>
            </a:pPr>
            <a:endParaRPr lang="en-US" sz="1800" kern="0" dirty="0" smtClean="0">
              <a:ea typeface="ヒラギノ角ゴ Pro W3" pitchFamily="-84" charset="-128"/>
            </a:endParaRPr>
          </a:p>
        </p:txBody>
      </p:sp>
    </p:spTree>
    <p:extLst>
      <p:ext uri="{BB962C8B-B14F-4D97-AF65-F5344CB8AC3E}">
        <p14:creationId xmlns="" xmlns:p14="http://schemas.microsoft.com/office/powerpoint/2010/main" val="4127534819"/>
      </p:ext>
    </p:extLst>
  </p:cSld>
  <p:clrMapOvr>
    <a:masterClrMapping/>
  </p:clrMapOvr>
  <p:transition>
    <p:strips dir="l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smtClean="0">
                <a:ea typeface="ヒラギノ角ゴ Pro W3" pitchFamily="-65" charset="-128"/>
              </a:rPr>
              <a:t>7-5 The Natural Rate of Unemployment</a:t>
            </a:r>
          </a:p>
        </p:txBody>
      </p:sp>
      <p:sp>
        <p:nvSpPr>
          <p:cNvPr id="28675" name="TextBox 3"/>
          <p:cNvSpPr txBox="1">
            <a:spLocks noChangeArrowheads="1"/>
          </p:cNvSpPr>
          <p:nvPr/>
        </p:nvSpPr>
        <p:spPr bwMode="auto">
          <a:xfrm>
            <a:off x="381000" y="1258387"/>
            <a:ext cx="83820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7-8  </a:t>
            </a:r>
            <a:r>
              <a:rPr lang="en-US" sz="1800" dirty="0">
                <a:latin typeface="Verdana" panose="020B0604030504040204" pitchFamily="34" charset="0"/>
              </a:rPr>
              <a:t>Markups and the Natural Rate of Unemployment</a:t>
            </a:r>
          </a:p>
        </p:txBody>
      </p:sp>
      <p:pic>
        <p:nvPicPr>
          <p:cNvPr id="28676" name="Picture 6" descr="fig06_08.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124200" y="1687059"/>
            <a:ext cx="5270500" cy="4552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Content Placeholder 2"/>
          <p:cNvSpPr txBox="1">
            <a:spLocks/>
          </p:cNvSpPr>
          <p:nvPr/>
        </p:nvSpPr>
        <p:spPr bwMode="auto">
          <a:xfrm>
            <a:off x="533400" y="2286000"/>
            <a:ext cx="2286000" cy="2514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spcBef>
                <a:spcPts val="525"/>
              </a:spcBef>
              <a:buNone/>
            </a:pPr>
            <a:r>
              <a:rPr lang="en-US" sz="1600" kern="0" dirty="0" smtClean="0">
                <a:ea typeface="ヒラギノ角ゴ Pro W3" pitchFamily="-84" charset="-128"/>
              </a:rPr>
              <a:t>An increase in the markup leads to an increase in the natural rate of unemployment.</a:t>
            </a:r>
          </a:p>
          <a:p>
            <a:pPr>
              <a:spcBef>
                <a:spcPts val="525"/>
              </a:spcBef>
            </a:pPr>
            <a:endParaRPr lang="en-US" sz="1800" kern="0" dirty="0" smtClean="0">
              <a:ea typeface="ヒラギノ角ゴ Pro W3" pitchFamily="-84" charset="-128"/>
            </a:endParaRPr>
          </a:p>
        </p:txBody>
      </p:sp>
    </p:spTree>
    <p:extLst>
      <p:ext uri="{BB962C8B-B14F-4D97-AF65-F5344CB8AC3E}">
        <p14:creationId xmlns="" xmlns:p14="http://schemas.microsoft.com/office/powerpoint/2010/main" val="1044741115"/>
      </p:ext>
    </p:extLst>
  </p:cSld>
  <p:clrMapOvr>
    <a:masterClrMapping/>
  </p:clrMapOvr>
  <p:transition>
    <p:strips dir="l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ea typeface="ヒラギノ角ゴ Pro W3" pitchFamily="-65" charset="-128"/>
              </a:rPr>
              <a:t>7-6 Where We Go from Here</a:t>
            </a:r>
          </a:p>
        </p:txBody>
      </p:sp>
      <p:sp>
        <p:nvSpPr>
          <p:cNvPr id="4" name="Content Placeholder 2"/>
          <p:cNvSpPr>
            <a:spLocks noGrp="1"/>
          </p:cNvSpPr>
          <p:nvPr>
            <p:ph idx="1"/>
          </p:nvPr>
        </p:nvSpPr>
        <p:spPr>
          <a:xfrm>
            <a:off x="381000" y="1143000"/>
            <a:ext cx="8382000" cy="4648200"/>
          </a:xfrm>
        </p:spPr>
        <p:txBody>
          <a:bodyPr/>
          <a:lstStyle/>
          <a:p>
            <a:pPr>
              <a:spcBef>
                <a:spcPts val="525"/>
              </a:spcBef>
            </a:pPr>
            <a:r>
              <a:rPr lang="en-US" sz="2400" dirty="0" smtClean="0">
                <a:ea typeface="ヒラギノ角ゴ Pro W3" pitchFamily="-84" charset="-128"/>
                <a:cs typeface="Times New Roman" panose="02020603050405020304" pitchFamily="18" charset="0"/>
              </a:rPr>
              <a:t>We have assumed that the price level is equal to the expected price level.</a:t>
            </a:r>
          </a:p>
          <a:p>
            <a:pPr>
              <a:spcBef>
                <a:spcPts val="525"/>
              </a:spcBef>
            </a:pPr>
            <a:r>
              <a:rPr lang="en-US" sz="2400" i="1" dirty="0" smtClean="0">
                <a:ea typeface="ヒラギノ角ゴ Pro W3" pitchFamily="-84" charset="-128"/>
                <a:cs typeface="Times New Roman" panose="02020603050405020304" pitchFamily="18" charset="0"/>
              </a:rPr>
              <a:t>In the short run</a:t>
            </a:r>
            <a:r>
              <a:rPr lang="en-US" sz="2400" dirty="0" smtClean="0">
                <a:ea typeface="ヒラギノ角ゴ Pro W3" pitchFamily="-84" charset="-128"/>
                <a:cs typeface="Times New Roman" panose="02020603050405020304" pitchFamily="18" charset="0"/>
              </a:rPr>
              <a:t>, the price level may well turn out to be different from what is expected when nominal wages are set, so that unemployment is not necessarily equal to the natural rate or output equal to its natural level.</a:t>
            </a:r>
          </a:p>
          <a:p>
            <a:pPr>
              <a:spcBef>
                <a:spcPts val="525"/>
              </a:spcBef>
            </a:pPr>
            <a:r>
              <a:rPr lang="en-US" sz="2400" dirty="0" smtClean="0">
                <a:ea typeface="ヒラギノ角ゴ Pro W3" pitchFamily="-84" charset="-128"/>
                <a:cs typeface="Times New Roman" panose="02020603050405020304" pitchFamily="18" charset="0"/>
              </a:rPr>
              <a:t>Because expectations are unlikely to be systematically wrong, </a:t>
            </a:r>
            <a:r>
              <a:rPr lang="en-US" sz="2400" i="1" dirty="0" smtClean="0">
                <a:ea typeface="ヒラギノ角ゴ Pro W3" pitchFamily="-84" charset="-128"/>
                <a:cs typeface="Times New Roman" panose="02020603050405020304" pitchFamily="18" charset="0"/>
              </a:rPr>
              <a:t>in the medium run</a:t>
            </a:r>
            <a:r>
              <a:rPr lang="en-US" sz="2400" dirty="0" smtClean="0">
                <a:ea typeface="ヒラギノ角ゴ Pro W3" pitchFamily="-84" charset="-128"/>
                <a:cs typeface="Times New Roman" panose="02020603050405020304" pitchFamily="18" charset="0"/>
              </a:rPr>
              <a:t>, output tends to return to its natural level.</a:t>
            </a:r>
          </a:p>
          <a:p>
            <a:pPr>
              <a:spcBef>
                <a:spcPts val="525"/>
              </a:spcBef>
            </a:pPr>
            <a:r>
              <a:rPr lang="en-US" sz="2400" dirty="0" smtClean="0">
                <a:ea typeface="ヒラギノ角ゴ Pro W3" pitchFamily="-84" charset="-128"/>
                <a:cs typeface="Times New Roman" panose="02020603050405020304" pitchFamily="18" charset="0"/>
              </a:rPr>
              <a:t>The next chapter will relax the assumption that the price level is equal to the expected price level.</a:t>
            </a:r>
            <a:endParaRPr lang="en-US" sz="2400" dirty="0">
              <a:ea typeface="ヒラギノ角ゴ Pro W3" pitchFamily="-84" charset="-128"/>
              <a:cs typeface="Times New Roman" panose="02020603050405020304" pitchFamily="18" charset="0"/>
            </a:endParaRPr>
          </a:p>
          <a:p>
            <a:pPr>
              <a:spcBef>
                <a:spcPts val="525"/>
              </a:spcBef>
            </a:pPr>
            <a:endParaRPr lang="en-US" sz="2400" dirty="0">
              <a:ea typeface="ヒラギノ角ゴ Pro W3" pitchFamily="-84" charset="-128"/>
            </a:endParaRPr>
          </a:p>
          <a:p>
            <a:pPr marL="339725" indent="0">
              <a:spcBef>
                <a:spcPts val="525"/>
              </a:spcBef>
              <a:buNone/>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274886740"/>
      </p:ext>
    </p:extLst>
  </p:cSld>
  <p:clrMapOvr>
    <a:masterClrMapping/>
  </p:clrMapOvr>
  <p:transition>
    <p:strips dir="l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z="2400" dirty="0" smtClean="0">
                <a:solidFill>
                  <a:srgbClr val="000000"/>
                </a:solidFill>
                <a:ea typeface="ヒラギノ角ゴ Pro W3" pitchFamily="-65" charset="-128"/>
              </a:rPr>
              <a:t>APPENDIX: </a:t>
            </a:r>
            <a:r>
              <a:rPr lang="en-US" sz="2400" dirty="0">
                <a:solidFill>
                  <a:srgbClr val="000000"/>
                </a:solidFill>
                <a:ea typeface="ヒラギノ角ゴ Pro W3" pitchFamily="-65" charset="-128"/>
              </a:rPr>
              <a:t>Wage- and Price-Setting Relations versus Labor Supply and Labor Demand</a:t>
            </a:r>
            <a:endParaRPr lang="en-US" dirty="0" smtClean="0">
              <a:ea typeface="ヒラギノ角ゴ Pro W3" pitchFamily="-84" charset="-128"/>
            </a:endParaRPr>
          </a:p>
        </p:txBody>
      </p:sp>
      <p:sp>
        <p:nvSpPr>
          <p:cNvPr id="8195"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The representation of labor-market equilibrium in terms of labor supply and labor demand in microeconomics is similar to the representation of the labor market in terms of wage setting and price setting.</a:t>
            </a:r>
          </a:p>
          <a:p>
            <a:pPr>
              <a:spcBef>
                <a:spcPts val="525"/>
              </a:spcBef>
            </a:pPr>
            <a:r>
              <a:rPr lang="en-US" sz="2400" dirty="0" smtClean="0">
                <a:ea typeface="ヒラギノ角ゴ Pro W3" pitchFamily="-84" charset="-128"/>
              </a:rPr>
              <a:t>To see this, we redraw Figure 7-6 in terms of the real wage on the vertical axis and the level of employment (</a:t>
            </a:r>
            <a:r>
              <a:rPr lang="en-US" sz="2400" i="1" dirty="0" smtClean="0">
                <a:ea typeface="ヒラギノ角ゴ Pro W3" pitchFamily="-84" charset="-128"/>
              </a:rPr>
              <a:t>N</a:t>
            </a:r>
            <a:r>
              <a:rPr lang="en-US" sz="2400" dirty="0" smtClean="0">
                <a:ea typeface="ヒラギノ角ゴ Pro W3" pitchFamily="-84" charset="-128"/>
              </a:rPr>
              <a:t>) on the horizontal axis.  </a:t>
            </a:r>
          </a:p>
          <a:p>
            <a:pPr>
              <a:spcBef>
                <a:spcPts val="525"/>
              </a:spcBef>
            </a:pPr>
            <a:r>
              <a:rPr lang="en-US" sz="2400" dirty="0" smtClean="0">
                <a:ea typeface="ヒラギノ角ゴ Pro W3" pitchFamily="-84" charset="-128"/>
              </a:rPr>
              <a:t>Unemployment </a:t>
            </a:r>
            <a:r>
              <a:rPr lang="en-US" sz="2400" i="1" dirty="0" smtClean="0">
                <a:ea typeface="ヒラギノ角ゴ Pro W3" pitchFamily="-84" charset="-128"/>
              </a:rPr>
              <a:t>U </a:t>
            </a:r>
            <a:r>
              <a:rPr lang="en-US" sz="2400" dirty="0" smtClean="0">
                <a:ea typeface="ヒラギノ角ゴ Pro W3" pitchFamily="-84" charset="-128"/>
              </a:rPr>
              <a:t>is the labor force (</a:t>
            </a:r>
            <a:r>
              <a:rPr lang="en-US" sz="2400" i="1" dirty="0" smtClean="0">
                <a:ea typeface="ヒラギノ角ゴ Pro W3" pitchFamily="-84" charset="-128"/>
              </a:rPr>
              <a:t>L</a:t>
            </a:r>
            <a:r>
              <a:rPr lang="en-US" sz="2400" dirty="0" smtClean="0">
                <a:ea typeface="ヒラギノ角ゴ Pro W3" pitchFamily="-84" charset="-128"/>
              </a:rPr>
              <a:t>) minus employment </a:t>
            </a:r>
            <a:r>
              <a:rPr lang="en-US" sz="2400" i="1" dirty="0" smtClean="0">
                <a:ea typeface="ヒラギノ角ゴ Pro W3" pitchFamily="-84" charset="-128"/>
              </a:rPr>
              <a:t>N</a:t>
            </a:r>
            <a:r>
              <a:rPr lang="en-US" sz="2400" dirty="0" smtClean="0">
                <a:ea typeface="ヒラギノ角ゴ Pro W3" pitchFamily="-84" charset="-128"/>
              </a:rPr>
              <a:t>, i.e., </a:t>
            </a:r>
            <a:r>
              <a:rPr lang="en-US" sz="2400" i="1" dirty="0" smtClean="0">
                <a:ea typeface="ヒラギノ角ゴ Pro W3" pitchFamily="-84" charset="-128"/>
              </a:rPr>
              <a:t>U = L − N.</a:t>
            </a:r>
          </a:p>
          <a:p>
            <a:pPr>
              <a:spcBef>
                <a:spcPts val="525"/>
              </a:spcBef>
            </a:pPr>
            <a:endParaRPr lang="en-US" sz="2400" b="1"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cSld>
  <p:clrMapOvr>
    <a:masterClrMapping/>
  </p:clrMapOvr>
  <p:transition>
    <p:strips dir="l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sz="2400" dirty="0">
                <a:solidFill>
                  <a:srgbClr val="000000"/>
                </a:solidFill>
                <a:ea typeface="ヒラギノ角ゴ Pro W3" pitchFamily="-65" charset="-128"/>
              </a:rPr>
              <a:t>APPENDIX: Wage- and Price-Setting Relations versus Labor Supply and Labor Demand</a:t>
            </a:r>
            <a:endParaRPr lang="en-US" sz="2400" dirty="0" smtClean="0">
              <a:ea typeface="ヒラギノ角ゴ Pro W3" pitchFamily="-65" charset="-128"/>
            </a:endParaRPr>
          </a:p>
        </p:txBody>
      </p:sp>
      <p:sp>
        <p:nvSpPr>
          <p:cNvPr id="30723" name="Content Placeholder 2"/>
          <p:cNvSpPr>
            <a:spLocks noGrp="1"/>
          </p:cNvSpPr>
          <p:nvPr>
            <p:ph idx="1"/>
          </p:nvPr>
        </p:nvSpPr>
        <p:spPr>
          <a:xfrm>
            <a:off x="419100" y="1447800"/>
            <a:ext cx="8382000" cy="762000"/>
          </a:xfrm>
        </p:spPr>
        <p:txBody>
          <a:bodyPr/>
          <a:lstStyle/>
          <a:p>
            <a:pPr marL="0" indent="0">
              <a:buFontTx/>
              <a:buNone/>
            </a:pPr>
            <a:r>
              <a:rPr lang="en-US" sz="1800" b="1" dirty="0" smtClean="0">
                <a:ea typeface="ヒラギノ角ゴ Pro W3" pitchFamily="-65" charset="-128"/>
              </a:rPr>
              <a:t>Figure 1  </a:t>
            </a:r>
            <a:r>
              <a:rPr lang="en-US" sz="1800" dirty="0" smtClean="0">
                <a:ea typeface="ヒラギノ角ゴ Pro W3" pitchFamily="-65" charset="-128"/>
              </a:rPr>
              <a:t>Wage and Price Setting and the Natural Level of Employment</a:t>
            </a:r>
          </a:p>
        </p:txBody>
      </p:sp>
      <p:pic>
        <p:nvPicPr>
          <p:cNvPr id="30724" name="Picture 3" descr="AppFigure01.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447800" y="1981200"/>
            <a:ext cx="5105400" cy="43132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55283095"/>
      </p:ext>
    </p:extLst>
  </p:cSld>
  <p:clrMapOvr>
    <a:masterClrMapping/>
  </p:clrMapOvr>
  <p:transition>
    <p:strips dir="l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z="2400" dirty="0">
                <a:solidFill>
                  <a:srgbClr val="000000"/>
                </a:solidFill>
                <a:ea typeface="ヒラギノ角ゴ Pro W3" pitchFamily="-65" charset="-128"/>
              </a:rPr>
              <a:t>APPENDIX: Wage- and Price-Setting Relations versus Labor Supply and Labor Demand</a:t>
            </a:r>
            <a:endParaRPr lang="en-US" dirty="0" smtClean="0">
              <a:ea typeface="ヒラギノ角ゴ Pro W3" pitchFamily="-84" charset="-128"/>
            </a:endParaRPr>
          </a:p>
        </p:txBody>
      </p:sp>
      <p:sp>
        <p:nvSpPr>
          <p:cNvPr id="8195"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The wage-setting relation is now </a:t>
            </a:r>
            <a:r>
              <a:rPr lang="en-US" sz="2400" i="1" dirty="0" smtClean="0">
                <a:ea typeface="ヒラギノ角ゴ Pro W3" pitchFamily="-84" charset="-128"/>
              </a:rPr>
              <a:t>upward sloping</a:t>
            </a:r>
            <a:r>
              <a:rPr lang="en-US" sz="2400" dirty="0" smtClean="0">
                <a:ea typeface="ヒラギノ角ゴ Pro W3" pitchFamily="-84" charset="-128"/>
              </a:rPr>
              <a:t>: Higher employment implies a higher real wage.</a:t>
            </a:r>
          </a:p>
          <a:p>
            <a:pPr>
              <a:spcBef>
                <a:spcPts val="525"/>
              </a:spcBef>
            </a:pPr>
            <a:r>
              <a:rPr lang="en-US" sz="2400" dirty="0" smtClean="0">
                <a:ea typeface="ヒラギノ角ゴ Pro W3" pitchFamily="-84" charset="-128"/>
              </a:rPr>
              <a:t>The price-setting relation is still a horizontal line.</a:t>
            </a:r>
          </a:p>
          <a:p>
            <a:pPr>
              <a:spcBef>
                <a:spcPts val="525"/>
              </a:spcBef>
            </a:pPr>
            <a:r>
              <a:rPr lang="en-US" sz="2400" dirty="0" smtClean="0">
                <a:ea typeface="ヒラギノ角ゴ Pro W3" pitchFamily="-84" charset="-128"/>
              </a:rPr>
              <a:t>The equilibrium is given by point A, with “natural” employment </a:t>
            </a:r>
            <a:r>
              <a:rPr lang="en-US" sz="2400" i="1" dirty="0" err="1" smtClean="0">
                <a:ea typeface="ヒラギノ角ゴ Pro W3" pitchFamily="-84" charset="-128"/>
              </a:rPr>
              <a:t>N</a:t>
            </a:r>
            <a:r>
              <a:rPr lang="en-US" sz="2400" i="1" baseline="-25000" dirty="0" err="1" smtClean="0">
                <a:ea typeface="ヒラギノ角ゴ Pro W3" pitchFamily="-84" charset="-128"/>
              </a:rPr>
              <a:t>n</a:t>
            </a:r>
            <a:r>
              <a:rPr lang="en-US" sz="2400" dirty="0" smtClean="0">
                <a:ea typeface="ヒラギノ角ゴ Pro W3" pitchFamily="-84" charset="-128"/>
              </a:rPr>
              <a:t>.</a:t>
            </a:r>
          </a:p>
          <a:p>
            <a:pPr>
              <a:spcBef>
                <a:spcPts val="525"/>
              </a:spcBef>
            </a:pPr>
            <a:r>
              <a:rPr lang="en-US" sz="2400" dirty="0" smtClean="0">
                <a:ea typeface="ヒラギノ角ゴ Pro W3" pitchFamily="-84" charset="-128"/>
              </a:rPr>
              <a:t>The </a:t>
            </a:r>
            <a:r>
              <a:rPr lang="en-US" sz="2400" i="1" dirty="0" smtClean="0">
                <a:ea typeface="ヒラギノ角ゴ Pro W3" pitchFamily="-84" charset="-128"/>
              </a:rPr>
              <a:t>price-setting relation </a:t>
            </a:r>
            <a:r>
              <a:rPr lang="en-US" sz="2400" dirty="0" smtClean="0">
                <a:ea typeface="ヒラギノ角ゴ Pro W3" pitchFamily="-84" charset="-128"/>
              </a:rPr>
              <a:t>looks like a flat labor-demand relation.</a:t>
            </a:r>
          </a:p>
          <a:p>
            <a:pPr>
              <a:spcBef>
                <a:spcPts val="525"/>
              </a:spcBef>
            </a:pPr>
            <a:endParaRPr lang="en-US" sz="2400" b="1" dirty="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extLst>
      <p:ext uri="{BB962C8B-B14F-4D97-AF65-F5344CB8AC3E}">
        <p14:creationId xmlns="" xmlns:p14="http://schemas.microsoft.com/office/powerpoint/2010/main" val="1715032773"/>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2497</TotalTime>
  <Words>1795</Words>
  <Application>Microsoft Office PowerPoint</Application>
  <PresentationFormat>On-screen Show (4:3)</PresentationFormat>
  <Paragraphs>159</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template_LN01Brooks671956_02_LN01</vt:lpstr>
      <vt:lpstr>The Labor Market</vt:lpstr>
      <vt:lpstr>Chapter 7 Outline</vt:lpstr>
      <vt:lpstr>The Labor Market</vt:lpstr>
      <vt:lpstr>7-1 A Tour of the Labor Market</vt:lpstr>
      <vt:lpstr>7-1 A Tour of the Labor Market</vt:lpstr>
      <vt:lpstr>7-1 A Tour of the Labor Market</vt:lpstr>
      <vt:lpstr>7-1 A Tour of the Labor Market</vt:lpstr>
      <vt:lpstr>FOCUS: The Australian Monthly Population Survey</vt:lpstr>
      <vt:lpstr>7-2 Movements in Unemployment</vt:lpstr>
      <vt:lpstr>7-2 Movements in Unemployment</vt:lpstr>
      <vt:lpstr>7-2 Movements in Unemployment</vt:lpstr>
      <vt:lpstr>7-2 Movements in Unemployment</vt:lpstr>
      <vt:lpstr>7-3 Wage Determination</vt:lpstr>
      <vt:lpstr>7-3 Wage Determination</vt:lpstr>
      <vt:lpstr>7-3 Wage Determination</vt:lpstr>
      <vt:lpstr>FOCUS: Henry Ford and Efficiency Wages</vt:lpstr>
      <vt:lpstr>7-3 Wage Determination</vt:lpstr>
      <vt:lpstr>7-3 Wage Determination</vt:lpstr>
      <vt:lpstr>7-3 Wage Determination</vt:lpstr>
      <vt:lpstr>7-4 Price Determination</vt:lpstr>
      <vt:lpstr>7-4 Price Determination</vt:lpstr>
      <vt:lpstr>7-5 The Natural Rate of Unemployment</vt:lpstr>
      <vt:lpstr>7-5 The Natural Rate of Unemployment</vt:lpstr>
      <vt:lpstr>7-5 The Natural Rate of Unemployment</vt:lpstr>
      <vt:lpstr>7-5 The Natural Rate of Unemployment</vt:lpstr>
      <vt:lpstr>7-5 The Natural Rate of Unemployment</vt:lpstr>
      <vt:lpstr>7-5 The Natural Rate of Unemployment</vt:lpstr>
      <vt:lpstr>7-6 Where We Go from Here</vt:lpstr>
      <vt:lpstr>APPENDIX: Wage- and Price-Setting Relations versus Labor Supply and Labor Demand</vt:lpstr>
      <vt:lpstr>APPENDIX: Wage- and Price-Setting Relations versus Labor Supply and Labor Demand</vt:lpstr>
      <vt:lpstr>APPENDIX: Wage- and Price-Setting Relations versus Labor Supply and Labor Demand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Paromita</cp:lastModifiedBy>
  <cp:revision>142</cp:revision>
  <dcterms:created xsi:type="dcterms:W3CDTF">2012-08-09T20:37:31Z</dcterms:created>
  <dcterms:modified xsi:type="dcterms:W3CDTF">2016-10-06T04:25:49Z</dcterms:modified>
</cp:coreProperties>
</file>