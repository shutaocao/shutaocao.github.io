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2"/>
  </p:notesMasterIdLst>
  <p:sldIdLst>
    <p:sldId id="256" r:id="rId2"/>
    <p:sldId id="269" r:id="rId3"/>
    <p:sldId id="268" r:id="rId4"/>
    <p:sldId id="270" r:id="rId5"/>
    <p:sldId id="310" r:id="rId6"/>
    <p:sldId id="311" r:id="rId7"/>
    <p:sldId id="312" r:id="rId8"/>
    <p:sldId id="314" r:id="rId9"/>
    <p:sldId id="313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8" r:id="rId22"/>
    <p:sldId id="327" r:id="rId23"/>
    <p:sldId id="326" r:id="rId24"/>
    <p:sldId id="329" r:id="rId25"/>
    <p:sldId id="330" r:id="rId26"/>
    <p:sldId id="331" r:id="rId27"/>
    <p:sldId id="333" r:id="rId28"/>
    <p:sldId id="334" r:id="rId29"/>
    <p:sldId id="335" r:id="rId30"/>
    <p:sldId id="336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599D"/>
    <a:srgbClr val="BBE5FB"/>
    <a:srgbClr val="BFDC42"/>
    <a:srgbClr val="D8F2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29"/>
    <p:restoredTop sz="94690"/>
  </p:normalViewPr>
  <p:slideViewPr>
    <p:cSldViewPr>
      <p:cViewPr varScale="1">
        <p:scale>
          <a:sx n="62" d="100"/>
          <a:sy n="62" d="100"/>
        </p:scale>
        <p:origin x="-96" y="-1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358A83D-3E8E-422B-A1C7-AED542456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106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ヒラギノ角ゴ Pro W3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BBE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599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Verdana" panose="020B0604030504040204" pitchFamily="34" charset="0"/>
            </a:endParaRPr>
          </a:p>
        </p:txBody>
      </p:sp>
      <p:pic>
        <p:nvPicPr>
          <p:cNvPr id="3" name="Picture 3" descr="Pearson_Bound_Whi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38" y="6356350"/>
            <a:ext cx="165576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Pearson_Strap_Bound_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9081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205590" cy="6400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4108721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771439"/>
      </p:ext>
    </p:extLst>
  </p:cSld>
  <p:clrMapOvr>
    <a:masterClrMapping/>
  </p:clrMapOvr>
  <p:transition>
    <p:strips dir="l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352075451"/>
      </p:ext>
    </p:extLst>
  </p:cSld>
  <p:clrMapOvr>
    <a:masterClrMapping/>
  </p:clrMapOvr>
  <p:transition>
    <p:strips dir="l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50072493"/>
      </p:ext>
    </p:extLst>
  </p:cSld>
  <p:clrMapOvr>
    <a:masterClrMapping/>
  </p:clrMapOvr>
  <p:transition>
    <p:strips dir="l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87435220"/>
      </p:ext>
    </p:extLst>
  </p:cSld>
  <p:clrMapOvr>
    <a:masterClrMapping/>
  </p:clrMapOvr>
  <p:transition>
    <p:strips dir="l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4062720"/>
      </p:ext>
    </p:extLst>
  </p:cSld>
  <p:clrMapOvr>
    <a:masterClrMapping/>
  </p:clrMapOvr>
  <p:transition>
    <p:strips dir="l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750255790"/>
      </p:ext>
    </p:extLst>
  </p:cSld>
  <p:clrMapOvr>
    <a:masterClrMapping/>
  </p:clrMapOvr>
  <p:transition>
    <p:strips dir="l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884679804"/>
      </p:ext>
    </p:extLst>
  </p:cSld>
  <p:clrMapOvr>
    <a:masterClrMapping/>
  </p:clrMapOvr>
  <p:transition>
    <p:strips dir="l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3337429884"/>
      </p:ext>
    </p:extLst>
  </p:cSld>
  <p:clrMapOvr>
    <a:masterClrMapping/>
  </p:clrMapOvr>
  <p:transition>
    <p:strips dir="l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38792299"/>
      </p:ext>
    </p:extLst>
  </p:cSld>
  <p:clrMapOvr>
    <a:masterClrMapping/>
  </p:clrMapOvr>
  <p:transition>
    <p:strips dir="l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1145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1912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5461388"/>
      </p:ext>
    </p:extLst>
  </p:cSld>
  <p:clrMapOvr>
    <a:masterClrMapping/>
  </p:clrMapOvr>
  <p:transition>
    <p:strips dir="l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fld id="{EF38A850-ADD0-4F7D-99F1-C19676CE30E4}" type="datetime1">
              <a:rPr lang="en-US"/>
              <a:pPr>
                <a:defRPr/>
              </a:pPr>
              <a:t>10/6/2016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r>
              <a:rPr lang="en-US"/>
              <a:t>Copyright © 2013 Pearson Education, Inc.</a:t>
            </a:r>
          </a:p>
          <a:p>
            <a:pPr>
              <a:defRPr/>
            </a:pPr>
            <a:r>
              <a:rPr lang="en-US"/>
              <a:t>Publishing as Prentice Hall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2A68BFA4-ED51-4D11-92C9-125F6EFF37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78001293"/>
      </p:ext>
    </p:extLst>
  </p:cSld>
  <p:clrMapOvr>
    <a:masterClrMapping/>
  </p:clrMapOvr>
  <p:transition>
    <p:strips dir="ld"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60A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gray">
          <a:xfrm>
            <a:off x="381000" y="6577013"/>
            <a:ext cx="53990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US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Copyright ©2017 Pearson Education, Ltd. All rights reserved.</a:t>
            </a:r>
            <a:endParaRPr lang="en-GB" sz="900" dirty="0" smtClean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29" name="Rectangle 7"/>
          <p:cNvSpPr>
            <a:spLocks noChangeArrowheads="1"/>
          </p:cNvSpPr>
          <p:nvPr/>
        </p:nvSpPr>
        <p:spPr bwMode="gray">
          <a:xfrm>
            <a:off x="8402638" y="6577013"/>
            <a:ext cx="3603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6-</a:t>
            </a:r>
            <a:fld id="{604DE8C7-66CF-465F-9818-9F61582FDCEB}" type="slidenum">
              <a:rPr lang="en-GB" sz="900" smtClean="0">
                <a:solidFill>
                  <a:schemeClr val="bg1"/>
                </a:solidFill>
                <a:latin typeface="Verdana" panose="020B0604030504040204" pitchFamily="34" charset="0"/>
              </a:rPr>
              <a:pPr>
                <a:defRPr/>
              </a:pPr>
              <a:t>‹#›</a:t>
            </a:fld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40" r:id="rId12"/>
  </p:sldLayoutIdLst>
  <p:transition>
    <p:strips dir="ld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ヒラギノ角ゴ Pro W3" pitchFamily="-1" charset="-128"/>
          <a:cs typeface="ヒラギノ角ゴ Pro W3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ヒラギノ角ゴ Pro W3" pitchFamily="-1" charset="-128"/>
          <a:cs typeface="ヒラギノ角ゴ Pro W3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ヒラギノ角ゴ Pro W3" pitchFamily="-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ヒラギノ角ゴ Pro W3" pitchFamily="-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pitchFamily="-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257800" y="1600200"/>
            <a:ext cx="3810000" cy="2057400"/>
          </a:xfrm>
        </p:spPr>
        <p:txBody>
          <a:bodyPr/>
          <a:lstStyle/>
          <a:p>
            <a:pPr algn="ctr" eaLnBrk="1" hangingPunct="1"/>
            <a:r>
              <a:rPr lang="en-US" sz="2800" dirty="0" smtClean="0">
                <a:ea typeface="ヒラギノ角ゴ Pro W3" pitchFamily="-84" charset="-128"/>
              </a:rPr>
              <a:t>Financial Markets II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953000" y="3886200"/>
            <a:ext cx="4191000" cy="1752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 smtClean="0">
                <a:ea typeface="ヒラギノ角ゴ Pro W3" pitchFamily="-84" charset="-128"/>
              </a:rPr>
              <a:t>Chapter 6</a:t>
            </a:r>
          </a:p>
        </p:txBody>
      </p:sp>
    </p:spTree>
  </p:cSld>
  <p:clrMapOvr>
    <a:masterClrMapping/>
  </p:clrMapOvr>
  <p:transition>
    <p:strips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Chapter 6 Outline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1295400"/>
            <a:ext cx="83820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ヒラギノ角ゴ Pro W3" pitchFamily="-1" charset="-128"/>
                <a:cs typeface="ヒラギノ角ゴ Pro W3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9pPr>
          </a:lstStyle>
          <a:p>
            <a:pPr marL="1714500" indent="-1714500" eaLnBrk="1" hangingPunct="1">
              <a:buFontTx/>
              <a:buNone/>
              <a:defRPr/>
            </a:pPr>
            <a:r>
              <a:rPr lang="en-US" sz="2400" b="1" kern="0" dirty="0" smtClean="0">
                <a:ea typeface="ヒラギノ角ゴ Pro W3" pitchFamily="-84" charset="-128"/>
              </a:rPr>
              <a:t>Financial Markets II</a:t>
            </a:r>
          </a:p>
          <a:p>
            <a:pPr marL="1714500" indent="-1714500" eaLnBrk="1" hangingPunct="1">
              <a:buFontTx/>
              <a:buNone/>
              <a:defRPr/>
            </a:pPr>
            <a:endParaRPr lang="en-US" sz="2400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6-1	Nominal versus Real Interest Rates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6-2	Risk and Risk </a:t>
            </a:r>
            <a:r>
              <a:rPr lang="en-US" sz="2400" kern="0" dirty="0" err="1" smtClean="0">
                <a:ea typeface="ヒラギノ角ゴ Pro W3" pitchFamily="-84" charset="-128"/>
              </a:rPr>
              <a:t>Premia</a:t>
            </a:r>
            <a:endParaRPr lang="en-US" sz="2400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6-3	The Role of Financial Intermediaries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6-4	Extending the IS-LM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6-5	From a Housing Problem to a Financial Crisis</a:t>
            </a:r>
          </a:p>
        </p:txBody>
      </p:sp>
    </p:spTree>
  </p:cSld>
  <p:clrMapOvr>
    <a:masterClrMapping/>
  </p:clrMapOvr>
  <p:transition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Financial Markets II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Until now, we assumed that there were only two financial assets—money and bonds—and just one interest rate—the rate on bonds—determined by monetary policy.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financial system also plays a major role in the economy.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This chapter looks more closely at the role of the financial system and its macroeconomic implications.</a:t>
            </a:r>
          </a:p>
        </p:txBody>
      </p:sp>
    </p:spTree>
  </p:cSld>
  <p:clrMapOvr>
    <a:masterClrMapping/>
  </p:clrMapOvr>
  <p:transition>
    <p:strips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6-1 Nominal versus Real Interest Rates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b="1" dirty="0" smtClean="0">
                <a:ea typeface="ヒラギノ角ゴ Pro W3" pitchFamily="-84" charset="-128"/>
              </a:rPr>
              <a:t>Nominal interest rate </a:t>
            </a:r>
            <a:r>
              <a:rPr lang="en-US" sz="2400" dirty="0" smtClean="0">
                <a:ea typeface="ヒラギノ角ゴ Pro W3" pitchFamily="-84" charset="-128"/>
              </a:rPr>
              <a:t>is the interest rate in terms of dollars.</a:t>
            </a:r>
          </a:p>
          <a:p>
            <a:pPr>
              <a:spcBef>
                <a:spcPts val="525"/>
              </a:spcBef>
            </a:pPr>
            <a:r>
              <a:rPr lang="en-US" sz="2400" b="1" dirty="0" smtClean="0">
                <a:ea typeface="ヒラギノ角ゴ Pro W3" pitchFamily="-84" charset="-128"/>
              </a:rPr>
              <a:t>Real interest rate </a:t>
            </a:r>
            <a:r>
              <a:rPr lang="en-US" sz="2400" dirty="0" smtClean="0">
                <a:ea typeface="ヒラギノ角ゴ Pro W3" pitchFamily="-84" charset="-128"/>
              </a:rPr>
              <a:t>is the interest rate in terms of a basket of goods.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We must adjust the nominal interest rate to take into account expected inflation.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84" charset="-128"/>
              </a:rPr>
              <a:t>6-1 Nominal versus Real Interest Rates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65760" y="1600200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6-1  </a:t>
            </a:r>
            <a:r>
              <a:rPr lang="en-US" sz="1800" dirty="0" smtClean="0"/>
              <a:t>Definition and Derivation of the Real Interest Rate</a:t>
            </a:r>
            <a:endParaRPr 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0" y="2089275"/>
            <a:ext cx="5486400" cy="397432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3943087"/>
      </p:ext>
    </p:extLst>
  </p:cSld>
  <p:clrMapOvr>
    <a:masterClrMapping/>
  </p:clrMapOvr>
  <p:transition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6-1 Nominal versus Real Interest Rates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One-year real interest rate </a:t>
            </a:r>
            <a:r>
              <a:rPr lang="en-US" sz="2600" i="1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r</a:t>
            </a:r>
            <a:r>
              <a:rPr lang="en-US" sz="2600" i="1" baseline="-25000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</a:p>
          <a:p>
            <a:pPr>
              <a:spcBef>
                <a:spcPts val="525"/>
              </a:spcBef>
            </a:pPr>
            <a:endParaRPr lang="en-US" sz="2400" b="1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b="1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Denote expected inflation between </a:t>
            </a:r>
            <a:r>
              <a:rPr lang="en-US" sz="2400" i="1" dirty="0" smtClean="0">
                <a:ea typeface="ヒラギノ角ゴ Pro W3" pitchFamily="-84" charset="-128"/>
              </a:rPr>
              <a:t>t</a:t>
            </a:r>
            <a:r>
              <a:rPr lang="en-US" sz="2400" dirty="0" smtClean="0">
                <a:ea typeface="ヒラギノ角ゴ Pro W3" pitchFamily="-84" charset="-128"/>
              </a:rPr>
              <a:t> and </a:t>
            </a:r>
            <a:r>
              <a:rPr lang="en-US" sz="2400" i="1" dirty="0" smtClean="0">
                <a:ea typeface="ヒラギノ角ゴ Pro W3" pitchFamily="-84" charset="-128"/>
              </a:rPr>
              <a:t>t</a:t>
            </a:r>
            <a:r>
              <a:rPr lang="en-US" sz="2400" dirty="0" smtClean="0">
                <a:ea typeface="ヒラギノ角ゴ Pro W3" pitchFamily="-84" charset="-128"/>
              </a:rPr>
              <a:t> + 1 by: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   so that equation (6.1) becomes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5869" y="1858791"/>
            <a:ext cx="7527131" cy="8562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20661" y="3429000"/>
            <a:ext cx="7505468" cy="847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64957" y="4951612"/>
            <a:ext cx="7198043" cy="8486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88466807"/>
      </p:ext>
    </p:extLst>
  </p:cSld>
  <p:clrMapOvr>
    <a:masterClrMapping/>
  </p:clrMapOvr>
  <p:transition>
    <p:strips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6-1 Nominal versus Real Interest Rates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If the nominal interest rate and expected inflation are not too large, a close approximately to equation (6.3) is:</a:t>
            </a:r>
          </a:p>
          <a:p>
            <a:pPr>
              <a:spcBef>
                <a:spcPts val="525"/>
              </a:spcBef>
            </a:pPr>
            <a:endParaRPr lang="en-US" sz="2400" b="1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b="1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When expected inflation equals zero, the nominal interest rate and the real interest rate are equal.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Because expected inflation is typically positive, the real interest rate is typically lower than the nominal interest rate.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For a given nominal interest rate, the higher expected inflation, the lower the real interest rate.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0643" y="2618678"/>
            <a:ext cx="7317105" cy="32861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75029617"/>
      </p:ext>
    </p:extLst>
  </p:cSld>
  <p:clrMapOvr>
    <a:masterClrMapping/>
  </p:clrMapOvr>
  <p:transition>
    <p:strips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6-1 Nominal versus Real Interest Rates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real interest rate (1 − </a:t>
            </a:r>
            <a:r>
              <a:rPr lang="el-GR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i="1" baseline="30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e</a:t>
            </a:r>
            <a:r>
              <a:rPr lang="en-US" sz="2400" dirty="0" smtClean="0">
                <a:ea typeface="ヒラギノ角ゴ Pro W3" pitchFamily="-84" charset="-128"/>
              </a:rPr>
              <a:t>) is based on expected inflation, so it is sometimes called the </a:t>
            </a:r>
            <a:r>
              <a:rPr lang="en-US" sz="2400" i="1" dirty="0" smtClean="0">
                <a:ea typeface="ヒラギノ角ゴ Pro W3" pitchFamily="-84" charset="-128"/>
              </a:rPr>
              <a:t>ex-ante</a:t>
            </a:r>
            <a:r>
              <a:rPr lang="en-US" sz="2400" dirty="0" smtClean="0">
                <a:ea typeface="ヒラギノ角ゴ Pro W3" pitchFamily="-84" charset="-128"/>
              </a:rPr>
              <a:t> (“before </a:t>
            </a:r>
            <a:r>
              <a:rPr lang="en-US" sz="2400" dirty="0">
                <a:ea typeface="ヒラギノ角ゴ Pro W3" pitchFamily="-84" charset="-128"/>
              </a:rPr>
              <a:t>the fact”) </a:t>
            </a:r>
            <a:r>
              <a:rPr lang="en-US" sz="2400" i="1" dirty="0" smtClean="0">
                <a:ea typeface="ヒラギノ角ゴ Pro W3" pitchFamily="-84" charset="-128"/>
              </a:rPr>
              <a:t>real interest rate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realized real </a:t>
            </a:r>
            <a:r>
              <a:rPr lang="en-US" sz="2400" dirty="0">
                <a:ea typeface="ヒラギノ角ゴ Pro W3" pitchFamily="-84" charset="-128"/>
              </a:rPr>
              <a:t>interest rate (1 − </a:t>
            </a:r>
            <a:r>
              <a:rPr lang="el-GR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2400" dirty="0" smtClean="0">
                <a:ea typeface="ヒラギノ角ゴ Pro W3" pitchFamily="-84" charset="-128"/>
              </a:rPr>
              <a:t>) is called the </a:t>
            </a:r>
            <a:r>
              <a:rPr lang="en-US" sz="2400" i="1" dirty="0" smtClean="0">
                <a:ea typeface="ヒラギノ角ゴ Pro W3" pitchFamily="-84" charset="-128"/>
              </a:rPr>
              <a:t>ex-post</a:t>
            </a:r>
            <a:r>
              <a:rPr lang="en-US" sz="2400" dirty="0" smtClean="0">
                <a:ea typeface="ヒラギノ角ゴ Pro W3" pitchFamily="-84" charset="-128"/>
              </a:rPr>
              <a:t> (“after the fact”) </a:t>
            </a:r>
            <a:r>
              <a:rPr lang="en-US" sz="2400" i="1" dirty="0" smtClean="0">
                <a:ea typeface="ヒラギノ角ゴ Pro W3" pitchFamily="-84" charset="-128"/>
              </a:rPr>
              <a:t>interest rate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interest rate that enters the </a:t>
            </a:r>
            <a:r>
              <a:rPr lang="en-US" sz="2400" i="1" dirty="0" smtClean="0">
                <a:ea typeface="ヒラギノ角ゴ Pro W3" pitchFamily="-84" charset="-128"/>
              </a:rPr>
              <a:t>IS</a:t>
            </a:r>
            <a:r>
              <a:rPr lang="en-US" sz="2400" dirty="0" smtClean="0">
                <a:ea typeface="ヒラギノ角ゴ Pro W3" pitchFamily="-84" charset="-128"/>
              </a:rPr>
              <a:t> relation is the real interest rate.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zero lower bond of the nominal interest rate implies that the real interest rate cannot be lower than the negative of inflation.</a:t>
            </a:r>
          </a:p>
        </p:txBody>
      </p:sp>
    </p:spTree>
    <p:extLst>
      <p:ext uri="{BB962C8B-B14F-4D97-AF65-F5344CB8AC3E}">
        <p14:creationId xmlns="" xmlns:p14="http://schemas.microsoft.com/office/powerpoint/2010/main" val="2832280030"/>
      </p:ext>
    </p:extLst>
  </p:cSld>
  <p:clrMapOvr>
    <a:masterClrMapping/>
  </p:clrMapOvr>
  <p:transition>
    <p:strips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84" charset="-128"/>
              </a:rPr>
              <a:t>6-1 Nominal versus Real Interest Rates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74469" y="1410745"/>
            <a:ext cx="838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6-2  </a:t>
            </a:r>
            <a:r>
              <a:rPr lang="en-US" sz="1800" dirty="0" smtClean="0"/>
              <a:t>Nominal and Real One-Year T-Bill Rates in the United States since 1978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95963" y="1942520"/>
            <a:ext cx="6073420" cy="3613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4664" y="3276600"/>
            <a:ext cx="1956453" cy="188595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19100" y="5579769"/>
            <a:ext cx="8382000" cy="796339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The nominal interest rate has declined considerably since the early 1980s, but because expected inflation has declined as well, the real rate has declined much less than the nominal rate.</a:t>
            </a:r>
          </a:p>
          <a:p>
            <a:pPr>
              <a:spcBef>
                <a:spcPts val="525"/>
              </a:spcBef>
            </a:pPr>
            <a:endParaRPr lang="en-US" sz="16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7514669"/>
      </p:ext>
    </p:extLst>
  </p:cSld>
  <p:clrMapOvr>
    <a:masterClrMapping/>
  </p:clrMapOvr>
  <p:transition>
    <p:strips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6-1 Nominal versus Real Interest Rates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Some bonds are risky, so bond holders require a risk premium.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Let </a:t>
            </a:r>
            <a:r>
              <a:rPr lang="en-US" sz="2400" i="1" dirty="0" err="1" smtClean="0">
                <a:ea typeface="ヒラギノ角ゴ Pro W3" pitchFamily="-84" charset="-128"/>
              </a:rPr>
              <a:t>i</a:t>
            </a:r>
            <a:r>
              <a:rPr lang="en-US" sz="2400" dirty="0" smtClean="0">
                <a:ea typeface="ヒラギノ角ゴ Pro W3" pitchFamily="-84" charset="-128"/>
              </a:rPr>
              <a:t> be the nominal interest rate on a riskless bond, </a:t>
            </a:r>
            <a:r>
              <a:rPr lang="en-US" sz="2400" i="1" dirty="0" smtClean="0">
                <a:ea typeface="ヒラギノ角ゴ Pro W3" pitchFamily="-84" charset="-128"/>
              </a:rPr>
              <a:t>x</a:t>
            </a:r>
            <a:r>
              <a:rPr lang="en-US" sz="2400" dirty="0" smtClean="0">
                <a:ea typeface="ヒラギノ角ゴ Pro W3" pitchFamily="-84" charset="-128"/>
              </a:rPr>
              <a:t> be the risk premium, and </a:t>
            </a:r>
            <a:r>
              <a:rPr lang="en-US" sz="2400" i="1" dirty="0" smtClean="0">
                <a:ea typeface="ヒラギノ角ゴ Pro W3" pitchFamily="-84" charset="-128"/>
              </a:rPr>
              <a:t>p</a:t>
            </a:r>
            <a:r>
              <a:rPr lang="en-US" sz="2400" dirty="0" smtClean="0">
                <a:ea typeface="ヒラギノ角ゴ Pro W3" pitchFamily="-84" charset="-128"/>
              </a:rPr>
              <a:t> is the probability of defaulting, then to get the same expected return on the risky bonds as on the riskless bond: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   (1 + </a:t>
            </a:r>
            <a:r>
              <a:rPr lang="en-US" sz="2400" i="1" dirty="0" err="1" smtClean="0">
                <a:ea typeface="ヒラギノ角ゴ Pro W3" pitchFamily="-84" charset="-128"/>
              </a:rPr>
              <a:t>i</a:t>
            </a:r>
            <a:r>
              <a:rPr lang="en-US" sz="2400" dirty="0" smtClean="0">
                <a:ea typeface="ヒラギノ角ゴ Pro W3" pitchFamily="-84" charset="-128"/>
              </a:rPr>
              <a:t>) = (1 – </a:t>
            </a:r>
            <a:r>
              <a:rPr lang="en-US" sz="2400" i="1" dirty="0" smtClean="0">
                <a:ea typeface="ヒラギノ角ゴ Pro W3" pitchFamily="-84" charset="-128"/>
              </a:rPr>
              <a:t>p</a:t>
            </a:r>
            <a:r>
              <a:rPr lang="en-US" sz="2400" dirty="0" smtClean="0">
                <a:ea typeface="ヒラギノ角ゴ Pro W3" pitchFamily="-84" charset="-128"/>
              </a:rPr>
              <a:t>)(1 + </a:t>
            </a:r>
            <a:r>
              <a:rPr lang="en-US" sz="2400" i="1" dirty="0" err="1" smtClean="0">
                <a:ea typeface="ヒラギノ角ゴ Pro W3" pitchFamily="-84" charset="-128"/>
              </a:rPr>
              <a:t>i</a:t>
            </a:r>
            <a:r>
              <a:rPr lang="en-US" sz="2400" dirty="0" smtClean="0">
                <a:ea typeface="ヒラギノ角ゴ Pro W3" pitchFamily="-84" charset="-128"/>
              </a:rPr>
              <a:t> + </a:t>
            </a:r>
            <a:r>
              <a:rPr lang="en-US" sz="2400" i="1" dirty="0" smtClean="0">
                <a:ea typeface="ヒラギノ角ゴ Pro W3" pitchFamily="-84" charset="-128"/>
              </a:rPr>
              <a:t>x</a:t>
            </a:r>
            <a:r>
              <a:rPr lang="en-US" sz="2400" dirty="0" smtClean="0">
                <a:ea typeface="ヒラギノ角ゴ Pro W3" pitchFamily="-84" charset="-128"/>
              </a:rPr>
              <a:t>) + (</a:t>
            </a:r>
            <a:r>
              <a:rPr lang="en-US" sz="2400" i="1" dirty="0" smtClean="0">
                <a:ea typeface="ヒラギノ角ゴ Pro W3" pitchFamily="-84" charset="-128"/>
              </a:rPr>
              <a:t>p</a:t>
            </a:r>
            <a:r>
              <a:rPr lang="en-US" sz="2400" dirty="0" smtClean="0">
                <a:ea typeface="ヒラギノ角ゴ Pro W3" pitchFamily="-84" charset="-128"/>
              </a:rPr>
              <a:t>)(0)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ea typeface="ヒラギノ角ゴ Pro W3" pitchFamily="-84" charset="-128"/>
              </a:rPr>
              <a:t> </a:t>
            </a:r>
            <a:r>
              <a:rPr lang="en-US" sz="2400" dirty="0" smtClean="0">
                <a:ea typeface="ヒラギノ角ゴ Pro W3" pitchFamily="-84" charset="-128"/>
              </a:rPr>
              <a:t>  so that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sz="2400" i="1" dirty="0" smtClean="0">
                <a:ea typeface="ヒラギノ角ゴ Pro W3" pitchFamily="-84" charset="-128"/>
              </a:rPr>
              <a:t>   x</a:t>
            </a:r>
            <a:r>
              <a:rPr lang="en-US" sz="2400" dirty="0" smtClean="0">
                <a:ea typeface="ヒラギノ角ゴ Pro W3" pitchFamily="-84" charset="-128"/>
              </a:rPr>
              <a:t> = (1 + </a:t>
            </a:r>
            <a:r>
              <a:rPr lang="en-US" sz="2400" i="1" dirty="0" err="1" smtClean="0">
                <a:ea typeface="ヒラギノ角ゴ Pro W3" pitchFamily="-84" charset="-128"/>
              </a:rPr>
              <a:t>i</a:t>
            </a:r>
            <a:r>
              <a:rPr lang="en-US" sz="2400" dirty="0" smtClean="0">
                <a:ea typeface="ヒラギノ角ゴ Pro W3" pitchFamily="-84" charset="-128"/>
              </a:rPr>
              <a:t>)</a:t>
            </a:r>
            <a:r>
              <a:rPr lang="en-US" sz="2400" i="1" dirty="0" smtClean="0">
                <a:ea typeface="ヒラギノ角ゴ Pro W3" pitchFamily="-84" charset="-128"/>
              </a:rPr>
              <a:t>p</a:t>
            </a:r>
            <a:r>
              <a:rPr lang="en-US" sz="2400" dirty="0" smtClean="0">
                <a:ea typeface="ヒラギノ角ゴ Pro W3" pitchFamily="-84" charset="-128"/>
              </a:rPr>
              <a:t> / (1 – </a:t>
            </a:r>
            <a:r>
              <a:rPr lang="en-US" sz="2400" i="1" dirty="0" smtClean="0">
                <a:ea typeface="ヒラギノ角ゴ Pro W3" pitchFamily="-84" charset="-128"/>
              </a:rPr>
              <a:t>p</a:t>
            </a:r>
            <a:r>
              <a:rPr lang="en-US" sz="2400" dirty="0" smtClean="0">
                <a:ea typeface="ヒラギノ角ゴ Pro W3" pitchFamily="-84" charset="-128"/>
              </a:rPr>
              <a:t>)</a:t>
            </a:r>
          </a:p>
        </p:txBody>
      </p:sp>
    </p:spTree>
    <p:extLst>
      <p:ext uri="{BB962C8B-B14F-4D97-AF65-F5344CB8AC3E}">
        <p14:creationId xmlns="" xmlns:p14="http://schemas.microsoft.com/office/powerpoint/2010/main" val="259792131"/>
      </p:ext>
    </p:extLst>
  </p:cSld>
  <p:clrMapOvr>
    <a:masterClrMapping/>
  </p:clrMapOvr>
  <p:transition>
    <p:strips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84" charset="-128"/>
              </a:rPr>
              <a:t>6-2 Risk and Risk </a:t>
            </a:r>
            <a:r>
              <a:rPr lang="en-US" dirty="0" err="1">
                <a:ea typeface="ヒラギノ角ゴ Pro W3" pitchFamily="-84" charset="-128"/>
              </a:rPr>
              <a:t>Premia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Some bonds are risky, so bond holders require a risk premium.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Risk </a:t>
            </a:r>
            <a:r>
              <a:rPr lang="en-US" sz="2400" dirty="0" err="1" smtClean="0">
                <a:ea typeface="ヒラギノ角ゴ Pro W3" pitchFamily="-84" charset="-128"/>
              </a:rPr>
              <a:t>premia</a:t>
            </a:r>
            <a:r>
              <a:rPr lang="en-US" sz="2400" dirty="0" smtClean="0">
                <a:ea typeface="ヒラギノ角ゴ Pro W3" pitchFamily="-84" charset="-128"/>
              </a:rPr>
              <a:t> are determined by:</a:t>
            </a:r>
          </a:p>
          <a:p>
            <a:pPr lvl="1"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The probability of default</a:t>
            </a:r>
          </a:p>
          <a:p>
            <a:pPr lvl="1"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The degree of </a:t>
            </a:r>
            <a:r>
              <a:rPr lang="en-US" sz="2200" b="1" dirty="0" smtClean="0">
                <a:ea typeface="ヒラギノ角ゴ Pro W3" pitchFamily="-84" charset="-128"/>
              </a:rPr>
              <a:t>risk aversion </a:t>
            </a:r>
            <a:r>
              <a:rPr lang="en-US" sz="2200" dirty="0" smtClean="0">
                <a:ea typeface="ヒラギノ角ゴ Pro W3" pitchFamily="-84" charset="-128"/>
              </a:rPr>
              <a:t>of bond holders</a:t>
            </a:r>
          </a:p>
        </p:txBody>
      </p:sp>
    </p:spTree>
    <p:extLst>
      <p:ext uri="{BB962C8B-B14F-4D97-AF65-F5344CB8AC3E}">
        <p14:creationId xmlns="" xmlns:p14="http://schemas.microsoft.com/office/powerpoint/2010/main" val="2212649255"/>
      </p:ext>
    </p:extLst>
  </p:cSld>
  <p:clrMapOvr>
    <a:masterClrMapping/>
  </p:clrMapOvr>
  <p:transition>
    <p:strips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6-2 Risk and Risk </a:t>
            </a:r>
            <a:r>
              <a:rPr lang="en-US" dirty="0" err="1" smtClean="0">
                <a:ea typeface="ヒラギノ角ゴ Pro W3" pitchFamily="-84" charset="-128"/>
              </a:rPr>
              <a:t>Premia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282167" y="1378089"/>
            <a:ext cx="838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6-3  </a:t>
            </a:r>
            <a:r>
              <a:rPr lang="en-US" sz="1800" dirty="0" smtClean="0"/>
              <a:t>Yields on 10-Year U.S. Government Treasury, AAA, and BBB Corporate Bonds, since 2000</a:t>
            </a:r>
            <a:endParaRPr lang="en-US" sz="1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65760" y="2362200"/>
            <a:ext cx="2007553" cy="18288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In September 2008, the financial crisis led to a sharp increase in the rates at which firms could borrow.</a:t>
            </a:r>
          </a:p>
          <a:p>
            <a:pPr>
              <a:spcBef>
                <a:spcPts val="525"/>
              </a:spcBef>
            </a:pPr>
            <a:endParaRPr lang="en-US" sz="1600" dirty="0" smtClean="0">
              <a:ea typeface="ヒラギノ角ゴ Pro W3" pitchFamily="-8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3200" y="2114278"/>
            <a:ext cx="6004078" cy="34009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5230" y="4799453"/>
            <a:ext cx="2095500" cy="7048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96903269"/>
      </p:ext>
    </p:extLst>
  </p:cSld>
  <p:clrMapOvr>
    <a:masterClrMapping/>
  </p:clrMapOvr>
  <p:transition>
    <p:strips dir="l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6-3 The Role of Financial Intermediaries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Until now, we have looked at direct finance—borrowing directly by the ultimate borrowers from the ultimate lenders.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In fact, much of the borrowing and lending takes place through financial intermediaries—financial institutions that receive funds from investors and then lend these funds to others.</a:t>
            </a:r>
            <a:endParaRPr lang="en-US" sz="22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90118537"/>
      </p:ext>
    </p:extLst>
  </p:cSld>
  <p:clrMapOvr>
    <a:masterClrMapping/>
  </p:clrMapOvr>
  <p:transition>
    <p:strips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ヒラギノ角ゴ Pro W3" pitchFamily="-84" charset="-128"/>
              </a:rPr>
              <a:t>6-3 The Role of Financial Intermediaries</a:t>
            </a:r>
            <a:endParaRPr lang="en-US" sz="28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81000" y="1325574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6-4  </a:t>
            </a:r>
            <a:r>
              <a:rPr lang="en-US" sz="1800" dirty="0" smtClean="0"/>
              <a:t>Bank Assets, Capital, and Liabilities</a:t>
            </a:r>
            <a:endParaRPr lang="en-US" sz="1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4267200"/>
            <a:ext cx="8382000" cy="22098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Capital ratio (the ratio of capital to assets) = 20/100 = 20%</a:t>
            </a:r>
          </a:p>
          <a:p>
            <a:pPr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Leverage ratio (the ratio of assets to capital) = 100/20 = 5</a:t>
            </a:r>
          </a:p>
          <a:p>
            <a:pPr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A higher leverage ratio implies a higher expected profit rate, but also implies a higher risk of </a:t>
            </a:r>
            <a:r>
              <a:rPr lang="en-US" sz="2000" b="1" dirty="0" smtClean="0">
                <a:ea typeface="ヒラギノ角ゴ Pro W3" pitchFamily="-84" charset="-128"/>
              </a:rPr>
              <a:t>insolvency</a:t>
            </a:r>
            <a:r>
              <a:rPr lang="en-US" sz="2000" dirty="0" smtClean="0">
                <a:ea typeface="ヒラギノ角ゴ Pro W3" pitchFamily="-84" charset="-128"/>
              </a:rPr>
              <a:t> and bankruptcy.</a:t>
            </a:r>
          </a:p>
          <a:p>
            <a:pPr>
              <a:spcBef>
                <a:spcPts val="525"/>
              </a:spcBef>
            </a:pPr>
            <a:endParaRPr lang="en-US" sz="20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1866900"/>
            <a:ext cx="4772332" cy="1676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55799526"/>
      </p:ext>
    </p:extLst>
  </p:cSld>
  <p:clrMapOvr>
    <a:masterClrMapping/>
  </p:clrMapOvr>
  <p:transition>
    <p:strips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ヒラギノ角ゴ Pro W3" pitchFamily="-84" charset="-128"/>
              </a:rPr>
              <a:t>6-3 The Role of Financial Intermediaries</a:t>
            </a:r>
            <a:endParaRPr lang="en-US" sz="2800" dirty="0" smtClean="0">
              <a:ea typeface="ヒラギノ角ゴ Pro W3" pitchFamily="-84" charset="-128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3886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lower the liquidity of bank assets means the more difficult they are to sell, the higher the risk of being sold at </a:t>
            </a:r>
            <a:r>
              <a:rPr lang="en-US" sz="2400" b="1" dirty="0" smtClean="0">
                <a:ea typeface="ヒラギノ角ゴ Pro W3" pitchFamily="-84" charset="-128"/>
              </a:rPr>
              <a:t>fire sale prices </a:t>
            </a:r>
            <a:r>
              <a:rPr lang="en-US" sz="2400" dirty="0" smtClean="0">
                <a:ea typeface="ヒラギノ角ゴ Pro W3" pitchFamily="-84" charset="-128"/>
              </a:rPr>
              <a:t>(prices far below the true value) and the risk that the bank becomes insolvent.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higher the liquidity of the liabilities (e.g., checkable or </a:t>
            </a:r>
            <a:r>
              <a:rPr lang="en-US" sz="2400" b="1" dirty="0" smtClean="0">
                <a:ea typeface="ヒラギノ角ゴ Pro W3" pitchFamily="-84" charset="-128"/>
              </a:rPr>
              <a:t>demand deposits</a:t>
            </a:r>
            <a:r>
              <a:rPr lang="en-US" sz="2400" dirty="0" smtClean="0">
                <a:ea typeface="ヒラギノ角ゴ Pro W3" pitchFamily="-84" charset="-128"/>
              </a:rPr>
              <a:t>), the higher the risk of fire sales, and the risk that the bank becomes insolvent and thus faces </a:t>
            </a:r>
            <a:r>
              <a:rPr lang="en-US" sz="2400" b="1" dirty="0" smtClean="0">
                <a:ea typeface="ヒラギノ角ゴ Pro W3" pitchFamily="-84" charset="-128"/>
              </a:rPr>
              <a:t>bank runs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3238877"/>
      </p:ext>
    </p:extLst>
  </p:cSld>
  <p:clrMapOvr>
    <a:masterClrMapping/>
  </p:clrMapOvr>
  <p:transition>
    <p:strips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FOCUS:  Bank Runs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7244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U.S. financial history up to the 1930s is full of bank runs, as seen in the classic movie </a:t>
            </a:r>
            <a:r>
              <a:rPr lang="en-US" sz="2400" i="1" dirty="0" smtClean="0">
                <a:ea typeface="ヒラギノ角ゴ Pro W3" pitchFamily="-84" charset="-128"/>
              </a:rPr>
              <a:t>It’s a Wonderful Life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One potential solution to bank runs is </a:t>
            </a:r>
            <a:r>
              <a:rPr lang="en-US" sz="2400" b="1" dirty="0" smtClean="0">
                <a:ea typeface="ヒラギノ角ゴ Pro W3" pitchFamily="-84" charset="-128"/>
              </a:rPr>
              <a:t>narrow banking</a:t>
            </a:r>
            <a:r>
              <a:rPr lang="en-US" sz="2400" dirty="0" smtClean="0">
                <a:ea typeface="ヒラギノ角ゴ Pro W3" pitchFamily="-84" charset="-128"/>
              </a:rPr>
              <a:t>, which restricts banks from making loans, and to hold liquid and safe government bonds.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To limit bank runs, the United States introduced </a:t>
            </a:r>
            <a:r>
              <a:rPr lang="en-US" sz="2400" b="1" dirty="0" smtClean="0">
                <a:ea typeface="ヒラギノ角ゴ Pro W3" pitchFamily="-84" charset="-128"/>
              </a:rPr>
              <a:t>federal deposit insurance </a:t>
            </a:r>
            <a:r>
              <a:rPr lang="en-US" sz="2400" dirty="0" smtClean="0">
                <a:ea typeface="ヒラギノ角ゴ Pro W3" pitchFamily="-84" charset="-128"/>
              </a:rPr>
              <a:t>in 1934.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Fed also implemented </a:t>
            </a:r>
            <a:r>
              <a:rPr lang="en-US" sz="2400" b="1" dirty="0" smtClean="0">
                <a:ea typeface="ヒラギノ角ゴ Pro W3" pitchFamily="-84" charset="-128"/>
              </a:rPr>
              <a:t>liquidity provision </a:t>
            </a:r>
            <a:r>
              <a:rPr lang="en-US" sz="2400" dirty="0" smtClean="0">
                <a:ea typeface="ヒラギノ角ゴ Pro W3" pitchFamily="-84" charset="-128"/>
              </a:rPr>
              <a:t>so that banks could borrow overnight from other financial institutions.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83002513"/>
      </p:ext>
    </p:extLst>
  </p:cSld>
  <p:clrMapOvr>
    <a:masterClrMapping/>
  </p:clrMapOvr>
  <p:transition>
    <p:strips dir="l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6-4 Extending the IS-LM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3886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Now we extend the </a:t>
            </a:r>
            <a:r>
              <a:rPr lang="en-US" sz="2400" i="1" dirty="0" smtClean="0">
                <a:ea typeface="ヒラギノ角ゴ Pro W3" pitchFamily="-84" charset="-128"/>
              </a:rPr>
              <a:t>IS-LM</a:t>
            </a:r>
            <a:r>
              <a:rPr lang="en-US" sz="2400" dirty="0" smtClean="0">
                <a:ea typeface="ヒラギノ角ゴ Pro W3" pitchFamily="-84" charset="-128"/>
              </a:rPr>
              <a:t> to reflect the distinction between:</a:t>
            </a:r>
          </a:p>
          <a:p>
            <a:pPr marL="857250" lvl="1" indent="-457200">
              <a:spcBef>
                <a:spcPts val="525"/>
              </a:spcBef>
              <a:buFont typeface="+mj-lt"/>
              <a:buAutoNum type="arabicPeriod"/>
            </a:pPr>
            <a:r>
              <a:rPr lang="en-US" sz="2000" dirty="0" smtClean="0">
                <a:ea typeface="ヒラギノ角ゴ Pro W3" pitchFamily="-84" charset="-128"/>
              </a:rPr>
              <a:t>the nominal interest rate and the real interest rate</a:t>
            </a:r>
          </a:p>
          <a:p>
            <a:pPr marL="857250" lvl="1" indent="-457200">
              <a:spcBef>
                <a:spcPts val="525"/>
              </a:spcBef>
              <a:buFont typeface="+mj-lt"/>
              <a:buAutoNum type="arabicPeriod"/>
            </a:pPr>
            <a:r>
              <a:rPr lang="en-US" sz="2000" dirty="0" smtClean="0">
                <a:ea typeface="ヒラギノ角ゴ Pro W3" pitchFamily="-84" charset="-128"/>
              </a:rPr>
              <a:t>the policy rate set by the central bank and the interest rates faced by borrowers</a:t>
            </a:r>
          </a:p>
          <a:p>
            <a:pPr>
              <a:spcBef>
                <a:spcPts val="1800"/>
              </a:spcBef>
            </a:pPr>
            <a:r>
              <a:rPr lang="en-US" sz="2400" dirty="0" smtClean="0">
                <a:ea typeface="ヒラギノ角ゴ Pro W3" pitchFamily="-84" charset="-128"/>
              </a:rPr>
              <a:t>Rewrite the </a:t>
            </a:r>
            <a:r>
              <a:rPr lang="en-US" sz="2400" i="1" dirty="0" smtClean="0">
                <a:ea typeface="ヒラギノ角ゴ Pro W3" pitchFamily="-84" charset="-128"/>
              </a:rPr>
              <a:t>IS-LM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339725" indent="0">
              <a:spcBef>
                <a:spcPts val="525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where expected inflation </a:t>
            </a:r>
            <a:r>
              <a:rPr lang="el-GR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2400" i="1" baseline="30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e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400" dirty="0">
                <a:ea typeface="ヒラギノ角ゴ Pro W3" pitchFamily="-84" charset="-128"/>
              </a:rPr>
              <a:t>and the risk premium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x</a:t>
            </a:r>
            <a:r>
              <a:rPr lang="en-US" sz="2400" dirty="0">
                <a:ea typeface="ヒラギノ角ゴ Pro W3" pitchFamily="-84" charset="-128"/>
              </a:rPr>
              <a:t> enter the </a:t>
            </a:r>
            <a:r>
              <a:rPr lang="en-US" sz="2400" i="1" dirty="0">
                <a:ea typeface="ヒラギノ角ゴ Pro W3" pitchFamily="-84" charset="-128"/>
              </a:rPr>
              <a:t>IS</a:t>
            </a:r>
            <a:r>
              <a:rPr lang="en-US" sz="2400" dirty="0">
                <a:ea typeface="ヒラギノ角ゴ Pro W3" pitchFamily="-84" charset="-128"/>
              </a:rPr>
              <a:t> relation.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3886200"/>
            <a:ext cx="7476203" cy="838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52786957"/>
      </p:ext>
    </p:extLst>
  </p:cSld>
  <p:clrMapOvr>
    <a:masterClrMapping/>
  </p:clrMapOvr>
  <p:transition>
    <p:strips dir="l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6-4 Extending the IS-LM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3886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central bank now chooses the real </a:t>
            </a:r>
            <a:r>
              <a:rPr lang="en-US" sz="2400" b="1" dirty="0" smtClean="0">
                <a:ea typeface="ヒラギノ角ゴ Pro W3" pitchFamily="-84" charset="-128"/>
              </a:rPr>
              <a:t>policy rate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r</a:t>
            </a:r>
            <a:r>
              <a:rPr lang="en-US" sz="2400" dirty="0" smtClean="0">
                <a:ea typeface="ヒラギノ角ゴ Pro W3" pitchFamily="-84" charset="-128"/>
              </a:rPr>
              <a:t>, which enters the </a:t>
            </a:r>
            <a:r>
              <a:rPr lang="en-US" sz="2400" i="1" dirty="0" smtClean="0">
                <a:ea typeface="ヒラギノ角ゴ Pro W3" pitchFamily="-84" charset="-128"/>
              </a:rPr>
              <a:t>IS</a:t>
            </a:r>
            <a:r>
              <a:rPr lang="en-US" sz="2400" dirty="0" smtClean="0">
                <a:ea typeface="ヒラギノ角ゴ Pro W3" pitchFamily="-84" charset="-128"/>
              </a:rPr>
              <a:t> equation as part of the </a:t>
            </a:r>
            <a:r>
              <a:rPr lang="en-US" sz="2400" b="1" dirty="0" smtClean="0">
                <a:ea typeface="ヒラギノ角ゴ Pro W3" pitchFamily="-84" charset="-128"/>
              </a:rPr>
              <a:t>borrowing rate </a:t>
            </a:r>
            <a:r>
              <a:rPr lang="en-US" sz="2400" dirty="0" smtClean="0">
                <a:ea typeface="ヒラギノ角ゴ Pro W3" pitchFamily="-84" charset="-128"/>
              </a:rPr>
              <a:t>(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r + x</a:t>
            </a:r>
            <a:r>
              <a:rPr lang="en-US" sz="2400" dirty="0" smtClean="0">
                <a:ea typeface="ヒラギノ角ゴ Pro W3" pitchFamily="-84" charset="-128"/>
              </a:rPr>
              <a:t>) for consumers and firms: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 marL="339725" indent="0">
              <a:spcBef>
                <a:spcPts val="525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where expected inflation </a:t>
            </a:r>
            <a:r>
              <a:rPr lang="el-GR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2400" i="1" baseline="30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e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400" dirty="0">
                <a:ea typeface="ヒラギノ角ゴ Pro W3" pitchFamily="-84" charset="-128"/>
              </a:rPr>
              <a:t>and the risk premium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x</a:t>
            </a:r>
            <a:r>
              <a:rPr lang="en-US" sz="2400" dirty="0">
                <a:ea typeface="ヒラギノ角ゴ Pro W3" pitchFamily="-84" charset="-128"/>
              </a:rPr>
              <a:t> enter the </a:t>
            </a:r>
            <a:r>
              <a:rPr lang="en-US" sz="2400" i="1" dirty="0">
                <a:ea typeface="ヒラギノ角ゴ Pro W3" pitchFamily="-84" charset="-128"/>
              </a:rPr>
              <a:t>IS</a:t>
            </a:r>
            <a:r>
              <a:rPr lang="en-US" sz="2400" dirty="0">
                <a:ea typeface="ヒラギノ角ゴ Pro W3" pitchFamily="-84" charset="-128"/>
              </a:rPr>
              <a:t> relation.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3048000"/>
            <a:ext cx="8229600" cy="72361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39001075"/>
      </p:ext>
    </p:extLst>
  </p:cSld>
  <p:clrMapOvr>
    <a:masterClrMapping/>
  </p:clrMapOvr>
  <p:transition>
    <p:strips dir="l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ヒラギノ角ゴ Pro W3" pitchFamily="-84" charset="-128"/>
              </a:rPr>
              <a:t>6-4 Extending the IS-LM</a:t>
            </a:r>
            <a:endParaRPr lang="en-US" sz="28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81000" y="1295884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6-5  </a:t>
            </a:r>
            <a:r>
              <a:rPr lang="en-US" sz="1800" dirty="0" smtClean="0"/>
              <a:t>Financial Shocks and Output</a:t>
            </a:r>
            <a:endParaRPr lang="en-US" sz="1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2305665"/>
            <a:ext cx="2133600" cy="17526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An increase in </a:t>
            </a:r>
            <a:r>
              <a:rPr lang="en-US" sz="1600" i="1" dirty="0" smtClean="0">
                <a:ea typeface="ヒラギノ角ゴ Pro W3" pitchFamily="-84" charset="-128"/>
              </a:rPr>
              <a:t>x</a:t>
            </a:r>
            <a:r>
              <a:rPr lang="en-US" sz="1600" dirty="0" smtClean="0">
                <a:ea typeface="ヒラギノ角ゴ Pro W3" pitchFamily="-84" charset="-128"/>
              </a:rPr>
              <a:t> leads to a shift of the </a:t>
            </a:r>
            <a:r>
              <a:rPr lang="en-US" sz="1600" i="1" dirty="0" smtClean="0">
                <a:ea typeface="ヒラギノ角ゴ Pro W3" pitchFamily="-84" charset="-128"/>
              </a:rPr>
              <a:t>IS</a:t>
            </a:r>
            <a:r>
              <a:rPr lang="en-US" sz="1600" dirty="0" smtClean="0">
                <a:ea typeface="ヒラギノ角ゴ Pro W3" pitchFamily="-84" charset="-128"/>
              </a:rPr>
              <a:t> curve to the left and a decrease in equilibrium output.</a:t>
            </a:r>
          </a:p>
          <a:p>
            <a:pPr>
              <a:spcBef>
                <a:spcPts val="525"/>
              </a:spcBef>
            </a:pPr>
            <a:endParaRPr lang="en-US" sz="1600" dirty="0" smtClean="0">
              <a:ea typeface="ヒラギノ角ゴ Pro W3" pitchFamily="-8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24200" y="1676400"/>
            <a:ext cx="5356241" cy="447669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33577050"/>
      </p:ext>
    </p:extLst>
  </p:cSld>
  <p:clrMapOvr>
    <a:masterClrMapping/>
  </p:clrMapOvr>
  <p:transition>
    <p:strips dir="l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ヒラギノ角ゴ Pro W3" pitchFamily="-84" charset="-128"/>
              </a:rPr>
              <a:t>6-4 Extending the IS-LM</a:t>
            </a:r>
            <a:endParaRPr lang="en-US" sz="28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59229" y="1355000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6-6  </a:t>
            </a:r>
            <a:r>
              <a:rPr lang="en-US" sz="1800" dirty="0" smtClean="0"/>
              <a:t>Financial Shocks, Monetary Policy, and Output</a:t>
            </a:r>
            <a:endParaRPr lang="en-US" sz="1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2305664"/>
            <a:ext cx="2133600" cy="3028335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If sufficiently large, a decrease in the policy rate can in principle offset the increase in the risk premium.</a:t>
            </a:r>
          </a:p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The zero lower bound may however put a limit on the decrease in the real policy rate.</a:t>
            </a:r>
          </a:p>
          <a:p>
            <a:pPr>
              <a:spcBef>
                <a:spcPts val="525"/>
              </a:spcBef>
            </a:pPr>
            <a:endParaRPr lang="en-US" sz="16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76600" y="1828800"/>
            <a:ext cx="5105400" cy="427276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20502335"/>
      </p:ext>
    </p:extLst>
  </p:cSld>
  <p:clrMapOvr>
    <a:masterClrMapping/>
  </p:clrMapOvr>
  <p:transition>
    <p:strips dir="l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ヒラギノ角ゴ Pro W3" pitchFamily="-84" charset="-128"/>
              </a:rPr>
              <a:t>6-5 From a Housing Problem to a Financial Crisis</a:t>
            </a:r>
            <a:endParaRPr lang="en-US" sz="28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83177" y="1465743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6-7  </a:t>
            </a:r>
            <a:r>
              <a:rPr lang="en-US" sz="1800" dirty="0" smtClean="0"/>
              <a:t>U.S. Housing Prices since 2000</a:t>
            </a:r>
            <a:endParaRPr lang="en-US" sz="1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243896"/>
            <a:ext cx="2083096" cy="2099504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The increase in housing prices from 2000 to 2006 was followed by a sharp decline thereafter.</a:t>
            </a:r>
          </a:p>
          <a:p>
            <a:pPr>
              <a:spcBef>
                <a:spcPts val="525"/>
              </a:spcBef>
            </a:pPr>
            <a:endParaRPr lang="en-US" sz="1600" dirty="0" smtClean="0">
              <a:ea typeface="ヒラギノ角ゴ Pro W3" pitchFamily="-8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3952" y="4138555"/>
            <a:ext cx="2136344" cy="6928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43200" y="2239542"/>
            <a:ext cx="5883070" cy="257228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75714982"/>
      </p:ext>
    </p:extLst>
  </p:cSld>
  <p:clrMapOvr>
    <a:masterClrMapping/>
  </p:clrMapOvr>
  <p:transition>
    <p:strips dir="l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6-5 From a Housing Problem to a Financial Crisis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3886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2000s were a period of unusually low interest rates, which stimulated housing demand.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Mortgage lenders was increasingly willing to make loans to risky borrowers with </a:t>
            </a:r>
            <a:r>
              <a:rPr lang="en-US" sz="2400" b="1" dirty="0" smtClean="0">
                <a:ea typeface="ヒラギノ角ゴ Pro W3" pitchFamily="-84" charset="-128"/>
              </a:rPr>
              <a:t>subprime mortgages</a:t>
            </a:r>
            <a:r>
              <a:rPr lang="en-US" sz="2400" dirty="0" smtClean="0">
                <a:ea typeface="ヒラギノ角ゴ Pro W3" pitchFamily="-84" charset="-128"/>
              </a:rPr>
              <a:t>, or </a:t>
            </a:r>
            <a:r>
              <a:rPr lang="en-US" sz="2400" b="1" dirty="0" err="1" smtClean="0">
                <a:ea typeface="ヒラギノ角ゴ Pro W3" pitchFamily="-84" charset="-128"/>
              </a:rPr>
              <a:t>subprimes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From 2006 on, many home mortgages went </a:t>
            </a:r>
            <a:r>
              <a:rPr lang="en-US" sz="2400" b="1" dirty="0" smtClean="0">
                <a:ea typeface="ヒラギノ角ゴ Pro W3" pitchFamily="-84" charset="-128"/>
              </a:rPr>
              <a:t>underwater</a:t>
            </a:r>
            <a:r>
              <a:rPr lang="en-US" sz="2400" dirty="0" smtClean="0">
                <a:ea typeface="ヒラギノ角ゴ Pro W3" pitchFamily="-84" charset="-128"/>
              </a:rPr>
              <a:t> (when the value of the mortgage exceeded the value of the house).</a:t>
            </a: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Lenders faced large losses as many borrowers defaulted.</a:t>
            </a:r>
          </a:p>
        </p:txBody>
      </p:sp>
    </p:spTree>
    <p:extLst>
      <p:ext uri="{BB962C8B-B14F-4D97-AF65-F5344CB8AC3E}">
        <p14:creationId xmlns="" xmlns:p14="http://schemas.microsoft.com/office/powerpoint/2010/main" val="1328410200"/>
      </p:ext>
    </p:extLst>
  </p:cSld>
  <p:clrMapOvr>
    <a:masterClrMapping/>
  </p:clrMapOvr>
  <p:transition>
    <p:strips dir="l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6-5 From a Housing Problem to a Financial Crisis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3886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Banks were highly leveraged because: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Banks probably underestimated the risk,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Bank managers had incentives to go for high expected returns without fully taking the risk of bankruptcy,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Banks avoided financial regulations with </a:t>
            </a:r>
            <a:r>
              <a:rPr lang="en-US" sz="2000" b="1" dirty="0" smtClean="0">
                <a:ea typeface="ヒラギノ角ゴ Pro W3" pitchFamily="-84" charset="-128"/>
              </a:rPr>
              <a:t>structured investment vehicles (SIVs)</a:t>
            </a:r>
            <a:endParaRPr lang="en-US" sz="2000" b="1" dirty="0">
              <a:ea typeface="ヒラギノ角ゴ Pro W3" pitchFamily="-84" charset="-128"/>
            </a:endParaRPr>
          </a:p>
          <a:p>
            <a:pPr>
              <a:spcBef>
                <a:spcPts val="1200"/>
              </a:spcBef>
            </a:pPr>
            <a:r>
              <a:rPr lang="en-US" sz="2400" b="1" dirty="0" smtClean="0">
                <a:ea typeface="ヒラギノ角ゴ Pro W3" pitchFamily="-84" charset="-128"/>
              </a:rPr>
              <a:t>Securitization</a:t>
            </a:r>
            <a:r>
              <a:rPr lang="en-US" sz="2400" dirty="0" smtClean="0">
                <a:ea typeface="ヒラギノ角ゴ Pro W3" pitchFamily="-84" charset="-128"/>
              </a:rPr>
              <a:t> is the creation of securities based on a bundle of assets, such as </a:t>
            </a:r>
            <a:r>
              <a:rPr lang="en-US" sz="2400" b="1" dirty="0" smtClean="0">
                <a:ea typeface="ヒラギノ角ゴ Pro W3" pitchFamily="-84" charset="-128"/>
              </a:rPr>
              <a:t>mortgage-based securities (MBS)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16941804"/>
      </p:ext>
    </p:extLst>
  </p:cSld>
  <p:clrMapOvr>
    <a:masterClrMapping/>
  </p:clrMapOvr>
  <p:transition>
    <p:strips dir="l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6-5 From a Housing Problem to a Financial Crisis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029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b="1" dirty="0" smtClean="0">
                <a:ea typeface="ヒラギノ角ゴ Pro W3" pitchFamily="-84" charset="-128"/>
              </a:rPr>
              <a:t>Senior securities </a:t>
            </a:r>
            <a:r>
              <a:rPr lang="en-US" sz="2400" dirty="0" smtClean="0">
                <a:ea typeface="ヒラギノ角ゴ Pro W3" pitchFamily="-84" charset="-128"/>
              </a:rPr>
              <a:t>have first claims on the return from the bundle of assets; </a:t>
            </a:r>
            <a:r>
              <a:rPr lang="en-US" sz="2400" b="1" dirty="0" smtClean="0">
                <a:ea typeface="ヒラギノ角ゴ Pro W3" pitchFamily="-84" charset="-128"/>
              </a:rPr>
              <a:t>junior securities, </a:t>
            </a:r>
            <a:r>
              <a:rPr lang="en-US" sz="2400" dirty="0">
                <a:ea typeface="ヒラギノ角ゴ Pro W3" pitchFamily="-84" charset="-128"/>
              </a:rPr>
              <a:t>such as </a:t>
            </a:r>
            <a:r>
              <a:rPr lang="en-US" sz="2400" b="1" dirty="0">
                <a:ea typeface="ヒラギノ角ゴ Pro W3" pitchFamily="-84" charset="-128"/>
              </a:rPr>
              <a:t>collateralized debt obligations (CDOs</a:t>
            </a:r>
            <a:r>
              <a:rPr lang="en-US" sz="2400" b="1" dirty="0" smtClean="0">
                <a:ea typeface="ヒラギノ角ゴ Pro W3" pitchFamily="-84" charset="-128"/>
              </a:rPr>
              <a:t>), </a:t>
            </a:r>
            <a:r>
              <a:rPr lang="en-US" sz="2400" dirty="0" smtClean="0">
                <a:ea typeface="ヒラギノ角ゴ Pro W3" pitchFamily="-84" charset="-128"/>
              </a:rPr>
              <a:t>come after.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Securitization was a way of diversifying risk, but it came with costs: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The bank that sold the mortgage had few incentives to keep the risk low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Even for </a:t>
            </a:r>
            <a:r>
              <a:rPr lang="en-US" sz="2000" b="1" dirty="0" smtClean="0">
                <a:ea typeface="ヒラギノ角ゴ Pro W3" pitchFamily="-84" charset="-128"/>
              </a:rPr>
              <a:t>toxic assets</a:t>
            </a:r>
            <a:r>
              <a:rPr lang="en-US" sz="2000" dirty="0" smtClean="0">
                <a:ea typeface="ヒラギノ角ゴ Pro W3" pitchFamily="-84" charset="-128"/>
              </a:rPr>
              <a:t>, the risk is difficult for </a:t>
            </a:r>
            <a:r>
              <a:rPr lang="en-US" sz="2000" b="1" dirty="0" smtClean="0">
                <a:ea typeface="ヒラギノ角ゴ Pro W3" pitchFamily="-84" charset="-128"/>
              </a:rPr>
              <a:t>rating agencies </a:t>
            </a:r>
            <a:r>
              <a:rPr lang="en-US" sz="2000" dirty="0" smtClean="0">
                <a:ea typeface="ヒラギノ角ゴ Pro W3" pitchFamily="-84" charset="-128"/>
              </a:rPr>
              <a:t>to assess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85028928"/>
      </p:ext>
    </p:extLst>
  </p:cSld>
  <p:clrMapOvr>
    <a:masterClrMapping/>
  </p:clrMapOvr>
  <p:transition>
    <p:strips dir="l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6-5 From a Housing Problem to a Financial Crisis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029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b="1" dirty="0" smtClean="0">
                <a:ea typeface="ヒラギノ角ゴ Pro W3" pitchFamily="-84" charset="-128"/>
              </a:rPr>
              <a:t>Wholesale funding </a:t>
            </a:r>
            <a:r>
              <a:rPr lang="en-US" sz="2400" dirty="0" smtClean="0">
                <a:ea typeface="ヒラギノ角ゴ Pro W3" pitchFamily="-84" charset="-128"/>
              </a:rPr>
              <a:t>is a process in which banks rely on borrowing from other banks or investors to finance the purchase of their assets.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In 2000s, SIVs were entirely funded through wholesale funding.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Wholesale funding resulted in liquid liabilities.</a:t>
            </a:r>
            <a:endParaRPr lang="en-US" sz="22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4130302"/>
      </p:ext>
    </p:extLst>
  </p:cSld>
  <p:clrMapOvr>
    <a:masterClrMapping/>
  </p:clrMapOvr>
  <p:transition>
    <p:strips dir="l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ヒラギノ角ゴ Pro W3" pitchFamily="-84" charset="-128"/>
              </a:rPr>
              <a:t>6-5 From a Housing Problem to a Financial Crisis</a:t>
            </a:r>
            <a:endParaRPr lang="en-US" sz="28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81000" y="1498762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6-8  </a:t>
            </a:r>
            <a:r>
              <a:rPr lang="en-US" sz="1800" dirty="0" smtClean="0"/>
              <a:t>U.S. Consumer and Business Confidence, 2007−2011</a:t>
            </a:r>
            <a:endParaRPr lang="en-US" sz="1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91945" y="5828334"/>
            <a:ext cx="7696200" cy="833225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The financial crisis led to a sharp drop in confidence, which bottomed in early 2009.</a:t>
            </a:r>
          </a:p>
          <a:p>
            <a:pPr>
              <a:spcBef>
                <a:spcPts val="525"/>
              </a:spcBef>
            </a:pPr>
            <a:endParaRPr lang="en-US" sz="16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3475" y="1967989"/>
            <a:ext cx="6257925" cy="33175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33475" y="5385442"/>
            <a:ext cx="1438275" cy="1809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00134980"/>
      </p:ext>
    </p:extLst>
  </p:cSld>
  <p:clrMapOvr>
    <a:masterClrMapping/>
  </p:clrMapOvr>
  <p:transition>
    <p:strips dir="l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6-5 From a Housing Problem to a Financial Crisis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029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demand for goods decreased due to the high cost of borrowing, lower stock prices, and lower confidence.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</a:t>
            </a:r>
            <a:r>
              <a:rPr lang="en-US" sz="2400" i="1" dirty="0" smtClean="0">
                <a:ea typeface="ヒラギノ角ゴ Pro W3" pitchFamily="-84" charset="-128"/>
              </a:rPr>
              <a:t>IS</a:t>
            </a:r>
            <a:r>
              <a:rPr lang="en-US" sz="2400" dirty="0" smtClean="0">
                <a:ea typeface="ヒラギノ角ゴ Pro W3" pitchFamily="-84" charset="-128"/>
              </a:rPr>
              <a:t> curve shift to the left.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Policy makers responded to this large decrease in demand.</a:t>
            </a: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50919552"/>
      </p:ext>
    </p:extLst>
  </p:cSld>
  <p:clrMapOvr>
    <a:masterClrMapping/>
  </p:clrMapOvr>
  <p:transition>
    <p:strips dir="l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6-5 From a Housing Problem to a Financial Crisis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029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Financial Policies: 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Federal deposit insurance was raised from $100,000 to $250,000,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The Fed provided widespread liquidity to the financial system through liquidity facilities, and increased the number the assets that could serve as collateral,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The government introduced the Troubled Asset Relief Program (TARP)</a:t>
            </a: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7140178"/>
      </p:ext>
    </p:extLst>
  </p:cSld>
  <p:clrMapOvr>
    <a:masterClrMapping/>
  </p:clrMapOvr>
  <p:transition>
    <p:strips dir="l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6-5 From a Housing Problem to a Financial Crisis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029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Monetary policy: 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The federal funds rate was down to zero by December 2008.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The Fed also used unconventional monetary policy, which involved buying other assets as to directly affect the rate faced by borrowers.</a:t>
            </a:r>
          </a:p>
          <a:p>
            <a:pPr>
              <a:spcBef>
                <a:spcPts val="1800"/>
              </a:spcBef>
            </a:pPr>
            <a:r>
              <a:rPr lang="en-US" sz="2400" dirty="0">
                <a:ea typeface="ヒラギノ角ゴ Pro W3" pitchFamily="-84" charset="-128"/>
              </a:rPr>
              <a:t>Fiscal Policy: </a:t>
            </a:r>
          </a:p>
          <a:p>
            <a:pPr lvl="1">
              <a:spcBef>
                <a:spcPts val="525"/>
              </a:spcBef>
            </a:pPr>
            <a:r>
              <a:rPr lang="en-US" sz="2000" dirty="0">
                <a:ea typeface="ヒラギノ角ゴ Pro W3" pitchFamily="-84" charset="-128"/>
              </a:rPr>
              <a:t>The American Recovery and Reinvestment Act was passed in February 2009, calling for $780 billion in tax reductions and spending increases</a:t>
            </a: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12605843"/>
      </p:ext>
    </p:extLst>
  </p:cSld>
  <p:clrMapOvr>
    <a:masterClrMapping/>
  </p:clrMapOvr>
  <p:transition>
    <p:strips dir="l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ea typeface="ヒラギノ角ゴ Pro W3" pitchFamily="-84" charset="-128"/>
              </a:rPr>
              <a:t>6-5 From a Housing Problem to a Financial Crisis</a:t>
            </a:r>
            <a:endParaRPr lang="en-US" sz="28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57051" y="1337046"/>
            <a:ext cx="838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6-9  </a:t>
            </a:r>
            <a:r>
              <a:rPr lang="en-US" sz="1800" dirty="0" smtClean="0"/>
              <a:t>The Financial Crisis, and the Use of Financial, Fiscal, and Monetary Policies</a:t>
            </a:r>
            <a:endParaRPr lang="en-US" sz="1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2895599" cy="3102114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The financial crisis led to a shift of the </a:t>
            </a:r>
            <a:r>
              <a:rPr lang="en-US" sz="1600" i="1" dirty="0" smtClean="0">
                <a:ea typeface="ヒラギノ角ゴ Pro W3" pitchFamily="-84" charset="-128"/>
              </a:rPr>
              <a:t>IS</a:t>
            </a:r>
            <a:r>
              <a:rPr lang="en-US" sz="1600" dirty="0" smtClean="0">
                <a:ea typeface="ヒラギノ角ゴ Pro W3" pitchFamily="-84" charset="-128"/>
              </a:rPr>
              <a:t> to the left. </a:t>
            </a:r>
          </a:p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Financial and fiscal policies led to some shift back to the </a:t>
            </a:r>
            <a:r>
              <a:rPr lang="en-US" sz="1600" i="1" dirty="0" smtClean="0">
                <a:ea typeface="ヒラギノ角ゴ Pro W3" pitchFamily="-84" charset="-128"/>
              </a:rPr>
              <a:t>IS</a:t>
            </a:r>
            <a:r>
              <a:rPr lang="en-US" sz="1600" dirty="0" smtClean="0">
                <a:ea typeface="ヒラギノ角ゴ Pro W3" pitchFamily="-84" charset="-128"/>
              </a:rPr>
              <a:t> to the right. </a:t>
            </a:r>
          </a:p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Monetary policy led to a shift of the </a:t>
            </a:r>
            <a:r>
              <a:rPr lang="en-US" sz="1600" i="1" dirty="0" smtClean="0">
                <a:ea typeface="ヒラギノ角ゴ Pro W3" pitchFamily="-84" charset="-128"/>
              </a:rPr>
              <a:t>LM</a:t>
            </a:r>
            <a:r>
              <a:rPr lang="en-US" sz="1600" dirty="0" smtClean="0">
                <a:ea typeface="ヒラギノ角ゴ Pro W3" pitchFamily="-84" charset="-128"/>
              </a:rPr>
              <a:t> curve down. </a:t>
            </a:r>
          </a:p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Policies were not enough however to avoid a major recession.</a:t>
            </a:r>
          </a:p>
          <a:p>
            <a:pPr>
              <a:spcBef>
                <a:spcPts val="525"/>
              </a:spcBef>
            </a:pPr>
            <a:endParaRPr lang="en-US" sz="1600" dirty="0" smtClean="0">
              <a:ea typeface="ヒラギノ角ゴ Pro W3" pitchFamily="-8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0" y="2057400"/>
            <a:ext cx="4797972" cy="407162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94543771"/>
      </p:ext>
    </p:extLst>
  </p:cSld>
  <p:clrMapOvr>
    <a:masterClrMapping/>
  </p:clrMapOvr>
  <p:transition>
    <p:strips dir="ld"/>
  </p:transition>
</p:sld>
</file>

<file path=ppt/theme/theme1.xml><?xml version="1.0" encoding="utf-8"?>
<a:theme xmlns:a="http://schemas.openxmlformats.org/drawingml/2006/main" name="template_LN01Brooks671956_02_LN01">
  <a:themeElements>
    <a:clrScheme name="Pearson_PowerPoint_Template_Beka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arson_PowerPoint_Template_Bekaer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earson_PowerPoint_Template_Bekaer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LN01Folland832739_07_LN01.pot</Template>
  <TotalTime>2880</TotalTime>
  <Words>1678</Words>
  <Application>Microsoft Office PowerPoint</Application>
  <PresentationFormat>On-screen Show (4:3)</PresentationFormat>
  <Paragraphs>149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template_LN01Brooks671956_02_LN01</vt:lpstr>
      <vt:lpstr>Financial Markets II</vt:lpstr>
      <vt:lpstr>Chapter 6 Outline</vt:lpstr>
      <vt:lpstr>Financial Markets II</vt:lpstr>
      <vt:lpstr>6-1 Nominal versus Real Interest Rates</vt:lpstr>
      <vt:lpstr>6-1 Nominal versus Real Interest Rates</vt:lpstr>
      <vt:lpstr>6-1 Nominal versus Real Interest Rates</vt:lpstr>
      <vt:lpstr>6-1 Nominal versus Real Interest Rates</vt:lpstr>
      <vt:lpstr>6-1 Nominal versus Real Interest Rates</vt:lpstr>
      <vt:lpstr>6-1 Nominal versus Real Interest Rates</vt:lpstr>
      <vt:lpstr>6-1 Nominal versus Real Interest Rates</vt:lpstr>
      <vt:lpstr>6-2 Risk and Risk Premia</vt:lpstr>
      <vt:lpstr>6-2 Risk and Risk Premia</vt:lpstr>
      <vt:lpstr>6-3 The Role of Financial Intermediaries</vt:lpstr>
      <vt:lpstr>6-3 The Role of Financial Intermediaries</vt:lpstr>
      <vt:lpstr>6-3 The Role of Financial Intermediaries</vt:lpstr>
      <vt:lpstr>FOCUS:  Bank Runs</vt:lpstr>
      <vt:lpstr>6-4 Extending the IS-LM</vt:lpstr>
      <vt:lpstr>6-4 Extending the IS-LM</vt:lpstr>
      <vt:lpstr>6-4 Extending the IS-LM</vt:lpstr>
      <vt:lpstr>6-4 Extending the IS-LM</vt:lpstr>
      <vt:lpstr>6-5 From a Housing Problem to a Financial Crisis</vt:lpstr>
      <vt:lpstr>6-5 From a Housing Problem to a Financial Crisis</vt:lpstr>
      <vt:lpstr>6-5 From a Housing Problem to a Financial Crisis</vt:lpstr>
      <vt:lpstr>6-5 From a Housing Problem to a Financial Crisis</vt:lpstr>
      <vt:lpstr>6-5 From a Housing Problem to a Financial Crisis</vt:lpstr>
      <vt:lpstr>6-5 From a Housing Problem to a Financial Crisis</vt:lpstr>
      <vt:lpstr>6-5 From a Housing Problem to a Financial Crisis</vt:lpstr>
      <vt:lpstr>6-5 From a Housing Problem to a Financial Crisis</vt:lpstr>
      <vt:lpstr>6-5 From a Housing Problem to a Financial Crisis</vt:lpstr>
      <vt:lpstr>6-5 From a Housing Problem to a Financial Crisis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Oliver Blanchard</dc:creator>
  <cp:lastModifiedBy>Paromita</cp:lastModifiedBy>
  <cp:revision>142</cp:revision>
  <dcterms:created xsi:type="dcterms:W3CDTF">2012-08-09T20:37:31Z</dcterms:created>
  <dcterms:modified xsi:type="dcterms:W3CDTF">2016-10-06T04:21:44Z</dcterms:modified>
</cp:coreProperties>
</file>