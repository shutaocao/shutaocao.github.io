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7"/>
  </p:notesMasterIdLst>
  <p:sldIdLst>
    <p:sldId id="256" r:id="rId2"/>
    <p:sldId id="269" r:id="rId3"/>
    <p:sldId id="308" r:id="rId4"/>
    <p:sldId id="296" r:id="rId5"/>
    <p:sldId id="309" r:id="rId6"/>
    <p:sldId id="297" r:id="rId7"/>
    <p:sldId id="310" r:id="rId8"/>
    <p:sldId id="298" r:id="rId9"/>
    <p:sldId id="299" r:id="rId10"/>
    <p:sldId id="300" r:id="rId11"/>
    <p:sldId id="311" r:id="rId12"/>
    <p:sldId id="312" r:id="rId13"/>
    <p:sldId id="313" r:id="rId14"/>
    <p:sldId id="304" r:id="rId15"/>
    <p:sldId id="315" r:id="rId16"/>
    <p:sldId id="317" r:id="rId17"/>
    <p:sldId id="316" r:id="rId18"/>
    <p:sldId id="318" r:id="rId19"/>
    <p:sldId id="305" r:id="rId20"/>
    <p:sldId id="319" r:id="rId21"/>
    <p:sldId id="320" r:id="rId22"/>
    <p:sldId id="321" r:id="rId23"/>
    <p:sldId id="322" r:id="rId24"/>
    <p:sldId id="306" r:id="rId25"/>
    <p:sldId id="323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599D"/>
    <a:srgbClr val="BBE5FB"/>
    <a:srgbClr val="BFDC42"/>
    <a:srgbClr val="D8F2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6"/>
    <p:restoredTop sz="94690"/>
  </p:normalViewPr>
  <p:slideViewPr>
    <p:cSldViewPr>
      <p:cViewPr varScale="1">
        <p:scale>
          <a:sx n="77" d="100"/>
          <a:sy n="77" d="100"/>
        </p:scale>
        <p:origin x="-90" y="-8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358A83D-3E8E-422B-A1C7-AED542456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10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ヒラギノ角ゴ Pro W3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BBE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599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Verdana" panose="020B0604030504040204" pitchFamily="34" charset="0"/>
            </a:endParaRPr>
          </a:p>
        </p:txBody>
      </p:sp>
      <p:pic>
        <p:nvPicPr>
          <p:cNvPr id="3" name="Picture 3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6356350"/>
            <a:ext cx="165576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Pearson_Strap_Bound_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9081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205590" cy="640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410872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771439"/>
      </p:ext>
    </p:extLst>
  </p:cSld>
  <p:clrMapOvr>
    <a:masterClrMapping/>
  </p:clrMapOvr>
  <p:transition>
    <p:strips dir="l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352075451"/>
      </p:ext>
    </p:extLst>
  </p:cSld>
  <p:clrMapOvr>
    <a:masterClrMapping/>
  </p:clrMapOvr>
  <p:transition>
    <p:strips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50072493"/>
      </p:ext>
    </p:extLst>
  </p:cSld>
  <p:clrMapOvr>
    <a:masterClrMapping/>
  </p:clrMapOvr>
  <p:transition>
    <p:strips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7435220"/>
      </p:ext>
    </p:extLst>
  </p:cSld>
  <p:clrMapOvr>
    <a:masterClrMapping/>
  </p:clrMapOvr>
  <p:transition>
    <p:strips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4062720"/>
      </p:ext>
    </p:extLst>
  </p:cSld>
  <p:clrMapOvr>
    <a:masterClrMapping/>
  </p:clrMapOvr>
  <p:transition>
    <p:strips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750255790"/>
      </p:ext>
    </p:extLst>
  </p:cSld>
  <p:clrMapOvr>
    <a:masterClrMapping/>
  </p:clrMapOvr>
  <p:transition>
    <p:strips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884679804"/>
      </p:ext>
    </p:extLst>
  </p:cSld>
  <p:clrMapOvr>
    <a:masterClrMapping/>
  </p:clrMapOvr>
  <p:transition>
    <p:strips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3337429884"/>
      </p:ext>
    </p:extLst>
  </p:cSld>
  <p:clrMapOvr>
    <a:masterClrMapping/>
  </p:clrMapOvr>
  <p:transition>
    <p:strips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8792299"/>
      </p:ext>
    </p:extLst>
  </p:cSld>
  <p:clrMapOvr>
    <a:masterClrMapping/>
  </p:clrMapOvr>
  <p:transition>
    <p:strips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145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1912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5461388"/>
      </p:ext>
    </p:extLst>
  </p:cSld>
  <p:clrMapOvr>
    <a:masterClrMapping/>
  </p:clrMapOvr>
  <p:transition>
    <p:strips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fld id="{EF38A850-ADD0-4F7D-99F1-C19676CE30E4}" type="datetime1">
              <a:rPr lang="en-US"/>
              <a:pPr>
                <a:defRPr/>
              </a:pPr>
              <a:t>10/6/2016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r>
              <a:rPr lang="en-US"/>
              <a:t>Copyright © 2013 Pearson Education, Inc.</a:t>
            </a:r>
          </a:p>
          <a:p>
            <a:pPr>
              <a:defRPr/>
            </a:pPr>
            <a:r>
              <a:rPr lang="en-US"/>
              <a:t>Publishing as Prentice Hall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2A68BFA4-ED51-4D11-92C9-125F6EFF3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78001293"/>
      </p:ext>
    </p:extLst>
  </p:cSld>
  <p:clrMapOvr>
    <a:masterClrMapping/>
  </p:clrMapOvr>
  <p:transition>
    <p:strips dir="ld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60A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gray">
          <a:xfrm>
            <a:off x="381000" y="6577013"/>
            <a:ext cx="53990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US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Copyright ©2017 Pearson Education, Ltd. All rights reserved.</a:t>
            </a:r>
            <a:endParaRPr lang="en-GB" sz="900" dirty="0" smtClean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gray">
          <a:xfrm>
            <a:off x="8402638" y="6577013"/>
            <a:ext cx="3603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8-</a:t>
            </a:r>
            <a:fld id="{604DE8C7-66CF-465F-9818-9F61582FDCEB}" type="slidenum">
              <a:rPr lang="en-GB" sz="900" smtClean="0">
                <a:solidFill>
                  <a:schemeClr val="bg1"/>
                </a:solidFill>
                <a:latin typeface="Verdana" panose="020B0604030504040204" pitchFamily="34" charset="0"/>
              </a:rPr>
              <a:pPr>
                <a:defRPr/>
              </a:pPr>
              <a:t>‹#›</a:t>
            </a:fld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40" r:id="rId12"/>
  </p:sldLayoutIdLst>
  <p:transition>
    <p:strips dir="ld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ヒラギノ角ゴ Pro W3" pitchFamily="-1" charset="-128"/>
          <a:cs typeface="ヒラギノ角ゴ Pro W3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ヒラギノ角ゴ Pro W3" pitchFamily="-1" charset="-128"/>
          <a:cs typeface="ヒラギノ角ゴ Pro W3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ヒラギノ角ゴ Pro W3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ヒラギノ角ゴ Pro W3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181600" y="1524000"/>
            <a:ext cx="3810000" cy="1676400"/>
          </a:xfrm>
        </p:spPr>
        <p:txBody>
          <a:bodyPr/>
          <a:lstStyle/>
          <a:p>
            <a:pPr algn="ctr" eaLnBrk="1" hangingPunct="1"/>
            <a:r>
              <a:rPr lang="en-US" sz="2800" dirty="0" smtClean="0">
                <a:ea typeface="ヒラギノ角ゴ Pro W3" pitchFamily="-84" charset="-128"/>
              </a:rPr>
              <a:t>The Phillips Curve, the Natural Rate of Unemployment, and Inflation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953000" y="3886200"/>
            <a:ext cx="4191000" cy="1752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 smtClean="0">
                <a:ea typeface="ヒラギノ角ゴ Pro W3" pitchFamily="-84" charset="-128"/>
              </a:rPr>
              <a:t>Chapter 8</a:t>
            </a: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Chapter 8 Outline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533400" y="1295400"/>
            <a:ext cx="85344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lang="en-US" sz="2400" b="1" dirty="0">
                <a:ea typeface="ヒラギノ角ゴ Pro W3" pitchFamily="-84" charset="-128"/>
              </a:rPr>
              <a:t>The Phillips Curve, the Natural Rate of </a:t>
            </a:r>
            <a:r>
              <a:rPr lang="en-US" sz="2400" b="1" dirty="0" smtClean="0">
                <a:ea typeface="ヒラギノ角ゴ Pro W3" pitchFamily="-84" charset="-128"/>
              </a:rPr>
              <a:t>Unemployment</a:t>
            </a:r>
            <a:r>
              <a:rPr lang="en-US" sz="2400" b="1" dirty="0">
                <a:ea typeface="ヒラギノ角ゴ Pro W3" pitchFamily="-84" charset="-128"/>
              </a:rPr>
              <a:t>, and </a:t>
            </a:r>
            <a:r>
              <a:rPr lang="en-US" sz="2400" b="1" dirty="0" smtClean="0">
                <a:ea typeface="ヒラギノ角ゴ Pro W3" pitchFamily="-84" charset="-128"/>
              </a:rPr>
              <a:t>Inflation</a:t>
            </a:r>
          </a:p>
          <a:p>
            <a:pPr marL="0" indent="0" eaLnBrk="1" hangingPunct="1">
              <a:buFontTx/>
              <a:buNone/>
              <a:defRPr/>
            </a:pP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200" kern="0" dirty="0" smtClean="0">
                <a:ea typeface="ヒラギノ角ゴ Pro W3" pitchFamily="-84" charset="-128"/>
              </a:rPr>
              <a:t>8-1	</a:t>
            </a:r>
            <a:r>
              <a:rPr lang="en-US" sz="2200" kern="0" dirty="0">
                <a:ea typeface="ヒラギノ角ゴ Pro W3" pitchFamily="-84" charset="-128"/>
              </a:rPr>
              <a:t>Inflation, Expected Inflation, and </a:t>
            </a:r>
            <a:r>
              <a:rPr lang="en-US" sz="2200" kern="0" dirty="0" smtClean="0">
                <a:ea typeface="ヒラギノ角ゴ Pro W3" pitchFamily="-84" charset="-128"/>
              </a:rPr>
              <a:t>Unemployment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200" kern="0" dirty="0" smtClean="0">
                <a:ea typeface="ヒラギノ角ゴ Pro W3" pitchFamily="-84" charset="-128"/>
              </a:rPr>
              <a:t>8-2	The Phillips Curve and Its Mutations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200" kern="0" dirty="0" smtClean="0">
                <a:ea typeface="ヒラギノ角ゴ Pro W3" pitchFamily="-84" charset="-128"/>
              </a:rPr>
              <a:t>8-3	The Phillips Curve and the Natural Rate of Unemployment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200" kern="0" dirty="0" smtClean="0">
                <a:ea typeface="ヒラギノ角ゴ Pro W3" pitchFamily="-84" charset="-128"/>
              </a:rPr>
              <a:t>8-4	A Summary and Many Warnings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200" kern="0" dirty="0" smtClean="0">
                <a:ea typeface="ヒラギノ角ゴ Pro W3" pitchFamily="-84" charset="-128"/>
              </a:rPr>
              <a:t>APPENDIX   How </a:t>
            </a:r>
            <a:r>
              <a:rPr lang="en-US" sz="2200" kern="0" dirty="0">
                <a:ea typeface="ヒラギノ角ゴ Pro W3" pitchFamily="-84" charset="-128"/>
              </a:rPr>
              <a:t>to go from the Relation between the Price Level, the Expected Price Level, and Unemployment to a Relation between Inflation, Expected Inflation, and Unemployment</a:t>
            </a:r>
            <a:endParaRPr lang="en-US" sz="2200" kern="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dirty="0">
                <a:ea typeface="ヒラギノ角ゴ Pro W3" pitchFamily="-84" charset="-128"/>
              </a:rPr>
              <a:t>The Phillips Curve, the Natural Rate of Unemployment, and Inflation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In 1958. A.W. Phillips found a negative relation between inflation and unemployment.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Two years later, Paul Samuelson and Robert Solow labeled this relation the </a:t>
            </a:r>
            <a:r>
              <a:rPr lang="en-US" sz="2400" b="1" dirty="0" smtClean="0">
                <a:ea typeface="ヒラギノ角ゴ Pro W3" pitchFamily="-84" charset="-128"/>
              </a:rPr>
              <a:t>Phillips curve</a:t>
            </a:r>
            <a:r>
              <a:rPr lang="en-US" sz="2400" dirty="0" smtClean="0">
                <a:ea typeface="ヒラギノ角ゴ Pro W3" pitchFamily="-84" charset="-128"/>
              </a:rPr>
              <a:t>, which became central to macroeconomic thinking and policy.</a:t>
            </a:r>
          </a:p>
        </p:txBody>
      </p:sp>
    </p:spTree>
    <p:extLst>
      <p:ext uri="{BB962C8B-B14F-4D97-AF65-F5344CB8AC3E}">
        <p14:creationId xmlns="" xmlns:p14="http://schemas.microsoft.com/office/powerpoint/2010/main" val="2470529902"/>
      </p:ext>
    </p:extLst>
  </p:cSld>
  <p:clrMapOvr>
    <a:masterClrMapping/>
  </p:clrMapOvr>
  <p:transition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ea typeface="ヒラギノ角ゴ Pro W3" pitchFamily="-65" charset="-128"/>
              </a:rPr>
              <a:t>Figure 8-1  </a:t>
            </a:r>
            <a:r>
              <a:rPr lang="en-US" sz="2400" b="0" dirty="0" smtClean="0">
                <a:ea typeface="ヒラギノ角ゴ Pro W3" pitchFamily="-65" charset="-128"/>
              </a:rPr>
              <a:t>Inflation versus Unemployment in the United States, 1900–1960</a:t>
            </a:r>
          </a:p>
        </p:txBody>
      </p:sp>
      <p:pic>
        <p:nvPicPr>
          <p:cNvPr id="16387" name="Picture 3" descr="fig08_0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371600"/>
            <a:ext cx="64484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1752600" cy="30480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400" dirty="0" smtClean="0">
                <a:ea typeface="ヒラギノ角ゴ Pro W3" pitchFamily="-84" charset="-128"/>
              </a:rPr>
              <a:t>During the period 1900-1960 in the United States, a low unemployment rate was typically associated with a high inflation rate, and a high unemployment rate was typically associated with a low or negative inflation rate.</a:t>
            </a:r>
          </a:p>
        </p:txBody>
      </p:sp>
    </p:spTree>
    <p:extLst>
      <p:ext uri="{BB962C8B-B14F-4D97-AF65-F5344CB8AC3E}">
        <p14:creationId xmlns="" xmlns:p14="http://schemas.microsoft.com/office/powerpoint/2010/main" val="2536351230"/>
      </p:ext>
    </p:extLst>
  </p:cSld>
  <p:clrMapOvr>
    <a:masterClrMapping/>
  </p:clrMapOvr>
  <p:transition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8-1 Inflation, Expected Inflation, and Unemployment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/>
          <a:srcRect b="54074"/>
          <a:stretch/>
        </p:blipFill>
        <p:spPr>
          <a:xfrm>
            <a:off x="1469231" y="2050054"/>
            <a:ext cx="7200900" cy="4068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5691" y="3397305"/>
            <a:ext cx="7386638" cy="40005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7346" y="1461227"/>
            <a:ext cx="8232785" cy="23241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Recall the wage determination equation (7.1):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 marL="0" indent="398463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and the price determination equation (7.3):</a:t>
            </a:r>
          </a:p>
          <a:p>
            <a:pPr marL="0" indent="398463">
              <a:spcBef>
                <a:spcPts val="525"/>
              </a:spcBef>
              <a:buNone/>
            </a:pPr>
            <a:endParaRPr lang="en-US" sz="2400" dirty="0">
              <a:ea typeface="ヒラギノ角ゴ Pro W3" pitchFamily="-84" charset="-128"/>
            </a:endParaRPr>
          </a:p>
          <a:p>
            <a:pPr marL="0" indent="398463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Substitute equation (7.1) for W in equation (7.3):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91354" y="4737782"/>
            <a:ext cx="3386138" cy="4143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42240862"/>
      </p:ext>
    </p:extLst>
  </p:cSld>
  <p:clrMapOvr>
    <a:masterClrMapping/>
  </p:clrMapOvr>
  <p:transition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8-1 Inflation, Expected Inflation, and Unemployment</a:t>
            </a:r>
          </a:p>
        </p:txBody>
      </p:sp>
      <p:pic>
        <p:nvPicPr>
          <p:cNvPr id="17411" name="Picture 3" descr="eq08_0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" y="4038600"/>
            <a:ext cx="813593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7347" y="1461227"/>
            <a:ext cx="8020854" cy="700657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Assume a specific form for </a:t>
            </a:r>
            <a:r>
              <a:rPr lang="en-US" sz="2400" i="1" dirty="0" smtClean="0">
                <a:ea typeface="ヒラギノ角ゴ Pro W3" pitchFamily="-84" charset="-128"/>
              </a:rPr>
              <a:t>F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>
              <a:spcBef>
                <a:spcPts val="0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0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 marL="398463" indent="0">
              <a:spcBef>
                <a:spcPts val="0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so that the </a:t>
            </a:r>
            <a:r>
              <a:rPr lang="en-US" sz="2400" i="1" dirty="0" smtClean="0">
                <a:ea typeface="ヒラギノ角ゴ Pro W3" pitchFamily="-84" charset="-128"/>
              </a:rPr>
              <a:t>relation between the price level, the expected price level, and the unemployment rate </a:t>
            </a:r>
            <a:r>
              <a:rPr lang="en-US" sz="2400" dirty="0" smtClean="0">
                <a:ea typeface="ヒラギノ角ゴ Pro W3" pitchFamily="-84" charset="-128"/>
              </a:rPr>
              <a:t>is:</a:t>
            </a:r>
          </a:p>
          <a:p>
            <a:pPr marL="398463" indent="0">
              <a:spcBef>
                <a:spcPts val="525"/>
              </a:spcBef>
              <a:buNone/>
            </a:pPr>
            <a:endParaRPr lang="en-US" sz="2400" dirty="0">
              <a:ea typeface="ヒラギノ角ゴ Pro W3" pitchFamily="-84" charset="-128"/>
            </a:endParaRPr>
          </a:p>
          <a:p>
            <a:pPr marL="398463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  <a:p>
            <a:pPr marL="398463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or in terms </a:t>
            </a:r>
            <a:r>
              <a:rPr lang="en-US" sz="2400" dirty="0">
                <a:ea typeface="ヒラギノ角ゴ Pro W3" pitchFamily="-84" charset="-128"/>
              </a:rPr>
              <a:t>of inflation rate </a:t>
            </a:r>
            <a:r>
              <a:rPr lang="el-GR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dirty="0">
                <a:ea typeface="ヒラギノ角ゴ Pro W3" pitchFamily="-84" charset="-128"/>
              </a:rPr>
              <a:t> and the expected inflation rate </a:t>
            </a:r>
            <a:r>
              <a:rPr lang="el-GR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i="1" baseline="30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:</a:t>
            </a: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1947571"/>
            <a:ext cx="3300413" cy="428625"/>
          </a:xfrm>
          <a:prstGeom prst="rect">
            <a:avLst/>
          </a:prstGeom>
        </p:spPr>
      </p:pic>
      <p:pic>
        <p:nvPicPr>
          <p:cNvPr id="10" name="Picture 4" descr="eq08_02.gif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562600"/>
            <a:ext cx="8135938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148462987"/>
      </p:ext>
    </p:extLst>
  </p:cSld>
  <p:clrMapOvr>
    <a:masterClrMapping/>
  </p:clrMapOvr>
  <p:transition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8-1 Inflation, Expected Inflation, and Unemployment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7346" y="1461227"/>
            <a:ext cx="8173253" cy="4406173"/>
          </a:xfrm>
        </p:spPr>
        <p:txBody>
          <a:bodyPr/>
          <a:lstStyle/>
          <a:p>
            <a:pPr marL="339725" indent="-339725"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An increase in </a:t>
            </a:r>
            <a:r>
              <a:rPr lang="el-GR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i="1" baseline="30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i="1" dirty="0" smtClean="0">
                <a:ea typeface="ヒラギノ角ゴ Pro W3" pitchFamily="-84" charset="-128"/>
              </a:rPr>
              <a:t> leads to an increase in </a:t>
            </a:r>
            <a:r>
              <a:rPr lang="el-GR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i="1" dirty="0" smtClean="0">
                <a:ea typeface="ヒラギノ角ゴ Pro W3" pitchFamily="-84" charset="-128"/>
              </a:rPr>
              <a:t>.</a:t>
            </a:r>
          </a:p>
          <a:p>
            <a:pPr marL="339725" indent="-339725"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Given </a:t>
            </a:r>
            <a:r>
              <a:rPr lang="el-GR" i="1" dirty="0">
                <a:solidFill>
                  <a:srgbClr val="000000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i="1" dirty="0" smtClean="0">
                <a:ea typeface="ヒラギノ角ゴ Pro W3" pitchFamily="-84" charset="-128"/>
              </a:rPr>
              <a:t>, an increase in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m</a:t>
            </a:r>
            <a:r>
              <a:rPr lang="en-US" sz="2400" i="1" dirty="0" smtClean="0">
                <a:ea typeface="ヒラギノ角ゴ Pro W3" pitchFamily="-84" charset="-128"/>
              </a:rPr>
              <a:t>, or an increase in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z</a:t>
            </a:r>
            <a:r>
              <a:rPr lang="en-US" sz="2400" i="1" dirty="0" smtClean="0">
                <a:ea typeface="ヒラギノ角ゴ Pro W3" pitchFamily="-84" charset="-128"/>
              </a:rPr>
              <a:t>, leads to an increase in </a:t>
            </a:r>
            <a:r>
              <a:rPr lang="el-GR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i="1" dirty="0" smtClean="0">
                <a:ea typeface="ヒラギノ角ゴ Pro W3" pitchFamily="-84" charset="-128"/>
              </a:rPr>
              <a:t>.</a:t>
            </a:r>
          </a:p>
          <a:p>
            <a:pPr marL="339725" indent="-339725"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Given </a:t>
            </a:r>
            <a:r>
              <a:rPr lang="el-GR" i="1" dirty="0">
                <a:solidFill>
                  <a:srgbClr val="000000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i="1" dirty="0" smtClean="0">
                <a:ea typeface="ヒラギノ角ゴ Pro W3" pitchFamily="-84" charset="-128"/>
              </a:rPr>
              <a:t>, a decrease in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</a:t>
            </a:r>
            <a:r>
              <a:rPr lang="en-US" sz="2400" i="1" dirty="0" smtClean="0">
                <a:ea typeface="ヒラギノ角ゴ Pro W3" pitchFamily="-84" charset="-128"/>
              </a:rPr>
              <a:t> leads to an increase in </a:t>
            </a:r>
            <a:r>
              <a:rPr lang="el-GR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i="1" dirty="0" smtClean="0">
                <a:ea typeface="ヒラギノ角ゴ Pro W3" pitchFamily="-84" charset="-128"/>
              </a:rPr>
              <a:t>.</a:t>
            </a:r>
          </a:p>
          <a:p>
            <a:pPr marL="339725" indent="-339725"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Equation (2.2) with a time index </a:t>
            </a:r>
            <a:r>
              <a:rPr lang="en-US" sz="2400" i="1" dirty="0" smtClean="0">
                <a:ea typeface="ヒラギノ角ゴ Pro W3" pitchFamily="-84" charset="-128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9" name="Picture 5" descr="eq08_03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31" y="4191000"/>
            <a:ext cx="8135938" cy="305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365056426"/>
      </p:ext>
    </p:extLst>
  </p:cSld>
  <p:clrMapOvr>
    <a:masterClrMapping/>
  </p:clrMapOvr>
  <p:transition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8-2 The Phillips Curve and Its Mutations</a:t>
            </a:r>
          </a:p>
        </p:txBody>
      </p:sp>
      <p:pic>
        <p:nvPicPr>
          <p:cNvPr id="18435" name="Picture 3" descr="eq08_04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48" y="2077974"/>
            <a:ext cx="7526338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153400" cy="4406173"/>
          </a:xfrm>
        </p:spPr>
        <p:txBody>
          <a:bodyPr/>
          <a:lstStyle/>
          <a:p>
            <a:pPr marL="339725" indent="-339725"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Assume             , so that equation (8.3) becomes:</a:t>
            </a:r>
          </a:p>
          <a:p>
            <a:pPr marL="339725" indent="-339725"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 marL="339725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which is a negative relation between unemployment and inflation.</a:t>
            </a:r>
          </a:p>
          <a:p>
            <a:pPr marL="339725" indent="-339725"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This Phillips curve relation was observed in the United States in the 1960s.</a:t>
            </a:r>
          </a:p>
          <a:p>
            <a:pPr marL="339725" indent="-339725"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relation vanished in the 1970s because wage setters changed the way they formed inflation expectations.</a:t>
            </a: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89201" y="1427226"/>
            <a:ext cx="1287399" cy="4015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90425802"/>
      </p:ext>
    </p:extLst>
  </p:cSld>
  <p:clrMapOvr>
    <a:masterClrMapping/>
  </p:clrMapOvr>
  <p:transition>
    <p:strips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8-2 The Phillips Curve and Its Mutations</a:t>
            </a:r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381000" y="1239043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8-2 </a:t>
            </a:r>
            <a:r>
              <a:rPr lang="en-US" sz="1800" dirty="0">
                <a:latin typeface="Verdana" panose="020B0604030504040204" pitchFamily="34" charset="0"/>
              </a:rPr>
              <a:t>Inflation versus Unemployment in the United States, 1948–1969</a:t>
            </a:r>
          </a:p>
        </p:txBody>
      </p:sp>
      <p:pic>
        <p:nvPicPr>
          <p:cNvPr id="19460" name="Picture 5" descr="fig08_02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761" y="1885156"/>
            <a:ext cx="5715000" cy="429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33400" y="2590800"/>
            <a:ext cx="1951703" cy="30480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The steady decline in the U.S. unemployment rate throughout the 1960s was associated with a steady increase in the inflation rate.</a:t>
            </a:r>
          </a:p>
        </p:txBody>
      </p:sp>
    </p:spTree>
    <p:extLst>
      <p:ext uri="{BB962C8B-B14F-4D97-AF65-F5344CB8AC3E}">
        <p14:creationId xmlns="" xmlns:p14="http://schemas.microsoft.com/office/powerpoint/2010/main" val="3795166826"/>
      </p:ext>
    </p:extLst>
  </p:cSld>
  <p:clrMapOvr>
    <a:masterClrMapping/>
  </p:clrMapOvr>
  <p:transition>
    <p:strips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8-2 </a:t>
            </a:r>
            <a:r>
              <a:rPr lang="en-US" dirty="0">
                <a:ea typeface="ヒラギノ角ゴ Pro W3" pitchFamily="-65" charset="-128"/>
              </a:rPr>
              <a:t>The Phillips Curve and Its Mutations</a:t>
            </a:r>
            <a:endParaRPr lang="en-US" dirty="0" smtClean="0">
              <a:ea typeface="ヒラギノ角ゴ Pro W3" pitchFamily="-65" charset="-128"/>
            </a:endParaRPr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381000" y="1252356"/>
            <a:ext cx="830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8-3  </a:t>
            </a:r>
            <a:r>
              <a:rPr lang="en-US" sz="1800" dirty="0">
                <a:latin typeface="Verdana" panose="020B0604030504040204" pitchFamily="34" charset="0"/>
              </a:rPr>
              <a:t>Inflation versus Unemployment in the United States, 1970–2010</a:t>
            </a:r>
          </a:p>
        </p:txBody>
      </p:sp>
      <p:pic>
        <p:nvPicPr>
          <p:cNvPr id="20484" name="Picture 6" descr="fig08_03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737" y="1901825"/>
            <a:ext cx="6113463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33400" y="2590800"/>
            <a:ext cx="1951703" cy="30480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Beginning in 1970 in the United States, the relation between the unemployment rate and the inflation rate disappeared.</a:t>
            </a:r>
          </a:p>
        </p:txBody>
      </p:sp>
    </p:spTree>
    <p:extLst>
      <p:ext uri="{BB962C8B-B14F-4D97-AF65-F5344CB8AC3E}">
        <p14:creationId xmlns="" xmlns:p14="http://schemas.microsoft.com/office/powerpoint/2010/main" val="4197932005"/>
      </p:ext>
    </p:extLst>
  </p:cSld>
  <p:clrMapOvr>
    <a:masterClrMapping/>
  </p:clrMapOvr>
  <p:transition>
    <p:strips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8-2 The Phillips Curve and Its Mutations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447800"/>
                <a:ext cx="8020854" cy="4406173"/>
              </a:xfrm>
            </p:spPr>
            <p:txBody>
              <a:bodyPr/>
              <a:lstStyle/>
              <a:p>
                <a:pPr marL="339725" indent="-339725"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Suppose expected inflation this year depends on a constant value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sz="2400" dirty="0" smtClean="0">
                    <a:ea typeface="ヒラギノ角ゴ Pro W3" pitchFamily="-84" charset="-128"/>
                  </a:rPr>
                  <a:t> with weight 1−</a:t>
                </a:r>
                <a:r>
                  <a:rPr lang="el-GR" sz="2400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θ</a:t>
                </a:r>
                <a:r>
                  <a:rPr lang="en-US" sz="2400" dirty="0" smtClean="0">
                    <a:ea typeface="ヒラギノ角ゴ Pro W3" pitchFamily="-84" charset="-128"/>
                  </a:rPr>
                  <a:t>, and partly on inflation last year with weight </a:t>
                </a:r>
                <a:r>
                  <a:rPr lang="el-GR" sz="2400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θ</a:t>
                </a:r>
                <a:r>
                  <a:rPr lang="en-US" sz="2400" dirty="0" smtClean="0">
                    <a:ea typeface="ヒラギノ角ゴ Pro W3" pitchFamily="-84" charset="-128"/>
                  </a:rPr>
                  <a:t>:</a:t>
                </a:r>
              </a:p>
              <a:p>
                <a:pPr marL="339725" indent="-339725">
                  <a:spcBef>
                    <a:spcPts val="525"/>
                  </a:spcBef>
                </a:pPr>
                <a:endParaRPr lang="en-US" sz="2400" dirty="0">
                  <a:ea typeface="ヒラギノ角ゴ Pro W3" pitchFamily="-84" charset="-128"/>
                </a:endParaRPr>
              </a:p>
              <a:p>
                <a:pPr marL="339725" indent="-339725"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 marL="339725" indent="-339725">
                  <a:spcBef>
                    <a:spcPts val="525"/>
                  </a:spcBef>
                  <a:spcAft>
                    <a:spcPts val="600"/>
                  </a:spcAft>
                </a:pPr>
                <a:r>
                  <a:rPr lang="en-US" sz="2400" dirty="0" smtClean="0">
                    <a:ea typeface="ヒラギノ角ゴ Pro W3" pitchFamily="-84" charset="-128"/>
                  </a:rPr>
                  <a:t>When </a:t>
                </a:r>
                <a:r>
                  <a:rPr lang="el-GR" sz="2400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θ </a:t>
                </a:r>
                <a:r>
                  <a:rPr lang="en-US" sz="2400" dirty="0">
                    <a:ea typeface="ヒラギノ角ゴ Pro W3" pitchFamily="-84" charset="-128"/>
                  </a:rPr>
                  <a:t>=0, </a:t>
                </a:r>
                <a:endParaRPr lang="en-US" sz="2400" dirty="0" smtClean="0">
                  <a:ea typeface="ヒラギノ角ゴ Pro W3" pitchFamily="-84" charset="-128"/>
                </a:endParaRPr>
              </a:p>
              <a:p>
                <a:pPr marL="339725" indent="-339725">
                  <a:spcBef>
                    <a:spcPts val="525"/>
                  </a:spcBef>
                  <a:spcAft>
                    <a:spcPts val="600"/>
                  </a:spcAft>
                </a:pPr>
                <a:r>
                  <a:rPr lang="en-US" sz="2400" dirty="0" smtClean="0">
                    <a:ea typeface="ヒラギノ角ゴ Pro W3" pitchFamily="-84" charset="-128"/>
                  </a:rPr>
                  <a:t>When </a:t>
                </a:r>
                <a:r>
                  <a:rPr lang="el-GR" sz="2400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θ </a:t>
                </a:r>
                <a:r>
                  <a:rPr lang="en-US" sz="2400" dirty="0" smtClean="0">
                    <a:ea typeface="ヒラギノ角ゴ Pro W3" pitchFamily="-84" charset="-128"/>
                  </a:rPr>
                  <a:t>&gt;0</a:t>
                </a:r>
                <a:r>
                  <a:rPr lang="en-US" sz="2400" dirty="0">
                    <a:ea typeface="ヒラギノ角ゴ Pro W3" pitchFamily="-84" charset="-128"/>
                  </a:rPr>
                  <a:t>, </a:t>
                </a:r>
                <a:endParaRPr lang="en-US" sz="2400" dirty="0" smtClean="0">
                  <a:ea typeface="ヒラギノ角ゴ Pro W3" pitchFamily="-84" charset="-128"/>
                </a:endParaRPr>
              </a:p>
              <a:p>
                <a:pPr marL="339725" indent="-339725">
                  <a:spcBef>
                    <a:spcPts val="525"/>
                  </a:spcBef>
                  <a:spcAft>
                    <a:spcPts val="600"/>
                  </a:spcAft>
                </a:pPr>
                <a:r>
                  <a:rPr lang="en-US" sz="2400" dirty="0" smtClean="0">
                    <a:ea typeface="ヒラギノ角ゴ Pro W3" pitchFamily="-84" charset="-128"/>
                  </a:rPr>
                  <a:t>When </a:t>
                </a:r>
                <a:r>
                  <a:rPr lang="el-GR" sz="2400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θ </a:t>
                </a:r>
                <a:r>
                  <a:rPr lang="en-US" sz="2400" dirty="0" smtClean="0">
                    <a:ea typeface="ヒラギノ角ゴ Pro W3" pitchFamily="-84" charset="-128"/>
                  </a:rPr>
                  <a:t>=1,                                      , so the unemployment rate affects not the inflation rate, but rather the change in the inflation rate.</a:t>
                </a:r>
              </a:p>
              <a:p>
                <a:pPr marL="339725" indent="-339725"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 marL="339725" indent="-339725">
                  <a:spcBef>
                    <a:spcPts val="525"/>
                  </a:spcBef>
                </a:pPr>
                <a:endParaRPr lang="en-US" sz="2400" i="1" dirty="0" smtClean="0">
                  <a:ea typeface="ヒラギノ角ゴ Pro W3" pitchFamily="-84" charset="-128"/>
                </a:endParaRPr>
              </a:p>
              <a:p>
                <a:pPr marL="0" indent="0">
                  <a:spcBef>
                    <a:spcPts val="525"/>
                  </a:spcBef>
                  <a:buNone/>
                </a:pPr>
                <a:endParaRPr lang="en-US" sz="2400" dirty="0" smtClean="0">
                  <a:ea typeface="ヒラギノ角ゴ Pro W3" pitchFamily="-84" charset="-128"/>
                </a:endParaRPr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447800"/>
                <a:ext cx="8020854" cy="4406173"/>
              </a:xfrm>
              <a:blipFill rotWithShape="0">
                <a:blip r:embed="rId2" cstate="print"/>
                <a:stretch>
                  <a:fillRect l="-2357" t="-2216" r="-1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0" y="2895600"/>
            <a:ext cx="7191280" cy="3531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7000" y="3520964"/>
            <a:ext cx="3581876" cy="3529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89752" y="3963575"/>
            <a:ext cx="6125528" cy="4152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687405" y="4520088"/>
            <a:ext cx="3914108" cy="35299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61517446"/>
      </p:ext>
    </p:extLst>
  </p:cSld>
  <p:clrMapOvr>
    <a:masterClrMapping/>
  </p:clrMapOvr>
  <p:transition>
    <p:strips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8-2 </a:t>
            </a:r>
            <a:r>
              <a:rPr lang="en-US" dirty="0">
                <a:ea typeface="ヒラギノ角ゴ Pro W3" pitchFamily="-65" charset="-128"/>
              </a:rPr>
              <a:t>The Phillips Curve and Its Mutations</a:t>
            </a:r>
            <a:endParaRPr lang="en-US" dirty="0" smtClean="0">
              <a:ea typeface="ヒラギノ角ゴ Pro W3" pitchFamily="-65" charset="-128"/>
            </a:endParaRPr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381000" y="1143000"/>
            <a:ext cx="8305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</a:t>
            </a:r>
            <a:r>
              <a:rPr lang="en-US" sz="1800" b="1" dirty="0" smtClean="0">
                <a:latin typeface="Verdana" panose="020B0604030504040204" pitchFamily="34" charset="0"/>
              </a:rPr>
              <a:t>8-4  </a:t>
            </a:r>
            <a:r>
              <a:rPr lang="en-US" sz="1800" dirty="0" smtClean="0">
                <a:latin typeface="Verdana" panose="020B0604030504040204" pitchFamily="34" charset="0"/>
              </a:rPr>
              <a:t>Change in Inflation versus Unemployment in the United States, 1974–2014</a:t>
            </a:r>
            <a:endParaRPr lang="en-US" sz="1800" dirty="0">
              <a:latin typeface="Verdana" panose="020B060403050404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10758" y="1948543"/>
            <a:ext cx="1951703" cy="30480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Since 1970, there has been a negative relation between the unemployment rate and the change in the inflation rate in the United States.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94371" y="1791789"/>
            <a:ext cx="5944829" cy="3733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8175" y="4514850"/>
            <a:ext cx="2009775" cy="5143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12257624"/>
      </p:ext>
    </p:extLst>
  </p:cSld>
  <p:clrMapOvr>
    <a:masterClrMapping/>
  </p:clrMapOvr>
  <p:transition>
    <p:strips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8-2 The Phillips Curve and Its Mutations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>
                <a:ea typeface="ヒラギノ角ゴ Pro W3" pitchFamily="-84" charset="-128"/>
              </a:rPr>
              <a:t>The line that best fits the scatter of </a:t>
            </a:r>
            <a:r>
              <a:rPr lang="en-US" sz="2400" dirty="0" smtClean="0">
                <a:ea typeface="ヒラギノ角ゴ Pro W3" pitchFamily="-84" charset="-128"/>
              </a:rPr>
              <a:t>points in Figure 8-4 is: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 marL="339725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which is called the </a:t>
            </a:r>
            <a:r>
              <a:rPr lang="en-US" sz="2400" b="1" dirty="0" smtClean="0">
                <a:ea typeface="ヒラギノ角ゴ Pro W3" pitchFamily="-84" charset="-128"/>
              </a:rPr>
              <a:t>modified Phillips curve</a:t>
            </a:r>
            <a:r>
              <a:rPr lang="en-US" sz="2400" dirty="0" smtClean="0">
                <a:ea typeface="ヒラギノ角ゴ Pro W3" pitchFamily="-84" charset="-128"/>
              </a:rPr>
              <a:t>, or the </a:t>
            </a:r>
            <a:r>
              <a:rPr lang="en-US" sz="2400" b="1" dirty="0" smtClean="0">
                <a:ea typeface="ヒラギノ角ゴ Pro W3" pitchFamily="-84" charset="-128"/>
              </a:rPr>
              <a:t>expectations-augmented Phillips curve</a:t>
            </a:r>
            <a:r>
              <a:rPr lang="en-US" sz="2400" dirty="0" smtClean="0">
                <a:ea typeface="ヒラギノ角ゴ Pro W3" pitchFamily="-84" charset="-128"/>
              </a:rPr>
              <a:t>, or the </a:t>
            </a:r>
            <a:r>
              <a:rPr lang="en-US" sz="2400" b="1" dirty="0" err="1" smtClean="0">
                <a:ea typeface="ヒラギノ角ゴ Pro W3" pitchFamily="-84" charset="-128"/>
              </a:rPr>
              <a:t>accelerationist</a:t>
            </a:r>
            <a:r>
              <a:rPr lang="en-US" sz="2400" b="1" dirty="0" smtClean="0">
                <a:ea typeface="ヒラギノ角ゴ Pro W3" pitchFamily="-84" charset="-128"/>
              </a:rPr>
              <a:t> Phillips curve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We shall simply called equation (8.7) the Phillips curve, as opposed to the </a:t>
            </a:r>
            <a:r>
              <a:rPr lang="en-US" sz="2400" i="1" dirty="0" smtClean="0">
                <a:ea typeface="ヒラギノ角ゴ Pro W3" pitchFamily="-84" charset="-128"/>
              </a:rPr>
              <a:t>original</a:t>
            </a:r>
            <a:r>
              <a:rPr lang="en-US" sz="2400" dirty="0" smtClean="0">
                <a:ea typeface="ヒラギノ角ゴ Pro W3" pitchFamily="-84" charset="-128"/>
              </a:rPr>
              <a:t> Phillips curve (8.4).</a:t>
            </a: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0" y="2438400"/>
            <a:ext cx="7132320" cy="4114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15490276"/>
      </p:ext>
    </p:extLst>
  </p:cSld>
  <p:clrMapOvr>
    <a:masterClrMapping/>
  </p:clrMapOvr>
  <p:transition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8-3 The Phillips Curve and the Natural Rate of Unemployment</a:t>
            </a:r>
          </a:p>
        </p:txBody>
      </p:sp>
      <p:pic>
        <p:nvPicPr>
          <p:cNvPr id="24579" name="Picture 4" descr="eq08_08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33600"/>
            <a:ext cx="66294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001000" cy="4038599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Suppose </a:t>
            </a:r>
            <a:r>
              <a:rPr lang="el-GR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= </a:t>
            </a:r>
            <a:r>
              <a:rPr lang="el-GR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i="1" baseline="30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e</a:t>
            </a:r>
            <a:r>
              <a:rPr lang="en-US" sz="2400" dirty="0"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and solve for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</a:t>
            </a:r>
            <a:r>
              <a:rPr lang="en-US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 in equation (8.3):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Rewrite equation (8.3) as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   so equation (8.8) can be rewritten as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0" y="3350260"/>
            <a:ext cx="3810000" cy="750669"/>
          </a:xfrm>
          <a:prstGeom prst="rect">
            <a:avLst/>
          </a:prstGeom>
        </p:spPr>
      </p:pic>
      <p:pic>
        <p:nvPicPr>
          <p:cNvPr id="10" name="Picture 6" descr="eq08_09.gif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737100"/>
            <a:ext cx="75438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066917101"/>
      </p:ext>
    </p:extLst>
  </p:cSld>
  <p:clrMapOvr>
    <a:masterClrMapping/>
  </p:clrMapOvr>
  <p:transition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8-3 The Phillips Curve and the Natural Rate of Unemployment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524000"/>
                <a:ext cx="8001000" cy="4038599"/>
              </a:xfrm>
            </p:spPr>
            <p:txBody>
              <a:bodyPr/>
              <a:lstStyle/>
              <a:p>
                <a:pPr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If </a:t>
                </a:r>
                <a:r>
                  <a:rPr lang="el-GR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i="1" baseline="30000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e</a:t>
                </a:r>
                <a:r>
                  <a:rPr lang="en-US" dirty="0" smtClean="0">
                    <a:ea typeface="ヒラギノ角ゴ Pro W3" pitchFamily="-84" charset="-128"/>
                  </a:rPr>
                  <a:t> </a:t>
                </a:r>
                <a:r>
                  <a:rPr lang="en-US" sz="2400" dirty="0" smtClean="0">
                    <a:ea typeface="ヒラギノ角ゴ Pro W3" pitchFamily="-84" charset="-128"/>
                  </a:rPr>
                  <a:t>is well approximated </a:t>
                </a:r>
                <a:r>
                  <a:rPr lang="el-GR" sz="24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sz="2400" i="1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t-</a:t>
                </a:r>
                <a:r>
                  <a:rPr lang="en-US" sz="2400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  <a:r>
                  <a:rPr lang="en-US" sz="2400" dirty="0" smtClean="0">
                    <a:ea typeface="ヒラギノ角ゴ Pro W3" pitchFamily="-84" charset="-128"/>
                  </a:rPr>
                  <a:t>, then</a:t>
                </a:r>
              </a:p>
              <a:p>
                <a:pPr>
                  <a:spcBef>
                    <a:spcPts val="525"/>
                  </a:spcBef>
                </a:pPr>
                <a:endParaRPr lang="en-US" sz="2400" dirty="0">
                  <a:ea typeface="ヒラギノ角ゴ Pro W3" pitchFamily="-84" charset="-128"/>
                </a:endParaRPr>
              </a:p>
              <a:p>
                <a:pPr marL="0" indent="0" algn="ctr">
                  <a:spcBef>
                    <a:spcPts val="525"/>
                  </a:spcBef>
                  <a:buNone/>
                </a:pPr>
                <a:r>
                  <a:rPr lang="en-US" i="1" dirty="0" err="1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u</a:t>
                </a:r>
                <a:r>
                  <a:rPr lang="en-US" i="1" baseline="-25000" dirty="0" err="1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&lt; u</a:t>
                </a:r>
                <a:r>
                  <a:rPr lang="en-US" i="1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n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i="1" dirty="0" smtClean="0">
                            <a:latin typeface="Cambria Math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groupChr>
                  </m:oMath>
                </a14:m>
                <a:r>
                  <a:rPr lang="en-US" sz="2400" dirty="0" smtClean="0">
                    <a:ea typeface="ヒラギノ角ゴ Pro W3" pitchFamily="-84" charset="-128"/>
                    <a:sym typeface="Wingdings" panose="05000000000000000000" pitchFamily="2" charset="2"/>
                  </a:rPr>
                  <a:t> </a:t>
                </a:r>
                <a:r>
                  <a:rPr lang="el-GR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sz="24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&gt; </a:t>
                </a:r>
                <a:r>
                  <a:rPr lang="el-GR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i="1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t-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</a:p>
              <a:p>
                <a:pPr marL="0" indent="0" algn="ctr">
                  <a:spcBef>
                    <a:spcPts val="525"/>
                  </a:spcBef>
                  <a:buNone/>
                </a:pPr>
                <a:r>
                  <a:rPr lang="en-US" i="1" dirty="0" err="1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u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&gt; 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u</a:t>
                </a:r>
                <a:r>
                  <a:rPr lang="en-US" i="1" baseline="-25000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n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i="1" dirty="0">
                            <a:latin typeface="Cambria Math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groupChr>
                  </m:oMath>
                </a14:m>
                <a:r>
                  <a:rPr lang="en-US" sz="2400" dirty="0">
                    <a:ea typeface="ヒラギノ角ゴ Pro W3" pitchFamily="-84" charset="-128"/>
                    <a:sym typeface="Wingdings" panose="05000000000000000000" pitchFamily="2" charset="2"/>
                  </a:rPr>
                  <a:t> </a:t>
                </a:r>
                <a:r>
                  <a:rPr lang="el-GR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sz="2400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:r>
                  <a:rPr lang="en-US" sz="24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&lt; </a:t>
                </a:r>
                <a:r>
                  <a:rPr lang="el-GR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π</a:t>
                </a:r>
                <a:r>
                  <a:rPr lang="en-US" i="1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t-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ea typeface="ヒラギノ角ゴ Pro W3" pitchFamily="-84" charset="-128"/>
                    <a:cs typeface="Times New Roman" panose="02020603050405020304" pitchFamily="18" charset="0"/>
                    <a:sym typeface="Wingdings" panose="05000000000000000000" pitchFamily="2" charset="2"/>
                  </a:rPr>
                  <a:t>So the natural rate </a:t>
                </a:r>
                <a:r>
                  <a:rPr lang="en-US" sz="2400" dirty="0" smtClean="0">
                    <a:ea typeface="ヒラギノ角ゴ Pro W3" pitchFamily="-84" charset="-128"/>
                    <a:cs typeface="Times New Roman" panose="02020603050405020304" pitchFamily="18" charset="0"/>
                    <a:sym typeface="Wingdings" panose="05000000000000000000" pitchFamily="2" charset="2"/>
                  </a:rPr>
                  <a:t>of unemployment is also called the </a:t>
                </a:r>
                <a:r>
                  <a:rPr lang="en-US" sz="2400" b="1" dirty="0" smtClean="0">
                    <a:ea typeface="ヒラギノ角ゴ Pro W3" pitchFamily="-84" charset="-128"/>
                    <a:cs typeface="Times New Roman" panose="02020603050405020304" pitchFamily="18" charset="0"/>
                    <a:sym typeface="Wingdings" panose="05000000000000000000" pitchFamily="2" charset="2"/>
                  </a:rPr>
                  <a:t>non-accelerating inflation rate of unemployment (NAIRU</a:t>
                </a:r>
                <a:r>
                  <a:rPr lang="en-US" sz="2400" dirty="0" smtClean="0">
                    <a:ea typeface="ヒラギノ角ゴ Pro W3" pitchFamily="-84" charset="-128"/>
                    <a:cs typeface="Times New Roman" panose="02020603050405020304" pitchFamily="18" charset="0"/>
                    <a:sym typeface="Wingdings" panose="05000000000000000000" pitchFamily="2" charset="2"/>
                  </a:rPr>
                  <a:t>).</a:t>
                </a:r>
                <a:endParaRPr lang="en-US" sz="2400" baseline="-25000" dirty="0">
                  <a:ea typeface="ヒラギノ角ゴ Pro W3" pitchFamily="-84" charset="-128"/>
                  <a:sym typeface="Wingdings" panose="05000000000000000000" pitchFamily="2" charset="2"/>
                </a:endParaRPr>
              </a:p>
              <a:p>
                <a:pPr>
                  <a:spcBef>
                    <a:spcPts val="525"/>
                  </a:spcBef>
                </a:pPr>
                <a:endParaRPr lang="en-US" baseline="-25000" dirty="0" smtClean="0">
                  <a:ea typeface="ヒラギノ角ゴ Pro W3" pitchFamily="-84" charset="-128"/>
                  <a:sym typeface="Wingdings" panose="05000000000000000000" pitchFamily="2" charset="2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>
                  <a:ea typeface="ヒラギノ角ゴ Pro W3" pitchFamily="-84" charset="-128"/>
                  <a:cs typeface="Times New Roman" panose="02020603050405020304" pitchFamily="18" charset="0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  <a:cs typeface="Times New Roman" panose="02020603050405020304" pitchFamily="18" charset="0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>
                  <a:ea typeface="ヒラギノ角ゴ Pro W3" pitchFamily="-84" charset="-128"/>
                  <a:cs typeface="Times New Roman" panose="02020603050405020304" pitchFamily="18" charset="0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  <a:cs typeface="Times New Roman" panose="02020603050405020304" pitchFamily="18" charset="0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>
                  <a:ea typeface="ヒラギノ角ゴ Pro W3" pitchFamily="-84" charset="-128"/>
                  <a:cs typeface="Times New Roman" panose="02020603050405020304" pitchFamily="18" charset="0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>
                  <a:ea typeface="ヒラギノ角ゴ Pro W3" pitchFamily="-84" charset="-128"/>
                </a:endParaRPr>
              </a:p>
              <a:p>
                <a:pPr marL="339725" indent="-339725">
                  <a:spcBef>
                    <a:spcPts val="525"/>
                  </a:spcBef>
                </a:pPr>
                <a:endParaRPr lang="en-US" sz="2400" i="1" dirty="0" smtClean="0">
                  <a:ea typeface="ヒラギノ角ゴ Pro W3" pitchFamily="-84" charset="-128"/>
                </a:endParaRPr>
              </a:p>
              <a:p>
                <a:pPr marL="0" indent="0">
                  <a:spcBef>
                    <a:spcPts val="525"/>
                  </a:spcBef>
                  <a:buNone/>
                </a:pPr>
                <a:endParaRPr lang="en-US" sz="2400" dirty="0" smtClean="0">
                  <a:ea typeface="ヒラギノ角ゴ Pro W3" pitchFamily="-84" charset="-128"/>
                </a:endParaRPr>
              </a:p>
            </p:txBody>
          </p:sp>
        </mc:Choice>
        <mc:Fallback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524000"/>
                <a:ext cx="8001000" cy="4038599"/>
              </a:xfrm>
              <a:blipFill rotWithShape="0">
                <a:blip r:embed="rId2" cstate="print"/>
                <a:stretch>
                  <a:fillRect l="-2363" t="-2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7" descr="eq08_10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75438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229394345"/>
      </p:ext>
    </p:extLst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65" charset="-128"/>
              </a:rPr>
              <a:t>FOCUS: Theory ahead of Facts: Milton Friedman and Edmund Phelps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Milton Friedman and Edmund Phelps argued that the trade-off between inflation and unemployment in the late 1960s was an illusion.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Accordingly, the Phillips curve is a temporary, rather than a permanent, trade-off between inflation and unemployment that comes not from inflation per se, but from a rise rate of inflation, which results in unanticipated inflation.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57895495"/>
      </p:ext>
    </p:extLst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8-4 A Summary and Many Warnings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relation between unemployment and inflation in the United States today is well captured by a relation between the change in the inflation rate and the deviation of the unemployment rate from the natural rate of unemployment.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When the unemployment rate is above (below) the natural rate of unemployment, the inflation rate typically decreases (increases).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natural rate of unemployment differ across counties due to, e.g., </a:t>
            </a:r>
            <a:r>
              <a:rPr lang="en-US" sz="2400" b="1" dirty="0" smtClean="0">
                <a:ea typeface="ヒラギノ角ゴ Pro W3" pitchFamily="-84" charset="-128"/>
              </a:rPr>
              <a:t>labor-market rigidities</a:t>
            </a:r>
            <a:r>
              <a:rPr lang="en-US" sz="2400" dirty="0" smtClean="0">
                <a:ea typeface="ヒラギノ角ゴ Pro W3" pitchFamily="-84" charset="-128"/>
              </a:rPr>
              <a:t>, and also over time.</a:t>
            </a: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84322629"/>
      </p:ext>
    </p:extLst>
  </p:cSld>
  <p:clrMapOvr>
    <a:masterClrMapping/>
  </p:clrMapOvr>
  <p:transition>
    <p:strips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65" charset="-128"/>
              </a:rPr>
              <a:t>FOCUS: </a:t>
            </a:r>
            <a:r>
              <a:rPr lang="en-US" sz="2800" dirty="0">
                <a:ea typeface="ヒラギノ角ゴ Pro W3" pitchFamily="-65" charset="-128"/>
              </a:rPr>
              <a:t>What Explains European Unemployment?</a:t>
            </a:r>
            <a:endParaRPr lang="en-US" sz="2800" dirty="0" smtClean="0">
              <a:ea typeface="ヒラギノ角ゴ Pro W3" pitchFamily="-65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Factors for labor-market rigidities: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A generous system of unemployment insurance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A high degree of employment protection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Minimum wages</a:t>
            </a:r>
          </a:p>
          <a:p>
            <a:pPr lvl="1">
              <a:spcBef>
                <a:spcPts val="525"/>
              </a:spcBef>
            </a:pPr>
            <a:r>
              <a:rPr lang="en-US" sz="2000" dirty="0">
                <a:ea typeface="ヒラギノ角ゴ Pro W3" pitchFamily="-84" charset="-128"/>
              </a:rPr>
              <a:t>Bargaining rules, such as extension agreements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Key facts of unemployment in Europe:</a:t>
            </a:r>
          </a:p>
          <a:p>
            <a:pPr lvl="1">
              <a:spcBef>
                <a:spcPts val="525"/>
              </a:spcBef>
            </a:pPr>
            <a:r>
              <a:rPr lang="en-US" sz="2000" dirty="0">
                <a:ea typeface="ヒラギノ角ゴ Pro W3" pitchFamily="-84" charset="-128"/>
              </a:rPr>
              <a:t>Unemployment was not always </a:t>
            </a:r>
            <a:r>
              <a:rPr lang="en-US" sz="2000" dirty="0" smtClean="0">
                <a:ea typeface="ヒラギノ角ゴ Pro W3" pitchFamily="-84" charset="-128"/>
              </a:rPr>
              <a:t>high</a:t>
            </a:r>
            <a:endParaRPr lang="en-US" sz="2000" dirty="0">
              <a:ea typeface="ヒラギノ角ゴ Pro W3" pitchFamily="-84" charset="-128"/>
            </a:endParaRPr>
          </a:p>
          <a:p>
            <a:pPr lvl="1">
              <a:spcBef>
                <a:spcPts val="525"/>
              </a:spcBef>
            </a:pPr>
            <a:r>
              <a:rPr lang="en-US" sz="2000" dirty="0">
                <a:ea typeface="ヒラギノ角ゴ Pro W3" pitchFamily="-84" charset="-128"/>
              </a:rPr>
              <a:t>Some European counties actually had low unemployment prior to the start of the current </a:t>
            </a:r>
            <a:r>
              <a:rPr lang="en-US" sz="2000" dirty="0" smtClean="0">
                <a:ea typeface="ヒラギノ角ゴ Pro W3" pitchFamily="-84" charset="-128"/>
              </a:rPr>
              <a:t>crisis</a:t>
            </a:r>
            <a:endParaRPr lang="en-US" sz="20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07428458"/>
      </p:ext>
    </p:extLst>
  </p:cSld>
  <p:clrMapOvr>
    <a:masterClrMapping/>
  </p:clrMapOvr>
  <p:transition>
    <p:strips dir="l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65" charset="-128"/>
              </a:rPr>
              <a:t>FOCUS: What Explains European Unemployment?</a:t>
            </a:r>
          </a:p>
        </p:txBody>
      </p:sp>
      <p:pic>
        <p:nvPicPr>
          <p:cNvPr id="25603" name="Content Placeholder 3" descr="figure01.gif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3178" r="-3178"/>
          <a:stretch>
            <a:fillRect/>
          </a:stretch>
        </p:blipFill>
        <p:spPr>
          <a:xfrm>
            <a:off x="914400" y="1905000"/>
            <a:ext cx="7543800" cy="4183063"/>
          </a:xfrm>
        </p:spPr>
      </p:pic>
      <p:sp>
        <p:nvSpPr>
          <p:cNvPr id="25604" name="TextBox 4"/>
          <p:cNvSpPr txBox="1">
            <a:spLocks noChangeArrowheads="1"/>
          </p:cNvSpPr>
          <p:nvPr/>
        </p:nvSpPr>
        <p:spPr bwMode="auto">
          <a:xfrm>
            <a:off x="495300" y="1517696"/>
            <a:ext cx="822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65" charset="-128"/>
              </a:defRPr>
            </a:lvl9pPr>
          </a:lstStyle>
          <a:p>
            <a:r>
              <a:rPr lang="en-US" sz="1800" b="1" dirty="0">
                <a:latin typeface="Verdana" panose="020B0604030504040204" pitchFamily="34" charset="0"/>
              </a:rPr>
              <a:t>Figure 1  </a:t>
            </a:r>
            <a:r>
              <a:rPr lang="en-US" sz="1800" dirty="0">
                <a:latin typeface="Verdana" panose="020B0604030504040204" pitchFamily="34" charset="0"/>
              </a:rPr>
              <a:t>Unemployment Rates in 15 European Countries, 2006</a:t>
            </a:r>
          </a:p>
        </p:txBody>
      </p:sp>
    </p:spTree>
    <p:extLst>
      <p:ext uri="{BB962C8B-B14F-4D97-AF65-F5344CB8AC3E}">
        <p14:creationId xmlns="" xmlns:p14="http://schemas.microsoft.com/office/powerpoint/2010/main" val="3232881007"/>
      </p:ext>
    </p:extLst>
  </p:cSld>
  <p:clrMapOvr>
    <a:masterClrMapping/>
  </p:clrMapOvr>
  <p:transition>
    <p:strips dir="l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65" charset="-128"/>
              </a:rPr>
              <a:t>FOCUS: Changes in the U.S. Natural Rate of Unemployment since 1990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Possible explanations for the decrease of the </a:t>
            </a:r>
            <a:r>
              <a:rPr lang="en-US" sz="2400" dirty="0" smtClean="0">
                <a:ea typeface="ヒラギノ角ゴ Pro W3" pitchFamily="-84" charset="-128"/>
              </a:rPr>
              <a:t>European </a:t>
            </a:r>
            <a:r>
              <a:rPr lang="en-US" sz="2400" dirty="0" smtClean="0">
                <a:ea typeface="ヒラギノ角ゴ Pro W3" pitchFamily="-84" charset="-128"/>
              </a:rPr>
              <a:t>natural rate of unemployment </a:t>
            </a:r>
            <a:r>
              <a:rPr lang="en-US" sz="2400" dirty="0" smtClean="0">
                <a:ea typeface="ヒラギノ角ゴ Pro W3" pitchFamily="-84" charset="-128"/>
              </a:rPr>
              <a:t>to 8 - 9% today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Institutions </a:t>
            </a:r>
            <a:r>
              <a:rPr lang="en-US" sz="2000" dirty="0" smtClean="0">
                <a:ea typeface="ヒラギノ角ゴ Pro W3" pitchFamily="-84" charset="-128"/>
              </a:rPr>
              <a:t>were different </a:t>
            </a:r>
            <a:r>
              <a:rPr lang="en-US" sz="2000" dirty="0" smtClean="0">
                <a:ea typeface="ヒラギノ角ゴ Pro W3" pitchFamily="-84" charset="-128"/>
              </a:rPr>
              <a:t>earlier </a:t>
            </a:r>
            <a:r>
              <a:rPr lang="en-US" sz="2000" dirty="0" smtClean="0">
                <a:ea typeface="ヒラギノ角ゴ Pro W3" pitchFamily="-84" charset="-128"/>
              </a:rPr>
              <a:t>and </a:t>
            </a:r>
            <a:r>
              <a:rPr lang="en-US" sz="2000" dirty="0" smtClean="0">
                <a:ea typeface="ヒラギノ角ゴ Pro W3" pitchFamily="-84" charset="-128"/>
              </a:rPr>
              <a:t>labor-market </a:t>
            </a:r>
            <a:r>
              <a:rPr lang="en-US" sz="2000" dirty="0" smtClean="0">
                <a:ea typeface="ヒラギノ角ゴ Pro W3" pitchFamily="-84" charset="-128"/>
              </a:rPr>
              <a:t>rigidities </a:t>
            </a:r>
            <a:r>
              <a:rPr lang="en-US" sz="2000" dirty="0" smtClean="0">
                <a:ea typeface="ヒラギノ角ゴ Pro W3" pitchFamily="-84" charset="-128"/>
              </a:rPr>
              <a:t>only </a:t>
            </a:r>
            <a:r>
              <a:rPr lang="en-US" sz="2000" dirty="0" smtClean="0">
                <a:ea typeface="ヒラギノ角ゴ Pro W3" pitchFamily="-84" charset="-128"/>
              </a:rPr>
              <a:t>appeared in the last 40 years</a:t>
            </a:r>
            <a:r>
              <a:rPr lang="en-US" sz="2000" dirty="0" smtClean="0">
                <a:ea typeface="ヒラギノ角ゴ Pro W3" pitchFamily="-84" charset="-128"/>
              </a:rPr>
              <a:t>.</a:t>
            </a:r>
            <a:endParaRPr lang="en-US" sz="2000" dirty="0" smtClean="0">
              <a:ea typeface="ヒラギノ角ゴ Pro W3" pitchFamily="-84" charset="-128"/>
            </a:endParaRP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Interaction </a:t>
            </a:r>
            <a:r>
              <a:rPr lang="en-US" sz="2000" dirty="0" smtClean="0">
                <a:ea typeface="ヒラギノ角ゴ Pro W3" pitchFamily="-84" charset="-128"/>
              </a:rPr>
              <a:t>between institutions and shocks; </a:t>
            </a:r>
            <a:r>
              <a:rPr lang="en-US" sz="2000" dirty="0" smtClean="0">
                <a:ea typeface="ヒラギノ角ゴ Pro W3" pitchFamily="-84" charset="-128"/>
              </a:rPr>
              <a:t>firms </a:t>
            </a:r>
            <a:r>
              <a:rPr lang="en-US" sz="2000" dirty="0" smtClean="0">
                <a:ea typeface="ヒラギノ角ゴ Pro W3" pitchFamily="-84" charset="-128"/>
              </a:rPr>
              <a:t>that cannot adjust their labor force quickly may </a:t>
            </a:r>
            <a:r>
              <a:rPr lang="en-US" sz="2000" dirty="0" smtClean="0">
                <a:ea typeface="ヒラギノ角ゴ Pro W3" pitchFamily="-84" charset="-128"/>
              </a:rPr>
              <a:t>be </a:t>
            </a:r>
            <a:r>
              <a:rPr lang="en-US" sz="2000" dirty="0" smtClean="0">
                <a:ea typeface="ヒラギノ角ゴ Pro W3" pitchFamily="-84" charset="-128"/>
              </a:rPr>
              <a:t>unable to compete and </a:t>
            </a:r>
            <a:r>
              <a:rPr lang="en-US" sz="2000" dirty="0" smtClean="0">
                <a:ea typeface="ヒラギノ角ゴ Pro W3" pitchFamily="-84" charset="-128"/>
              </a:rPr>
              <a:t>will go </a:t>
            </a:r>
            <a:r>
              <a:rPr lang="en-US" sz="2000" dirty="0" smtClean="0">
                <a:ea typeface="ヒラギノ角ゴ Pro W3" pitchFamily="-84" charset="-128"/>
              </a:rPr>
              <a:t>out of business.</a:t>
            </a:r>
            <a:endParaRPr lang="en-US" sz="2000" dirty="0" smtClean="0">
              <a:ea typeface="ヒラギノ角ゴ Pro W3" pitchFamily="-84" charset="-128"/>
            </a:endParaRPr>
          </a:p>
          <a:p>
            <a:pPr lvl="1">
              <a:spcBef>
                <a:spcPts val="525"/>
              </a:spcBef>
              <a:buNone/>
            </a:pPr>
            <a:endParaRPr lang="en-US" sz="20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87691735"/>
      </p:ext>
    </p:extLst>
  </p:cSld>
  <p:clrMapOvr>
    <a:masterClrMapping/>
  </p:clrMapOvr>
  <p:transition>
    <p:strips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8-4 A Summary and Many Warnings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252292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When the inflation rate becomes high, the terms of wage agreements tend to change with the level of inflation.</a:t>
            </a:r>
          </a:p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Wage indexation </a:t>
            </a:r>
            <a:r>
              <a:rPr lang="en-US" sz="2400" dirty="0" smtClean="0">
                <a:ea typeface="ヒラギノ角ゴ Pro W3" pitchFamily="-84" charset="-128"/>
              </a:rPr>
              <a:t>is a provision that automatically increases wages in line with inflation.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Suppose </a:t>
            </a:r>
            <a:r>
              <a:rPr lang="el-GR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λ</a:t>
            </a:r>
            <a:r>
              <a:rPr lang="en-US" sz="2400" dirty="0" smtClean="0">
                <a:ea typeface="ヒラギノ角ゴ Pro W3" pitchFamily="-84" charset="-128"/>
              </a:rPr>
              <a:t> a proportion of labor contracts that is indexed, so nominal wages move one-for-one with changes in the actual price level, equation (8.9) becomes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5" name="Picture 7" descr="eq08_1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2" y="5462957"/>
            <a:ext cx="8359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721966998"/>
      </p:ext>
    </p:extLst>
  </p:cSld>
  <p:clrMapOvr>
    <a:masterClrMapping/>
  </p:clrMapOvr>
  <p:transition>
    <p:strips dir="l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8-4 A Summary and Many Warnings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252292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When </a:t>
            </a:r>
            <a:r>
              <a:rPr lang="el-GR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λ</a:t>
            </a:r>
            <a:r>
              <a:rPr lang="en-US" sz="2400" dirty="0" smtClean="0">
                <a:ea typeface="ヒラギノ角ゴ Pro W3" pitchFamily="-84" charset="-128"/>
              </a:rPr>
              <a:t>=0, equation (8.11) becomes equations (8.10).</a:t>
            </a:r>
          </a:p>
          <a:p>
            <a:pPr>
              <a:spcBef>
                <a:spcPts val="525"/>
              </a:spcBef>
            </a:pPr>
            <a:r>
              <a:rPr lang="en-US" sz="2400" dirty="0">
                <a:ea typeface="ヒラギノ角ゴ Pro W3" pitchFamily="-84" charset="-128"/>
              </a:rPr>
              <a:t>When </a:t>
            </a:r>
            <a:r>
              <a:rPr lang="el-GR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λ</a:t>
            </a:r>
            <a:r>
              <a:rPr lang="en-US" sz="2400" dirty="0" smtClean="0">
                <a:ea typeface="ヒラギノ角ゴ Pro W3" pitchFamily="-84" charset="-128"/>
              </a:rPr>
              <a:t>&gt;0</a:t>
            </a:r>
            <a:r>
              <a:rPr lang="en-US" sz="2400" dirty="0">
                <a:ea typeface="ヒラギノ角ゴ Pro W3" pitchFamily="-84" charset="-128"/>
              </a:rPr>
              <a:t>, equation (8.11) </a:t>
            </a:r>
            <a:r>
              <a:rPr lang="en-US" sz="2400" dirty="0" smtClean="0">
                <a:ea typeface="ヒラギノ角ゴ Pro W3" pitchFamily="-84" charset="-128"/>
              </a:rPr>
              <a:t>becomes: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Wage indexation increases the effect of unemployment on inflation.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Without wage indexation, lower unemployment increases wages, which in turn increases prices.</a:t>
            </a: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9800" y="2514600"/>
            <a:ext cx="4000500" cy="6786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87924991"/>
      </p:ext>
    </p:extLst>
  </p:cSld>
  <p:clrMapOvr>
    <a:masterClrMapping/>
  </p:clrMapOvr>
  <p:transition>
    <p:strips dir="l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8-4 A Summary and Many Warnings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252292"/>
            <a:ext cx="8020854" cy="4406173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When low inflation or </a:t>
            </a: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deflation occurs, the Phillips curve relation breaks down.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One possible reason is the reluctance of workers to accept cuts in nominal wages.</a:t>
            </a: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24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12385399"/>
      </p:ext>
    </p:extLst>
  </p:cSld>
  <p:clrMapOvr>
    <a:masterClrMapping/>
  </p:clrMapOvr>
  <p:transition>
    <p:strips dir="l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458200" cy="1143000"/>
          </a:xfrm>
        </p:spPr>
        <p:txBody>
          <a:bodyPr/>
          <a:lstStyle/>
          <a:p>
            <a:r>
              <a:rPr lang="en-US" dirty="0" smtClean="0">
                <a:ea typeface="ヒラギノ角ゴ Pro W3" pitchFamily="-65" charset="-128"/>
              </a:rPr>
              <a:t>8-4 A Summary and Many Warnings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2000" b="1" dirty="0" smtClean="0">
                <a:ea typeface="ヒラギノ角ゴ Pro W3" pitchFamily="-65" charset="-128"/>
              </a:rPr>
              <a:t>Figure 8-5 </a:t>
            </a:r>
            <a:r>
              <a:rPr lang="en-US" sz="2000" dirty="0" smtClean="0">
                <a:ea typeface="ヒラギノ角ゴ Pro W3" pitchFamily="-65" charset="-128"/>
              </a:rPr>
              <a:t>Distribution of wage changes in Portugal, in times of high and low inflation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2677" y="2035892"/>
            <a:ext cx="4259775" cy="23837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60440" y="2067847"/>
            <a:ext cx="3777738" cy="2173672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53961" y="5031172"/>
            <a:ext cx="8229600" cy="12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r>
              <a:rPr lang="en-US" sz="1600" kern="0" dirty="0" smtClean="0">
                <a:ea typeface="ヒラギノ角ゴ Pro W3" pitchFamily="-65" charset="-128"/>
              </a:rPr>
              <a:t>In 1984, the inflation rate was 27%, and the distribution of wage wages was roughly symmetric.</a:t>
            </a:r>
          </a:p>
          <a:p>
            <a:r>
              <a:rPr lang="en-US" sz="1600" kern="0" dirty="0" smtClean="0">
                <a:ea typeface="ヒラギノ角ゴ Pro W3" pitchFamily="-65" charset="-128"/>
              </a:rPr>
              <a:t>In 2012, the inflation rate was just 2.1%, and the distribution of wages was bunched at zero with nearly no negative wage changes.</a:t>
            </a:r>
          </a:p>
        </p:txBody>
      </p:sp>
    </p:spTree>
    <p:extLst>
      <p:ext uri="{BB962C8B-B14F-4D97-AF65-F5344CB8AC3E}">
        <p14:creationId xmlns="" xmlns:p14="http://schemas.microsoft.com/office/powerpoint/2010/main" val="2836381074"/>
      </p:ext>
    </p:extLst>
  </p:cSld>
  <p:clrMapOvr>
    <a:masterClrMapping/>
  </p:clrMapOvr>
  <p:transition>
    <p:strips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smtClean="0">
                <a:ea typeface="ヒラギノ角ゴ Pro W3" pitchFamily="-65" charset="-128"/>
              </a:rPr>
              <a:t>APPENDIX: How to go from the Relation between the Price Level, the Expected Price Level, and Unemployment to a Relation between Inflation, Expected Inflation, and Unemployment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10496" y="1447800"/>
            <a:ext cx="8428703" cy="4953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1800" dirty="0" smtClean="0">
                <a:ea typeface="ヒラギノ角ゴ Pro W3" pitchFamily="-84" charset="-128"/>
              </a:rPr>
              <a:t>Equation (8.1) with time subscripts becomes:</a:t>
            </a:r>
          </a:p>
          <a:p>
            <a:pPr>
              <a:spcBef>
                <a:spcPts val="525"/>
              </a:spcBef>
            </a:pPr>
            <a:endParaRPr lang="en-US" sz="18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1800" dirty="0" smtClean="0">
                <a:ea typeface="ヒラギノ角ゴ Pro W3" pitchFamily="-84" charset="-128"/>
              </a:rPr>
              <a:t>Divide both sides by </a:t>
            </a:r>
            <a:r>
              <a:rPr lang="en-US" sz="18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P</a:t>
            </a:r>
            <a:r>
              <a:rPr lang="en-US" sz="18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t-</a:t>
            </a:r>
            <a:r>
              <a:rPr lang="en-US" sz="1800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</a:t>
            </a:r>
            <a:r>
              <a:rPr lang="en-US" sz="1800" dirty="0" smtClean="0">
                <a:ea typeface="ヒラギノ角ゴ Pro W3" pitchFamily="-84" charset="-128"/>
              </a:rPr>
              <a:t>:</a:t>
            </a:r>
          </a:p>
          <a:p>
            <a:pPr>
              <a:spcBef>
                <a:spcPts val="525"/>
              </a:spcBef>
            </a:pPr>
            <a:endParaRPr lang="en-US" sz="18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18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1800" dirty="0" smtClean="0">
                <a:ea typeface="ヒラギノ角ゴ Pro W3" pitchFamily="-84" charset="-128"/>
              </a:rPr>
              <a:t>Rewrite </a:t>
            </a:r>
            <a:r>
              <a:rPr lang="en-US" sz="2000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P</a:t>
            </a:r>
            <a:r>
              <a:rPr lang="en-US" sz="1800" i="1" baseline="-25000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</a:t>
            </a:r>
            <a:r>
              <a:rPr lang="en-US" sz="18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18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/</a:t>
            </a:r>
            <a:r>
              <a:rPr lang="en-US" sz="20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P</a:t>
            </a:r>
            <a:r>
              <a:rPr lang="en-US" sz="18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t-</a:t>
            </a:r>
            <a:r>
              <a:rPr lang="en-US" sz="1800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</a:t>
            </a:r>
            <a:r>
              <a:rPr lang="en-US" sz="1800" dirty="0" smtClean="0">
                <a:ea typeface="ヒラギノ角ゴ Pro W3" pitchFamily="-84" charset="-128"/>
              </a:rPr>
              <a:t> as 1+</a:t>
            </a:r>
            <a:r>
              <a:rPr lang="el-GR" sz="20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π</a:t>
            </a:r>
            <a:r>
              <a:rPr lang="en-US" sz="18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  </a:t>
            </a:r>
            <a:r>
              <a:rPr lang="en-US" sz="1800" dirty="0" smtClean="0">
                <a:ea typeface="ヒラギノ角ゴ Pro W3" pitchFamily="-84" charset="-128"/>
                <a:cs typeface="Times New Roman" panose="02020603050405020304" pitchFamily="18" charset="0"/>
              </a:rPr>
              <a:t>and do the same for the expected inflation rate, equation (8A.1) becomes:</a:t>
            </a:r>
            <a:endParaRPr lang="en-US" sz="18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18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1800" dirty="0">
              <a:ea typeface="ヒラギノ角ゴ Pro W3" pitchFamily="-84" charset="-128"/>
            </a:endParaRPr>
          </a:p>
          <a:p>
            <a:pPr marL="339725" indent="-339725">
              <a:spcBef>
                <a:spcPts val="525"/>
              </a:spcBef>
            </a:pPr>
            <a:endParaRPr lang="en-US" sz="1800" i="1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18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1800" dirty="0" smtClean="0">
                <a:ea typeface="ヒラギノ角ゴ Pro W3" pitchFamily="-84" charset="-128"/>
              </a:rPr>
              <a:t>If the left side is not large, it becomes                           and so: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47912" y="1812131"/>
            <a:ext cx="3333750" cy="3214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44439" y="2438400"/>
            <a:ext cx="5524500" cy="6548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29075" y="3833749"/>
            <a:ext cx="4822031" cy="309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458904" y="4301746"/>
            <a:ext cx="3762375" cy="6786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250919" y="5142327"/>
            <a:ext cx="1940719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929199" y="5584049"/>
            <a:ext cx="2821781" cy="2976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66939354"/>
      </p:ext>
    </p:extLst>
  </p:cSld>
  <p:clrMapOvr>
    <a:masterClrMapping/>
  </p:clrMapOvr>
  <p:transition>
    <p:strips dir="ld"/>
  </p:transition>
</p:sld>
</file>

<file path=ppt/theme/theme1.xml><?xml version="1.0" encoding="utf-8"?>
<a:theme xmlns:a="http://schemas.openxmlformats.org/drawingml/2006/main" name="template_LN01Brooks671956_02_LN01">
  <a:themeElements>
    <a:clrScheme name="Pearson_PowerPoint_Template_Beka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arson_PowerPoint_Template_Bekaer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arson_PowerPoint_Template_Bekaer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LN01Folland832739_07_LN01.pot</Template>
  <TotalTime>31614</TotalTime>
  <Words>1207</Words>
  <Application>Microsoft Office PowerPoint</Application>
  <PresentationFormat>On-screen Show (4:3)</PresentationFormat>
  <Paragraphs>132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template_LN01Brooks671956_02_LN01</vt:lpstr>
      <vt:lpstr>The Phillips Curve, the Natural Rate of Unemployment, and Inflation</vt:lpstr>
      <vt:lpstr>Chapter 8 Outline</vt:lpstr>
      <vt:lpstr>The Phillips Curve, the Natural Rate of Unemployment, and Inflation</vt:lpstr>
      <vt:lpstr>Figure 8-1  Inflation versus Unemployment in the United States, 1900–1960</vt:lpstr>
      <vt:lpstr>8-1 Inflation, Expected Inflation, and Unemployment</vt:lpstr>
      <vt:lpstr>8-1 Inflation, Expected Inflation, and Unemployment</vt:lpstr>
      <vt:lpstr>8-1 Inflation, Expected Inflation, and Unemployment</vt:lpstr>
      <vt:lpstr>8-2 The Phillips Curve and Its Mutations</vt:lpstr>
      <vt:lpstr>8-2 The Phillips Curve and Its Mutations</vt:lpstr>
      <vt:lpstr>8-2 The Phillips Curve and Its Mutations</vt:lpstr>
      <vt:lpstr>8-2 The Phillips Curve and Its Mutations</vt:lpstr>
      <vt:lpstr>8-2 The Phillips Curve and Its Mutations</vt:lpstr>
      <vt:lpstr>8-2 The Phillips Curve and Its Mutations</vt:lpstr>
      <vt:lpstr>8-3 The Phillips Curve and the Natural Rate of Unemployment</vt:lpstr>
      <vt:lpstr>8-3 The Phillips Curve and the Natural Rate of Unemployment</vt:lpstr>
      <vt:lpstr>FOCUS: Theory ahead of Facts: Milton Friedman and Edmund Phelps</vt:lpstr>
      <vt:lpstr>8-4 A Summary and Many Warnings</vt:lpstr>
      <vt:lpstr>FOCUS: What Explains European Unemployment?</vt:lpstr>
      <vt:lpstr>FOCUS: What Explains European Unemployment?</vt:lpstr>
      <vt:lpstr>FOCUS: Changes in the U.S. Natural Rate of Unemployment since 1990</vt:lpstr>
      <vt:lpstr>8-4 A Summary and Many Warnings</vt:lpstr>
      <vt:lpstr>8-4 A Summary and Many Warnings</vt:lpstr>
      <vt:lpstr>8-4 A Summary and Many Warnings</vt:lpstr>
      <vt:lpstr>8-4 A Summary and Many Warnings</vt:lpstr>
      <vt:lpstr>APPENDIX: How to go from the Relation between the Price Level, the Expected Price Level, and Unemployment to a Relation between Inflation, Expected Inflation, and Unemployment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Oliver Blanchard</dc:creator>
  <cp:lastModifiedBy>Paromita</cp:lastModifiedBy>
  <cp:revision>149</cp:revision>
  <dcterms:created xsi:type="dcterms:W3CDTF">2012-08-09T20:37:31Z</dcterms:created>
  <dcterms:modified xsi:type="dcterms:W3CDTF">2016-10-06T04:56:56Z</dcterms:modified>
</cp:coreProperties>
</file>