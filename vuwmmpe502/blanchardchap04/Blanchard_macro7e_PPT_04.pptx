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6"/>
  </p:notesMasterIdLst>
  <p:sldIdLst>
    <p:sldId id="256" r:id="rId2"/>
    <p:sldId id="269" r:id="rId3"/>
    <p:sldId id="268" r:id="rId4"/>
    <p:sldId id="270" r:id="rId5"/>
    <p:sldId id="310" r:id="rId6"/>
    <p:sldId id="313" r:id="rId7"/>
    <p:sldId id="295" r:id="rId8"/>
    <p:sldId id="311" r:id="rId9"/>
    <p:sldId id="297" r:id="rId10"/>
    <p:sldId id="312" r:id="rId11"/>
    <p:sldId id="298" r:id="rId12"/>
    <p:sldId id="299" r:id="rId13"/>
    <p:sldId id="300" r:id="rId14"/>
    <p:sldId id="301" r:id="rId15"/>
    <p:sldId id="314" r:id="rId16"/>
    <p:sldId id="315" r:id="rId17"/>
    <p:sldId id="302" r:id="rId18"/>
    <p:sldId id="316" r:id="rId19"/>
    <p:sldId id="317" r:id="rId20"/>
    <p:sldId id="318" r:id="rId21"/>
    <p:sldId id="303" r:id="rId22"/>
    <p:sldId id="319" r:id="rId23"/>
    <p:sldId id="320" r:id="rId24"/>
    <p:sldId id="308" r:id="rId25"/>
    <p:sldId id="321" r:id="rId26"/>
    <p:sldId id="322" r:id="rId27"/>
    <p:sldId id="323" r:id="rId28"/>
    <p:sldId id="324" r:id="rId29"/>
    <p:sldId id="306" r:id="rId30"/>
    <p:sldId id="309" r:id="rId31"/>
    <p:sldId id="325" r:id="rId32"/>
    <p:sldId id="326" r:id="rId33"/>
    <p:sldId id="327" r:id="rId34"/>
    <p:sldId id="328" r:id="rId3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599D"/>
    <a:srgbClr val="BBE5FB"/>
    <a:srgbClr val="BFDC42"/>
    <a:srgbClr val="D8F2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90"/>
  </p:normalViewPr>
  <p:slideViewPr>
    <p:cSldViewPr>
      <p:cViewPr varScale="1">
        <p:scale>
          <a:sx n="77" d="100"/>
          <a:sy n="77" d="100"/>
        </p:scale>
        <p:origin x="-108" y="-8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p14="http://schemas.microsoft.com/office/powerpoint/2010/main" xmlns=""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88238" y="6356350"/>
            <a:ext cx="1655762" cy="493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6356350"/>
            <a:ext cx="1908175" cy="493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6"/>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p14="http://schemas.microsoft.com/office/powerpoint/2010/main" xmlns="" val="3441087217"/>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494771439"/>
      </p:ext>
    </p:extLst>
  </p:cSld>
  <p:clrMapOvr>
    <a:masterClrMapping/>
  </p:clrMapOvr>
  <p:transition>
    <p:strips dir="l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10/6/2016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p14="http://schemas.microsoft.com/office/powerpoint/2010/main" xmlns=""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4-</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4876800" y="1600200"/>
            <a:ext cx="4114800" cy="1524000"/>
          </a:xfrm>
        </p:spPr>
        <p:txBody>
          <a:bodyPr/>
          <a:lstStyle/>
          <a:p>
            <a:pPr algn="ctr" eaLnBrk="1" hangingPunct="1"/>
            <a:r>
              <a:rPr lang="en-US" sz="2800" dirty="0" smtClean="0">
                <a:ea typeface="ヒラギノ角ゴ Pro W3" pitchFamily="-84" charset="-128"/>
              </a:rPr>
              <a:t>Financial </a:t>
            </a:r>
            <a:br>
              <a:rPr lang="en-US" sz="2800" dirty="0" smtClean="0">
                <a:ea typeface="ヒラギノ角ゴ Pro W3" pitchFamily="-84" charset="-128"/>
              </a:rPr>
            </a:br>
            <a:r>
              <a:rPr lang="en-US" sz="2800" dirty="0" smtClean="0">
                <a:ea typeface="ヒラギノ角ゴ Pro W3" pitchFamily="-84" charset="-128"/>
              </a:rPr>
              <a:t>Markets I</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4</a:t>
            </a:r>
          </a:p>
        </p:txBody>
      </p:sp>
    </p:spTree>
  </p:cSld>
  <p:clrMapOvr>
    <a:masterClrMapping/>
  </p:clrMapOvr>
  <p:transition>
    <p:strips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mtClean="0">
                <a:ea typeface="ヒラギノ角ゴ Pro W3" pitchFamily="-84" charset="-128"/>
              </a:rPr>
              <a:t>Chapter 2 Outline</a:t>
            </a:r>
          </a:p>
        </p:txBody>
      </p:sp>
      <p:sp>
        <p:nvSpPr>
          <p:cNvPr id="3" name="Content Placeholder 2"/>
          <p:cNvSpPr txBox="1">
            <a:spLocks/>
          </p:cNvSpPr>
          <p:nvPr/>
        </p:nvSpPr>
        <p:spPr bwMode="auto">
          <a:xfrm>
            <a:off x="533400" y="1371600"/>
            <a:ext cx="8382000" cy="4937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1714500" indent="-1714500" eaLnBrk="1" hangingPunct="1">
              <a:buFontTx/>
              <a:buNone/>
              <a:defRPr/>
            </a:pPr>
            <a:r>
              <a:rPr lang="en-US" sz="2400" b="1" kern="0" dirty="0" smtClean="0">
                <a:ea typeface="ヒラギノ角ゴ Pro W3" pitchFamily="-84" charset="-128"/>
              </a:rPr>
              <a:t>Financial Markets</a:t>
            </a:r>
          </a:p>
          <a:p>
            <a:pPr marL="1714500" indent="-171450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4-1	The Demand for Money</a:t>
            </a:r>
          </a:p>
          <a:p>
            <a:pPr marL="1714500" indent="-1714500" eaLnBrk="1" hangingPunct="1">
              <a:buFontTx/>
              <a:buNone/>
              <a:defRPr/>
            </a:pPr>
            <a:r>
              <a:rPr lang="en-US" sz="2400" kern="0" dirty="0" smtClean="0">
                <a:ea typeface="ヒラギノ角ゴ Pro W3" pitchFamily="-84" charset="-128"/>
              </a:rPr>
              <a:t>4-2	Determining the Interest Rate: I</a:t>
            </a:r>
          </a:p>
          <a:p>
            <a:pPr marL="1714500" indent="-1714500" eaLnBrk="1" hangingPunct="1">
              <a:buFontTx/>
              <a:buNone/>
              <a:defRPr/>
            </a:pPr>
            <a:r>
              <a:rPr lang="en-US" sz="2400" kern="0" dirty="0" smtClean="0">
                <a:ea typeface="ヒラギノ角ゴ Pro W3" pitchFamily="-84" charset="-128"/>
              </a:rPr>
              <a:t>4-3	</a:t>
            </a:r>
            <a:r>
              <a:rPr lang="en-US" sz="2400" kern="0" dirty="0">
                <a:ea typeface="ヒラギノ角ゴ Pro W3" pitchFamily="-84" charset="-128"/>
              </a:rPr>
              <a:t>Determining the Interest Rate: </a:t>
            </a:r>
            <a:r>
              <a:rPr lang="en-US" sz="2400" kern="0" dirty="0" smtClean="0">
                <a:ea typeface="ヒラギノ角ゴ Pro W3" pitchFamily="-84" charset="-128"/>
              </a:rPr>
              <a:t>II</a:t>
            </a:r>
            <a:endParaRPr lang="en-US" sz="2400" kern="0" dirty="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4-4	The Liquidity Trap</a:t>
            </a:r>
          </a:p>
          <a:p>
            <a:pPr marL="1714500" indent="-1714500" eaLnBrk="1" hangingPunct="1">
              <a:buFontTx/>
              <a:buNone/>
              <a:defRPr/>
            </a:pPr>
            <a:r>
              <a:rPr lang="en-US" sz="2400" kern="0" dirty="0" smtClean="0">
                <a:ea typeface="ヒラギノ角ゴ Pro W3" pitchFamily="-84" charset="-128"/>
              </a:rPr>
              <a:t>APPENDIX	</a:t>
            </a:r>
            <a:r>
              <a:rPr lang="en-US" sz="2400" kern="0" dirty="0">
                <a:ea typeface="ヒラギノ角ゴ Pro W3" pitchFamily="-84" charset="-128"/>
              </a:rPr>
              <a:t>The Determination of the Interest Rate When People Hold Both Currency and Checkable Deposits</a:t>
            </a:r>
            <a:endParaRPr lang="en-US" sz="2400" kern="0" dirty="0" smtClean="0">
              <a:ea typeface="ヒラギノ角ゴ Pro W3" pitchFamily="-84" charset="-128"/>
            </a:endParaRP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ea typeface="ヒラギノ角ゴ Pro W3" pitchFamily="-84" charset="-128"/>
              </a:rPr>
              <a:t>Financial Markets</a:t>
            </a:r>
          </a:p>
        </p:txBody>
      </p:sp>
      <p:sp>
        <p:nvSpPr>
          <p:cNvPr id="7171" name="Content Placeholder 2"/>
          <p:cNvSpPr>
            <a:spLocks noGrp="1"/>
          </p:cNvSpPr>
          <p:nvPr>
            <p:ph idx="1"/>
          </p:nvPr>
        </p:nvSpPr>
        <p:spPr/>
        <p:txBody>
          <a:bodyPr/>
          <a:lstStyle/>
          <a:p>
            <a:pPr>
              <a:spcBef>
                <a:spcPts val="525"/>
              </a:spcBef>
            </a:pPr>
            <a:r>
              <a:rPr lang="en-US" sz="2400" dirty="0" smtClean="0">
                <a:ea typeface="ヒラギノ角ゴ Pro W3" pitchFamily="-84" charset="-128"/>
              </a:rPr>
              <a:t>Financial markets are intimidating, but they play an essential role in the economy.</a:t>
            </a:r>
          </a:p>
          <a:p>
            <a:r>
              <a:rPr lang="en-US" sz="2400" dirty="0" smtClean="0">
                <a:ea typeface="ヒラギノ角ゴ Pro W3" pitchFamily="-84" charset="-128"/>
              </a:rPr>
              <a:t>In this chapter, we focus on the role of the central bank in affecting these interest rates.</a:t>
            </a:r>
          </a:p>
          <a:p>
            <a:r>
              <a:rPr lang="en-US" sz="2400" dirty="0" smtClean="0">
                <a:ea typeface="ヒラギノ角ゴ Pro W3" pitchFamily="-84" charset="-128"/>
              </a:rPr>
              <a:t>We learn how the interest rate on bonds is determined, and the role of the central bank (</a:t>
            </a:r>
            <a:r>
              <a:rPr lang="en-US" sz="2400" b="1" dirty="0" smtClean="0">
                <a:ea typeface="ヒラギノ角ゴ Pro W3" pitchFamily="-84" charset="-128"/>
              </a:rPr>
              <a:t>Federal Reserve Bank</a:t>
            </a:r>
            <a:r>
              <a:rPr lang="en-US" sz="2400" dirty="0" smtClean="0">
                <a:ea typeface="ヒラギノ角ゴ Pro W3" pitchFamily="-84" charset="-128"/>
              </a:rPr>
              <a:t>, or the </a:t>
            </a:r>
            <a:r>
              <a:rPr lang="en-US" sz="2400" b="1" dirty="0" smtClean="0">
                <a:ea typeface="ヒラギノ角ゴ Pro W3" pitchFamily="-84" charset="-128"/>
              </a:rPr>
              <a:t>Fed</a:t>
            </a:r>
            <a:r>
              <a:rPr lang="en-US" sz="2400" dirty="0" smtClean="0">
                <a:ea typeface="ヒラギノ角ゴ Pro W3" pitchFamily="-84" charset="-128"/>
              </a:rPr>
              <a:t>, in the United States) in this determination.</a:t>
            </a:r>
          </a:p>
        </p:txBody>
      </p:sp>
    </p:spTree>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smtClean="0">
                <a:ea typeface="ヒラギノ角ゴ Pro W3" pitchFamily="-84" charset="-128"/>
              </a:rPr>
              <a:t>4-1 The Demand for Money</a:t>
            </a:r>
          </a:p>
        </p:txBody>
      </p:sp>
      <p:sp>
        <p:nvSpPr>
          <p:cNvPr id="8195"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Suppose you only have a choice between two assets: money and bonds.</a:t>
            </a:r>
          </a:p>
          <a:p>
            <a:pPr>
              <a:spcBef>
                <a:spcPts val="525"/>
              </a:spcBef>
            </a:pPr>
            <a:r>
              <a:rPr lang="en-US" sz="2400" i="1" dirty="0" smtClean="0">
                <a:ea typeface="ヒラギノ角ゴ Pro W3" pitchFamily="-84" charset="-128"/>
              </a:rPr>
              <a:t>Money</a:t>
            </a:r>
            <a:r>
              <a:rPr lang="en-US" sz="2400" dirty="0" smtClean="0">
                <a:ea typeface="ヒラギノ角ゴ Pro W3" pitchFamily="-84" charset="-128"/>
              </a:rPr>
              <a:t> are used for transactions, but it pays no interest.</a:t>
            </a:r>
          </a:p>
          <a:p>
            <a:pPr>
              <a:spcBef>
                <a:spcPts val="525"/>
              </a:spcBef>
            </a:pPr>
            <a:r>
              <a:rPr lang="en-US" sz="2400" dirty="0" smtClean="0">
                <a:ea typeface="ヒラギノ角ゴ Pro W3" pitchFamily="-84" charset="-128"/>
              </a:rPr>
              <a:t>Two types of money: </a:t>
            </a:r>
            <a:r>
              <a:rPr lang="en-US" sz="2400" b="1" dirty="0" smtClean="0">
                <a:ea typeface="ヒラギノ角ゴ Pro W3" pitchFamily="-84" charset="-128"/>
              </a:rPr>
              <a:t>currency</a:t>
            </a:r>
            <a:r>
              <a:rPr lang="en-US" sz="2400" dirty="0" smtClean="0">
                <a:ea typeface="ヒラギノ角ゴ Pro W3" pitchFamily="-84" charset="-128"/>
              </a:rPr>
              <a:t> and </a:t>
            </a:r>
            <a:r>
              <a:rPr lang="en-US" sz="2400" b="1" dirty="0" smtClean="0">
                <a:ea typeface="ヒラギノ角ゴ Pro W3" pitchFamily="-84" charset="-128"/>
              </a:rPr>
              <a:t>checkable deposits.</a:t>
            </a:r>
          </a:p>
          <a:p>
            <a:pPr>
              <a:spcBef>
                <a:spcPts val="525"/>
              </a:spcBef>
            </a:pPr>
            <a:r>
              <a:rPr lang="en-US" sz="2400" b="1" dirty="0" smtClean="0">
                <a:ea typeface="ヒラギノ角ゴ Pro W3" pitchFamily="-84" charset="-128"/>
              </a:rPr>
              <a:t>Bonds</a:t>
            </a:r>
            <a:r>
              <a:rPr lang="en-US" sz="2400" dirty="0" smtClean="0">
                <a:ea typeface="ヒラギノ角ゴ Pro W3" pitchFamily="-84" charset="-128"/>
              </a:rPr>
              <a:t> pay a positive interest rate, </a:t>
            </a:r>
            <a:r>
              <a:rPr lang="en-US" sz="2400" i="1" dirty="0" err="1" smtClean="0">
                <a:ea typeface="ヒラギノ角ゴ Pro W3" pitchFamily="-84" charset="-128"/>
              </a:rPr>
              <a:t>i</a:t>
            </a:r>
            <a:r>
              <a:rPr lang="en-US" sz="2400" dirty="0" smtClean="0">
                <a:ea typeface="ヒラギノ角ゴ Pro W3" pitchFamily="-84" charset="-128"/>
              </a:rPr>
              <a:t> (</a:t>
            </a:r>
            <a:r>
              <a:rPr lang="en-US" sz="2400" i="1" dirty="0" smtClean="0">
                <a:ea typeface="ヒラギノ角ゴ Pro W3" pitchFamily="-84" charset="-128"/>
              </a:rPr>
              <a:t>the</a:t>
            </a:r>
            <a:r>
              <a:rPr lang="en-US" sz="2400" dirty="0" smtClean="0">
                <a:ea typeface="ヒラギノ角ゴ Pro W3" pitchFamily="-84" charset="-128"/>
              </a:rPr>
              <a:t> rate of interest), but cannot be used for transaction.</a:t>
            </a:r>
          </a:p>
          <a:p>
            <a:pPr>
              <a:spcBef>
                <a:spcPts val="525"/>
              </a:spcBef>
            </a:pPr>
            <a:endParaRPr lang="en-US" sz="2400" dirty="0" smtClean="0">
              <a:ea typeface="ヒラギノ角ゴ Pro W3" pitchFamily="-84" charset="-128"/>
            </a:endParaRPr>
          </a:p>
        </p:txBody>
      </p:sp>
    </p:spTree>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smtClean="0">
                <a:ea typeface="ヒラギノ角ゴ Pro W3" pitchFamily="-84" charset="-128"/>
              </a:rPr>
              <a:t>4-1 The Demand for Money</a:t>
            </a:r>
          </a:p>
        </p:txBody>
      </p:sp>
      <p:sp>
        <p:nvSpPr>
          <p:cNvPr id="8195"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The holding of money and bonds depends on:</a:t>
            </a:r>
          </a:p>
          <a:p>
            <a:pPr lvl="1">
              <a:spcBef>
                <a:spcPts val="525"/>
              </a:spcBef>
            </a:pPr>
            <a:r>
              <a:rPr lang="en-US" sz="2000" dirty="0" smtClean="0">
                <a:ea typeface="ヒラギノ角ゴ Pro W3" pitchFamily="-84" charset="-128"/>
              </a:rPr>
              <a:t>Your level of transactions</a:t>
            </a:r>
          </a:p>
          <a:p>
            <a:pPr lvl="1">
              <a:spcBef>
                <a:spcPts val="525"/>
              </a:spcBef>
            </a:pPr>
            <a:r>
              <a:rPr lang="en-US" sz="2000" dirty="0" smtClean="0">
                <a:ea typeface="ヒラギノ角ゴ Pro W3" pitchFamily="-84" charset="-128"/>
              </a:rPr>
              <a:t>The interest rate on bonds</a:t>
            </a:r>
          </a:p>
          <a:p>
            <a:pPr>
              <a:spcBef>
                <a:spcPts val="525"/>
              </a:spcBef>
            </a:pPr>
            <a:r>
              <a:rPr lang="en-US" sz="2400" dirty="0" smtClean="0">
                <a:ea typeface="ヒラギノ角ゴ Pro W3" pitchFamily="-84" charset="-128"/>
              </a:rPr>
              <a:t>You can hold bonds indirectly through </a:t>
            </a:r>
            <a:r>
              <a:rPr lang="en-US" sz="2400" b="1" dirty="0" smtClean="0">
                <a:ea typeface="ヒラギノ角ゴ Pro W3" pitchFamily="-84" charset="-128"/>
              </a:rPr>
              <a:t>money market funds</a:t>
            </a:r>
            <a:r>
              <a:rPr lang="en-US" sz="2400" dirty="0" smtClean="0">
                <a:ea typeface="ヒラギノ角ゴ Pro W3" pitchFamily="-84" charset="-128"/>
              </a:rPr>
              <a:t>, or </a:t>
            </a:r>
            <a:r>
              <a:rPr lang="en-US" sz="2400" i="1" dirty="0" smtClean="0">
                <a:ea typeface="ヒラギノ角ゴ Pro W3" pitchFamily="-84" charset="-128"/>
              </a:rPr>
              <a:t>money market mutual funds</a:t>
            </a:r>
            <a:r>
              <a:rPr lang="en-US" sz="2400" dirty="0" smtClean="0">
                <a:ea typeface="ヒラギノ角ゴ Pro W3" pitchFamily="-84" charset="-128"/>
              </a:rPr>
              <a:t>.</a:t>
            </a:r>
          </a:p>
          <a:p>
            <a:pPr>
              <a:spcBef>
                <a:spcPts val="525"/>
              </a:spcBef>
            </a:pPr>
            <a:r>
              <a:rPr lang="en-US" sz="2400" dirty="0" smtClean="0">
                <a:ea typeface="ヒラギノ角ゴ Pro W3" pitchFamily="-84" charset="-128"/>
              </a:rPr>
              <a:t>In the early 1980s, the interest rate on money market funds reached 14% per year, so people earned more interest by moving their wealth from checking accounts to these funds.</a:t>
            </a:r>
          </a:p>
        </p:txBody>
      </p:sp>
    </p:spTree>
    <p:extLst>
      <p:ext uri="{BB962C8B-B14F-4D97-AF65-F5344CB8AC3E}">
        <p14:creationId xmlns:p14="http://schemas.microsoft.com/office/powerpoint/2010/main" xmlns="" val="937365843"/>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dirty="0" smtClean="0">
                <a:ea typeface="ヒラギノ角ゴ Pro W3" pitchFamily="-84" charset="-128"/>
              </a:rPr>
              <a:t>FOCUS: Semantic Traps: Money, Income, and Wealth</a:t>
            </a:r>
          </a:p>
        </p:txBody>
      </p:sp>
      <p:sp>
        <p:nvSpPr>
          <p:cNvPr id="9219" name="Content Placeholder 2"/>
          <p:cNvSpPr>
            <a:spLocks noGrp="1"/>
          </p:cNvSpPr>
          <p:nvPr>
            <p:ph idx="1"/>
          </p:nvPr>
        </p:nvSpPr>
        <p:spPr>
          <a:xfrm>
            <a:off x="381000" y="1295400"/>
            <a:ext cx="8458200" cy="5105400"/>
          </a:xfrm>
        </p:spPr>
        <p:txBody>
          <a:bodyPr/>
          <a:lstStyle/>
          <a:p>
            <a:pPr>
              <a:spcBef>
                <a:spcPts val="525"/>
              </a:spcBef>
            </a:pPr>
            <a:r>
              <a:rPr lang="en-US" sz="2200" b="1" dirty="0" smtClean="0">
                <a:ea typeface="ヒラギノ角ゴ Pro W3" pitchFamily="-84" charset="-128"/>
              </a:rPr>
              <a:t>Money</a:t>
            </a:r>
            <a:r>
              <a:rPr lang="en-US" sz="2200" dirty="0" smtClean="0">
                <a:ea typeface="ヒラギノ角ゴ Pro W3" pitchFamily="-84" charset="-128"/>
              </a:rPr>
              <a:t> is what can be used to pay for transactions.</a:t>
            </a:r>
          </a:p>
          <a:p>
            <a:pPr>
              <a:spcBef>
                <a:spcPts val="525"/>
              </a:spcBef>
            </a:pPr>
            <a:r>
              <a:rPr lang="en-US" sz="2200" b="1" dirty="0" smtClean="0">
                <a:ea typeface="ヒラギノ角ゴ Pro W3" pitchFamily="-84" charset="-128"/>
              </a:rPr>
              <a:t>Income</a:t>
            </a:r>
            <a:r>
              <a:rPr lang="en-US" sz="2200" dirty="0" smtClean="0">
                <a:ea typeface="ヒラギノ角ゴ Pro W3" pitchFamily="-84" charset="-128"/>
              </a:rPr>
              <a:t> is what you earn, and it is a flow.</a:t>
            </a:r>
          </a:p>
          <a:p>
            <a:pPr>
              <a:spcBef>
                <a:spcPts val="525"/>
              </a:spcBef>
            </a:pPr>
            <a:r>
              <a:rPr lang="en-US" sz="2200" b="1" dirty="0" smtClean="0">
                <a:ea typeface="ヒラギノ角ゴ Pro W3" pitchFamily="-84" charset="-128"/>
              </a:rPr>
              <a:t>Saving</a:t>
            </a:r>
            <a:r>
              <a:rPr lang="en-US" sz="2200" dirty="0" smtClean="0">
                <a:ea typeface="ヒラギノ角ゴ Pro W3" pitchFamily="-84" charset="-128"/>
              </a:rPr>
              <a:t> is the part of after-tax income that you do not spend, and it is also a flow.</a:t>
            </a:r>
          </a:p>
          <a:p>
            <a:pPr>
              <a:spcBef>
                <a:spcPts val="525"/>
              </a:spcBef>
            </a:pPr>
            <a:r>
              <a:rPr lang="en-US" sz="2200" b="1" dirty="0" smtClean="0">
                <a:ea typeface="ヒラギノ角ゴ Pro W3" pitchFamily="-84" charset="-128"/>
              </a:rPr>
              <a:t>Savings</a:t>
            </a:r>
            <a:r>
              <a:rPr lang="en-US" sz="2200" dirty="0" smtClean="0">
                <a:ea typeface="ヒラギノ角ゴ Pro W3" pitchFamily="-84" charset="-128"/>
              </a:rPr>
              <a:t> is the value of what you have accumulated over time.</a:t>
            </a:r>
          </a:p>
          <a:p>
            <a:pPr>
              <a:spcBef>
                <a:spcPts val="525"/>
              </a:spcBef>
            </a:pPr>
            <a:r>
              <a:rPr lang="en-US" sz="2200" b="1" dirty="0" smtClean="0">
                <a:ea typeface="ヒラギノ角ゴ Pro W3" pitchFamily="-84" charset="-128"/>
              </a:rPr>
              <a:t>Financial wealth</a:t>
            </a:r>
            <a:r>
              <a:rPr lang="en-US" sz="2200" dirty="0" smtClean="0">
                <a:ea typeface="ヒラギノ角ゴ Pro W3" pitchFamily="-84" charset="-128"/>
              </a:rPr>
              <a:t>, or wealth, is the value of all your financial assets minus all your financial liabilities, and it is a stock variable</a:t>
            </a:r>
          </a:p>
          <a:p>
            <a:pPr>
              <a:spcBef>
                <a:spcPts val="525"/>
              </a:spcBef>
            </a:pPr>
            <a:r>
              <a:rPr lang="en-US" sz="2200" b="1" dirty="0" smtClean="0">
                <a:ea typeface="ヒラギノ角ゴ Pro W3" pitchFamily="-84" charset="-128"/>
              </a:rPr>
              <a:t>Investment</a:t>
            </a:r>
            <a:r>
              <a:rPr lang="en-US" sz="2200" dirty="0" smtClean="0">
                <a:ea typeface="ヒラギノ角ゴ Pro W3" pitchFamily="-84" charset="-128"/>
              </a:rPr>
              <a:t> is what economists refer to as the purchase of new capital goods.</a:t>
            </a:r>
          </a:p>
          <a:p>
            <a:pPr>
              <a:spcBef>
                <a:spcPts val="525"/>
              </a:spcBef>
            </a:pPr>
            <a:r>
              <a:rPr lang="en-US" sz="2200" b="1" dirty="0" smtClean="0">
                <a:ea typeface="ヒラギノ角ゴ Pro W3" pitchFamily="-84" charset="-128"/>
              </a:rPr>
              <a:t>Financial investment </a:t>
            </a:r>
            <a:r>
              <a:rPr lang="en-US" sz="2200" dirty="0" smtClean="0">
                <a:ea typeface="ヒラギノ角ゴ Pro W3" pitchFamily="-84" charset="-128"/>
              </a:rPr>
              <a:t>is the purchase of shares or other financial assets.  </a:t>
            </a:r>
          </a:p>
        </p:txBody>
      </p:sp>
    </p:spTree>
    <p:extLst>
      <p:ext uri="{BB962C8B-B14F-4D97-AF65-F5344CB8AC3E}">
        <p14:creationId xmlns:p14="http://schemas.microsoft.com/office/powerpoint/2010/main" xmlns="" val="3882348859"/>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smtClean="0">
                <a:ea typeface="ヒラギノ角ゴ Pro W3" pitchFamily="-84" charset="-128"/>
              </a:rPr>
              <a:t>4-1 The Demand for Money</a:t>
            </a:r>
          </a:p>
        </p:txBody>
      </p:sp>
      <p:sp>
        <p:nvSpPr>
          <p:cNvPr id="9219" name="Content Placeholder 2"/>
          <p:cNvSpPr>
            <a:spLocks noGrp="1"/>
          </p:cNvSpPr>
          <p:nvPr>
            <p:ph idx="1"/>
          </p:nvPr>
        </p:nvSpPr>
        <p:spPr>
          <a:xfrm>
            <a:off x="381000" y="1371600"/>
            <a:ext cx="8229600" cy="4572000"/>
          </a:xfrm>
        </p:spPr>
        <p:txBody>
          <a:bodyPr/>
          <a:lstStyle/>
          <a:p>
            <a:pPr>
              <a:spcBef>
                <a:spcPts val="525"/>
              </a:spcBef>
            </a:pPr>
            <a:r>
              <a:rPr lang="en-US" sz="2400" dirty="0" smtClean="0">
                <a:ea typeface="ヒラギノ角ゴ Pro W3" pitchFamily="-84" charset="-128"/>
              </a:rPr>
              <a:t>Demand for money (</a:t>
            </a:r>
            <a:r>
              <a:rPr lang="en-US" i="1" dirty="0" err="1" smtClean="0">
                <a:latin typeface="Times New Roman" panose="02020603050405020304" pitchFamily="18" charset="0"/>
                <a:ea typeface="ヒラギノ角ゴ Pro W3" pitchFamily="-84" charset="-128"/>
                <a:cs typeface="Times New Roman" panose="02020603050405020304" pitchFamily="18" charset="0"/>
              </a:rPr>
              <a:t>M</a:t>
            </a:r>
            <a:r>
              <a:rPr lang="en-US" i="1" baseline="30000" dirty="0" err="1" smtClean="0">
                <a:latin typeface="Times New Roman" panose="02020603050405020304" pitchFamily="18" charset="0"/>
                <a:ea typeface="ヒラギノ角ゴ Pro W3" pitchFamily="-84" charset="-128"/>
                <a:cs typeface="Times New Roman" panose="02020603050405020304" pitchFamily="18" charset="0"/>
              </a:rPr>
              <a:t>d</a:t>
            </a:r>
            <a:r>
              <a:rPr lang="en-US" sz="2400" dirty="0" smtClean="0">
                <a:ea typeface="ヒラギノ角ゴ Pro W3" pitchFamily="-84" charset="-128"/>
              </a:rPr>
              <a:t>) is equal to nominal income $</a:t>
            </a:r>
            <a:r>
              <a:rPr lang="en-US" sz="2400" i="1" dirty="0" smtClean="0">
                <a:latin typeface="Times New Roman" panose="02020603050405020304" pitchFamily="18" charset="0"/>
                <a:ea typeface="ヒラギノ角ゴ Pro W3" pitchFamily="-84" charset="-128"/>
                <a:cs typeface="Times New Roman" panose="02020603050405020304" pitchFamily="18" charset="0"/>
              </a:rPr>
              <a:t>Y</a:t>
            </a:r>
            <a:r>
              <a:rPr lang="en-US" sz="2400" dirty="0" smtClean="0">
                <a:ea typeface="ヒラギノ角ゴ Pro W3" pitchFamily="-84" charset="-128"/>
              </a:rPr>
              <a:t> (a measure of level of transactions in the economy) times a decreasing function of the interest rate </a:t>
            </a:r>
            <a:r>
              <a:rPr lang="en-US" sz="2400" i="1" dirty="0" smtClean="0">
                <a:latin typeface="Times New Roman" panose="02020603050405020304" pitchFamily="18" charset="0"/>
                <a:ea typeface="ヒラギノ角ゴ Pro W3" pitchFamily="-84" charset="-128"/>
                <a:cs typeface="Times New Roman" panose="02020603050405020304" pitchFamily="18" charset="0"/>
              </a:rPr>
              <a:t>i</a:t>
            </a:r>
            <a:r>
              <a:rPr lang="en-US" sz="2400" dirty="0" smtClean="0">
                <a:ea typeface="ヒラギノ角ゴ Pro W3" pitchFamily="-84" charset="-128"/>
              </a:rPr>
              <a:t>:</a:t>
            </a: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sz="2400" dirty="0" smtClean="0">
                <a:ea typeface="ヒラギノ角ゴ Pro W3" pitchFamily="-84" charset="-128"/>
              </a:rPr>
              <a:t>An increase in the interest rate decreases the demand for money, as people put more of their wealth into bonds.</a:t>
            </a:r>
          </a:p>
        </p:txBody>
      </p:sp>
      <p:pic>
        <p:nvPicPr>
          <p:cNvPr id="4" name="Picture 5" descr="eq04_01.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44967" y="3048000"/>
            <a:ext cx="6965633" cy="9712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smtClean="0">
                <a:ea typeface="ヒラギノ角ゴ Pro W3" pitchFamily="-84" charset="-128"/>
              </a:rPr>
              <a:t>4-1 The Demand for Money</a:t>
            </a:r>
          </a:p>
        </p:txBody>
      </p:sp>
      <p:sp>
        <p:nvSpPr>
          <p:cNvPr id="9219"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Equation (4.1) means that he demand for money:</a:t>
            </a:r>
          </a:p>
          <a:p>
            <a:pPr lvl="1">
              <a:spcBef>
                <a:spcPts val="525"/>
              </a:spcBef>
            </a:pPr>
            <a:r>
              <a:rPr lang="en-US" sz="2000" dirty="0" smtClean="0">
                <a:ea typeface="ヒラギノ角ゴ Pro W3" pitchFamily="-84" charset="-128"/>
              </a:rPr>
              <a:t>increases in proportion to nominal income, and</a:t>
            </a:r>
          </a:p>
          <a:p>
            <a:pPr lvl="1">
              <a:spcBef>
                <a:spcPts val="525"/>
              </a:spcBef>
            </a:pPr>
            <a:r>
              <a:rPr lang="en-US" sz="2000" dirty="0" smtClean="0">
                <a:ea typeface="ヒラギノ角ゴ Pro W3" pitchFamily="-84" charset="-128"/>
              </a:rPr>
              <a:t>depends negatively on the interest rate.</a:t>
            </a:r>
          </a:p>
          <a:p>
            <a:pPr>
              <a:spcBef>
                <a:spcPts val="525"/>
              </a:spcBef>
            </a:pPr>
            <a:r>
              <a:rPr lang="en-US" sz="2400" dirty="0" smtClean="0">
                <a:ea typeface="ヒラギノ角ゴ Pro W3" pitchFamily="-84" charset="-128"/>
              </a:rPr>
              <a:t>The relation between the demand for money and interest rate for a given level of income $</a:t>
            </a:r>
            <a:r>
              <a:rPr lang="en-US" i="1" dirty="0" smtClean="0">
                <a:latin typeface="Times New Roman" panose="02020603050405020304" pitchFamily="18" charset="0"/>
                <a:ea typeface="ヒラギノ角ゴ Pro W3" pitchFamily="-84" charset="-128"/>
                <a:cs typeface="Times New Roman" panose="02020603050405020304" pitchFamily="18" charset="0"/>
              </a:rPr>
              <a:t>Y</a:t>
            </a:r>
            <a:r>
              <a:rPr lang="en-US" sz="2400" dirty="0" smtClean="0">
                <a:ea typeface="ヒラギノ角ゴ Pro W3" pitchFamily="-84" charset="-128"/>
              </a:rPr>
              <a:t> is represented by the </a:t>
            </a:r>
            <a:r>
              <a:rPr lang="en-US" i="1" dirty="0" err="1" smtClean="0">
                <a:latin typeface="Times New Roman" panose="02020603050405020304" pitchFamily="18" charset="0"/>
                <a:ea typeface="ヒラギノ角ゴ Pro W3" pitchFamily="-84" charset="-128"/>
                <a:cs typeface="Times New Roman" panose="02020603050405020304" pitchFamily="18" charset="0"/>
              </a:rPr>
              <a:t>M</a:t>
            </a:r>
            <a:r>
              <a:rPr lang="en-US" i="1" baseline="30000" dirty="0" err="1" smtClean="0">
                <a:latin typeface="Times New Roman" panose="02020603050405020304" pitchFamily="18" charset="0"/>
                <a:ea typeface="ヒラギノ角ゴ Pro W3" pitchFamily="-84" charset="-128"/>
                <a:cs typeface="Times New Roman" panose="02020603050405020304" pitchFamily="18" charset="0"/>
              </a:rPr>
              <a:t>d</a:t>
            </a:r>
            <a:r>
              <a:rPr lang="en-US" sz="2400" dirty="0" smtClean="0">
                <a:ea typeface="ヒラギノ角ゴ Pro W3" pitchFamily="-84" charset="-128"/>
              </a:rPr>
              <a:t> curve.</a:t>
            </a:r>
          </a:p>
        </p:txBody>
      </p:sp>
    </p:spTree>
    <p:extLst>
      <p:ext uri="{BB962C8B-B14F-4D97-AF65-F5344CB8AC3E}">
        <p14:creationId xmlns:p14="http://schemas.microsoft.com/office/powerpoint/2010/main" xmlns="" val="2705616486"/>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mtClean="0">
                <a:ea typeface="ヒラギノ角ゴ Pro W3" pitchFamily="-65" charset="-128"/>
              </a:rPr>
              <a:t>4-1 The Demand for Money</a:t>
            </a:r>
          </a:p>
        </p:txBody>
      </p:sp>
      <p:sp>
        <p:nvSpPr>
          <p:cNvPr id="17411" name="Content Placeholder 2"/>
          <p:cNvSpPr>
            <a:spLocks noGrp="1"/>
          </p:cNvSpPr>
          <p:nvPr>
            <p:ph idx="1"/>
          </p:nvPr>
        </p:nvSpPr>
        <p:spPr>
          <a:xfrm>
            <a:off x="386316" y="1143000"/>
            <a:ext cx="8382000" cy="685800"/>
          </a:xfrm>
        </p:spPr>
        <p:txBody>
          <a:bodyPr/>
          <a:lstStyle/>
          <a:p>
            <a:pPr>
              <a:buFontTx/>
              <a:buNone/>
            </a:pPr>
            <a:r>
              <a:rPr lang="en-US" sz="1800" b="1" dirty="0" smtClean="0">
                <a:ea typeface="ヒラギノ角ゴ Pro W3" pitchFamily="-65" charset="-128"/>
              </a:rPr>
              <a:t>Figure 4-1  </a:t>
            </a:r>
            <a:r>
              <a:rPr lang="en-US" sz="1800" dirty="0" smtClean="0">
                <a:ea typeface="ヒラギノ角ゴ Pro W3" pitchFamily="-65" charset="-128"/>
              </a:rPr>
              <a:t>The Demand for Money</a:t>
            </a:r>
          </a:p>
        </p:txBody>
      </p:sp>
      <p:pic>
        <p:nvPicPr>
          <p:cNvPr id="17412" name="Picture 3" descr="fig04_01.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505200" y="1676400"/>
            <a:ext cx="5029200" cy="4587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Content Placeholder 2"/>
          <p:cNvSpPr txBox="1">
            <a:spLocks/>
          </p:cNvSpPr>
          <p:nvPr/>
        </p:nvSpPr>
        <p:spPr bwMode="auto">
          <a:xfrm>
            <a:off x="457200" y="2214716"/>
            <a:ext cx="2667000" cy="31192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For a given level of nominal income, a lower interest rate increases the demand for money.</a:t>
            </a:r>
          </a:p>
          <a:p>
            <a:pPr marL="0" indent="0">
              <a:spcBef>
                <a:spcPts val="525"/>
              </a:spcBef>
              <a:buNone/>
            </a:pPr>
            <a:r>
              <a:rPr lang="en-US" sz="1600" kern="0" dirty="0" smtClean="0">
                <a:ea typeface="ヒラギノ角ゴ Pro W3" pitchFamily="-84" charset="-128"/>
              </a:rPr>
              <a:t>At a given interest rate, an increase in nominal income shifts the demand for money to the right.</a:t>
            </a:r>
          </a:p>
          <a:p>
            <a:pPr>
              <a:spcBef>
                <a:spcPts val="525"/>
              </a:spcBef>
            </a:pPr>
            <a:endParaRPr lang="en-US" sz="1600" kern="0" dirty="0" smtClean="0">
              <a:ea typeface="ヒラギノ角ゴ Pro W3" pitchFamily="-84" charset="-128"/>
            </a:endParaRPr>
          </a:p>
        </p:txBody>
      </p:sp>
    </p:spTree>
    <p:extLst>
      <p:ext uri="{BB962C8B-B14F-4D97-AF65-F5344CB8AC3E}">
        <p14:creationId xmlns:p14="http://schemas.microsoft.com/office/powerpoint/2010/main" xmlns="" val="248127941"/>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smtClean="0">
                <a:ea typeface="ヒラギノ角ゴ Pro W3" pitchFamily="-84" charset="-128"/>
              </a:rPr>
              <a:t>FOCUS: Who Holds U.S. Currency</a:t>
            </a:r>
          </a:p>
        </p:txBody>
      </p:sp>
      <p:sp>
        <p:nvSpPr>
          <p:cNvPr id="9219"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The amount of currency in circulation in 2006 was $750 billion.</a:t>
            </a:r>
          </a:p>
          <a:p>
            <a:pPr>
              <a:spcBef>
                <a:spcPts val="525"/>
              </a:spcBef>
            </a:pPr>
            <a:r>
              <a:rPr lang="en-US" sz="2400" dirty="0" smtClean="0">
                <a:ea typeface="ヒラギノ角ゴ Pro W3" pitchFamily="-84" charset="-128"/>
              </a:rPr>
              <a:t>U.S. households together held $170 billion in currency.</a:t>
            </a:r>
          </a:p>
          <a:p>
            <a:pPr>
              <a:spcBef>
                <a:spcPts val="525"/>
              </a:spcBef>
            </a:pPr>
            <a:r>
              <a:rPr lang="en-US" sz="2400" dirty="0" smtClean="0">
                <a:ea typeface="ヒラギノ角ゴ Pro W3" pitchFamily="-84" charset="-128"/>
              </a:rPr>
              <a:t>U.S. firms held another $80 billion.</a:t>
            </a:r>
          </a:p>
          <a:p>
            <a:pPr>
              <a:spcBef>
                <a:spcPts val="525"/>
              </a:spcBef>
            </a:pPr>
            <a:r>
              <a:rPr lang="en-US" sz="2400" dirty="0" smtClean="0">
                <a:ea typeface="ヒラギノ角ゴ Pro W3" pitchFamily="-84" charset="-128"/>
              </a:rPr>
              <a:t>Foreigners abroad held $500 billion, or 66% of the total, for transactions, especially in countries suffering from high inflation in the past.</a:t>
            </a:r>
          </a:p>
          <a:p>
            <a:pPr>
              <a:spcBef>
                <a:spcPts val="525"/>
              </a:spcBef>
            </a:pPr>
            <a:endParaRPr lang="en-US" sz="2400" dirty="0" smtClean="0">
              <a:ea typeface="ヒラギノ角ゴ Pro W3" pitchFamily="-84" charset="-128"/>
            </a:endParaRPr>
          </a:p>
        </p:txBody>
      </p:sp>
    </p:spTree>
    <p:extLst>
      <p:ext uri="{BB962C8B-B14F-4D97-AF65-F5344CB8AC3E}">
        <p14:creationId xmlns:p14="http://schemas.microsoft.com/office/powerpoint/2010/main" xmlns="" val="665772868"/>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ea typeface="ヒラギノ角ゴ Pro W3" pitchFamily="-65" charset="-128"/>
              </a:rPr>
              <a:t>4-2 Determining the Interest Rate: I</a:t>
            </a:r>
          </a:p>
        </p:txBody>
      </p:sp>
      <p:pic>
        <p:nvPicPr>
          <p:cNvPr id="18435" name="Picture 5" descr="eq04_02.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84237" y="3962400"/>
            <a:ext cx="7954963" cy="768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Content Placeholder 2"/>
          <p:cNvSpPr>
            <a:spLocks noGrp="1"/>
          </p:cNvSpPr>
          <p:nvPr>
            <p:ph idx="1"/>
          </p:nvPr>
        </p:nvSpPr>
        <p:spPr>
          <a:xfrm>
            <a:off x="381000" y="1295400"/>
            <a:ext cx="8382000" cy="2362200"/>
          </a:xfrm>
        </p:spPr>
        <p:txBody>
          <a:bodyPr/>
          <a:lstStyle/>
          <a:p>
            <a:pPr>
              <a:spcBef>
                <a:spcPts val="525"/>
              </a:spcBef>
            </a:pPr>
            <a:r>
              <a:rPr lang="en-US" sz="2400" dirty="0" smtClean="0">
                <a:ea typeface="ヒラギノ角ゴ Pro W3" pitchFamily="-84" charset="-128"/>
              </a:rPr>
              <a:t>Suppose the central bank decides to supply an amount of money equal to M:</a:t>
            </a:r>
          </a:p>
          <a:p>
            <a:pPr marL="0" indent="0" algn="ctr">
              <a:spcBef>
                <a:spcPts val="1200"/>
              </a:spcBef>
              <a:spcAft>
                <a:spcPts val="600"/>
              </a:spcAft>
              <a:buNone/>
            </a:pPr>
            <a:r>
              <a:rPr lang="en-US" i="1" dirty="0" err="1" smtClean="0">
                <a:latin typeface="Times New Roman" panose="02020603050405020304" pitchFamily="18" charset="0"/>
                <a:ea typeface="ヒラギノ角ゴ Pro W3" pitchFamily="-84" charset="-128"/>
                <a:cs typeface="Times New Roman" panose="02020603050405020304" pitchFamily="18" charset="0"/>
              </a:rPr>
              <a:t>M</a:t>
            </a:r>
            <a:r>
              <a:rPr lang="en-US" i="1" baseline="30000" dirty="0" err="1" smtClean="0">
                <a:latin typeface="Times New Roman" panose="02020603050405020304" pitchFamily="18" charset="0"/>
                <a:ea typeface="ヒラギノ角ゴ Pro W3" pitchFamily="-84" charset="-128"/>
                <a:cs typeface="Times New Roman" panose="02020603050405020304" pitchFamily="18" charset="0"/>
              </a:rPr>
              <a:t>s</a:t>
            </a:r>
            <a:r>
              <a:rPr lang="en-US" baseline="30000" dirty="0" smtClean="0">
                <a:latin typeface="Times New Roman" panose="02020603050405020304" pitchFamily="18" charset="0"/>
                <a:ea typeface="ヒラギノ角ゴ Pro W3" pitchFamily="-84" charset="-128"/>
                <a:cs typeface="Times New Roman" panose="02020603050405020304" pitchFamily="18" charset="0"/>
              </a:rPr>
              <a:t> </a:t>
            </a:r>
            <a:r>
              <a:rPr lang="en-US" dirty="0" smtClean="0">
                <a:latin typeface="Times New Roman" panose="02020603050405020304" pitchFamily="18" charset="0"/>
                <a:ea typeface="ヒラギノ角ゴ Pro W3" pitchFamily="-84" charset="-128"/>
                <a:cs typeface="Times New Roman" panose="02020603050405020304" pitchFamily="18" charset="0"/>
              </a:rPr>
              <a:t>= </a:t>
            </a:r>
            <a:r>
              <a:rPr lang="en-US" i="1" dirty="0" smtClean="0">
                <a:latin typeface="Times New Roman" panose="02020603050405020304" pitchFamily="18" charset="0"/>
                <a:ea typeface="ヒラギノ角ゴ Pro W3" pitchFamily="-84" charset="-128"/>
                <a:cs typeface="Times New Roman" panose="02020603050405020304" pitchFamily="18" charset="0"/>
              </a:rPr>
              <a:t>M</a:t>
            </a:r>
          </a:p>
          <a:p>
            <a:pPr>
              <a:spcBef>
                <a:spcPts val="525"/>
              </a:spcBef>
            </a:pPr>
            <a:r>
              <a:rPr lang="en-US" sz="2400" dirty="0" smtClean="0">
                <a:ea typeface="ヒラギノ角ゴ Pro W3" pitchFamily="-84" charset="-128"/>
              </a:rPr>
              <a:t>Equilibrium in financial markets requires that </a:t>
            </a:r>
            <a:r>
              <a:rPr lang="en-US" i="1" dirty="0" err="1">
                <a:latin typeface="Times New Roman" panose="02020603050405020304" pitchFamily="18" charset="0"/>
                <a:ea typeface="ヒラギノ角ゴ Pro W3" pitchFamily="-84" charset="-128"/>
                <a:cs typeface="Times New Roman" panose="02020603050405020304" pitchFamily="18" charset="0"/>
              </a:rPr>
              <a:t>M</a:t>
            </a:r>
            <a:r>
              <a:rPr lang="en-US" i="1" baseline="30000" dirty="0" err="1">
                <a:latin typeface="Times New Roman" panose="02020603050405020304" pitchFamily="18" charset="0"/>
                <a:ea typeface="ヒラギノ角ゴ Pro W3" pitchFamily="-84" charset="-128"/>
                <a:cs typeface="Times New Roman" panose="02020603050405020304" pitchFamily="18" charset="0"/>
              </a:rPr>
              <a:t>s</a:t>
            </a:r>
            <a:r>
              <a:rPr lang="en-US" i="1" dirty="0">
                <a:latin typeface="Times New Roman" panose="02020603050405020304" pitchFamily="18" charset="0"/>
                <a:ea typeface="ヒラギノ角ゴ Pro W3" pitchFamily="-84" charset="-128"/>
                <a:cs typeface="Times New Roman" panose="02020603050405020304" pitchFamily="18" charset="0"/>
              </a:rPr>
              <a:t>=</a:t>
            </a:r>
            <a:r>
              <a:rPr lang="en-US" i="1" dirty="0" err="1">
                <a:latin typeface="Times New Roman" panose="02020603050405020304" pitchFamily="18" charset="0"/>
                <a:ea typeface="ヒラギノ角ゴ Pro W3" pitchFamily="-84" charset="-128"/>
                <a:cs typeface="Times New Roman" panose="02020603050405020304" pitchFamily="18" charset="0"/>
              </a:rPr>
              <a:t>M</a:t>
            </a:r>
            <a:r>
              <a:rPr lang="en-US" i="1" baseline="30000" dirty="0" err="1">
                <a:latin typeface="Times New Roman" panose="02020603050405020304" pitchFamily="18" charset="0"/>
                <a:ea typeface="ヒラギノ角ゴ Pro W3" pitchFamily="-84" charset="-128"/>
                <a:cs typeface="Times New Roman" panose="02020603050405020304" pitchFamily="18" charset="0"/>
              </a:rPr>
              <a:t>d</a:t>
            </a:r>
            <a:r>
              <a:rPr lang="en-US" i="1" dirty="0">
                <a:latin typeface="Times New Roman" panose="02020603050405020304" pitchFamily="18" charset="0"/>
                <a:ea typeface="ヒラギノ角ゴ Pro W3" pitchFamily="-84" charset="-128"/>
                <a:cs typeface="Times New Roman" panose="02020603050405020304" pitchFamily="18" charset="0"/>
              </a:rPr>
              <a:t>=M</a:t>
            </a:r>
            <a:r>
              <a:rPr lang="en-US" sz="2400" dirty="0" smtClean="0">
                <a:ea typeface="ヒラギノ角ゴ Pro W3" pitchFamily="-84" charset="-128"/>
              </a:rPr>
              <a:t>:</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p14="http://schemas.microsoft.com/office/powerpoint/2010/main" xmlns="" val="198790817"/>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mtClean="0">
                <a:ea typeface="ヒラギノ角ゴ Pro W3" pitchFamily="-65" charset="-128"/>
              </a:rPr>
              <a:t>4-2 Determining the Interest Rate: I</a:t>
            </a:r>
          </a:p>
        </p:txBody>
      </p:sp>
      <p:sp>
        <p:nvSpPr>
          <p:cNvPr id="19459" name="Content Placeholder 2"/>
          <p:cNvSpPr>
            <a:spLocks noGrp="1"/>
          </p:cNvSpPr>
          <p:nvPr>
            <p:ph idx="1"/>
          </p:nvPr>
        </p:nvSpPr>
        <p:spPr>
          <a:xfrm>
            <a:off x="381000" y="1066800"/>
            <a:ext cx="8382000" cy="533400"/>
          </a:xfrm>
        </p:spPr>
        <p:txBody>
          <a:bodyPr/>
          <a:lstStyle/>
          <a:p>
            <a:pPr marL="0" indent="0">
              <a:buFontTx/>
              <a:buNone/>
            </a:pPr>
            <a:r>
              <a:rPr lang="en-US" sz="2000" b="1" dirty="0" smtClean="0">
                <a:ea typeface="ヒラギノ角ゴ Pro W3" pitchFamily="-65" charset="-128"/>
              </a:rPr>
              <a:t>Figure 4-2  </a:t>
            </a:r>
            <a:r>
              <a:rPr lang="en-US" sz="2000" dirty="0" smtClean="0">
                <a:ea typeface="ヒラギノ角ゴ Pro W3" pitchFamily="-65" charset="-128"/>
              </a:rPr>
              <a:t>The Determination of the Interest Rate</a:t>
            </a:r>
          </a:p>
        </p:txBody>
      </p:sp>
      <p:pic>
        <p:nvPicPr>
          <p:cNvPr id="19460" name="Picture 3" descr="fig04_02.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57600" y="1752600"/>
            <a:ext cx="4959350" cy="4572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Content Placeholder 2"/>
          <p:cNvSpPr txBox="1">
            <a:spLocks/>
          </p:cNvSpPr>
          <p:nvPr/>
        </p:nvSpPr>
        <p:spPr bwMode="auto">
          <a:xfrm>
            <a:off x="457200" y="2214716"/>
            <a:ext cx="2667000" cy="31192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The interest rate must be such that the supply of money (which is independent of the interest rate) is equal to the demand for money (which does depend on the interest rate).</a:t>
            </a:r>
          </a:p>
          <a:p>
            <a:pPr>
              <a:spcBef>
                <a:spcPts val="525"/>
              </a:spcBef>
            </a:pPr>
            <a:endParaRPr lang="en-US" sz="1600" kern="0" dirty="0" smtClean="0">
              <a:ea typeface="ヒラギノ角ゴ Pro W3" pitchFamily="-84" charset="-128"/>
            </a:endParaRPr>
          </a:p>
        </p:txBody>
      </p:sp>
    </p:spTree>
    <p:extLst>
      <p:ext uri="{BB962C8B-B14F-4D97-AF65-F5344CB8AC3E}">
        <p14:creationId xmlns:p14="http://schemas.microsoft.com/office/powerpoint/2010/main" xmlns="" val="2253878346"/>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mtClean="0">
                <a:ea typeface="ヒラギノ角ゴ Pro W3" pitchFamily="-65" charset="-128"/>
              </a:rPr>
              <a:t>4-2 Determining the Interest Rate: I</a:t>
            </a:r>
          </a:p>
        </p:txBody>
      </p:sp>
      <p:sp>
        <p:nvSpPr>
          <p:cNvPr id="20483" name="Content Placeholder 2"/>
          <p:cNvSpPr>
            <a:spLocks noGrp="1"/>
          </p:cNvSpPr>
          <p:nvPr>
            <p:ph idx="1"/>
          </p:nvPr>
        </p:nvSpPr>
        <p:spPr>
          <a:xfrm>
            <a:off x="432391" y="1288312"/>
            <a:ext cx="8382000" cy="533400"/>
          </a:xfrm>
        </p:spPr>
        <p:txBody>
          <a:bodyPr/>
          <a:lstStyle/>
          <a:p>
            <a:pPr marL="0" indent="0">
              <a:buFontTx/>
              <a:buNone/>
            </a:pPr>
            <a:r>
              <a:rPr lang="en-US" sz="1800" b="1" dirty="0" smtClean="0">
                <a:ea typeface="ヒラギノ角ゴ Pro W3" pitchFamily="-65" charset="-128"/>
              </a:rPr>
              <a:t>Figure 4-3  </a:t>
            </a:r>
            <a:r>
              <a:rPr lang="en-US" sz="1800" dirty="0" smtClean="0">
                <a:ea typeface="ヒラギノ角ゴ Pro W3" pitchFamily="-65" charset="-128"/>
              </a:rPr>
              <a:t>The Effects of an Increase in Nominal Income on the Interest Rate</a:t>
            </a:r>
          </a:p>
        </p:txBody>
      </p:sp>
      <p:pic>
        <p:nvPicPr>
          <p:cNvPr id="20484" name="Picture 4" descr="fig04_03.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57600" y="1828800"/>
            <a:ext cx="4806950" cy="4432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Content Placeholder 2"/>
          <p:cNvSpPr txBox="1">
            <a:spLocks/>
          </p:cNvSpPr>
          <p:nvPr/>
        </p:nvSpPr>
        <p:spPr bwMode="auto">
          <a:xfrm>
            <a:off x="432391" y="2590800"/>
            <a:ext cx="2667000" cy="31192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Given the money supply, an increase in nominal income leads to an increase in the interest rate.</a:t>
            </a:r>
          </a:p>
          <a:p>
            <a:pPr>
              <a:spcBef>
                <a:spcPts val="525"/>
              </a:spcBef>
            </a:pPr>
            <a:endParaRPr lang="en-US" sz="1600" kern="0" dirty="0" smtClean="0">
              <a:ea typeface="ヒラギノ角ゴ Pro W3" pitchFamily="-84" charset="-128"/>
            </a:endParaRPr>
          </a:p>
        </p:txBody>
      </p:sp>
    </p:spTree>
    <p:extLst>
      <p:ext uri="{BB962C8B-B14F-4D97-AF65-F5344CB8AC3E}">
        <p14:creationId xmlns:p14="http://schemas.microsoft.com/office/powerpoint/2010/main" xmlns="" val="1899261229"/>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mtClean="0">
                <a:ea typeface="ヒラギノ角ゴ Pro W3" pitchFamily="-65" charset="-128"/>
              </a:rPr>
              <a:t>4-2 Determining the Interest Rate: I</a:t>
            </a:r>
          </a:p>
        </p:txBody>
      </p:sp>
      <p:sp>
        <p:nvSpPr>
          <p:cNvPr id="21507" name="Content Placeholder 2"/>
          <p:cNvSpPr>
            <a:spLocks noGrp="1"/>
          </p:cNvSpPr>
          <p:nvPr>
            <p:ph idx="1"/>
          </p:nvPr>
        </p:nvSpPr>
        <p:spPr>
          <a:xfrm>
            <a:off x="381000" y="1066800"/>
            <a:ext cx="8229600" cy="609600"/>
          </a:xfrm>
        </p:spPr>
        <p:txBody>
          <a:bodyPr/>
          <a:lstStyle/>
          <a:p>
            <a:pPr marL="0" indent="0">
              <a:buFontTx/>
              <a:buNone/>
            </a:pPr>
            <a:r>
              <a:rPr lang="en-US" sz="1800" b="1" dirty="0" smtClean="0">
                <a:ea typeface="ヒラギノ角ゴ Pro W3" pitchFamily="-65" charset="-128"/>
              </a:rPr>
              <a:t>Figure 4-4  </a:t>
            </a:r>
            <a:r>
              <a:rPr lang="en-US" sz="1800" dirty="0" smtClean="0">
                <a:ea typeface="ヒラギノ角ゴ Pro W3" pitchFamily="-65" charset="-128"/>
              </a:rPr>
              <a:t>The Effects of an Increase in the Money Supply on the Interest Rate</a:t>
            </a:r>
          </a:p>
        </p:txBody>
      </p:sp>
      <p:pic>
        <p:nvPicPr>
          <p:cNvPr id="21508" name="Picture 5" descr="fig04_04.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48100" y="1683774"/>
            <a:ext cx="4876800" cy="44963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Content Placeholder 2"/>
          <p:cNvSpPr txBox="1">
            <a:spLocks/>
          </p:cNvSpPr>
          <p:nvPr/>
        </p:nvSpPr>
        <p:spPr bwMode="auto">
          <a:xfrm>
            <a:off x="457200" y="2743200"/>
            <a:ext cx="2667000" cy="31192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An increase in the supply of money leads to a decrease in the interest rate.</a:t>
            </a:r>
          </a:p>
          <a:p>
            <a:pPr>
              <a:spcBef>
                <a:spcPts val="525"/>
              </a:spcBef>
            </a:pPr>
            <a:endParaRPr lang="en-US" sz="1600" kern="0" dirty="0" smtClean="0">
              <a:ea typeface="ヒラギノ角ゴ Pro W3" pitchFamily="-84" charset="-128"/>
            </a:endParaRPr>
          </a:p>
        </p:txBody>
      </p:sp>
    </p:spTree>
    <p:extLst>
      <p:ext uri="{BB962C8B-B14F-4D97-AF65-F5344CB8AC3E}">
        <p14:creationId xmlns:p14="http://schemas.microsoft.com/office/powerpoint/2010/main" xmlns="" val="881823965"/>
      </p:ext>
    </p:extLst>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ea typeface="ヒラギノ角ゴ Pro W3" pitchFamily="-65" charset="-128"/>
              </a:rPr>
              <a:t>4-2 Determining the Interest Rate: I</a:t>
            </a:r>
          </a:p>
        </p:txBody>
      </p:sp>
      <p:sp>
        <p:nvSpPr>
          <p:cNvPr id="4" name="Content Placeholder 2"/>
          <p:cNvSpPr>
            <a:spLocks noGrp="1"/>
          </p:cNvSpPr>
          <p:nvPr>
            <p:ph idx="1"/>
          </p:nvPr>
        </p:nvSpPr>
        <p:spPr>
          <a:xfrm>
            <a:off x="381000" y="1295400"/>
            <a:ext cx="8382000" cy="2362200"/>
          </a:xfrm>
        </p:spPr>
        <p:txBody>
          <a:bodyPr/>
          <a:lstStyle/>
          <a:p>
            <a:pPr>
              <a:spcBef>
                <a:spcPts val="525"/>
              </a:spcBef>
            </a:pPr>
            <a:r>
              <a:rPr lang="en-US" sz="2400" dirty="0" smtClean="0">
                <a:ea typeface="ヒラギノ角ゴ Pro W3" pitchFamily="-84" charset="-128"/>
              </a:rPr>
              <a:t>For a given money supply, </a:t>
            </a:r>
            <a:r>
              <a:rPr lang="en-US" sz="2400" i="1" dirty="0" smtClean="0">
                <a:ea typeface="ヒラギノ角ゴ Pro W3" pitchFamily="-84" charset="-128"/>
              </a:rPr>
              <a:t>an increase in nominal income leads to an increase in the interest rate.</a:t>
            </a:r>
          </a:p>
          <a:p>
            <a:pPr>
              <a:spcBef>
                <a:spcPts val="525"/>
              </a:spcBef>
            </a:pPr>
            <a:r>
              <a:rPr lang="en-US" sz="2400" i="1" dirty="0" smtClean="0">
                <a:ea typeface="ヒラギノ角ゴ Pro W3" pitchFamily="-84" charset="-128"/>
              </a:rPr>
              <a:t>An increase in the supply of money by the central bank leads to a decrease in the interest rate.</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p14="http://schemas.microsoft.com/office/powerpoint/2010/main" xmlns="" val="2257696017"/>
      </p:ext>
    </p:extLst>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ea typeface="ヒラギノ角ゴ Pro W3" pitchFamily="-65" charset="-128"/>
              </a:rPr>
              <a:t>4-2 Determining the Interest Rate: I</a:t>
            </a:r>
          </a:p>
        </p:txBody>
      </p:sp>
      <p:sp>
        <p:nvSpPr>
          <p:cNvPr id="4" name="Content Placeholder 2"/>
          <p:cNvSpPr>
            <a:spLocks noGrp="1"/>
          </p:cNvSpPr>
          <p:nvPr>
            <p:ph idx="1"/>
          </p:nvPr>
        </p:nvSpPr>
        <p:spPr>
          <a:xfrm>
            <a:off x="381000" y="1295400"/>
            <a:ext cx="8382000" cy="4038600"/>
          </a:xfrm>
        </p:spPr>
        <p:txBody>
          <a:bodyPr/>
          <a:lstStyle/>
          <a:p>
            <a:pPr>
              <a:spcBef>
                <a:spcPts val="525"/>
              </a:spcBef>
            </a:pPr>
            <a:r>
              <a:rPr lang="en-US" sz="2400" dirty="0" smtClean="0">
                <a:ea typeface="ヒラギノ角ゴ Pro W3" pitchFamily="-84" charset="-128"/>
              </a:rPr>
              <a:t>Central banks typically change the supply of money by buying or selling bonds in the bond market—</a:t>
            </a:r>
            <a:r>
              <a:rPr lang="en-US" sz="2400" b="1" dirty="0" smtClean="0">
                <a:ea typeface="ヒラギノ角ゴ Pro W3" pitchFamily="-84" charset="-128"/>
              </a:rPr>
              <a:t>open market operations</a:t>
            </a:r>
            <a:r>
              <a:rPr lang="en-US" sz="2400" dirty="0" smtClean="0">
                <a:ea typeface="ヒラギノ角ゴ Pro W3" pitchFamily="-84" charset="-128"/>
              </a:rPr>
              <a:t>.</a:t>
            </a:r>
          </a:p>
          <a:p>
            <a:pPr>
              <a:spcBef>
                <a:spcPts val="525"/>
              </a:spcBef>
            </a:pPr>
            <a:r>
              <a:rPr lang="en-US" sz="2400" b="1" dirty="0" smtClean="0">
                <a:ea typeface="ヒラギノ角ゴ Pro W3" pitchFamily="-84" charset="-128"/>
              </a:rPr>
              <a:t>Expansionary open market operation</a:t>
            </a:r>
            <a:r>
              <a:rPr lang="en-US" sz="2400" dirty="0" smtClean="0">
                <a:ea typeface="ヒラギノ角ゴ Pro W3" pitchFamily="-84" charset="-128"/>
              </a:rPr>
              <a:t>: the central bank </a:t>
            </a:r>
            <a:r>
              <a:rPr lang="en-US" sz="2400" i="1" dirty="0" smtClean="0">
                <a:ea typeface="ヒラギノ角ゴ Pro W3" pitchFamily="-84" charset="-128"/>
              </a:rPr>
              <a:t>expands</a:t>
            </a:r>
            <a:r>
              <a:rPr lang="en-US" sz="2400" dirty="0" smtClean="0">
                <a:ea typeface="ヒラギノ角ゴ Pro W3" pitchFamily="-84" charset="-128"/>
              </a:rPr>
              <a:t> the supply of money by buying bonds.</a:t>
            </a:r>
          </a:p>
          <a:p>
            <a:pPr>
              <a:spcBef>
                <a:spcPts val="525"/>
              </a:spcBef>
            </a:pPr>
            <a:r>
              <a:rPr lang="en-US" sz="2400" b="1" dirty="0" smtClean="0">
                <a:ea typeface="ヒラギノ角ゴ Pro W3" pitchFamily="-84" charset="-128"/>
              </a:rPr>
              <a:t>Contractionary open market operation</a:t>
            </a:r>
            <a:r>
              <a:rPr lang="en-US" sz="2400" dirty="0" smtClean="0">
                <a:ea typeface="ヒラギノ角ゴ Pro W3" pitchFamily="-84" charset="-128"/>
              </a:rPr>
              <a:t>: the central bank </a:t>
            </a:r>
            <a:r>
              <a:rPr lang="en-US" sz="2400" i="1" dirty="0" smtClean="0">
                <a:ea typeface="ヒラギノ角ゴ Pro W3" pitchFamily="-84" charset="-128"/>
              </a:rPr>
              <a:t>contracts</a:t>
            </a:r>
            <a:r>
              <a:rPr lang="en-US" sz="2400" dirty="0" smtClean="0">
                <a:ea typeface="ヒラギノ角ゴ Pro W3" pitchFamily="-84" charset="-128"/>
              </a:rPr>
              <a:t> the supply of money by selling bonds.</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p14="http://schemas.microsoft.com/office/powerpoint/2010/main" xmlns="" val="1539082880"/>
      </p:ext>
    </p:extLst>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mtClean="0">
                <a:ea typeface="ヒラギノ角ゴ Pro W3" pitchFamily="-65" charset="-128"/>
              </a:rPr>
              <a:t>4-2 Determining the Interest Rate: I</a:t>
            </a:r>
          </a:p>
        </p:txBody>
      </p:sp>
      <p:sp>
        <p:nvSpPr>
          <p:cNvPr id="22531" name="Content Placeholder 2"/>
          <p:cNvSpPr>
            <a:spLocks noGrp="1"/>
          </p:cNvSpPr>
          <p:nvPr>
            <p:ph idx="1"/>
          </p:nvPr>
        </p:nvSpPr>
        <p:spPr>
          <a:xfrm>
            <a:off x="457200" y="1295400"/>
            <a:ext cx="8382000" cy="1524000"/>
          </a:xfrm>
        </p:spPr>
        <p:txBody>
          <a:bodyPr/>
          <a:lstStyle/>
          <a:p>
            <a:pPr marL="0" indent="0">
              <a:buFontTx/>
              <a:buNone/>
            </a:pPr>
            <a:r>
              <a:rPr lang="en-US" sz="1800" b="1" dirty="0" smtClean="0">
                <a:ea typeface="ヒラギノ角ゴ Pro W3" pitchFamily="-65" charset="-128"/>
              </a:rPr>
              <a:t>Figure 4-5  </a:t>
            </a:r>
            <a:r>
              <a:rPr lang="en-US" sz="1800" dirty="0" smtClean="0">
                <a:ea typeface="ヒラギノ角ゴ Pro W3" pitchFamily="-65" charset="-128"/>
              </a:rPr>
              <a:t>The Balance Sheet of the Central Bank and the Effects of an Expansionary Open Market Operation</a:t>
            </a:r>
          </a:p>
        </p:txBody>
      </p:sp>
      <p:pic>
        <p:nvPicPr>
          <p:cNvPr id="22532" name="Picture 4" descr="fig04_05.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65403" y="2057400"/>
            <a:ext cx="4403994" cy="3657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Content Placeholder 2"/>
          <p:cNvSpPr txBox="1">
            <a:spLocks/>
          </p:cNvSpPr>
          <p:nvPr/>
        </p:nvSpPr>
        <p:spPr bwMode="auto">
          <a:xfrm>
            <a:off x="533400" y="2590800"/>
            <a:ext cx="2667000" cy="37288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The assets of the central bank are the bonds it holds. </a:t>
            </a:r>
          </a:p>
          <a:p>
            <a:pPr marL="0" indent="0">
              <a:spcBef>
                <a:spcPts val="525"/>
              </a:spcBef>
              <a:buNone/>
            </a:pPr>
            <a:r>
              <a:rPr lang="en-US" sz="1600" kern="0" dirty="0" smtClean="0">
                <a:ea typeface="ヒラギノ角ゴ Pro W3" pitchFamily="-84" charset="-128"/>
              </a:rPr>
              <a:t>The liabilities are the stock of money in the economy.</a:t>
            </a:r>
          </a:p>
          <a:p>
            <a:pPr marL="0" indent="0">
              <a:spcBef>
                <a:spcPts val="525"/>
              </a:spcBef>
              <a:buNone/>
            </a:pPr>
            <a:r>
              <a:rPr lang="en-US" sz="1600" kern="0" dirty="0" smtClean="0">
                <a:ea typeface="ヒラギノ角ゴ Pro W3" pitchFamily="-84" charset="-128"/>
              </a:rPr>
              <a:t>An open market operation in which the central bank buys bonds and issues money increases both assets and liabilities by the same amount.</a:t>
            </a:r>
          </a:p>
          <a:p>
            <a:pPr>
              <a:spcBef>
                <a:spcPts val="525"/>
              </a:spcBef>
            </a:pPr>
            <a:endParaRPr lang="en-US" sz="1600" kern="0" dirty="0" smtClean="0">
              <a:ea typeface="ヒラギノ角ゴ Pro W3" pitchFamily="-84" charset="-128"/>
            </a:endParaRPr>
          </a:p>
        </p:txBody>
      </p:sp>
    </p:spTree>
    <p:extLst>
      <p:ext uri="{BB962C8B-B14F-4D97-AF65-F5344CB8AC3E}">
        <p14:creationId xmlns:p14="http://schemas.microsoft.com/office/powerpoint/2010/main" xmlns="" val="1200864263"/>
      </p:ext>
    </p:extLst>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ea typeface="ヒラギノ角ゴ Pro W3" pitchFamily="-65" charset="-128"/>
              </a:rPr>
              <a:t>4-2 Determining the Interest Rate: I</a:t>
            </a:r>
          </a:p>
        </p:txBody>
      </p:sp>
      <mc:AlternateContent xmlns:mc="http://schemas.openxmlformats.org/markup-compatibility/2006">
        <mc:Choice xmlns:a14="http://schemas.microsoft.com/office/drawing/2010/main" xmlns="" Requires="a14">
          <p:sp>
            <p:nvSpPr>
              <p:cNvPr id="4" name="Content Placeholder 2"/>
              <p:cNvSpPr>
                <a:spLocks noGrp="1"/>
              </p:cNvSpPr>
              <p:nvPr>
                <p:ph idx="1"/>
              </p:nvPr>
            </p:nvSpPr>
            <p:spPr>
              <a:xfrm>
                <a:off x="381000" y="1295400"/>
                <a:ext cx="8382000" cy="5029200"/>
              </a:xfrm>
            </p:spPr>
            <p:txBody>
              <a:bodyPr/>
              <a:lstStyle/>
              <a:p>
                <a:pPr>
                  <a:spcBef>
                    <a:spcPts val="525"/>
                  </a:spcBef>
                </a:pPr>
                <a:r>
                  <a:rPr lang="en-US" sz="2400" dirty="0" smtClean="0">
                    <a:ea typeface="ヒラギノ角ゴ Pro W3" pitchFamily="-84" charset="-128"/>
                  </a:rPr>
                  <a:t>Suppose a bond such as a </a:t>
                </a:r>
                <a:r>
                  <a:rPr lang="en-US" sz="2400" b="1" dirty="0" smtClean="0">
                    <a:ea typeface="ヒラギノ角ゴ Pro W3" pitchFamily="-84" charset="-128"/>
                  </a:rPr>
                  <a:t>Treasury bill</a:t>
                </a:r>
                <a:r>
                  <a:rPr lang="en-US" sz="2400" dirty="0" smtClean="0">
                    <a:ea typeface="ヒラギノ角ゴ Pro W3" pitchFamily="-84" charset="-128"/>
                  </a:rPr>
                  <a:t>, or </a:t>
                </a:r>
                <a:r>
                  <a:rPr lang="en-US" sz="2400" b="1" dirty="0" smtClean="0">
                    <a:ea typeface="ヒラギノ角ゴ Pro W3" pitchFamily="-84" charset="-128"/>
                  </a:rPr>
                  <a:t>T-bill,</a:t>
                </a:r>
                <a:r>
                  <a:rPr lang="en-US" sz="2400" dirty="0" smtClean="0">
                    <a:ea typeface="ヒラギノ角ゴ Pro W3" pitchFamily="-84" charset="-128"/>
                  </a:rPr>
                  <a:t> promises to pay $100 a year from now.</a:t>
                </a:r>
              </a:p>
              <a:p>
                <a:pPr>
                  <a:spcBef>
                    <a:spcPts val="525"/>
                  </a:spcBef>
                </a:pPr>
                <a:r>
                  <a:rPr lang="en-US" sz="2400" dirty="0" smtClean="0">
                    <a:ea typeface="ヒラギノ角ゴ Pro W3" pitchFamily="-84" charset="-128"/>
                  </a:rPr>
                  <a:t>If the price of the bond today is $</a:t>
                </a:r>
                <a:r>
                  <a:rPr lang="en-US" sz="2400" i="1" dirty="0" smtClean="0">
                    <a:ea typeface="ヒラギノ角ゴ Pro W3" pitchFamily="-84" charset="-128"/>
                  </a:rPr>
                  <a:t>P</a:t>
                </a:r>
                <a:r>
                  <a:rPr lang="en-US" sz="2400" i="1" baseline="-25000" dirty="0" smtClean="0">
                    <a:ea typeface="ヒラギノ角ゴ Pro W3" pitchFamily="-84" charset="-128"/>
                  </a:rPr>
                  <a:t>B</a:t>
                </a:r>
                <a:r>
                  <a:rPr lang="en-US" sz="2400" dirty="0" smtClean="0">
                    <a:ea typeface="ヒラギノ角ゴ Pro W3" pitchFamily="-84" charset="-128"/>
                  </a:rPr>
                  <a:t>, then the interest rate on the bond is:</a:t>
                </a:r>
              </a:p>
              <a:p>
                <a:pPr>
                  <a:spcBef>
                    <a:spcPts val="525"/>
                  </a:spcBef>
                </a:pPr>
                <a:endParaRPr lang="en-US" sz="2400" dirty="0" smtClean="0">
                  <a:ea typeface="ヒラギノ角ゴ Pro W3" pitchFamily="-84" charset="-128"/>
                </a:endParaRPr>
              </a:p>
              <a:p>
                <a:pPr marL="0" indent="0">
                  <a:spcBef>
                    <a:spcPts val="525"/>
                  </a:spcBef>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ヒラギノ角ゴ Pro W3" pitchFamily="-84" charset="-128"/>
                        </a:rPr>
                        <m:t>𝑖</m:t>
                      </m:r>
                      <m:r>
                        <a:rPr lang="en-US" b="0" i="1" smtClean="0">
                          <a:latin typeface="Cambria Math" panose="02040503050406030204" pitchFamily="18" charset="0"/>
                          <a:ea typeface="ヒラギノ角ゴ Pro W3" pitchFamily="-84" charset="-128"/>
                        </a:rPr>
                        <m:t>=</m:t>
                      </m:r>
                      <m:f>
                        <m:fPr>
                          <m:ctrlPr>
                            <a:rPr lang="en-US" b="0" i="1" smtClean="0">
                              <a:latin typeface="Cambria Math" charset="0"/>
                              <a:ea typeface="ヒラギノ角ゴ Pro W3" pitchFamily="-84" charset="-128"/>
                            </a:rPr>
                          </m:ctrlPr>
                        </m:fPr>
                        <m:num>
                          <m:r>
                            <a:rPr lang="en-US" b="0" i="1" smtClean="0">
                              <a:latin typeface="Cambria Math" panose="02040503050406030204" pitchFamily="18" charset="0"/>
                              <a:ea typeface="ヒラギノ角ゴ Pro W3" pitchFamily="-84" charset="-128"/>
                            </a:rPr>
                            <m:t>$100 −$</m:t>
                          </m:r>
                          <m:sSub>
                            <m:sSubPr>
                              <m:ctrlPr>
                                <a:rPr lang="en-US" b="0" i="1" smtClean="0">
                                  <a:latin typeface="Cambria Math" charset="0"/>
                                  <a:ea typeface="ヒラギノ角ゴ Pro W3" pitchFamily="-84" charset="-128"/>
                                </a:rPr>
                              </m:ctrlPr>
                            </m:sSubPr>
                            <m:e>
                              <m:r>
                                <a:rPr lang="en-US" b="0" i="1" smtClean="0">
                                  <a:latin typeface="Cambria Math" panose="02040503050406030204" pitchFamily="18" charset="0"/>
                                  <a:ea typeface="ヒラギノ角ゴ Pro W3" pitchFamily="-84" charset="-128"/>
                                </a:rPr>
                                <m:t>𝑃</m:t>
                              </m:r>
                            </m:e>
                            <m:sub>
                              <m:r>
                                <a:rPr lang="en-US" b="0" i="1" smtClean="0">
                                  <a:latin typeface="Cambria Math" panose="02040503050406030204" pitchFamily="18" charset="0"/>
                                  <a:ea typeface="ヒラギノ角ゴ Pro W3" pitchFamily="-84" charset="-128"/>
                                </a:rPr>
                                <m:t>𝐵</m:t>
                              </m:r>
                            </m:sub>
                          </m:sSub>
                        </m:num>
                        <m:den>
                          <m:r>
                            <a:rPr lang="en-US" i="1">
                              <a:latin typeface="Cambria Math" panose="02040503050406030204" pitchFamily="18" charset="0"/>
                              <a:ea typeface="ヒラギノ角ゴ Pro W3" pitchFamily="-84" charset="-128"/>
                            </a:rPr>
                            <m:t>$</m:t>
                          </m:r>
                          <m:sSub>
                            <m:sSubPr>
                              <m:ctrlPr>
                                <a:rPr lang="en-US" i="1">
                                  <a:latin typeface="Cambria Math" charset="0"/>
                                  <a:ea typeface="ヒラギノ角ゴ Pro W3" pitchFamily="-84" charset="-128"/>
                                </a:rPr>
                              </m:ctrlPr>
                            </m:sSubPr>
                            <m:e>
                              <m:r>
                                <a:rPr lang="en-US" i="1">
                                  <a:latin typeface="Cambria Math" panose="02040503050406030204" pitchFamily="18" charset="0"/>
                                  <a:ea typeface="ヒラギノ角ゴ Pro W3" pitchFamily="-84" charset="-128"/>
                                </a:rPr>
                                <m:t>𝑃</m:t>
                              </m:r>
                            </m:e>
                            <m:sub>
                              <m:r>
                                <a:rPr lang="en-US" i="1">
                                  <a:latin typeface="Cambria Math" panose="02040503050406030204" pitchFamily="18" charset="0"/>
                                  <a:ea typeface="ヒラギノ角ゴ Pro W3" pitchFamily="-84" charset="-128"/>
                                </a:rPr>
                                <m:t>𝐵</m:t>
                              </m:r>
                            </m:sub>
                          </m:sSub>
                        </m:den>
                      </m:f>
                    </m:oMath>
                  </m:oMathPara>
                </a14:m>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r>
                  <a:rPr lang="en-US" sz="2400" i="1" dirty="0" smtClean="0">
                    <a:ea typeface="ヒラギノ角ゴ Pro W3" pitchFamily="-84" charset="-128"/>
                  </a:rPr>
                  <a:t>The higher the price of the bond, the lower the interest rate.</a:t>
                </a:r>
              </a:p>
              <a:p>
                <a:pPr>
                  <a:spcBef>
                    <a:spcPts val="525"/>
                  </a:spcBef>
                </a:pPr>
                <a:r>
                  <a:rPr lang="en-US" sz="2400" i="1" dirty="0" smtClean="0">
                    <a:ea typeface="ヒラギノ角ゴ Pro W3" pitchFamily="-84" charset="-128"/>
                  </a:rPr>
                  <a:t>The higher the interest rate, the lower the price today.</a:t>
                </a:r>
              </a:p>
              <a:p>
                <a:pPr>
                  <a:spcBef>
                    <a:spcPts val="525"/>
                  </a:spcBef>
                </a:pPr>
                <a:endParaRPr lang="en-US" sz="2400" dirty="0" smtClean="0">
                  <a:ea typeface="ヒラギノ角ゴ Pro W3" pitchFamily="-84" charset="-128"/>
                </a:endParaRPr>
              </a:p>
            </p:txBody>
          </p:sp>
        </mc:Choice>
        <mc:Fallback>
          <p:sp>
            <p:nvSpPr>
              <p:cNvPr id="4" name="Content Placeholder 2"/>
              <p:cNvSpPr>
                <a:spLocks noGrp="1" noRot="1" noChangeAspect="1" noMove="1" noResize="1" noEditPoints="1" noAdjustHandles="1" noChangeArrowheads="1" noChangeShapeType="1" noTextEdit="1"/>
              </p:cNvSpPr>
              <p:nvPr>
                <p:ph idx="1"/>
              </p:nvPr>
            </p:nvSpPr>
            <p:spPr>
              <a:xfrm>
                <a:off x="381000" y="1295400"/>
                <a:ext cx="8382000" cy="5029200"/>
              </a:xfrm>
              <a:blipFill rotWithShape="0">
                <a:blip r:embed="rId2" cstate="print"/>
                <a:stretch>
                  <a:fillRect l="-2255" t="-1939" r="-509" b="-485"/>
                </a:stretch>
              </a:blipFill>
            </p:spPr>
            <p:txBody>
              <a:bodyPr/>
              <a:lstStyle/>
              <a:p>
                <a:r>
                  <a:rPr lang="en-US">
                    <a:noFill/>
                  </a:rPr>
                  <a:t> </a:t>
                </a:r>
              </a:p>
            </p:txBody>
          </p:sp>
        </mc:Fallback>
      </mc:AlternateContent>
    </p:spTree>
    <p:extLst>
      <p:ext uri="{BB962C8B-B14F-4D97-AF65-F5344CB8AC3E}">
        <p14:creationId xmlns:p14="http://schemas.microsoft.com/office/powerpoint/2010/main" xmlns="" val="3874687728"/>
      </p:ext>
    </p:extLst>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ea typeface="ヒラギノ角ゴ Pro W3" pitchFamily="-65" charset="-128"/>
              </a:rPr>
              <a:t>4-2 Determining the Interest Rate: I</a:t>
            </a:r>
          </a:p>
        </p:txBody>
      </p:sp>
      <p:sp>
        <p:nvSpPr>
          <p:cNvPr id="4" name="Content Placeholder 2"/>
          <p:cNvSpPr>
            <a:spLocks noGrp="1"/>
          </p:cNvSpPr>
          <p:nvPr>
            <p:ph idx="1"/>
          </p:nvPr>
        </p:nvSpPr>
        <p:spPr>
          <a:xfrm>
            <a:off x="381000" y="1295400"/>
            <a:ext cx="8382000" cy="3810000"/>
          </a:xfrm>
        </p:spPr>
        <p:txBody>
          <a:bodyPr/>
          <a:lstStyle/>
          <a:p>
            <a:pPr>
              <a:spcBef>
                <a:spcPts val="525"/>
              </a:spcBef>
            </a:pPr>
            <a:r>
              <a:rPr lang="en-US" sz="2400" dirty="0" smtClean="0">
                <a:ea typeface="ヒラギノ角ゴ Pro W3" pitchFamily="-84" charset="-128"/>
              </a:rPr>
              <a:t>Rather than the money supply, the central bank could have chosen the interest rate and then adjusted the money supply so as to achieve the interest rate it had chosen.</a:t>
            </a:r>
          </a:p>
          <a:p>
            <a:pPr>
              <a:spcBef>
                <a:spcPts val="525"/>
              </a:spcBef>
            </a:pPr>
            <a:r>
              <a:rPr lang="en-US" sz="2400" dirty="0" smtClean="0">
                <a:ea typeface="ヒラギノ角ゴ Pro W3" pitchFamily="-84" charset="-128"/>
              </a:rPr>
              <a:t>Choosing the interest rate, instead of the money supply, is what modern central banks, including the Fed, typically do.</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p14="http://schemas.microsoft.com/office/powerpoint/2010/main" xmlns="" val="2741952123"/>
      </p:ext>
    </p:extLst>
  </p:cSld>
  <p:clrMapOvr>
    <a:masterClrMapping/>
  </p:clrMapOvr>
  <p:transition>
    <p:strips dir="l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0"/>
            <a:ext cx="8610600" cy="1143000"/>
          </a:xfrm>
        </p:spPr>
        <p:txBody>
          <a:bodyPr/>
          <a:lstStyle/>
          <a:p>
            <a:r>
              <a:rPr lang="en-US" dirty="0" smtClean="0">
                <a:ea typeface="ヒラギノ角ゴ Pro W3" pitchFamily="-65" charset="-128"/>
              </a:rPr>
              <a:t>4-3 Determining the Interest Rate: II</a:t>
            </a:r>
          </a:p>
        </p:txBody>
      </p:sp>
      <p:sp>
        <p:nvSpPr>
          <p:cNvPr id="4" name="Content Placeholder 2"/>
          <p:cNvSpPr>
            <a:spLocks noGrp="1"/>
          </p:cNvSpPr>
          <p:nvPr>
            <p:ph idx="1"/>
          </p:nvPr>
        </p:nvSpPr>
        <p:spPr>
          <a:xfrm>
            <a:off x="381000" y="1295400"/>
            <a:ext cx="8382000" cy="5105400"/>
          </a:xfrm>
        </p:spPr>
        <p:txBody>
          <a:bodyPr/>
          <a:lstStyle/>
          <a:p>
            <a:pPr>
              <a:spcBef>
                <a:spcPts val="525"/>
              </a:spcBef>
            </a:pPr>
            <a:r>
              <a:rPr lang="en-US" sz="2400" b="1" dirty="0" smtClean="0">
                <a:ea typeface="ヒラギノ角ゴ Pro W3" pitchFamily="-84" charset="-128"/>
              </a:rPr>
              <a:t>Financial intermediaries</a:t>
            </a:r>
            <a:r>
              <a:rPr lang="en-US" sz="2400" dirty="0" smtClean="0">
                <a:ea typeface="ヒラギノ角ゴ Pro W3" pitchFamily="-84" charset="-128"/>
              </a:rPr>
              <a:t>: Institutions that receive funds from people and firms and use these funds to buy financial assets or to make loans to other people and firms.</a:t>
            </a:r>
          </a:p>
          <a:p>
            <a:pPr>
              <a:spcBef>
                <a:spcPts val="525"/>
              </a:spcBef>
            </a:pPr>
            <a:r>
              <a:rPr lang="en-US" sz="2400" dirty="0" smtClean="0">
                <a:ea typeface="ヒラギノ角ゴ Pro W3" pitchFamily="-84" charset="-128"/>
              </a:rPr>
              <a:t>Banks are financial intermediaries that have money, in the form of </a:t>
            </a:r>
            <a:r>
              <a:rPr lang="en-US" sz="2400" i="1" dirty="0" smtClean="0">
                <a:ea typeface="ヒラギノ角ゴ Pro W3" pitchFamily="-84" charset="-128"/>
              </a:rPr>
              <a:t>checkable deposits, </a:t>
            </a:r>
            <a:r>
              <a:rPr lang="en-US" sz="2400" dirty="0" smtClean="0">
                <a:ea typeface="ヒラギノ角ゴ Pro W3" pitchFamily="-84" charset="-128"/>
              </a:rPr>
              <a:t>as their liabilities.</a:t>
            </a:r>
          </a:p>
          <a:p>
            <a:pPr>
              <a:spcBef>
                <a:spcPts val="525"/>
              </a:spcBef>
            </a:pPr>
            <a:r>
              <a:rPr lang="en-US" sz="2400" dirty="0" smtClean="0">
                <a:ea typeface="ヒラギノ角ゴ Pro W3" pitchFamily="-84" charset="-128"/>
              </a:rPr>
              <a:t>Banks keep as </a:t>
            </a:r>
            <a:r>
              <a:rPr lang="en-US" sz="2400" b="1" dirty="0" smtClean="0">
                <a:ea typeface="ヒラギノ角ゴ Pro W3" pitchFamily="-84" charset="-128"/>
              </a:rPr>
              <a:t>reserves</a:t>
            </a:r>
            <a:r>
              <a:rPr lang="en-US" sz="2400" dirty="0" smtClean="0">
                <a:ea typeface="ヒラギノ角ゴ Pro W3" pitchFamily="-84" charset="-128"/>
              </a:rPr>
              <a:t> some of the funds they receive.</a:t>
            </a:r>
          </a:p>
          <a:p>
            <a:pPr>
              <a:spcBef>
                <a:spcPts val="525"/>
              </a:spcBef>
            </a:pPr>
            <a:r>
              <a:rPr lang="en-US" sz="2400" dirty="0" smtClean="0">
                <a:ea typeface="ヒラギノ角ゴ Pro W3" pitchFamily="-84" charset="-128"/>
              </a:rPr>
              <a:t>The liabilities of the central bank are the money it has issued, called </a:t>
            </a:r>
            <a:r>
              <a:rPr lang="en-US" sz="2400" b="1" dirty="0" smtClean="0">
                <a:ea typeface="ヒラギノ角ゴ Pro W3" pitchFamily="-84" charset="-128"/>
              </a:rPr>
              <a:t>central bank money</a:t>
            </a:r>
            <a:r>
              <a:rPr lang="en-US" sz="2400" dirty="0" smtClean="0">
                <a:ea typeface="ヒラギノ角ゴ Pro W3" pitchFamily="-84" charset="-128"/>
              </a:rPr>
              <a:t>.</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p14="http://schemas.microsoft.com/office/powerpoint/2010/main" xmlns="" val="3414871281"/>
      </p:ext>
    </p:extLst>
  </p:cSld>
  <p:clrMapOvr>
    <a:masterClrMapping/>
  </p:clrMapOvr>
  <p:transition>
    <p:strips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381000" y="0"/>
            <a:ext cx="8763000" cy="1143000"/>
          </a:xfrm>
        </p:spPr>
        <p:txBody>
          <a:bodyPr/>
          <a:lstStyle/>
          <a:p>
            <a:r>
              <a:rPr lang="en-US" dirty="0" smtClean="0">
                <a:ea typeface="ヒラギノ角ゴ Pro W3" pitchFamily="-65" charset="-128"/>
              </a:rPr>
              <a:t>4-3 Determining the Interest Rate: II</a:t>
            </a:r>
          </a:p>
        </p:txBody>
      </p:sp>
      <p:sp>
        <p:nvSpPr>
          <p:cNvPr id="23555" name="Content Placeholder 2"/>
          <p:cNvSpPr>
            <a:spLocks noGrp="1"/>
          </p:cNvSpPr>
          <p:nvPr>
            <p:ph idx="1"/>
          </p:nvPr>
        </p:nvSpPr>
        <p:spPr>
          <a:xfrm>
            <a:off x="382772" y="1371600"/>
            <a:ext cx="8382000" cy="762000"/>
          </a:xfrm>
        </p:spPr>
        <p:txBody>
          <a:bodyPr/>
          <a:lstStyle/>
          <a:p>
            <a:pPr marL="0" indent="0">
              <a:buFontTx/>
              <a:buNone/>
            </a:pPr>
            <a:r>
              <a:rPr lang="en-US" sz="1800" b="1" dirty="0" smtClean="0">
                <a:ea typeface="ヒラギノ角ゴ Pro W3" pitchFamily="-65" charset="-128"/>
              </a:rPr>
              <a:t>Figure 4-6  </a:t>
            </a:r>
            <a:r>
              <a:rPr lang="en-US" sz="1800" dirty="0" smtClean="0">
                <a:ea typeface="ヒラギノ角ゴ Pro W3" pitchFamily="-65" charset="-128"/>
              </a:rPr>
              <a:t>The Balance Sheet of Banks, and the Balance Sheet of the Central Bank Revisited</a:t>
            </a:r>
          </a:p>
        </p:txBody>
      </p:sp>
      <p:pic>
        <p:nvPicPr>
          <p:cNvPr id="23556" name="Picture 3" descr="fig04_06.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93131" y="2170814"/>
            <a:ext cx="5138738" cy="3821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881247783"/>
      </p:ext>
    </p:extLst>
  </p:cSld>
  <p:clrMapOvr>
    <a:masterClrMapping/>
  </p:clrMapOvr>
  <p:transition>
    <p:strips dir="l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0"/>
            <a:ext cx="8610600" cy="1143000"/>
          </a:xfrm>
        </p:spPr>
        <p:txBody>
          <a:bodyPr/>
          <a:lstStyle/>
          <a:p>
            <a:r>
              <a:rPr lang="en-US" dirty="0" smtClean="0">
                <a:ea typeface="ヒラギノ角ゴ Pro W3" pitchFamily="-65" charset="-128"/>
              </a:rPr>
              <a:t>4-3 Determining the Interest Rate: II</a:t>
            </a:r>
          </a:p>
        </p:txBody>
      </p:sp>
      <p:sp>
        <p:nvSpPr>
          <p:cNvPr id="4" name="Content Placeholder 2"/>
          <p:cNvSpPr>
            <a:spLocks noGrp="1"/>
          </p:cNvSpPr>
          <p:nvPr>
            <p:ph idx="1"/>
          </p:nvPr>
        </p:nvSpPr>
        <p:spPr>
          <a:xfrm>
            <a:off x="381000" y="1295400"/>
            <a:ext cx="8382000" cy="5105400"/>
          </a:xfrm>
        </p:spPr>
        <p:txBody>
          <a:bodyPr/>
          <a:lstStyle/>
          <a:p>
            <a:pPr>
              <a:spcBef>
                <a:spcPts val="525"/>
              </a:spcBef>
            </a:pPr>
            <a:r>
              <a:rPr lang="en-US" sz="2400" dirty="0" smtClean="0">
                <a:ea typeface="ヒラギノ角ゴ Pro W3" pitchFamily="-84" charset="-128"/>
              </a:rPr>
              <a:t>Assume people hold no currency so the demand for money by people is the demand for checkable deposits:</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r>
              <a:rPr lang="en-US" sz="2400" dirty="0" smtClean="0">
                <a:ea typeface="ヒラギノ角ゴ Pro W3" pitchFamily="-84" charset="-128"/>
              </a:rPr>
              <a:t>The demand for reserves by banks depends on the amount of checkable deposits:</a:t>
            </a: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i="1" dirty="0" smtClean="0">
                <a:latin typeface="Times New Roman" panose="02020603050405020304" pitchFamily="18" charset="0"/>
                <a:ea typeface="ヒラギノ角ゴ Pro W3" pitchFamily="-84" charset="-128"/>
                <a:cs typeface="Times New Roman" panose="02020603050405020304" pitchFamily="18" charset="0"/>
              </a:rPr>
              <a:t>θ</a:t>
            </a:r>
            <a:r>
              <a:rPr lang="en-US" sz="2400" dirty="0" smtClean="0">
                <a:ea typeface="ヒラギノ角ゴ Pro W3" pitchFamily="-84" charset="-128"/>
                <a:cs typeface="Times New Roman" panose="02020603050405020304" pitchFamily="18" charset="0"/>
              </a:rPr>
              <a:t> is the reserve ratio, and </a:t>
            </a:r>
            <a:r>
              <a:rPr lang="en-US" i="1" dirty="0" err="1">
                <a:latin typeface="Times New Roman" panose="02020603050405020304" pitchFamily="18" charset="0"/>
                <a:ea typeface="ヒラギノ角ゴ Pro W3" pitchFamily="-84" charset="-128"/>
                <a:cs typeface="Times New Roman" panose="02020603050405020304" pitchFamily="18" charset="0"/>
              </a:rPr>
              <a:t>H</a:t>
            </a:r>
            <a:r>
              <a:rPr lang="en-US" i="1" baseline="30000" dirty="0" err="1">
                <a:latin typeface="Times New Roman" panose="02020603050405020304" pitchFamily="18" charset="0"/>
                <a:ea typeface="ヒラギノ角ゴ Pro W3" pitchFamily="-84" charset="-128"/>
                <a:cs typeface="Times New Roman" panose="02020603050405020304" pitchFamily="18" charset="0"/>
              </a:rPr>
              <a:t>d</a:t>
            </a:r>
            <a:r>
              <a:rPr lang="en-US" sz="2400" dirty="0" smtClean="0">
                <a:ea typeface="ヒラギノ角ゴ Pro W3" pitchFamily="-84" charset="-128"/>
                <a:cs typeface="Times New Roman" panose="02020603050405020304" pitchFamily="18" charset="0"/>
              </a:rPr>
              <a:t> is demand for high-power money or the monetary base.</a:t>
            </a: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5" name="Picture 6" descr="eq04_03.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24000" y="2667000"/>
            <a:ext cx="7120890" cy="890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 name="Picture 2"/>
          <p:cNvPicPr>
            <a:picLocks noChangeAspect="1"/>
          </p:cNvPicPr>
          <p:nvPr/>
        </p:nvPicPr>
        <p:blipFill>
          <a:blip r:embed="rId3" cstate="print"/>
          <a:stretch>
            <a:fillRect/>
          </a:stretch>
        </p:blipFill>
        <p:spPr>
          <a:xfrm>
            <a:off x="1185386" y="4703533"/>
            <a:ext cx="7459504" cy="427196"/>
          </a:xfrm>
          <a:prstGeom prst="rect">
            <a:avLst/>
          </a:prstGeom>
        </p:spPr>
      </p:pic>
    </p:spTree>
    <p:extLst>
      <p:ext uri="{BB962C8B-B14F-4D97-AF65-F5344CB8AC3E}">
        <p14:creationId xmlns:p14="http://schemas.microsoft.com/office/powerpoint/2010/main" xmlns="" val="2170700926"/>
      </p:ext>
    </p:extLst>
  </p:cSld>
  <p:clrMapOvr>
    <a:masterClrMapping/>
  </p:clrMapOvr>
  <p:transition>
    <p:strips dir="l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0"/>
            <a:ext cx="8610600" cy="1143000"/>
          </a:xfrm>
        </p:spPr>
        <p:txBody>
          <a:bodyPr/>
          <a:lstStyle/>
          <a:p>
            <a:r>
              <a:rPr lang="en-US" dirty="0" smtClean="0">
                <a:ea typeface="ヒラギノ角ゴ Pro W3" pitchFamily="-65" charset="-128"/>
              </a:rPr>
              <a:t>4-3 Determining the Interest Rate: II</a:t>
            </a:r>
          </a:p>
        </p:txBody>
      </p:sp>
      <p:sp>
        <p:nvSpPr>
          <p:cNvPr id="4" name="Content Placeholder 2"/>
          <p:cNvSpPr>
            <a:spLocks noGrp="1"/>
          </p:cNvSpPr>
          <p:nvPr>
            <p:ph idx="1"/>
          </p:nvPr>
        </p:nvSpPr>
        <p:spPr>
          <a:xfrm>
            <a:off x="405871" y="1270820"/>
            <a:ext cx="8224345" cy="5105400"/>
          </a:xfrm>
        </p:spPr>
        <p:txBody>
          <a:bodyPr/>
          <a:lstStyle/>
          <a:p>
            <a:pPr>
              <a:spcBef>
                <a:spcPts val="525"/>
              </a:spcBef>
            </a:pPr>
            <a:r>
              <a:rPr lang="en-US" sz="2400" dirty="0" smtClean="0">
                <a:ea typeface="ヒラギノ角ゴ Pro W3" pitchFamily="-84" charset="-128"/>
              </a:rPr>
              <a:t>Let </a:t>
            </a:r>
            <a:r>
              <a:rPr lang="en-US" i="1" dirty="0" smtClean="0">
                <a:latin typeface="Times New Roman" panose="02020603050405020304" pitchFamily="18" charset="0"/>
                <a:ea typeface="ヒラギノ角ゴ Pro W3" pitchFamily="-84" charset="-128"/>
                <a:cs typeface="Times New Roman" panose="02020603050405020304" pitchFamily="18" charset="0"/>
              </a:rPr>
              <a:t>H</a:t>
            </a:r>
            <a:r>
              <a:rPr lang="en-US" sz="2400" dirty="0" smtClean="0">
                <a:ea typeface="ヒラギノ角ゴ Pro W3" pitchFamily="-84" charset="-128"/>
              </a:rPr>
              <a:t> denote the supply of central bank money, then the equilibrium condition:</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sz="2400" dirty="0" smtClean="0">
                <a:ea typeface="ヒラギノ角ゴ Pro W3" pitchFamily="-84" charset="-128"/>
              </a:rPr>
              <a:t>Or using equation (4.4):</a:t>
            </a: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sz="2400" dirty="0" smtClean="0">
                <a:ea typeface="ヒラギノ角ゴ Pro W3" pitchFamily="-84" charset="-128"/>
              </a:rPr>
              <a:t>An increase in </a:t>
            </a:r>
            <a:r>
              <a:rPr lang="en-US" i="1" dirty="0">
                <a:latin typeface="Times New Roman" panose="02020603050405020304" pitchFamily="18" charset="0"/>
                <a:ea typeface="ヒラギノ角ゴ Pro W3" pitchFamily="-84" charset="-128"/>
                <a:cs typeface="Times New Roman" panose="02020603050405020304" pitchFamily="18" charset="0"/>
              </a:rPr>
              <a:t>H</a:t>
            </a:r>
            <a:r>
              <a:rPr lang="en-US" sz="2400" dirty="0" smtClean="0">
                <a:ea typeface="ヒラギノ角ゴ Pro W3" pitchFamily="-84" charset="-128"/>
              </a:rPr>
              <a:t> leads to a decrease in the interest rate, and a decrease in </a:t>
            </a:r>
            <a:r>
              <a:rPr lang="en-US" i="1" dirty="0">
                <a:latin typeface="Times New Roman" panose="02020603050405020304" pitchFamily="18" charset="0"/>
                <a:ea typeface="ヒラギノ角ゴ Pro W3" pitchFamily="-84" charset="-128"/>
                <a:cs typeface="Times New Roman" panose="02020603050405020304" pitchFamily="18" charset="0"/>
              </a:rPr>
              <a:t>H</a:t>
            </a:r>
            <a:r>
              <a:rPr lang="en-US" sz="2400" dirty="0" smtClean="0">
                <a:ea typeface="ヒラギノ角ゴ Pro W3" pitchFamily="-84" charset="-128"/>
              </a:rPr>
              <a:t> leads to an increase in the interest rate.</a:t>
            </a: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marL="0" indent="0">
              <a:spcBef>
                <a:spcPts val="525"/>
              </a:spcBef>
              <a:buNone/>
            </a:pPr>
            <a:endParaRPr lang="en-US" sz="240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923732" y="2363094"/>
            <a:ext cx="7760970" cy="400050"/>
          </a:xfrm>
          <a:prstGeom prst="rect">
            <a:avLst/>
          </a:prstGeom>
        </p:spPr>
      </p:pic>
      <p:pic>
        <p:nvPicPr>
          <p:cNvPr id="6" name="Picture 5"/>
          <p:cNvPicPr>
            <a:picLocks noChangeAspect="1"/>
          </p:cNvPicPr>
          <p:nvPr/>
        </p:nvPicPr>
        <p:blipFill>
          <a:blip r:embed="rId3" cstate="print"/>
          <a:stretch>
            <a:fillRect/>
          </a:stretch>
        </p:blipFill>
        <p:spPr>
          <a:xfrm>
            <a:off x="633412" y="3823520"/>
            <a:ext cx="8105775" cy="400050"/>
          </a:xfrm>
          <a:prstGeom prst="rect">
            <a:avLst/>
          </a:prstGeom>
        </p:spPr>
      </p:pic>
    </p:spTree>
    <p:extLst>
      <p:ext uri="{BB962C8B-B14F-4D97-AF65-F5344CB8AC3E}">
        <p14:creationId xmlns:p14="http://schemas.microsoft.com/office/powerpoint/2010/main" xmlns="" val="3488596129"/>
      </p:ext>
    </p:extLst>
  </p:cSld>
  <p:clrMapOvr>
    <a:masterClrMapping/>
  </p:clrMapOvr>
  <p:transition>
    <p:strips dir="l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381000" y="0"/>
            <a:ext cx="8763000" cy="1143000"/>
          </a:xfrm>
        </p:spPr>
        <p:txBody>
          <a:bodyPr/>
          <a:lstStyle/>
          <a:p>
            <a:r>
              <a:rPr lang="en-US" smtClean="0">
                <a:ea typeface="ヒラギノ角ゴ Pro W3" pitchFamily="-65" charset="-128"/>
              </a:rPr>
              <a:t>4-3 Determining the Interest Rate: II</a:t>
            </a:r>
          </a:p>
        </p:txBody>
      </p:sp>
      <p:sp>
        <p:nvSpPr>
          <p:cNvPr id="28676" name="TextBox 10"/>
          <p:cNvSpPr txBox="1">
            <a:spLocks noChangeArrowheads="1"/>
          </p:cNvSpPr>
          <p:nvPr/>
        </p:nvSpPr>
        <p:spPr bwMode="auto">
          <a:xfrm>
            <a:off x="457200" y="1226990"/>
            <a:ext cx="83820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4-7 </a:t>
            </a:r>
            <a:r>
              <a:rPr lang="en-US" sz="1800" dirty="0">
                <a:latin typeface="Verdana" panose="020B0604030504040204" pitchFamily="34" charset="0"/>
              </a:rPr>
              <a:t>Equilibrium in the Market for Central Bank Money and the Determination of the Interest Rate</a:t>
            </a:r>
          </a:p>
        </p:txBody>
      </p:sp>
      <p:pic>
        <p:nvPicPr>
          <p:cNvPr id="2" name="Picture 1"/>
          <p:cNvPicPr>
            <a:picLocks noChangeAspect="1"/>
          </p:cNvPicPr>
          <p:nvPr/>
        </p:nvPicPr>
        <p:blipFill>
          <a:blip r:embed="rId2" cstate="print"/>
          <a:stretch>
            <a:fillRect/>
          </a:stretch>
        </p:blipFill>
        <p:spPr>
          <a:xfrm>
            <a:off x="4038600" y="1905000"/>
            <a:ext cx="4392486" cy="4419600"/>
          </a:xfrm>
          <a:prstGeom prst="rect">
            <a:avLst/>
          </a:prstGeom>
        </p:spPr>
      </p:pic>
      <p:sp>
        <p:nvSpPr>
          <p:cNvPr id="6" name="Content Placeholder 2"/>
          <p:cNvSpPr txBox="1">
            <a:spLocks/>
          </p:cNvSpPr>
          <p:nvPr/>
        </p:nvSpPr>
        <p:spPr bwMode="auto">
          <a:xfrm>
            <a:off x="457200" y="2214716"/>
            <a:ext cx="2667000" cy="31192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The equilibrium interest rate is such that the supply of central bank money is equal to the demand for central bank money.</a:t>
            </a:r>
          </a:p>
          <a:p>
            <a:pPr>
              <a:spcBef>
                <a:spcPts val="525"/>
              </a:spcBef>
            </a:pPr>
            <a:endParaRPr lang="en-US" sz="1600" kern="0" dirty="0" smtClean="0">
              <a:ea typeface="ヒラギノ角ゴ Pro W3" pitchFamily="-84" charset="-128"/>
            </a:endParaRPr>
          </a:p>
        </p:txBody>
      </p:sp>
    </p:spTree>
    <p:extLst>
      <p:ext uri="{BB962C8B-B14F-4D97-AF65-F5344CB8AC3E}">
        <p14:creationId xmlns:p14="http://schemas.microsoft.com/office/powerpoint/2010/main" xmlns="" val="3245956550"/>
      </p:ext>
    </p:extLst>
  </p:cSld>
  <p:clrMapOvr>
    <a:masterClrMapping/>
  </p:clrMapOvr>
  <p:transition>
    <p:strips dir="l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0"/>
            <a:ext cx="8610600" cy="1143000"/>
          </a:xfrm>
        </p:spPr>
        <p:txBody>
          <a:bodyPr/>
          <a:lstStyle/>
          <a:p>
            <a:r>
              <a:rPr lang="en-US" dirty="0" smtClean="0">
                <a:ea typeface="ヒラギノ角ゴ Pro W3" pitchFamily="-65" charset="-128"/>
              </a:rPr>
              <a:t>4-3 Determining the Interest Rate: II</a:t>
            </a:r>
          </a:p>
        </p:txBody>
      </p:sp>
      <p:sp>
        <p:nvSpPr>
          <p:cNvPr id="4" name="Content Placeholder 2"/>
          <p:cNvSpPr>
            <a:spLocks noGrp="1"/>
          </p:cNvSpPr>
          <p:nvPr>
            <p:ph idx="1"/>
          </p:nvPr>
        </p:nvSpPr>
        <p:spPr>
          <a:xfrm>
            <a:off x="381000" y="1295400"/>
            <a:ext cx="8382000" cy="5105400"/>
          </a:xfrm>
        </p:spPr>
        <p:txBody>
          <a:bodyPr/>
          <a:lstStyle/>
          <a:p>
            <a:pPr>
              <a:spcBef>
                <a:spcPts val="525"/>
              </a:spcBef>
            </a:pPr>
            <a:r>
              <a:rPr lang="en-US" sz="2400" dirty="0" smtClean="0">
                <a:ea typeface="ヒラギノ角ゴ Pro W3" pitchFamily="-84" charset="-128"/>
              </a:rPr>
              <a:t>The </a:t>
            </a:r>
            <a:r>
              <a:rPr lang="en-US" sz="2400" b="1" dirty="0" smtClean="0">
                <a:ea typeface="ヒラギノ角ゴ Pro W3" pitchFamily="-84" charset="-128"/>
              </a:rPr>
              <a:t>federal funds market </a:t>
            </a:r>
            <a:r>
              <a:rPr lang="en-US" sz="2400" dirty="0" smtClean="0">
                <a:ea typeface="ヒラギノ角ゴ Pro W3" pitchFamily="-84" charset="-128"/>
              </a:rPr>
              <a:t>is an actual market for bank reserves.</a:t>
            </a:r>
          </a:p>
          <a:p>
            <a:pPr>
              <a:spcBef>
                <a:spcPts val="525"/>
              </a:spcBef>
            </a:pPr>
            <a:r>
              <a:rPr lang="en-US" sz="2400" dirty="0" smtClean="0">
                <a:ea typeface="ヒラギノ角ゴ Pro W3" pitchFamily="-84" charset="-128"/>
              </a:rPr>
              <a:t>The </a:t>
            </a:r>
            <a:r>
              <a:rPr lang="en-US" sz="2400" b="1" dirty="0" smtClean="0">
                <a:ea typeface="ヒラギノ角ゴ Pro W3" pitchFamily="-84" charset="-128"/>
              </a:rPr>
              <a:t>federal funds rate </a:t>
            </a:r>
            <a:r>
              <a:rPr lang="en-US" sz="2400" dirty="0" smtClean="0">
                <a:ea typeface="ヒラギノ角ゴ Pro W3" pitchFamily="-84" charset="-128"/>
              </a:rPr>
              <a:t>is the interest rate determined in the federal funds market.</a:t>
            </a:r>
          </a:p>
          <a:p>
            <a:pPr>
              <a:spcBef>
                <a:spcPts val="525"/>
              </a:spcBef>
            </a:pPr>
            <a:r>
              <a:rPr lang="en-US" sz="2400" dirty="0" smtClean="0">
                <a:ea typeface="ヒラギノ角ゴ Pro W3" pitchFamily="-84" charset="-128"/>
              </a:rPr>
              <a:t>The federal funds rate is the main indicator of U.S. monetary policy because the Fed can choose the federal funds rate it wants by changing </a:t>
            </a:r>
            <a:r>
              <a:rPr lang="en-US" i="1" dirty="0" smtClean="0">
                <a:latin typeface="Times New Roman" panose="02020603050405020304" pitchFamily="18" charset="0"/>
                <a:ea typeface="ヒラギノ角ゴ Pro W3" pitchFamily="-84" charset="-128"/>
                <a:cs typeface="Times New Roman" panose="02020603050405020304" pitchFamily="18" charset="0"/>
              </a:rPr>
              <a:t>H</a:t>
            </a:r>
            <a:r>
              <a:rPr lang="en-US" sz="2400" dirty="0" smtClean="0">
                <a:ea typeface="ヒラギノ角ゴ Pro W3" pitchFamily="-84" charset="-128"/>
              </a:rPr>
              <a:t>.</a:t>
            </a:r>
          </a:p>
          <a:p>
            <a:pPr>
              <a:spcBef>
                <a:spcPts val="525"/>
              </a:spcBef>
            </a:pPr>
            <a:endParaRPr lang="en-US" sz="2400" dirty="0" smtClean="0">
              <a:ea typeface="ヒラギノ角ゴ Pro W3" pitchFamily="-84" charset="-128"/>
            </a:endParaRPr>
          </a:p>
        </p:txBody>
      </p:sp>
    </p:spTree>
    <p:extLst>
      <p:ext uri="{BB962C8B-B14F-4D97-AF65-F5344CB8AC3E}">
        <p14:creationId xmlns:p14="http://schemas.microsoft.com/office/powerpoint/2010/main" xmlns="" val="8288752"/>
      </p:ext>
    </p:extLst>
  </p:cSld>
  <p:clrMapOvr>
    <a:masterClrMapping/>
  </p:clrMapOvr>
  <p:transition>
    <p:strips dir="l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0"/>
            <a:ext cx="8610600" cy="1143000"/>
          </a:xfrm>
        </p:spPr>
        <p:txBody>
          <a:bodyPr/>
          <a:lstStyle/>
          <a:p>
            <a:r>
              <a:rPr lang="en-US" dirty="0" smtClean="0">
                <a:ea typeface="ヒラギノ角ゴ Pro W3" pitchFamily="-65" charset="-128"/>
              </a:rPr>
              <a:t>4-4 The Liquidity Trap</a:t>
            </a:r>
          </a:p>
        </p:txBody>
      </p:sp>
      <p:sp>
        <p:nvSpPr>
          <p:cNvPr id="4" name="Content Placeholder 2"/>
          <p:cNvSpPr>
            <a:spLocks noGrp="1"/>
          </p:cNvSpPr>
          <p:nvPr>
            <p:ph idx="1"/>
          </p:nvPr>
        </p:nvSpPr>
        <p:spPr>
          <a:xfrm>
            <a:off x="381000" y="1295400"/>
            <a:ext cx="8382000" cy="5105400"/>
          </a:xfrm>
        </p:spPr>
        <p:txBody>
          <a:bodyPr/>
          <a:lstStyle/>
          <a:p>
            <a:pPr>
              <a:spcBef>
                <a:spcPts val="525"/>
              </a:spcBef>
            </a:pPr>
            <a:r>
              <a:rPr lang="en-US" sz="2400" b="1" dirty="0" smtClean="0">
                <a:ea typeface="ヒラギノ角ゴ Pro W3" pitchFamily="-84" charset="-128"/>
              </a:rPr>
              <a:t>Zero lower bound</a:t>
            </a:r>
            <a:r>
              <a:rPr lang="en-US" sz="2400" dirty="0" smtClean="0">
                <a:ea typeface="ヒラギノ角ゴ Pro W3" pitchFamily="-84" charset="-128"/>
              </a:rPr>
              <a:t>: The interest rate cannot go below zero.</a:t>
            </a:r>
          </a:p>
          <a:p>
            <a:pPr>
              <a:spcBef>
                <a:spcPts val="525"/>
              </a:spcBef>
            </a:pPr>
            <a:r>
              <a:rPr lang="en-US" sz="2400" dirty="0" smtClean="0">
                <a:ea typeface="ヒラギノ角ゴ Pro W3" pitchFamily="-84" charset="-128"/>
              </a:rPr>
              <a:t>The economy is in a </a:t>
            </a:r>
            <a:r>
              <a:rPr lang="en-US" sz="2400" b="1" dirty="0" smtClean="0">
                <a:ea typeface="ヒラギノ角ゴ Pro W3" pitchFamily="-84" charset="-128"/>
              </a:rPr>
              <a:t>liquidity trap </a:t>
            </a:r>
            <a:r>
              <a:rPr lang="en-US" sz="2400" dirty="0" smtClean="0">
                <a:ea typeface="ヒラギノ角ゴ Pro W3" pitchFamily="-84" charset="-128"/>
              </a:rPr>
              <a:t>when the interest rate is down to zero, monetary policy cannot decrease it further.</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p14="http://schemas.microsoft.com/office/powerpoint/2010/main" xmlns="" val="4156532654"/>
      </p:ext>
    </p:extLst>
  </p:cSld>
  <p:clrMapOvr>
    <a:masterClrMapping/>
  </p:clrMapOvr>
  <p:transition>
    <p:strips dir="l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381000" y="0"/>
            <a:ext cx="8763000" cy="1143000"/>
          </a:xfrm>
        </p:spPr>
        <p:txBody>
          <a:bodyPr/>
          <a:lstStyle/>
          <a:p>
            <a:r>
              <a:rPr lang="en-US" dirty="0" smtClean="0">
                <a:ea typeface="ヒラギノ角ゴ Pro W3" pitchFamily="-65" charset="-128"/>
              </a:rPr>
              <a:t>4-4 The Liquidity Trap</a:t>
            </a:r>
          </a:p>
        </p:txBody>
      </p:sp>
      <p:sp>
        <p:nvSpPr>
          <p:cNvPr id="28676" name="TextBox 10"/>
          <p:cNvSpPr txBox="1">
            <a:spLocks noChangeArrowheads="1"/>
          </p:cNvSpPr>
          <p:nvPr/>
        </p:nvSpPr>
        <p:spPr bwMode="auto">
          <a:xfrm>
            <a:off x="381000" y="1185705"/>
            <a:ext cx="83820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4-8 </a:t>
            </a:r>
            <a:r>
              <a:rPr lang="en-US" sz="1800" dirty="0" smtClean="0">
                <a:latin typeface="Verdana" panose="020B0604030504040204" pitchFamily="34" charset="0"/>
              </a:rPr>
              <a:t>Money Demand, Money Supply, and the Liquidity Trap</a:t>
            </a:r>
            <a:endParaRPr lang="en-US" sz="1800" dirty="0">
              <a:latin typeface="Verdana" panose="020B0604030504040204" pitchFamily="34" charset="0"/>
            </a:endParaRPr>
          </a:p>
        </p:txBody>
      </p:sp>
      <p:sp>
        <p:nvSpPr>
          <p:cNvPr id="6" name="Content Placeholder 2"/>
          <p:cNvSpPr txBox="1">
            <a:spLocks/>
          </p:cNvSpPr>
          <p:nvPr/>
        </p:nvSpPr>
        <p:spPr bwMode="auto">
          <a:xfrm>
            <a:off x="533400" y="2104782"/>
            <a:ext cx="3200400" cy="403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When the interest rate is equal to zero, and once people have enough money for transaction purposes, they become indifferent between holding money and holding bonds.</a:t>
            </a:r>
          </a:p>
          <a:p>
            <a:pPr marL="0" indent="0">
              <a:spcBef>
                <a:spcPts val="525"/>
              </a:spcBef>
              <a:buNone/>
            </a:pPr>
            <a:r>
              <a:rPr lang="en-US" sz="1600" kern="0" dirty="0" smtClean="0">
                <a:ea typeface="ヒラギノ角ゴ Pro W3" pitchFamily="-84" charset="-128"/>
              </a:rPr>
              <a:t>The demand for money becomes horizontal.</a:t>
            </a:r>
          </a:p>
          <a:p>
            <a:pPr marL="0" indent="0">
              <a:spcBef>
                <a:spcPts val="525"/>
              </a:spcBef>
              <a:buNone/>
            </a:pPr>
            <a:r>
              <a:rPr lang="en-US" sz="1600" kern="0" dirty="0" smtClean="0">
                <a:ea typeface="ヒラギノ角ゴ Pro W3" pitchFamily="-84" charset="-128"/>
              </a:rPr>
              <a:t>This implies that, when the interest rate is equal to zero, further increases in the money supply have no effect on the interest rate, which remains equal to zero.</a:t>
            </a:r>
          </a:p>
          <a:p>
            <a:pPr>
              <a:spcBef>
                <a:spcPts val="525"/>
              </a:spcBef>
            </a:pPr>
            <a:endParaRPr lang="en-US" sz="1600" kern="0" dirty="0" smtClean="0">
              <a:ea typeface="ヒラギノ角ゴ Pro W3" pitchFamily="-84" charset="-128"/>
            </a:endParaRPr>
          </a:p>
        </p:txBody>
      </p:sp>
      <p:pic>
        <p:nvPicPr>
          <p:cNvPr id="3" name="Picture 2"/>
          <p:cNvPicPr>
            <a:picLocks noChangeAspect="1"/>
          </p:cNvPicPr>
          <p:nvPr/>
        </p:nvPicPr>
        <p:blipFill>
          <a:blip r:embed="rId2" cstate="print"/>
          <a:stretch>
            <a:fillRect/>
          </a:stretch>
        </p:blipFill>
        <p:spPr>
          <a:xfrm>
            <a:off x="3962400" y="1597742"/>
            <a:ext cx="4438650" cy="4524375"/>
          </a:xfrm>
          <a:prstGeom prst="rect">
            <a:avLst/>
          </a:prstGeom>
        </p:spPr>
      </p:pic>
    </p:spTree>
    <p:extLst>
      <p:ext uri="{BB962C8B-B14F-4D97-AF65-F5344CB8AC3E}">
        <p14:creationId xmlns:p14="http://schemas.microsoft.com/office/powerpoint/2010/main" xmlns="" val="3007244143"/>
      </p:ext>
    </p:extLst>
  </p:cSld>
  <p:clrMapOvr>
    <a:masterClrMapping/>
  </p:clrMapOvr>
  <p:transition>
    <p:strips dir="l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0"/>
            <a:ext cx="8610600" cy="1143000"/>
          </a:xfrm>
        </p:spPr>
        <p:txBody>
          <a:bodyPr/>
          <a:lstStyle/>
          <a:p>
            <a:r>
              <a:rPr lang="en-US" sz="2800" dirty="0" smtClean="0">
                <a:ea typeface="ヒラギノ角ゴ Pro W3" pitchFamily="-65" charset="-128"/>
              </a:rPr>
              <a:t>FOCUS: </a:t>
            </a:r>
            <a:r>
              <a:rPr lang="en-US" sz="2800" dirty="0" smtClean="0"/>
              <a:t>The Liquidity Trap in the United Kingdom</a:t>
            </a:r>
            <a:endParaRPr lang="en-US" sz="2800" dirty="0" smtClean="0">
              <a:ea typeface="ヒラギノ角ゴ Pro W3" pitchFamily="-65" charset="-128"/>
            </a:endParaRPr>
          </a:p>
        </p:txBody>
      </p:sp>
      <p:sp>
        <p:nvSpPr>
          <p:cNvPr id="4" name="Content Placeholder 2"/>
          <p:cNvSpPr>
            <a:spLocks noGrp="1"/>
          </p:cNvSpPr>
          <p:nvPr>
            <p:ph idx="1"/>
          </p:nvPr>
        </p:nvSpPr>
        <p:spPr>
          <a:xfrm>
            <a:off x="381000" y="1103033"/>
            <a:ext cx="8077200" cy="573367"/>
          </a:xfrm>
        </p:spPr>
        <p:txBody>
          <a:bodyPr/>
          <a:lstStyle/>
          <a:p>
            <a:pPr>
              <a:spcBef>
                <a:spcPts val="525"/>
              </a:spcBef>
            </a:pPr>
            <a:r>
              <a:rPr lang="en-US" sz="1800" dirty="0" smtClean="0">
                <a:ea typeface="ヒラギノ角ゴ Pro W3" pitchFamily="-84" charset="-128"/>
              </a:rPr>
              <a:t>The large increase in the supply of central bank money between 2007 and 2014 was absorbed by households and banks.</a:t>
            </a:r>
          </a:p>
          <a:p>
            <a:pPr>
              <a:spcBef>
                <a:spcPts val="525"/>
              </a:spcBef>
            </a:pPr>
            <a:endParaRPr lang="en-US" sz="1800" dirty="0" smtClean="0">
              <a:ea typeface="ヒラギノ角ゴ Pro W3" pitchFamily="-84" charset="-128"/>
            </a:endParaRPr>
          </a:p>
        </p:txBody>
      </p:sp>
      <p:sp>
        <p:nvSpPr>
          <p:cNvPr id="5" name="TextBox 10"/>
          <p:cNvSpPr txBox="1">
            <a:spLocks noChangeArrowheads="1"/>
          </p:cNvSpPr>
          <p:nvPr/>
        </p:nvSpPr>
        <p:spPr bwMode="auto">
          <a:xfrm>
            <a:off x="361507" y="1905000"/>
            <a:ext cx="83820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 </a:t>
            </a:r>
            <a:r>
              <a:rPr lang="en-US" sz="1800" dirty="0" smtClean="0">
                <a:latin typeface="Verdana" panose="020B0604030504040204" pitchFamily="34" charset="0"/>
              </a:rPr>
              <a:t>Checkable Deposits and </a:t>
            </a:r>
            <a:r>
              <a:rPr lang="en-US" sz="1800" dirty="0" smtClean="0">
                <a:latin typeface="Verdana" panose="020B0604030504040204" pitchFamily="34" charset="0"/>
              </a:rPr>
              <a:t>Reserves with BoE, 2007−2016.</a:t>
            </a:r>
            <a:endParaRPr lang="en-US" sz="1800" dirty="0">
              <a:latin typeface="Verdana" panose="020B0604030504040204" pitchFamily="34" charset="0"/>
            </a:endParaRPr>
          </a:p>
        </p:txBody>
      </p:sp>
      <p:sp>
        <p:nvSpPr>
          <p:cNvPr id="6" name="Content Placeholder 2"/>
          <p:cNvSpPr txBox="1">
            <a:spLocks/>
          </p:cNvSpPr>
          <p:nvPr/>
        </p:nvSpPr>
        <p:spPr bwMode="auto">
          <a:xfrm>
            <a:off x="1090612" y="6135636"/>
            <a:ext cx="637698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FontTx/>
              <a:buNone/>
            </a:pPr>
            <a:r>
              <a:rPr lang="en-US" sz="1200" i="1" kern="0" dirty="0" smtClean="0">
                <a:ea typeface="ヒラギノ角ゴ Pro W3" pitchFamily="-84" charset="-128"/>
              </a:rPr>
              <a:t>Source: </a:t>
            </a:r>
            <a:r>
              <a:rPr lang="en-US" sz="1200" dirty="0" smtClean="0"/>
              <a:t>Bank of England, </a:t>
            </a:r>
            <a:r>
              <a:rPr lang="en-US" sz="1200" dirty="0" err="1" smtClean="0"/>
              <a:t>Bankstats</a:t>
            </a:r>
            <a:r>
              <a:rPr lang="en-US" sz="1200" dirty="0" smtClean="0"/>
              <a:t> (Monetary &amp; Financial Statistics).</a:t>
            </a:r>
            <a:endParaRPr lang="en-US" sz="1200" kern="0" dirty="0" smtClean="0">
              <a:ea typeface="ヒラギノ角ゴ Pro W3" pitchFamily="-84" charset="-128"/>
            </a:endParaRPr>
          </a:p>
          <a:p>
            <a:pPr>
              <a:spcBef>
                <a:spcPts val="525"/>
              </a:spcBef>
            </a:pPr>
            <a:endParaRPr lang="en-US" sz="2000" kern="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1090613" y="2578595"/>
            <a:ext cx="6681788" cy="3161698"/>
          </a:xfrm>
          <a:prstGeom prst="rect">
            <a:avLst/>
          </a:prstGeom>
        </p:spPr>
      </p:pic>
    </p:spTree>
    <p:extLst>
      <p:ext uri="{BB962C8B-B14F-4D97-AF65-F5344CB8AC3E}">
        <p14:creationId xmlns:p14="http://schemas.microsoft.com/office/powerpoint/2010/main" xmlns="" val="1226905756"/>
      </p:ext>
    </p:extLst>
  </p:cSld>
  <p:clrMapOvr>
    <a:masterClrMapping/>
  </p:clrMapOvr>
  <p:transition>
    <p:strips dir="l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81000" y="0"/>
            <a:ext cx="8458200" cy="1295400"/>
          </a:xfrm>
        </p:spPr>
        <p:txBody>
          <a:bodyPr/>
          <a:lstStyle/>
          <a:p>
            <a:r>
              <a:rPr lang="en-US" sz="2400" dirty="0" smtClean="0">
                <a:ea typeface="ヒラギノ角ゴ Pro W3" pitchFamily="-65" charset="-128"/>
              </a:rPr>
              <a:t>APPENDIX: The Determination of the Interest Rate When People Hold Both Currency and Checkable Deposits</a:t>
            </a:r>
          </a:p>
        </p:txBody>
      </p:sp>
      <p:sp>
        <p:nvSpPr>
          <p:cNvPr id="6" name="Content Placeholder 2"/>
          <p:cNvSpPr>
            <a:spLocks noGrp="1"/>
          </p:cNvSpPr>
          <p:nvPr>
            <p:ph idx="1"/>
          </p:nvPr>
        </p:nvSpPr>
        <p:spPr>
          <a:xfrm>
            <a:off x="381000" y="1403604"/>
            <a:ext cx="8610600" cy="1905000"/>
          </a:xfrm>
        </p:spPr>
        <p:txBody>
          <a:bodyPr/>
          <a:lstStyle/>
          <a:p>
            <a:pPr>
              <a:spcBef>
                <a:spcPts val="525"/>
              </a:spcBef>
            </a:pPr>
            <a:r>
              <a:rPr lang="en-US" sz="2400" dirty="0" smtClean="0">
                <a:ea typeface="ヒラギノ角ゴ Pro W3" pitchFamily="-84" charset="-128"/>
              </a:rPr>
              <a:t>Assume that overall money demand is:</a:t>
            </a: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sz="2400" dirty="0" smtClean="0">
                <a:ea typeface="ヒラギノ角ゴ Pro W3" pitchFamily="-84" charset="-128"/>
              </a:rPr>
              <a:t>Also assume that people hold a fixed proportion of their money in currency </a:t>
            </a:r>
            <a:r>
              <a:rPr lang="en-US" i="1" dirty="0" smtClean="0">
                <a:latin typeface="Times New Roman" panose="02020603050405020304" pitchFamily="18" charset="0"/>
                <a:ea typeface="ヒラギノ角ゴ Pro W3" pitchFamily="-84" charset="-128"/>
                <a:cs typeface="Times New Roman" panose="02020603050405020304" pitchFamily="18" charset="0"/>
              </a:rPr>
              <a:t>c</a:t>
            </a:r>
            <a:r>
              <a:rPr lang="en-US" sz="2400" dirty="0" smtClean="0">
                <a:ea typeface="ヒラギノ角ゴ Pro W3" pitchFamily="-84" charset="-128"/>
              </a:rPr>
              <a:t>, and (1−</a:t>
            </a:r>
            <a:r>
              <a:rPr lang="en-US" i="1" dirty="0" smtClean="0">
                <a:latin typeface="Times New Roman" panose="02020603050405020304" pitchFamily="18" charset="0"/>
                <a:ea typeface="ヒラギノ角ゴ Pro W3" pitchFamily="-84" charset="-128"/>
                <a:cs typeface="Times New Roman" panose="02020603050405020304" pitchFamily="18" charset="0"/>
              </a:rPr>
              <a:t>c</a:t>
            </a:r>
            <a:r>
              <a:rPr lang="en-US" sz="2400" dirty="0" smtClean="0">
                <a:ea typeface="ヒラギノ角ゴ Pro W3" pitchFamily="-84" charset="-128"/>
              </a:rPr>
              <a:t>) in checkable deposits, so the demand for currency and the demand for checkable deposits are respectively:</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734340" y="2133600"/>
            <a:ext cx="5913120" cy="902208"/>
          </a:xfrm>
          <a:prstGeom prst="rect">
            <a:avLst/>
          </a:prstGeom>
        </p:spPr>
      </p:pic>
      <p:pic>
        <p:nvPicPr>
          <p:cNvPr id="3" name="Picture 2"/>
          <p:cNvPicPr>
            <a:picLocks noChangeAspect="1"/>
          </p:cNvPicPr>
          <p:nvPr/>
        </p:nvPicPr>
        <p:blipFill>
          <a:blip r:embed="rId3" cstate="print"/>
          <a:stretch>
            <a:fillRect/>
          </a:stretch>
        </p:blipFill>
        <p:spPr>
          <a:xfrm>
            <a:off x="2852928" y="4876800"/>
            <a:ext cx="5803392" cy="987552"/>
          </a:xfrm>
          <a:prstGeom prst="rect">
            <a:avLst/>
          </a:prstGeom>
        </p:spPr>
      </p:pic>
    </p:spTree>
    <p:extLst>
      <p:ext uri="{BB962C8B-B14F-4D97-AF65-F5344CB8AC3E}">
        <p14:creationId xmlns:p14="http://schemas.microsoft.com/office/powerpoint/2010/main" xmlns="" val="3747729147"/>
      </p:ext>
    </p:extLst>
  </p:cSld>
  <p:clrMapOvr>
    <a:masterClrMapping/>
  </p:clrMapOvr>
  <p:transition>
    <p:strips dir="l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381000" y="0"/>
            <a:ext cx="8524568" cy="1143000"/>
          </a:xfrm>
        </p:spPr>
        <p:txBody>
          <a:bodyPr/>
          <a:lstStyle/>
          <a:p>
            <a:r>
              <a:rPr lang="en-US" sz="2400" dirty="0">
                <a:ea typeface="ヒラギノ角ゴ Pro W3" pitchFamily="-65" charset="-128"/>
              </a:rPr>
              <a:t>APPENDIX: The Determination of the Interest Rate When People Hold Both Currency and Checkable Deposits</a:t>
            </a:r>
          </a:p>
        </p:txBody>
      </p:sp>
      <p:sp>
        <p:nvSpPr>
          <p:cNvPr id="5" name="TextBox 10"/>
          <p:cNvSpPr txBox="1">
            <a:spLocks noChangeArrowheads="1"/>
          </p:cNvSpPr>
          <p:nvPr/>
        </p:nvSpPr>
        <p:spPr bwMode="auto">
          <a:xfrm>
            <a:off x="381000" y="1524000"/>
            <a:ext cx="2170471" cy="175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4-A1 </a:t>
            </a:r>
            <a:r>
              <a:rPr lang="en-US" sz="1800" dirty="0" smtClean="0">
                <a:latin typeface="Verdana" panose="020B0604030504040204" pitchFamily="34" charset="0"/>
              </a:rPr>
              <a:t>Determinants of the Demand and the Supply of Central Bank Money.</a:t>
            </a:r>
            <a:endParaRPr lang="en-US" sz="1800" dirty="0">
              <a:latin typeface="Verdana" panose="020B0604030504040204" pitchFamily="34" charset="0"/>
            </a:endParaRPr>
          </a:p>
        </p:txBody>
      </p:sp>
      <p:pic>
        <p:nvPicPr>
          <p:cNvPr id="2" name="Picture 1"/>
          <p:cNvPicPr>
            <a:picLocks noChangeAspect="1"/>
          </p:cNvPicPr>
          <p:nvPr/>
        </p:nvPicPr>
        <p:blipFill>
          <a:blip r:embed="rId2" cstate="print"/>
          <a:stretch>
            <a:fillRect/>
          </a:stretch>
        </p:blipFill>
        <p:spPr>
          <a:xfrm>
            <a:off x="2674088" y="1524000"/>
            <a:ext cx="6238568" cy="4800600"/>
          </a:xfrm>
          <a:prstGeom prst="rect">
            <a:avLst/>
          </a:prstGeom>
        </p:spPr>
      </p:pic>
    </p:spTree>
    <p:extLst>
      <p:ext uri="{BB962C8B-B14F-4D97-AF65-F5344CB8AC3E}">
        <p14:creationId xmlns:p14="http://schemas.microsoft.com/office/powerpoint/2010/main" xmlns="" val="4091885967"/>
      </p:ext>
    </p:extLst>
  </p:cSld>
  <p:clrMapOvr>
    <a:masterClrMapping/>
  </p:clrMapOvr>
  <p:transition>
    <p:strips dir="l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81000" y="0"/>
            <a:ext cx="8382000" cy="1356360"/>
          </a:xfrm>
        </p:spPr>
        <p:txBody>
          <a:bodyPr/>
          <a:lstStyle/>
          <a:p>
            <a:r>
              <a:rPr lang="en-US" sz="2400" dirty="0" smtClean="0">
                <a:ea typeface="ヒラギノ角ゴ Pro W3" pitchFamily="-65" charset="-128"/>
              </a:rPr>
              <a:t>APPENDIX: The Determination of the Interest Rate When People Hold Both Currency and Checkable Deposits</a:t>
            </a:r>
          </a:p>
        </p:txBody>
      </p:sp>
      <p:sp>
        <p:nvSpPr>
          <p:cNvPr id="6" name="Content Placeholder 2"/>
          <p:cNvSpPr>
            <a:spLocks noGrp="1"/>
          </p:cNvSpPr>
          <p:nvPr>
            <p:ph idx="1"/>
          </p:nvPr>
        </p:nvSpPr>
        <p:spPr>
          <a:xfrm>
            <a:off x="396240" y="1524000"/>
            <a:ext cx="8610600" cy="1905000"/>
          </a:xfrm>
        </p:spPr>
        <p:txBody>
          <a:bodyPr/>
          <a:lstStyle/>
          <a:p>
            <a:pPr>
              <a:spcBef>
                <a:spcPts val="525"/>
              </a:spcBef>
            </a:pPr>
            <a:r>
              <a:rPr lang="en-US" sz="2400" dirty="0" smtClean="0">
                <a:ea typeface="ヒラギノ角ゴ Pro W3" pitchFamily="-84" charset="-128"/>
              </a:rPr>
              <a:t>Let </a:t>
            </a:r>
            <a:r>
              <a:rPr lang="en-US" i="1" dirty="0" smtClean="0">
                <a:latin typeface="Times New Roman" panose="02020603050405020304" pitchFamily="18" charset="0"/>
                <a:ea typeface="ヒラギノ角ゴ Pro W3" pitchFamily="-84" charset="-128"/>
                <a:cs typeface="Times New Roman" panose="02020603050405020304" pitchFamily="18" charset="0"/>
              </a:rPr>
              <a:t>R</a:t>
            </a:r>
            <a:r>
              <a:rPr lang="en-US" sz="2400" dirty="0" smtClean="0">
                <a:ea typeface="ヒラギノ角ゴ Pro W3" pitchFamily="-84" charset="-128"/>
              </a:rPr>
              <a:t> be the reserves of banks, </a:t>
            </a:r>
            <a:r>
              <a:rPr lang="en-US" i="1" dirty="0" smtClean="0">
                <a:latin typeface="Times New Roman" panose="02020603050405020304" pitchFamily="18" charset="0"/>
                <a:ea typeface="ヒラギノ角ゴ Pro W3" pitchFamily="-84" charset="-128"/>
                <a:cs typeface="Times New Roman" panose="02020603050405020304" pitchFamily="18" charset="0"/>
              </a:rPr>
              <a:t>D</a:t>
            </a:r>
            <a:r>
              <a:rPr lang="en-US" sz="2400" dirty="0" smtClean="0">
                <a:ea typeface="ヒラギノ角ゴ Pro W3" pitchFamily="-84" charset="-128"/>
              </a:rPr>
              <a:t> be the dollar amount checkable deposits, and </a:t>
            </a:r>
            <a:r>
              <a:rPr lang="en-US" sz="2400" i="1" dirty="0">
                <a:latin typeface="Times New Roman" panose="02020603050405020304" pitchFamily="18" charset="0"/>
                <a:ea typeface="ヒラギノ角ゴ Pro W3" pitchFamily="-84" charset="-128"/>
                <a:cs typeface="Times New Roman" panose="02020603050405020304" pitchFamily="18" charset="0"/>
              </a:rPr>
              <a:t>θ</a:t>
            </a:r>
            <a:r>
              <a:rPr lang="en-US" sz="2000" dirty="0">
                <a:ea typeface="ヒラギノ角ゴ Pro W3" pitchFamily="-84" charset="-128"/>
                <a:cs typeface="Times New Roman" panose="02020603050405020304" pitchFamily="18" charset="0"/>
              </a:rPr>
              <a:t> </a:t>
            </a:r>
            <a:r>
              <a:rPr lang="en-US" sz="2400" dirty="0">
                <a:ea typeface="ヒラギノ角ゴ Pro W3" pitchFamily="-84" charset="-128"/>
              </a:rPr>
              <a:t>be the reserve ratio:</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sz="2400" dirty="0" smtClean="0">
                <a:ea typeface="ヒラギノ角ゴ Pro W3" pitchFamily="-84" charset="-128"/>
              </a:rPr>
              <a:t>Combining (4.A2) and (4.A4) gives the demand for reserves by banks:</a:t>
            </a: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4" name="Picture 3"/>
          <p:cNvPicPr>
            <a:picLocks noChangeAspect="1"/>
          </p:cNvPicPr>
          <p:nvPr/>
        </p:nvPicPr>
        <p:blipFill>
          <a:blip r:embed="rId2" cstate="print"/>
          <a:stretch>
            <a:fillRect/>
          </a:stretch>
        </p:blipFill>
        <p:spPr>
          <a:xfrm>
            <a:off x="2590800" y="2895600"/>
            <a:ext cx="5949696" cy="365760"/>
          </a:xfrm>
          <a:prstGeom prst="rect">
            <a:avLst/>
          </a:prstGeom>
        </p:spPr>
      </p:pic>
      <p:pic>
        <p:nvPicPr>
          <p:cNvPr id="5" name="Picture 4"/>
          <p:cNvPicPr>
            <a:picLocks noChangeAspect="1"/>
          </p:cNvPicPr>
          <p:nvPr/>
        </p:nvPicPr>
        <p:blipFill>
          <a:blip r:embed="rId3" cstate="print"/>
          <a:stretch>
            <a:fillRect/>
          </a:stretch>
        </p:blipFill>
        <p:spPr>
          <a:xfrm>
            <a:off x="2320276" y="4634922"/>
            <a:ext cx="6096000" cy="451104"/>
          </a:xfrm>
          <a:prstGeom prst="rect">
            <a:avLst/>
          </a:prstGeom>
        </p:spPr>
      </p:pic>
    </p:spTree>
    <p:extLst>
      <p:ext uri="{BB962C8B-B14F-4D97-AF65-F5344CB8AC3E}">
        <p14:creationId xmlns:p14="http://schemas.microsoft.com/office/powerpoint/2010/main" xmlns="" val="3434371649"/>
      </p:ext>
    </p:extLst>
  </p:cSld>
  <p:clrMapOvr>
    <a:masterClrMapping/>
  </p:clrMapOvr>
  <p:transition>
    <p:strips dir="l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81000" y="0"/>
            <a:ext cx="8229600" cy="1371600"/>
          </a:xfrm>
        </p:spPr>
        <p:txBody>
          <a:bodyPr/>
          <a:lstStyle/>
          <a:p>
            <a:r>
              <a:rPr lang="en-US" sz="2400" dirty="0" smtClean="0">
                <a:ea typeface="ヒラギノ角ゴ Pro W3" pitchFamily="-65" charset="-128"/>
              </a:rPr>
              <a:t>APPENDIX: The Determination of the Interest Rate When People Hold Both Currency and Checkable Deposits</a:t>
            </a:r>
          </a:p>
        </p:txBody>
      </p:sp>
      <p:sp>
        <p:nvSpPr>
          <p:cNvPr id="6" name="Content Placeholder 2"/>
          <p:cNvSpPr>
            <a:spLocks noGrp="1"/>
          </p:cNvSpPr>
          <p:nvPr>
            <p:ph idx="1"/>
          </p:nvPr>
        </p:nvSpPr>
        <p:spPr>
          <a:xfrm>
            <a:off x="396240" y="1524000"/>
            <a:ext cx="8610600" cy="4343400"/>
          </a:xfrm>
        </p:spPr>
        <p:txBody>
          <a:bodyPr/>
          <a:lstStyle/>
          <a:p>
            <a:pPr>
              <a:spcBef>
                <a:spcPts val="525"/>
              </a:spcBef>
            </a:pPr>
            <a:r>
              <a:rPr lang="en-US" sz="2400" dirty="0" smtClean="0">
                <a:ea typeface="ヒラギノ角ゴ Pro W3" pitchFamily="-84" charset="-128"/>
              </a:rPr>
              <a:t>Demand for central bank money is:</a:t>
            </a: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marL="0" indent="339725">
              <a:spcBef>
                <a:spcPts val="525"/>
              </a:spcBef>
              <a:buNone/>
            </a:pPr>
            <a:r>
              <a:rPr lang="en-US" sz="2400" dirty="0" smtClean="0">
                <a:ea typeface="ヒラギノ角ゴ Pro W3" pitchFamily="-84" charset="-128"/>
              </a:rPr>
              <a:t>so that:</a:t>
            </a: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marL="0" indent="339725">
              <a:spcBef>
                <a:spcPts val="525"/>
              </a:spcBef>
              <a:buNone/>
            </a:pPr>
            <a:r>
              <a:rPr lang="en-US" sz="2400" dirty="0" smtClean="0">
                <a:ea typeface="ヒラギノ角ゴ Pro W3" pitchFamily="-84" charset="-128"/>
              </a:rPr>
              <a:t>which gives the demand for central bank money:</a:t>
            </a: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3162440" y="2226397"/>
            <a:ext cx="5632704" cy="451104"/>
          </a:xfrm>
          <a:prstGeom prst="rect">
            <a:avLst/>
          </a:prstGeom>
        </p:spPr>
      </p:pic>
      <p:pic>
        <p:nvPicPr>
          <p:cNvPr id="3" name="Picture 2"/>
          <p:cNvPicPr>
            <a:picLocks noChangeAspect="1"/>
          </p:cNvPicPr>
          <p:nvPr/>
        </p:nvPicPr>
        <p:blipFill>
          <a:blip r:embed="rId3" cstate="print"/>
          <a:stretch>
            <a:fillRect/>
          </a:stretch>
        </p:blipFill>
        <p:spPr>
          <a:xfrm>
            <a:off x="1171956" y="3355002"/>
            <a:ext cx="7059168" cy="463296"/>
          </a:xfrm>
          <a:prstGeom prst="rect">
            <a:avLst/>
          </a:prstGeom>
        </p:spPr>
      </p:pic>
      <p:pic>
        <p:nvPicPr>
          <p:cNvPr id="7" name="Picture 6"/>
          <p:cNvPicPr>
            <a:picLocks noChangeAspect="1"/>
          </p:cNvPicPr>
          <p:nvPr/>
        </p:nvPicPr>
        <p:blipFill>
          <a:blip r:embed="rId4" cstate="print"/>
          <a:stretch>
            <a:fillRect/>
          </a:stretch>
        </p:blipFill>
        <p:spPr>
          <a:xfrm>
            <a:off x="2609081" y="4913372"/>
            <a:ext cx="6205728" cy="536448"/>
          </a:xfrm>
          <a:prstGeom prst="rect">
            <a:avLst/>
          </a:prstGeom>
        </p:spPr>
      </p:pic>
    </p:spTree>
    <p:extLst>
      <p:ext uri="{BB962C8B-B14F-4D97-AF65-F5344CB8AC3E}">
        <p14:creationId xmlns:p14="http://schemas.microsoft.com/office/powerpoint/2010/main" xmlns="" val="3720314036"/>
      </p:ext>
    </p:extLst>
  </p:cSld>
  <p:clrMapOvr>
    <a:masterClrMapping/>
  </p:clrMapOvr>
  <p:transition>
    <p:strips dir="l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81000" y="0"/>
            <a:ext cx="8458200" cy="1295400"/>
          </a:xfrm>
        </p:spPr>
        <p:txBody>
          <a:bodyPr/>
          <a:lstStyle/>
          <a:p>
            <a:r>
              <a:rPr lang="en-US" sz="2400" dirty="0" smtClean="0">
                <a:ea typeface="ヒラギノ角ゴ Pro W3" pitchFamily="-65" charset="-128"/>
              </a:rPr>
              <a:t>APPENDIX: The Determination of the Interest Rate When People Hold Both Currency and Checkable Deposits</a:t>
            </a:r>
          </a:p>
        </p:txBody>
      </p:sp>
      <p:sp>
        <p:nvSpPr>
          <p:cNvPr id="6" name="Content Placeholder 2"/>
          <p:cNvSpPr>
            <a:spLocks noGrp="1"/>
          </p:cNvSpPr>
          <p:nvPr>
            <p:ph idx="1"/>
          </p:nvPr>
        </p:nvSpPr>
        <p:spPr>
          <a:xfrm>
            <a:off x="396240" y="1524000"/>
            <a:ext cx="8442960" cy="4343400"/>
          </a:xfrm>
        </p:spPr>
        <p:txBody>
          <a:bodyPr/>
          <a:lstStyle/>
          <a:p>
            <a:pPr>
              <a:spcBef>
                <a:spcPts val="525"/>
              </a:spcBef>
            </a:pPr>
            <a:r>
              <a:rPr lang="en-US" sz="2400" dirty="0" smtClean="0">
                <a:ea typeface="ヒラギノ角ゴ Pro W3" pitchFamily="-84" charset="-128"/>
              </a:rPr>
              <a:t>The equilibrium condition is that the supply of central bank money be equal to the demand for central bank money:</a:t>
            </a: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marL="0" indent="339725">
              <a:spcBef>
                <a:spcPts val="525"/>
              </a:spcBef>
              <a:buNone/>
            </a:pPr>
            <a:r>
              <a:rPr lang="en-US" sz="2400" dirty="0" smtClean="0">
                <a:ea typeface="ヒラギノ角ゴ Pro W3" pitchFamily="-84" charset="-128"/>
              </a:rPr>
              <a:t>or using equation (4.9):</a:t>
            </a: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4" name="Picture 3"/>
          <p:cNvPicPr>
            <a:picLocks noChangeAspect="1"/>
          </p:cNvPicPr>
          <p:nvPr/>
        </p:nvPicPr>
        <p:blipFill>
          <a:blip r:embed="rId2" cstate="print"/>
          <a:stretch>
            <a:fillRect/>
          </a:stretch>
        </p:blipFill>
        <p:spPr>
          <a:xfrm>
            <a:off x="2667000" y="2781297"/>
            <a:ext cx="5949696" cy="390144"/>
          </a:xfrm>
          <a:prstGeom prst="rect">
            <a:avLst/>
          </a:prstGeom>
        </p:spPr>
      </p:pic>
      <p:pic>
        <p:nvPicPr>
          <p:cNvPr id="5" name="Picture 4"/>
          <p:cNvPicPr>
            <a:picLocks noChangeAspect="1"/>
          </p:cNvPicPr>
          <p:nvPr/>
        </p:nvPicPr>
        <p:blipFill>
          <a:blip r:embed="rId3" cstate="print"/>
          <a:stretch>
            <a:fillRect/>
          </a:stretch>
        </p:blipFill>
        <p:spPr>
          <a:xfrm>
            <a:off x="2081784" y="4117084"/>
            <a:ext cx="6534912" cy="402336"/>
          </a:xfrm>
          <a:prstGeom prst="rect">
            <a:avLst/>
          </a:prstGeom>
        </p:spPr>
      </p:pic>
    </p:spTree>
    <p:extLst>
      <p:ext uri="{BB962C8B-B14F-4D97-AF65-F5344CB8AC3E}">
        <p14:creationId xmlns:p14="http://schemas.microsoft.com/office/powerpoint/2010/main" xmlns="" val="3883548429"/>
      </p:ext>
    </p:extLst>
  </p:cSld>
  <p:clrMapOvr>
    <a:masterClrMapping/>
  </p:clrMapOvr>
  <p:transition>
    <p:strips dir="l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81000" y="0"/>
            <a:ext cx="8534400" cy="1371600"/>
          </a:xfrm>
        </p:spPr>
        <p:txBody>
          <a:bodyPr/>
          <a:lstStyle/>
          <a:p>
            <a:r>
              <a:rPr lang="en-US" sz="2400" dirty="0" smtClean="0">
                <a:ea typeface="ヒラギノ角ゴ Pro W3" pitchFamily="-65" charset="-128"/>
              </a:rPr>
              <a:t>APPENDIX: The Determination of the Interest Rate When People Hold Both Currency and Checkable Deposits</a:t>
            </a:r>
          </a:p>
        </p:txBody>
      </p:sp>
      <p:sp>
        <p:nvSpPr>
          <p:cNvPr id="6" name="Content Placeholder 2"/>
          <p:cNvSpPr>
            <a:spLocks noGrp="1"/>
          </p:cNvSpPr>
          <p:nvPr>
            <p:ph idx="1"/>
          </p:nvPr>
        </p:nvSpPr>
        <p:spPr>
          <a:xfrm>
            <a:off x="396240" y="1524000"/>
            <a:ext cx="8610600" cy="4343400"/>
          </a:xfrm>
        </p:spPr>
        <p:txBody>
          <a:bodyPr/>
          <a:lstStyle/>
          <a:p>
            <a:pPr>
              <a:spcBef>
                <a:spcPts val="525"/>
              </a:spcBef>
            </a:pPr>
            <a:r>
              <a:rPr lang="en-US" sz="2400" i="1" dirty="0" smtClean="0">
                <a:ea typeface="ヒラギノ角ゴ Pro W3" pitchFamily="-84" charset="-128"/>
              </a:rPr>
              <a:t>The supply of central bank money (the left side of equation (4.A9) is equal to the demand for central bank money (the right side of equation (4.A9), which is equal to the term in brackets times the overall demand for money.</a:t>
            </a:r>
          </a:p>
          <a:p>
            <a:pPr>
              <a:spcBef>
                <a:spcPts val="525"/>
              </a:spcBef>
            </a:pPr>
            <a:endParaRPr lang="en-US" sz="2400" i="1" dirty="0">
              <a:ea typeface="ヒラギノ角ゴ Pro W3" pitchFamily="-84" charset="-128"/>
            </a:endParaRPr>
          </a:p>
          <a:p>
            <a:pPr>
              <a:spcBef>
                <a:spcPts val="525"/>
              </a:spcBef>
            </a:pPr>
            <a:endParaRPr lang="en-US" sz="2400" i="1" dirty="0">
              <a:ea typeface="ヒラギノ角ゴ Pro W3" pitchFamily="-84" charset="-128"/>
            </a:endParaRPr>
          </a:p>
          <a:p>
            <a:pPr>
              <a:spcBef>
                <a:spcPts val="525"/>
              </a:spcBef>
            </a:pPr>
            <a:endParaRPr lang="en-US" sz="2400" i="1" dirty="0" smtClean="0">
              <a:ea typeface="ヒラギノ角ゴ Pro W3" pitchFamily="-84" charset="-128"/>
            </a:endParaRPr>
          </a:p>
          <a:p>
            <a:pPr>
              <a:spcBef>
                <a:spcPts val="525"/>
              </a:spcBef>
            </a:pPr>
            <a:endParaRPr lang="en-US" sz="2400" i="1" dirty="0" smtClean="0">
              <a:ea typeface="ヒラギノ角ゴ Pro W3" pitchFamily="-84" charset="-128"/>
            </a:endParaRPr>
          </a:p>
          <a:p>
            <a:pPr>
              <a:spcBef>
                <a:spcPts val="525"/>
              </a:spcBef>
            </a:pPr>
            <a:endParaRPr lang="en-US" sz="2400" i="1" dirty="0">
              <a:ea typeface="ヒラギノ角ゴ Pro W3" pitchFamily="-84" charset="-128"/>
            </a:endParaRPr>
          </a:p>
          <a:p>
            <a:pPr>
              <a:spcBef>
                <a:spcPts val="525"/>
              </a:spcBef>
            </a:pPr>
            <a:endParaRPr lang="en-US" sz="2400" i="1" dirty="0" smtClean="0">
              <a:ea typeface="ヒラギノ角ゴ Pro W3" pitchFamily="-84" charset="-128"/>
            </a:endParaRPr>
          </a:p>
          <a:p>
            <a:pPr>
              <a:spcBef>
                <a:spcPts val="525"/>
              </a:spcBef>
            </a:pPr>
            <a:endParaRPr lang="en-US" sz="2400" i="1" dirty="0" smtClean="0">
              <a:ea typeface="ヒラギノ角ゴ Pro W3" pitchFamily="-84" charset="-128"/>
            </a:endParaRPr>
          </a:p>
        </p:txBody>
      </p:sp>
    </p:spTree>
    <p:extLst>
      <p:ext uri="{BB962C8B-B14F-4D97-AF65-F5344CB8AC3E}">
        <p14:creationId xmlns:p14="http://schemas.microsoft.com/office/powerpoint/2010/main" xmlns="" val="3809093383"/>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2506</TotalTime>
  <Words>1779</Words>
  <Application>Microsoft Office PowerPoint</Application>
  <PresentationFormat>On-screen Show (4:3)</PresentationFormat>
  <Paragraphs>169</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template_LN01Brooks671956_02_LN01</vt:lpstr>
      <vt:lpstr>Financial  Markets I</vt:lpstr>
      <vt:lpstr>Chapter 2 Outline</vt:lpstr>
      <vt:lpstr>Financial Markets</vt:lpstr>
      <vt:lpstr>4-1 The Demand for Money</vt:lpstr>
      <vt:lpstr>4-1 The Demand for Money</vt:lpstr>
      <vt:lpstr>FOCUS: Semantic Traps: Money, Income, and Wealth</vt:lpstr>
      <vt:lpstr>4-1 The Demand for Money</vt:lpstr>
      <vt:lpstr>4-1 The Demand for Money</vt:lpstr>
      <vt:lpstr>4-1 The Demand for Money</vt:lpstr>
      <vt:lpstr>FOCUS: Who Holds U.S. Currency</vt:lpstr>
      <vt:lpstr>4-2 Determining the Interest Rate: I</vt:lpstr>
      <vt:lpstr>4-2 Determining the Interest Rate: I</vt:lpstr>
      <vt:lpstr>4-2 Determining the Interest Rate: I</vt:lpstr>
      <vt:lpstr>4-2 Determining the Interest Rate: I</vt:lpstr>
      <vt:lpstr>4-2 Determining the Interest Rate: I</vt:lpstr>
      <vt:lpstr>4-2 Determining the Interest Rate: I</vt:lpstr>
      <vt:lpstr>4-2 Determining the Interest Rate: I</vt:lpstr>
      <vt:lpstr>4-2 Determining the Interest Rate: I</vt:lpstr>
      <vt:lpstr>4-2 Determining the Interest Rate: I</vt:lpstr>
      <vt:lpstr>4-3 Determining the Interest Rate: II</vt:lpstr>
      <vt:lpstr>4-3 Determining the Interest Rate: II</vt:lpstr>
      <vt:lpstr>4-3 Determining the Interest Rate: II</vt:lpstr>
      <vt:lpstr>4-3 Determining the Interest Rate: II</vt:lpstr>
      <vt:lpstr>4-3 Determining the Interest Rate: II</vt:lpstr>
      <vt:lpstr>4-3 Determining the Interest Rate: II</vt:lpstr>
      <vt:lpstr>4-4 The Liquidity Trap</vt:lpstr>
      <vt:lpstr>4-4 The Liquidity Trap</vt:lpstr>
      <vt:lpstr>FOCUS: The Liquidity Trap in the United Kingdom</vt:lpstr>
      <vt:lpstr>APPENDIX: The Determination of the Interest Rate When People Hold Both Currency and Checkable Deposits</vt:lpstr>
      <vt:lpstr>APPENDIX: The Determination of the Interest Rate When People Hold Both Currency and Checkable Deposits</vt:lpstr>
      <vt:lpstr>APPENDIX: The Determination of the Interest Rate When People Hold Both Currency and Checkable Deposits</vt:lpstr>
      <vt:lpstr>APPENDIX: The Determination of the Interest Rate When People Hold Both Currency and Checkable Deposits</vt:lpstr>
      <vt:lpstr>APPENDIX: The Determination of the Interest Rate When People Hold Both Currency and Checkable Deposits</vt:lpstr>
      <vt:lpstr>APPENDIX: The Determination of the Interest Rate When People Hold Both Currency and Checkable Deposits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Paromita</cp:lastModifiedBy>
  <cp:revision>140</cp:revision>
  <dcterms:created xsi:type="dcterms:W3CDTF">2012-08-09T20:37:31Z</dcterms:created>
  <dcterms:modified xsi:type="dcterms:W3CDTF">2016-10-06T04:12:28Z</dcterms:modified>
</cp:coreProperties>
</file>