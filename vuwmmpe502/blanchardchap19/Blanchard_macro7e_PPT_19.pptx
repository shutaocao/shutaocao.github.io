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2"/>
  </p:notesMasterIdLst>
  <p:sldIdLst>
    <p:sldId id="256" r:id="rId2"/>
    <p:sldId id="269" r:id="rId3"/>
    <p:sldId id="357" r:id="rId4"/>
    <p:sldId id="453" r:id="rId5"/>
    <p:sldId id="486" r:id="rId6"/>
    <p:sldId id="474" r:id="rId7"/>
    <p:sldId id="490" r:id="rId8"/>
    <p:sldId id="475" r:id="rId9"/>
    <p:sldId id="491" r:id="rId10"/>
    <p:sldId id="476" r:id="rId11"/>
    <p:sldId id="478" r:id="rId12"/>
    <p:sldId id="477" r:id="rId13"/>
    <p:sldId id="479" r:id="rId14"/>
    <p:sldId id="480" r:id="rId15"/>
    <p:sldId id="481" r:id="rId16"/>
    <p:sldId id="492" r:id="rId17"/>
    <p:sldId id="483" r:id="rId18"/>
    <p:sldId id="484" r:id="rId19"/>
    <p:sldId id="485" r:id="rId20"/>
    <p:sldId id="493" r:id="rId2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55" autoAdjust="0"/>
    <p:restoredTop sz="94690"/>
  </p:normalViewPr>
  <p:slideViewPr>
    <p:cSldViewPr>
      <p:cViewPr varScale="1">
        <p:scale>
          <a:sx n="71" d="100"/>
          <a:sy n="71" d="100"/>
        </p:scale>
        <p:origin x="-108" y="-9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 xmlns:p14="http://schemas.microsoft.com/office/powerpoint/2010/main"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 xmlns:p14="http://schemas.microsoft.com/office/powerpoint/2010/main"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19-</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Output, the Interest Rate, and the Exchange Rate</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19</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19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a:ea typeface="ヒラギノ角ゴ Pro W3" pitchFamily="-84" charset="-128"/>
              </a:rPr>
              <a:t>Output, the Interest Rate, and the Exchange </a:t>
            </a:r>
            <a:r>
              <a:rPr lang="en-US" sz="2400" b="1" kern="0" dirty="0" smtClean="0">
                <a:ea typeface="ヒラギノ角ゴ Pro W3" pitchFamily="-84" charset="-128"/>
              </a:rPr>
              <a:t>Rate</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19-1	Equilibrium in the Goods Markets</a:t>
            </a:r>
          </a:p>
          <a:p>
            <a:pPr marL="1714500" indent="-1714500" eaLnBrk="1" hangingPunct="1">
              <a:buFontTx/>
              <a:buNone/>
              <a:defRPr/>
            </a:pPr>
            <a:r>
              <a:rPr lang="en-US" sz="2400" kern="0" dirty="0" smtClean="0">
                <a:ea typeface="ヒラギノ角ゴ Pro W3" pitchFamily="-84" charset="-128"/>
              </a:rPr>
              <a:t>19-2	Equilibrium in the Financial Markets</a:t>
            </a:r>
          </a:p>
          <a:p>
            <a:pPr marL="1714500" indent="-1714500" eaLnBrk="1" hangingPunct="1">
              <a:buFontTx/>
              <a:buNone/>
              <a:defRPr/>
            </a:pPr>
            <a:r>
              <a:rPr lang="en-US" sz="2400" kern="0" dirty="0" smtClean="0">
                <a:ea typeface="ヒラギノ角ゴ Pro W3" pitchFamily="-84" charset="-128"/>
              </a:rPr>
              <a:t>19-3	Putting Goods and Financial Markets Together</a:t>
            </a:r>
          </a:p>
          <a:p>
            <a:pPr marL="1714500" indent="-1714500" eaLnBrk="1" hangingPunct="1">
              <a:buFontTx/>
              <a:buNone/>
              <a:defRPr/>
            </a:pPr>
            <a:r>
              <a:rPr lang="en-US" sz="2400" kern="0" dirty="0" smtClean="0">
                <a:ea typeface="ヒラギノ角ゴ Pro W3" pitchFamily="-84" charset="-128"/>
              </a:rPr>
              <a:t>19-4	The Effects of Policy in an Open Economy</a:t>
            </a:r>
          </a:p>
          <a:p>
            <a:pPr marL="1714500" indent="-1714500" eaLnBrk="1" hangingPunct="1">
              <a:buFontTx/>
              <a:buNone/>
              <a:defRPr/>
            </a:pPr>
            <a:r>
              <a:rPr lang="en-US" sz="2400" kern="0" dirty="0" smtClean="0">
                <a:ea typeface="ヒラギノ角ゴ Pro W3" pitchFamily="-84" charset="-128"/>
              </a:rPr>
              <a:t>19-5	Fixed Exchange Rates</a:t>
            </a:r>
          </a:p>
          <a:p>
            <a:pPr marL="1714500" indent="-1714500" eaLnBrk="1" hangingPunct="1">
              <a:buFontTx/>
              <a:buNone/>
              <a:defRPr/>
            </a:pPr>
            <a:r>
              <a:rPr lang="en-US" sz="2400" kern="0" dirty="0" smtClean="0">
                <a:ea typeface="ヒラギノ角ゴ Pro W3" pitchFamily="-84" charset="-128"/>
              </a:rPr>
              <a:t>APPENDIX </a:t>
            </a:r>
            <a:r>
              <a:rPr lang="en-US" sz="2400" kern="0" dirty="0">
                <a:ea typeface="ヒラギノ角ゴ Pro W3" pitchFamily="-84" charset="-128"/>
              </a:rPr>
              <a:t>Fixed Exchange Rates, Interest Rates, and Capital Mobility</a:t>
            </a:r>
            <a:endParaRPr lang="en-US" sz="2400" kern="0" dirty="0" smtClean="0">
              <a:ea typeface="ヒラギノ角ゴ Pro W3" pitchFamily="-84" charset="-128"/>
            </a:endParaRP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84" charset="-128"/>
              </a:rPr>
              <a:t>Output, the Interest Rate, and the Exchange Rate</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In Chapter 18, we treated the exchange rate as one of the policy instruments available to the government.</a:t>
            </a:r>
          </a:p>
          <a:p>
            <a:r>
              <a:rPr lang="en-US" sz="2400" dirty="0" smtClean="0">
                <a:ea typeface="ヒラギノ角ゴ Pro W3" pitchFamily="-84" charset="-128"/>
              </a:rPr>
              <a:t>The exchange rate is not a policy instrument, but instead it is determined in the foreign exchange market.</a:t>
            </a:r>
          </a:p>
          <a:p>
            <a:r>
              <a:rPr lang="en-US" sz="2400" dirty="0" smtClean="0">
                <a:ea typeface="ヒラギノ角ゴ Pro W3" pitchFamily="-84" charset="-128"/>
              </a:rPr>
              <a:t>In this chapter, we examine the implications of equilibrium in both the goods market and financial markets, including the foreign exchange market.</a:t>
            </a:r>
          </a:p>
          <a:p>
            <a:r>
              <a:rPr lang="en-US" sz="2400" dirty="0" smtClean="0">
                <a:ea typeface="ヒラギノ角ゴ Pro W3" pitchFamily="-84" charset="-128"/>
              </a:rPr>
              <a:t>The model is an extension to the open economy of the </a:t>
            </a:r>
            <a:r>
              <a:rPr lang="en-US" sz="2400" i="1" dirty="0" smtClean="0">
                <a:ea typeface="ヒラギノ角ゴ Pro W3" pitchFamily="-84" charset="-128"/>
              </a:rPr>
              <a:t>IS-LM</a:t>
            </a:r>
            <a:r>
              <a:rPr lang="en-US" sz="2400" dirty="0" smtClean="0">
                <a:ea typeface="ヒラギノ角ゴ Pro W3" pitchFamily="-84" charset="-128"/>
              </a:rPr>
              <a:t> model and it is known as the </a:t>
            </a:r>
            <a:r>
              <a:rPr lang="en-US" sz="2400" b="1" dirty="0" err="1" smtClean="0">
                <a:ea typeface="ヒラギノ角ゴ Pro W3" pitchFamily="-84" charset="-128"/>
              </a:rPr>
              <a:t>Mundell</a:t>
            </a:r>
            <a:r>
              <a:rPr lang="en-US" sz="2400" b="1" dirty="0" smtClean="0">
                <a:ea typeface="ヒラギノ角ゴ Pro W3" pitchFamily="-84" charset="-128"/>
              </a:rPr>
              <a:t>-Fleming</a:t>
            </a:r>
            <a:r>
              <a:rPr lang="en-US" sz="2400" dirty="0" smtClean="0">
                <a:ea typeface="ヒラギノ角ゴ Pro W3" pitchFamily="-84" charset="-128"/>
              </a:rPr>
              <a:t> model.</a:t>
            </a:r>
          </a:p>
        </p:txBody>
      </p:sp>
    </p:spTree>
    <p:extLst>
      <p:ext uri="{BB962C8B-B14F-4D97-AF65-F5344CB8AC3E}">
        <p14:creationId xmlns="" xmlns:p14="http://schemas.microsoft.com/office/powerpoint/2010/main"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19-1 </a:t>
            </a:r>
            <a:r>
              <a:rPr lang="en-US" dirty="0">
                <a:ea typeface="ヒラギノ角ゴ Pro W3" pitchFamily="-65" charset="-128"/>
              </a:rPr>
              <a:t>Equilibrium in the Goods Market</a:t>
            </a:r>
            <a:endParaRPr lang="en-US" dirty="0" smtClean="0">
              <a:ea typeface="ヒラギノ角ゴ Pro W3" pitchFamily="-65" charset="-128"/>
            </a:endParaRPr>
          </a:p>
        </p:txBody>
      </p:sp>
      <p:sp>
        <p:nvSpPr>
          <p:cNvPr id="6" name="Content Placeholder 2"/>
          <p:cNvSpPr>
            <a:spLocks noGrp="1"/>
          </p:cNvSpPr>
          <p:nvPr>
            <p:ph idx="1"/>
          </p:nvPr>
        </p:nvSpPr>
        <p:spPr>
          <a:xfrm>
            <a:off x="381000" y="1447800"/>
            <a:ext cx="7848600" cy="4648200"/>
          </a:xfrm>
        </p:spPr>
        <p:txBody>
          <a:bodyPr/>
          <a:lstStyle/>
          <a:p>
            <a:r>
              <a:rPr lang="en-US" sz="2000" dirty="0" smtClean="0">
                <a:ea typeface="ヒラギノ角ゴ Pro W3" pitchFamily="-84" charset="-128"/>
              </a:rPr>
              <a:t>Recall the equilibrium condition in Chapter 18:</a:t>
            </a:r>
          </a:p>
          <a:p>
            <a:endParaRPr lang="en-US" sz="2000" dirty="0">
              <a:ea typeface="ヒラギノ角ゴ Pro W3" pitchFamily="-84" charset="-128"/>
            </a:endParaRPr>
          </a:p>
          <a:p>
            <a:endParaRPr lang="en-US" sz="2000" dirty="0" smtClean="0">
              <a:ea typeface="ヒラギノ角ゴ Pro W3" pitchFamily="-84" charset="-128"/>
            </a:endParaRPr>
          </a:p>
          <a:p>
            <a:endParaRPr lang="en-US" sz="2000" dirty="0" smtClean="0">
              <a:ea typeface="ヒラギノ角ゴ Pro W3" pitchFamily="-84" charset="-128"/>
            </a:endParaRPr>
          </a:p>
          <a:p>
            <a:pPr marL="0" indent="0">
              <a:buNone/>
            </a:pPr>
            <a:r>
              <a:rPr lang="en-US" sz="2000" dirty="0" smtClean="0">
                <a:ea typeface="ヒラギノ角ゴ Pro W3" pitchFamily="-84" charset="-128"/>
              </a:rPr>
              <a:t>   which can be rewritten as:</a:t>
            </a:r>
          </a:p>
          <a:p>
            <a:pPr marL="0" indent="0">
              <a:buNone/>
            </a:pPr>
            <a:endParaRPr lang="en-US" sz="2000" dirty="0">
              <a:ea typeface="ヒラギノ角ゴ Pro W3" pitchFamily="-84" charset="-128"/>
            </a:endParaRPr>
          </a:p>
          <a:p>
            <a:pPr marL="0" indent="0">
              <a:buNone/>
            </a:pPr>
            <a:endParaRPr lang="en-US" sz="2000" dirty="0" smtClean="0">
              <a:ea typeface="ヒラギノ角ゴ Pro W3" pitchFamily="-84" charset="-128"/>
            </a:endParaRPr>
          </a:p>
          <a:p>
            <a:pPr>
              <a:spcBef>
                <a:spcPts val="2400"/>
              </a:spcBef>
            </a:pPr>
            <a:r>
              <a:rPr lang="en-US" sz="2000" dirty="0" smtClean="0">
                <a:ea typeface="ヒラギノ角ゴ Pro W3" pitchFamily="-84" charset="-128"/>
              </a:rPr>
              <a:t>If </a:t>
            </a:r>
            <a:r>
              <a:rPr lang="el-GR" sz="2000" i="1" dirty="0" smtClean="0">
                <a:latin typeface="Times New Roman" panose="02020603050405020304" pitchFamily="18" charset="0"/>
                <a:ea typeface="ヒラギノ角ゴ Pro W3" pitchFamily="-84" charset="-128"/>
                <a:cs typeface="Times New Roman" panose="02020603050405020304" pitchFamily="18" charset="0"/>
              </a:rPr>
              <a:t>ε</a:t>
            </a:r>
            <a:r>
              <a:rPr lang="en-US" sz="2000" dirty="0" smtClean="0">
                <a:ea typeface="ヒラギノ角ゴ Pro W3" pitchFamily="-84" charset="-128"/>
              </a:rPr>
              <a:t> = </a:t>
            </a:r>
            <a:r>
              <a:rPr lang="en-US" sz="2000" i="1" dirty="0" smtClean="0">
                <a:ea typeface="ヒラギノ角ゴ Pro W3" pitchFamily="-84" charset="-128"/>
              </a:rPr>
              <a:t>E</a:t>
            </a:r>
            <a:r>
              <a:rPr lang="en-US" sz="2000" dirty="0" smtClean="0">
                <a:ea typeface="ヒラギノ角ゴ Pro W3" pitchFamily="-84" charset="-128"/>
              </a:rPr>
              <a:t>, then goods market equilibrium implies that output depends negatively on both the nominal interest rate and the nominal exchange rate:</a:t>
            </a:r>
          </a:p>
          <a:p>
            <a:pPr marL="0" indent="0">
              <a:buNone/>
            </a:pPr>
            <a:endParaRPr lang="en-US" sz="2000" dirty="0" smtClean="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838200" y="1938482"/>
            <a:ext cx="7105650" cy="838200"/>
          </a:xfrm>
          <a:prstGeom prst="rect">
            <a:avLst/>
          </a:prstGeom>
        </p:spPr>
      </p:pic>
      <p:pic>
        <p:nvPicPr>
          <p:cNvPr id="4" name="Picture 3"/>
          <p:cNvPicPr>
            <a:picLocks noChangeAspect="1"/>
          </p:cNvPicPr>
          <p:nvPr/>
        </p:nvPicPr>
        <p:blipFill>
          <a:blip r:embed="rId3" cstate="print"/>
          <a:stretch>
            <a:fillRect/>
          </a:stretch>
        </p:blipFill>
        <p:spPr>
          <a:xfrm>
            <a:off x="685800" y="3283528"/>
            <a:ext cx="8267700" cy="828675"/>
          </a:xfrm>
          <a:prstGeom prst="rect">
            <a:avLst/>
          </a:prstGeom>
        </p:spPr>
      </p:pic>
      <p:pic>
        <p:nvPicPr>
          <p:cNvPr id="5" name="Picture 4"/>
          <p:cNvPicPr>
            <a:picLocks noChangeAspect="1"/>
          </p:cNvPicPr>
          <p:nvPr/>
        </p:nvPicPr>
        <p:blipFill>
          <a:blip r:embed="rId4" cstate="print"/>
          <a:stretch>
            <a:fillRect/>
          </a:stretch>
        </p:blipFill>
        <p:spPr>
          <a:xfrm>
            <a:off x="685800" y="5276850"/>
            <a:ext cx="8343900" cy="819150"/>
          </a:xfrm>
          <a:prstGeom prst="rect">
            <a:avLst/>
          </a:prstGeom>
        </p:spPr>
      </p:pic>
    </p:spTree>
    <p:extLst>
      <p:ext uri="{BB962C8B-B14F-4D97-AF65-F5344CB8AC3E}">
        <p14:creationId xmlns="" xmlns:p14="http://schemas.microsoft.com/office/powerpoint/2010/main" val="866562305"/>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19-2 </a:t>
            </a:r>
            <a:r>
              <a:rPr lang="en-US" dirty="0">
                <a:ea typeface="ヒラギノ角ゴ Pro W3" pitchFamily="-65" charset="-128"/>
              </a:rPr>
              <a:t>Equilibrium in </a:t>
            </a:r>
            <a:r>
              <a:rPr lang="en-US" dirty="0" smtClean="0">
                <a:ea typeface="ヒラギノ角ゴ Pro W3" pitchFamily="-65" charset="-128"/>
              </a:rPr>
              <a:t>Financial Markets</a:t>
            </a:r>
          </a:p>
        </p:txBody>
      </p:sp>
      <p:sp>
        <p:nvSpPr>
          <p:cNvPr id="6" name="Content Placeholder 2"/>
          <p:cNvSpPr>
            <a:spLocks noGrp="1"/>
          </p:cNvSpPr>
          <p:nvPr>
            <p:ph idx="1"/>
          </p:nvPr>
        </p:nvSpPr>
        <p:spPr>
          <a:xfrm>
            <a:off x="381000" y="1447800"/>
            <a:ext cx="8229600" cy="4648200"/>
          </a:xfrm>
        </p:spPr>
        <p:txBody>
          <a:bodyPr/>
          <a:lstStyle/>
          <a:p>
            <a:r>
              <a:rPr lang="en-US" sz="2000" dirty="0" smtClean="0">
                <a:ea typeface="ヒラギノ角ゴ Pro W3" pitchFamily="-84" charset="-128"/>
              </a:rPr>
              <a:t>Recall the arbitrage relation or the </a:t>
            </a:r>
            <a:r>
              <a:rPr lang="en-US" sz="2000" i="1" dirty="0" smtClean="0">
                <a:ea typeface="ヒラギノ角ゴ Pro W3" pitchFamily="-84" charset="-128"/>
              </a:rPr>
              <a:t>interest parity condition </a:t>
            </a:r>
            <a:r>
              <a:rPr lang="en-US" sz="2000" dirty="0" smtClean="0">
                <a:ea typeface="ヒラギノ角ゴ Pro W3" pitchFamily="-84" charset="-128"/>
              </a:rPr>
              <a:t>in Chapter 17:</a:t>
            </a:r>
          </a:p>
          <a:p>
            <a:endParaRPr lang="en-US" sz="2000" dirty="0" smtClean="0">
              <a:ea typeface="ヒラギノ角ゴ Pro W3" pitchFamily="-84" charset="-128"/>
            </a:endParaRPr>
          </a:p>
          <a:p>
            <a:pPr marL="0" indent="0">
              <a:buNone/>
            </a:pPr>
            <a:r>
              <a:rPr lang="en-US" sz="2000" dirty="0" smtClean="0">
                <a:ea typeface="ヒラギノ角ゴ Pro W3" pitchFamily="-84" charset="-128"/>
              </a:rPr>
              <a:t>  </a:t>
            </a:r>
          </a:p>
          <a:p>
            <a:pPr>
              <a:spcBef>
                <a:spcPts val="600"/>
              </a:spcBef>
            </a:pPr>
            <a:r>
              <a:rPr lang="en-US" sz="2000" dirty="0" smtClean="0">
                <a:ea typeface="ヒラギノ角ゴ Pro W3" pitchFamily="-84" charset="-128"/>
              </a:rPr>
              <a:t>Assume the expected future exchange rate as given, so</a:t>
            </a:r>
          </a:p>
          <a:p>
            <a:pPr>
              <a:spcBef>
                <a:spcPts val="1800"/>
              </a:spcBef>
            </a:pPr>
            <a:endParaRPr lang="en-US" sz="2000" dirty="0">
              <a:ea typeface="ヒラギノ角ゴ Pro W3" pitchFamily="-84" charset="-128"/>
            </a:endParaRPr>
          </a:p>
          <a:p>
            <a:pPr marL="0" indent="0">
              <a:spcBef>
                <a:spcPts val="2400"/>
              </a:spcBef>
              <a:buNone/>
            </a:pPr>
            <a:r>
              <a:rPr lang="en-US" sz="2000" dirty="0" smtClean="0">
                <a:ea typeface="ヒラギノ角ゴ Pro W3" pitchFamily="-84" charset="-128"/>
              </a:rPr>
              <a:t>   which tells us that:</a:t>
            </a:r>
          </a:p>
          <a:p>
            <a:pPr lvl="1">
              <a:spcBef>
                <a:spcPts val="0"/>
              </a:spcBef>
            </a:pPr>
            <a:r>
              <a:rPr lang="en-US" sz="1800" dirty="0" smtClean="0">
                <a:ea typeface="ヒラギノ角ゴ Pro W3" pitchFamily="-84" charset="-128"/>
              </a:rPr>
              <a:t>An increase in the domestic interest rate leads to an increase in the exchange rate.</a:t>
            </a:r>
          </a:p>
          <a:p>
            <a:pPr lvl="1">
              <a:spcBef>
                <a:spcPts val="0"/>
              </a:spcBef>
            </a:pPr>
            <a:r>
              <a:rPr lang="en-US" sz="1800" dirty="0" smtClean="0">
                <a:ea typeface="ヒラギノ角ゴ Pro W3" pitchFamily="-84" charset="-128"/>
              </a:rPr>
              <a:t>An increase in the foreign interest rate leads to a decrease in the exchange rate.</a:t>
            </a:r>
          </a:p>
          <a:p>
            <a:pPr lvl="1">
              <a:spcBef>
                <a:spcPts val="0"/>
              </a:spcBef>
            </a:pPr>
            <a:r>
              <a:rPr lang="en-US" sz="1800" dirty="0" smtClean="0">
                <a:ea typeface="ヒラギノ角ゴ Pro W3" pitchFamily="-84" charset="-128"/>
              </a:rPr>
              <a:t>An increase in the expected future exchange rate leads to an increase in the current exchange rate.</a:t>
            </a:r>
          </a:p>
          <a:p>
            <a:pPr marL="0" indent="0">
              <a:buNone/>
            </a:pPr>
            <a:endParaRPr lang="en-US" sz="2000" dirty="0" smtClean="0">
              <a:ea typeface="ヒラギノ角ゴ Pro W3" pitchFamily="-84" charset="-128"/>
            </a:endParaRPr>
          </a:p>
        </p:txBody>
      </p:sp>
      <p:pic>
        <p:nvPicPr>
          <p:cNvPr id="7" name="Picture 6"/>
          <p:cNvPicPr>
            <a:picLocks noChangeAspect="1"/>
          </p:cNvPicPr>
          <p:nvPr/>
        </p:nvPicPr>
        <p:blipFill>
          <a:blip r:embed="rId2" cstate="print"/>
          <a:stretch>
            <a:fillRect/>
          </a:stretch>
        </p:blipFill>
        <p:spPr>
          <a:xfrm>
            <a:off x="2219325" y="2057400"/>
            <a:ext cx="6619875" cy="733425"/>
          </a:xfrm>
          <a:prstGeom prst="rect">
            <a:avLst/>
          </a:prstGeom>
        </p:spPr>
      </p:pic>
      <p:pic>
        <p:nvPicPr>
          <p:cNvPr id="8" name="Picture 7"/>
          <p:cNvPicPr>
            <a:picLocks noChangeAspect="1"/>
          </p:cNvPicPr>
          <p:nvPr/>
        </p:nvPicPr>
        <p:blipFill>
          <a:blip r:embed="rId3" cstate="print"/>
          <a:stretch>
            <a:fillRect/>
          </a:stretch>
        </p:blipFill>
        <p:spPr>
          <a:xfrm>
            <a:off x="2505075" y="3209925"/>
            <a:ext cx="6334125" cy="676275"/>
          </a:xfrm>
          <a:prstGeom prst="rect">
            <a:avLst/>
          </a:prstGeom>
        </p:spPr>
      </p:pic>
    </p:spTree>
    <p:extLst>
      <p:ext uri="{BB962C8B-B14F-4D97-AF65-F5344CB8AC3E}">
        <p14:creationId xmlns="" xmlns:p14="http://schemas.microsoft.com/office/powerpoint/2010/main" val="3540245427"/>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81000" y="152400"/>
            <a:ext cx="8458200" cy="1143000"/>
          </a:xfrm>
        </p:spPr>
        <p:txBody>
          <a:bodyPr/>
          <a:lstStyle/>
          <a:p>
            <a:r>
              <a:rPr lang="en-US" sz="2800" dirty="0" smtClean="0">
                <a:ea typeface="ヒラギノ角ゴ Pro W3" pitchFamily="-65" charset="-128"/>
              </a:rPr>
              <a:t>FOCUS: </a:t>
            </a:r>
            <a:r>
              <a:rPr lang="en-US" sz="2800" dirty="0" smtClean="0"/>
              <a:t>Does the Interest Rate Parity Condition Always </a:t>
            </a:r>
            <a:r>
              <a:rPr lang="en-US" sz="2800" dirty="0" smtClean="0"/>
              <a:t>Hold for </a:t>
            </a:r>
            <a:r>
              <a:rPr lang="en-US" sz="2800" dirty="0" smtClean="0"/>
              <a:t>Transitional Economies?</a:t>
            </a:r>
            <a:endParaRPr lang="en-US" sz="2800" dirty="0" smtClean="0">
              <a:ea typeface="ヒラギノ角ゴ Pro W3" pitchFamily="-65" charset="-128"/>
            </a:endParaRPr>
          </a:p>
        </p:txBody>
      </p:sp>
      <p:sp>
        <p:nvSpPr>
          <p:cNvPr id="19459" name="TextBox 4"/>
          <p:cNvSpPr txBox="1">
            <a:spLocks noChangeArrowheads="1"/>
          </p:cNvSpPr>
          <p:nvPr/>
        </p:nvSpPr>
        <p:spPr bwMode="auto">
          <a:xfrm>
            <a:off x="495300" y="1642646"/>
            <a:ext cx="822960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a:latin typeface="Verdana" panose="020B0604030504040204" pitchFamily="34" charset="0"/>
              </a:rPr>
              <a:t>Figure 1 </a:t>
            </a:r>
            <a:r>
              <a:rPr lang="en-US" sz="1600" dirty="0" smtClean="0">
                <a:latin typeface="Verdana" panose="020B0604030504040204" pitchFamily="34" charset="0"/>
              </a:rPr>
              <a:t>Net Private Capital Inflows (2002–2014)</a:t>
            </a:r>
            <a:endParaRPr lang="en-US" sz="16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1491158" y="2209801"/>
            <a:ext cx="6357442" cy="3733799"/>
          </a:xfrm>
          <a:prstGeom prst="rect">
            <a:avLst/>
          </a:prstGeom>
        </p:spPr>
      </p:pic>
      <p:sp>
        <p:nvSpPr>
          <p:cNvPr id="8" name="Rectangle 7"/>
          <p:cNvSpPr/>
          <p:nvPr/>
        </p:nvSpPr>
        <p:spPr>
          <a:xfrm>
            <a:off x="1524000" y="6047601"/>
            <a:ext cx="4572000" cy="276999"/>
          </a:xfrm>
          <a:prstGeom prst="rect">
            <a:avLst/>
          </a:prstGeom>
        </p:spPr>
        <p:txBody>
          <a:bodyPr>
            <a:spAutoFit/>
          </a:bodyPr>
          <a:lstStyle/>
          <a:p>
            <a:r>
              <a:rPr lang="en-US" sz="1200" i="1" dirty="0" smtClean="0">
                <a:latin typeface="+mj-lt"/>
              </a:rPr>
              <a:t>Source: </a:t>
            </a:r>
            <a:r>
              <a:rPr lang="en-US" sz="1200" dirty="0" smtClean="0">
                <a:latin typeface="+mj-lt"/>
              </a:rPr>
              <a:t>The International Monetary Fund Database.</a:t>
            </a:r>
            <a:endParaRPr lang="en-US" sz="1200" dirty="0">
              <a:latin typeface="+mj-lt"/>
            </a:endParaRPr>
          </a:p>
        </p:txBody>
      </p:sp>
    </p:spTree>
    <p:extLst>
      <p:ext uri="{BB962C8B-B14F-4D97-AF65-F5344CB8AC3E}">
        <p14:creationId xmlns="" xmlns:p14="http://schemas.microsoft.com/office/powerpoint/2010/main" val="1730461967"/>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81000" y="147918"/>
            <a:ext cx="8458200" cy="1143000"/>
          </a:xfrm>
        </p:spPr>
        <p:txBody>
          <a:bodyPr/>
          <a:lstStyle/>
          <a:p>
            <a:r>
              <a:rPr lang="en-US" sz="2800" dirty="0" smtClean="0">
                <a:ea typeface="ヒラギノ角ゴ Pro W3" pitchFamily="-65" charset="-128"/>
              </a:rPr>
              <a:t>FOCUS: </a:t>
            </a:r>
            <a:r>
              <a:rPr lang="en-US" sz="2800" dirty="0" smtClean="0">
                <a:ea typeface="ヒラギノ角ゴ Pro W3" pitchFamily="-65" charset="-128"/>
              </a:rPr>
              <a:t>Does the Interest Rate Parity Condition Always Hold for Transitional Economies? </a:t>
            </a:r>
            <a:r>
              <a:rPr lang="en-US" sz="2800" dirty="0" smtClean="0">
                <a:ea typeface="ヒラギノ角ゴ Pro W3" pitchFamily="-65" charset="-128"/>
              </a:rPr>
              <a:t>(</a:t>
            </a:r>
            <a:r>
              <a:rPr lang="en-US" sz="2800" dirty="0" smtClean="0">
                <a:ea typeface="ヒラギノ角ゴ Pro W3" pitchFamily="-65" charset="-128"/>
              </a:rPr>
              <a:t>cont’d)</a:t>
            </a:r>
          </a:p>
        </p:txBody>
      </p:sp>
      <p:sp>
        <p:nvSpPr>
          <p:cNvPr id="19459" name="TextBox 4"/>
          <p:cNvSpPr txBox="1">
            <a:spLocks noChangeArrowheads="1"/>
          </p:cNvSpPr>
          <p:nvPr/>
        </p:nvSpPr>
        <p:spPr bwMode="auto">
          <a:xfrm>
            <a:off x="414867" y="1676400"/>
            <a:ext cx="852516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smtClean="0">
                <a:latin typeface="Verdana" panose="020B0604030504040204" pitchFamily="34" charset="0"/>
              </a:rPr>
              <a:t>Figure 2 </a:t>
            </a:r>
            <a:r>
              <a:rPr lang="en-US" sz="1600" dirty="0" smtClean="0">
                <a:latin typeface="Verdana" panose="020B0604030504040204" pitchFamily="34" charset="0"/>
              </a:rPr>
              <a:t>Outstanding Government Debt Securities as at 2015</a:t>
            </a:r>
            <a:endParaRPr lang="en-US" sz="1600" dirty="0">
              <a:latin typeface="Verdana" panose="020B0604030504040204" pitchFamily="34" charset="0"/>
            </a:endParaRPr>
          </a:p>
        </p:txBody>
      </p:sp>
      <p:pic>
        <p:nvPicPr>
          <p:cNvPr id="3" name="Picture 2"/>
          <p:cNvPicPr>
            <a:picLocks noChangeAspect="1"/>
          </p:cNvPicPr>
          <p:nvPr/>
        </p:nvPicPr>
        <p:blipFill>
          <a:blip r:embed="rId2" cstate="print"/>
          <a:stretch>
            <a:fillRect/>
          </a:stretch>
        </p:blipFill>
        <p:spPr>
          <a:xfrm>
            <a:off x="1209390" y="2209800"/>
            <a:ext cx="6117945" cy="3814618"/>
          </a:xfrm>
          <a:prstGeom prst="rect">
            <a:avLst/>
          </a:prstGeom>
        </p:spPr>
      </p:pic>
      <p:sp>
        <p:nvSpPr>
          <p:cNvPr id="8" name="Rectangle 7"/>
          <p:cNvSpPr/>
          <p:nvPr/>
        </p:nvSpPr>
        <p:spPr>
          <a:xfrm>
            <a:off x="1143000" y="6047601"/>
            <a:ext cx="6096000" cy="276999"/>
          </a:xfrm>
          <a:prstGeom prst="rect">
            <a:avLst/>
          </a:prstGeom>
        </p:spPr>
        <p:txBody>
          <a:bodyPr wrap="square">
            <a:spAutoFit/>
          </a:bodyPr>
          <a:lstStyle/>
          <a:p>
            <a:r>
              <a:rPr lang="en-US" sz="1200" i="1" dirty="0" smtClean="0">
                <a:latin typeface="+mj-lt"/>
              </a:rPr>
              <a:t>Source: </a:t>
            </a:r>
            <a:r>
              <a:rPr lang="en-US" sz="1200" dirty="0" smtClean="0">
                <a:latin typeface="+mj-lt"/>
              </a:rPr>
              <a:t>The Bank for International Settlements Statistical Database.</a:t>
            </a:r>
            <a:endParaRPr lang="en-US" sz="1200" dirty="0">
              <a:latin typeface="+mj-lt"/>
            </a:endParaRPr>
          </a:p>
        </p:txBody>
      </p:sp>
    </p:spTree>
    <p:extLst>
      <p:ext uri="{BB962C8B-B14F-4D97-AF65-F5344CB8AC3E}">
        <p14:creationId xmlns="" xmlns:p14="http://schemas.microsoft.com/office/powerpoint/2010/main" val="4164164555"/>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ea typeface="ヒラギノ角ゴ Pro W3" pitchFamily="-65" charset="-128"/>
              </a:rPr>
              <a:t>19-2 Equilibrium in Financial Markets</a:t>
            </a:r>
          </a:p>
        </p:txBody>
      </p:sp>
      <p:sp>
        <p:nvSpPr>
          <p:cNvPr id="20483" name="TextBox 6"/>
          <p:cNvSpPr txBox="1">
            <a:spLocks noChangeArrowheads="1"/>
          </p:cNvSpPr>
          <p:nvPr/>
        </p:nvSpPr>
        <p:spPr bwMode="auto">
          <a:xfrm>
            <a:off x="495300" y="1371816"/>
            <a:ext cx="82296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19-1  </a:t>
            </a:r>
            <a:r>
              <a:rPr lang="en-US" sz="1800" dirty="0">
                <a:latin typeface="Verdana" panose="020B0604030504040204" pitchFamily="34" charset="0"/>
              </a:rPr>
              <a:t>The Relation between the Interest Rate and the</a:t>
            </a:r>
          </a:p>
          <a:p>
            <a:r>
              <a:rPr lang="en-US" sz="1800" dirty="0">
                <a:latin typeface="Verdana" panose="020B0604030504040204" pitchFamily="34" charset="0"/>
              </a:rPr>
              <a:t>Exchange Rate Implied by Interest Parity</a:t>
            </a:r>
          </a:p>
        </p:txBody>
      </p:sp>
      <p:pic>
        <p:nvPicPr>
          <p:cNvPr id="20484" name="Picture 7" descr="fig20_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343400" y="2362200"/>
            <a:ext cx="4064624" cy="3505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533400" y="2362200"/>
            <a:ext cx="2508827" cy="1077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dirty="0" smtClean="0">
                <a:latin typeface="Verdana" panose="020B0604030504040204" pitchFamily="34" charset="0"/>
              </a:rPr>
              <a:t>A higher domestic interest rate leads to a higher exchange rate—an appreciation.</a:t>
            </a:r>
            <a:endParaRPr lang="en-US" sz="1600" dirty="0">
              <a:latin typeface="Verdana" panose="020B0604030504040204" pitchFamily="34" charset="0"/>
            </a:endParaRPr>
          </a:p>
        </p:txBody>
      </p:sp>
    </p:spTree>
    <p:extLst>
      <p:ext uri="{BB962C8B-B14F-4D97-AF65-F5344CB8AC3E}">
        <p14:creationId xmlns="" xmlns:p14="http://schemas.microsoft.com/office/powerpoint/2010/main" val="2856756346"/>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pitchFamily="-65" charset="-128"/>
              </a:rPr>
              <a:t>19-3 Putting Goods and Financial Markets Together</a:t>
            </a:r>
            <a:endParaRPr lang="en-US" dirty="0" smtClean="0">
              <a:ea typeface="ヒラギノ角ゴ Pro W3" pitchFamily="-65" charset="-128"/>
            </a:endParaRPr>
          </a:p>
        </p:txBody>
      </p:sp>
      <p:sp>
        <p:nvSpPr>
          <p:cNvPr id="6" name="Content Placeholder 2"/>
          <p:cNvSpPr>
            <a:spLocks noGrp="1"/>
          </p:cNvSpPr>
          <p:nvPr>
            <p:ph idx="1"/>
          </p:nvPr>
        </p:nvSpPr>
        <p:spPr>
          <a:xfrm>
            <a:off x="381000" y="1447800"/>
            <a:ext cx="8229600" cy="4648200"/>
          </a:xfrm>
        </p:spPr>
        <p:txBody>
          <a:bodyPr/>
          <a:lstStyle/>
          <a:p>
            <a:r>
              <a:rPr lang="en-US" sz="2200" dirty="0" smtClean="0">
                <a:ea typeface="ヒラギノ角ゴ Pro W3" pitchFamily="-84" charset="-128"/>
              </a:rPr>
              <a:t>The open economy versions of the familiar </a:t>
            </a:r>
            <a:r>
              <a:rPr lang="en-US" sz="2200" i="1" dirty="0" smtClean="0">
                <a:ea typeface="ヒラギノ角ゴ Pro W3" pitchFamily="-84" charset="-128"/>
              </a:rPr>
              <a:t>IS</a:t>
            </a:r>
            <a:r>
              <a:rPr lang="en-US" sz="2200" dirty="0" smtClean="0">
                <a:ea typeface="ヒラギノ角ゴ Pro W3" pitchFamily="-84" charset="-128"/>
              </a:rPr>
              <a:t> and </a:t>
            </a:r>
            <a:r>
              <a:rPr lang="en-US" sz="2200" i="1" dirty="0" smtClean="0">
                <a:ea typeface="ヒラギノ角ゴ Pro W3" pitchFamily="-84" charset="-128"/>
              </a:rPr>
              <a:t>LM</a:t>
            </a:r>
            <a:r>
              <a:rPr lang="en-US" sz="2200" dirty="0" smtClean="0">
                <a:ea typeface="ヒラギノ角ゴ Pro W3" pitchFamily="-84" charset="-128"/>
              </a:rPr>
              <a:t> relations:</a:t>
            </a:r>
          </a:p>
          <a:p>
            <a:endParaRPr lang="en-US" sz="2200" dirty="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a:p>
            <a:r>
              <a:rPr lang="en-US" sz="2200" dirty="0" smtClean="0">
                <a:ea typeface="ヒラギノ角ゴ Pro W3" pitchFamily="-84" charset="-128"/>
              </a:rPr>
              <a:t>An increase in the interest rate now has two effects:</a:t>
            </a:r>
          </a:p>
          <a:p>
            <a:pPr lvl="1"/>
            <a:r>
              <a:rPr lang="en-US" sz="2000" dirty="0" smtClean="0">
                <a:ea typeface="ヒラギノ角ゴ Pro W3" pitchFamily="-84" charset="-128"/>
              </a:rPr>
              <a:t>The direct effect on investment</a:t>
            </a:r>
          </a:p>
          <a:p>
            <a:pPr lvl="1"/>
            <a:r>
              <a:rPr lang="en-US" sz="2000" dirty="0" smtClean="0">
                <a:ea typeface="ヒラギノ角ゴ Pro W3" pitchFamily="-84" charset="-128"/>
              </a:rPr>
              <a:t>The secondary effect through the exchange rate</a:t>
            </a:r>
          </a:p>
          <a:p>
            <a:pPr marL="0" indent="0">
              <a:buNone/>
            </a:pPr>
            <a:endParaRPr lang="en-US" sz="2200" dirty="0" smtClean="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804863" y="2099035"/>
            <a:ext cx="7348538" cy="1168040"/>
          </a:xfrm>
          <a:prstGeom prst="rect">
            <a:avLst/>
          </a:prstGeom>
        </p:spPr>
      </p:pic>
    </p:spTree>
    <p:extLst>
      <p:ext uri="{BB962C8B-B14F-4D97-AF65-F5344CB8AC3E}">
        <p14:creationId xmlns="" xmlns:p14="http://schemas.microsoft.com/office/powerpoint/2010/main" val="1132302317"/>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19-3 Putting Goods and Financial Markets Together</a:t>
            </a:r>
          </a:p>
        </p:txBody>
      </p:sp>
      <p:sp>
        <p:nvSpPr>
          <p:cNvPr id="5" name="TextBox 3"/>
          <p:cNvSpPr txBox="1">
            <a:spLocks noChangeArrowheads="1"/>
          </p:cNvSpPr>
          <p:nvPr/>
        </p:nvSpPr>
        <p:spPr bwMode="auto">
          <a:xfrm>
            <a:off x="381000" y="1399994"/>
            <a:ext cx="8001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19-2  </a:t>
            </a:r>
            <a:r>
              <a:rPr lang="en-US" sz="1800" dirty="0">
                <a:latin typeface="Verdana" panose="020B0604030504040204" pitchFamily="34" charset="0"/>
              </a:rPr>
              <a:t>The </a:t>
            </a:r>
            <a:r>
              <a:rPr lang="en-US" sz="1800" i="1" dirty="0">
                <a:latin typeface="Verdana" panose="020B0604030504040204" pitchFamily="34" charset="0"/>
              </a:rPr>
              <a:t>IS–LM </a:t>
            </a:r>
            <a:r>
              <a:rPr lang="en-US" sz="1800" dirty="0">
                <a:latin typeface="Verdana" panose="020B0604030504040204" pitchFamily="34" charset="0"/>
              </a:rPr>
              <a:t>Model in the Open Economy</a:t>
            </a:r>
          </a:p>
        </p:txBody>
      </p:sp>
      <p:pic>
        <p:nvPicPr>
          <p:cNvPr id="3" name="Picture 2"/>
          <p:cNvPicPr>
            <a:picLocks noChangeAspect="1"/>
          </p:cNvPicPr>
          <p:nvPr/>
        </p:nvPicPr>
        <p:blipFill>
          <a:blip r:embed="rId2" cstate="print"/>
          <a:stretch>
            <a:fillRect/>
          </a:stretch>
        </p:blipFill>
        <p:spPr>
          <a:xfrm>
            <a:off x="838200" y="1769882"/>
            <a:ext cx="7085722" cy="3667398"/>
          </a:xfrm>
          <a:prstGeom prst="rect">
            <a:avLst/>
          </a:prstGeom>
        </p:spPr>
      </p:pic>
      <p:sp>
        <p:nvSpPr>
          <p:cNvPr id="4" name="Rectangle 3"/>
          <p:cNvSpPr/>
          <p:nvPr/>
        </p:nvSpPr>
        <p:spPr>
          <a:xfrm>
            <a:off x="394855" y="5486400"/>
            <a:ext cx="8153400" cy="830997"/>
          </a:xfrm>
          <a:prstGeom prst="rect">
            <a:avLst/>
          </a:prstGeom>
        </p:spPr>
        <p:txBody>
          <a:bodyPr wrap="square">
            <a:spAutoFit/>
          </a:bodyPr>
          <a:lstStyle/>
          <a:p>
            <a:r>
              <a:rPr lang="en-US" sz="1600" dirty="0">
                <a:latin typeface="+mn-lt"/>
              </a:rPr>
              <a:t>An increase in the interest </a:t>
            </a:r>
            <a:r>
              <a:rPr lang="en-US" sz="1600" dirty="0" smtClean="0">
                <a:latin typeface="+mn-lt"/>
              </a:rPr>
              <a:t>rate reduces </a:t>
            </a:r>
            <a:r>
              <a:rPr lang="en-US" sz="1600" dirty="0">
                <a:latin typeface="+mn-lt"/>
              </a:rPr>
              <a:t>output both </a:t>
            </a:r>
            <a:r>
              <a:rPr lang="en-US" sz="1600" dirty="0" smtClean="0">
                <a:latin typeface="+mn-lt"/>
              </a:rPr>
              <a:t>directly and </a:t>
            </a:r>
            <a:r>
              <a:rPr lang="en-US" sz="1600" dirty="0">
                <a:latin typeface="+mn-lt"/>
              </a:rPr>
              <a:t>indirectly (through </a:t>
            </a:r>
            <a:r>
              <a:rPr lang="en-US" sz="1600" dirty="0" smtClean="0">
                <a:latin typeface="+mn-lt"/>
              </a:rPr>
              <a:t>the exchange </a:t>
            </a:r>
            <a:r>
              <a:rPr lang="en-US" sz="1600" dirty="0">
                <a:latin typeface="+mn-lt"/>
              </a:rPr>
              <a:t>rate). The </a:t>
            </a:r>
            <a:r>
              <a:rPr lang="en-US" sz="1600" i="1" dirty="0">
                <a:latin typeface="+mn-lt"/>
              </a:rPr>
              <a:t>IS </a:t>
            </a:r>
            <a:r>
              <a:rPr lang="en-US" sz="1600" dirty="0" smtClean="0">
                <a:latin typeface="+mn-lt"/>
              </a:rPr>
              <a:t>curve is </a:t>
            </a:r>
            <a:r>
              <a:rPr lang="en-US" sz="1600" dirty="0">
                <a:latin typeface="+mn-lt"/>
              </a:rPr>
              <a:t>downward sloping. </a:t>
            </a:r>
            <a:r>
              <a:rPr lang="en-US" sz="1600" dirty="0" smtClean="0">
                <a:latin typeface="+mn-lt"/>
              </a:rPr>
              <a:t>The </a:t>
            </a:r>
            <a:r>
              <a:rPr lang="en-US" sz="1600" i="1" dirty="0" smtClean="0">
                <a:latin typeface="+mn-lt"/>
              </a:rPr>
              <a:t>LM </a:t>
            </a:r>
            <a:r>
              <a:rPr lang="en-US" sz="1600" dirty="0">
                <a:latin typeface="+mn-lt"/>
              </a:rPr>
              <a:t>curve is horizontal, as </a:t>
            </a:r>
            <a:r>
              <a:rPr lang="en-US" sz="1600" dirty="0" smtClean="0">
                <a:latin typeface="+mn-lt"/>
              </a:rPr>
              <a:t>in Chapter </a:t>
            </a:r>
            <a:r>
              <a:rPr lang="en-US" sz="1600" dirty="0">
                <a:latin typeface="+mn-lt"/>
              </a:rPr>
              <a:t>6.</a:t>
            </a:r>
          </a:p>
        </p:txBody>
      </p:sp>
    </p:spTree>
    <p:extLst>
      <p:ext uri="{BB962C8B-B14F-4D97-AF65-F5344CB8AC3E}">
        <p14:creationId xmlns="" xmlns:p14="http://schemas.microsoft.com/office/powerpoint/2010/main" val="1015490331"/>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ea typeface="ヒラギノ角ゴ Pro W3" pitchFamily="-65" charset="-128"/>
              </a:rPr>
              <a:t>19-4 The Effects of Policy in an Open</a:t>
            </a:r>
            <a:br>
              <a:rPr lang="en-US" dirty="0" smtClean="0">
                <a:ea typeface="ヒラギノ角ゴ Pro W3" pitchFamily="-65" charset="-128"/>
              </a:rPr>
            </a:br>
            <a:r>
              <a:rPr lang="en-US" dirty="0" smtClean="0">
                <a:ea typeface="ヒラギノ角ゴ Pro W3" pitchFamily="-65" charset="-128"/>
              </a:rPr>
              <a:t>Economy</a:t>
            </a:r>
          </a:p>
        </p:txBody>
      </p:sp>
      <p:sp>
        <p:nvSpPr>
          <p:cNvPr id="23555" name="TextBox 3"/>
          <p:cNvSpPr txBox="1">
            <a:spLocks noChangeArrowheads="1"/>
          </p:cNvSpPr>
          <p:nvPr/>
        </p:nvSpPr>
        <p:spPr bwMode="auto">
          <a:xfrm>
            <a:off x="360218" y="1371600"/>
            <a:ext cx="81534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19-3  </a:t>
            </a:r>
            <a:r>
              <a:rPr lang="en-US" sz="1800" dirty="0">
                <a:latin typeface="Verdana" panose="020B0604030504040204" pitchFamily="34" charset="0"/>
              </a:rPr>
              <a:t>The Effects of </a:t>
            </a:r>
            <a:r>
              <a:rPr lang="en-US" sz="1800" dirty="0" smtClean="0">
                <a:latin typeface="Verdana" panose="020B0604030504040204" pitchFamily="34" charset="0"/>
              </a:rPr>
              <a:t>an Increase in the Interest Rate </a:t>
            </a:r>
            <a:endParaRPr lang="en-US" sz="1800" dirty="0">
              <a:latin typeface="Verdana" panose="020B0604030504040204" pitchFamily="34" charset="0"/>
            </a:endParaRPr>
          </a:p>
        </p:txBody>
      </p:sp>
      <p:sp>
        <p:nvSpPr>
          <p:cNvPr id="7" name="Rectangle 6"/>
          <p:cNvSpPr/>
          <p:nvPr/>
        </p:nvSpPr>
        <p:spPr>
          <a:xfrm>
            <a:off x="533400" y="5737908"/>
            <a:ext cx="8458200" cy="584775"/>
          </a:xfrm>
          <a:prstGeom prst="rect">
            <a:avLst/>
          </a:prstGeom>
        </p:spPr>
        <p:txBody>
          <a:bodyPr wrap="square">
            <a:spAutoFit/>
          </a:bodyPr>
          <a:lstStyle/>
          <a:p>
            <a:r>
              <a:rPr lang="en-US" sz="1600" dirty="0">
                <a:latin typeface="+mn-lt"/>
              </a:rPr>
              <a:t>An increase in the interest </a:t>
            </a:r>
            <a:r>
              <a:rPr lang="en-US" sz="1600" dirty="0" smtClean="0">
                <a:latin typeface="+mn-lt"/>
              </a:rPr>
              <a:t>rate leads to a decrease in output and an appreciation.</a:t>
            </a:r>
            <a:endParaRPr lang="en-US" sz="1600" dirty="0">
              <a:latin typeface="+mn-lt"/>
            </a:endParaRPr>
          </a:p>
        </p:txBody>
      </p:sp>
      <p:pic>
        <p:nvPicPr>
          <p:cNvPr id="4" name="Picture 3"/>
          <p:cNvPicPr>
            <a:picLocks noChangeAspect="1"/>
          </p:cNvPicPr>
          <p:nvPr/>
        </p:nvPicPr>
        <p:blipFill>
          <a:blip r:embed="rId2" cstate="print"/>
          <a:stretch>
            <a:fillRect/>
          </a:stretch>
        </p:blipFill>
        <p:spPr>
          <a:xfrm>
            <a:off x="673790" y="1745550"/>
            <a:ext cx="7526256" cy="3872468"/>
          </a:xfrm>
          <a:prstGeom prst="rect">
            <a:avLst/>
          </a:prstGeom>
        </p:spPr>
      </p:pic>
    </p:spTree>
    <p:extLst>
      <p:ext uri="{BB962C8B-B14F-4D97-AF65-F5344CB8AC3E}">
        <p14:creationId xmlns="" xmlns:p14="http://schemas.microsoft.com/office/powerpoint/2010/main" val="3699850853"/>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ea typeface="ヒラギノ角ゴ Pro W3" pitchFamily="-65" charset="-128"/>
              </a:rPr>
              <a:t>19-4 The Effects of Policy in an Open</a:t>
            </a:r>
            <a:br>
              <a:rPr lang="en-US" dirty="0" smtClean="0">
                <a:ea typeface="ヒラギノ角ゴ Pro W3" pitchFamily="-65" charset="-128"/>
              </a:rPr>
            </a:br>
            <a:r>
              <a:rPr lang="en-US" dirty="0" smtClean="0">
                <a:ea typeface="ヒラギノ角ゴ Pro W3" pitchFamily="-65" charset="-128"/>
              </a:rPr>
              <a:t>Economy</a:t>
            </a:r>
          </a:p>
        </p:txBody>
      </p:sp>
      <p:sp>
        <p:nvSpPr>
          <p:cNvPr id="22531" name="TextBox 3"/>
          <p:cNvSpPr txBox="1">
            <a:spLocks noChangeArrowheads="1"/>
          </p:cNvSpPr>
          <p:nvPr/>
        </p:nvSpPr>
        <p:spPr bwMode="auto">
          <a:xfrm>
            <a:off x="381000" y="1309037"/>
            <a:ext cx="81534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19-4  </a:t>
            </a:r>
            <a:r>
              <a:rPr lang="en-US" sz="1800" dirty="0">
                <a:latin typeface="Verdana" panose="020B0604030504040204" pitchFamily="34" charset="0"/>
              </a:rPr>
              <a:t>The Effects of an Increase in Government </a:t>
            </a:r>
            <a:r>
              <a:rPr lang="en-US" sz="1800" dirty="0" smtClean="0">
                <a:latin typeface="Verdana" panose="020B0604030504040204" pitchFamily="34" charset="0"/>
              </a:rPr>
              <a:t>Spending with an Unchanged Interest Rate</a:t>
            </a:r>
            <a:endParaRPr lang="en-US" sz="1800" dirty="0">
              <a:latin typeface="Verdana" panose="020B0604030504040204" pitchFamily="34" charset="0"/>
            </a:endParaRPr>
          </a:p>
        </p:txBody>
      </p:sp>
      <p:sp>
        <p:nvSpPr>
          <p:cNvPr id="5" name="Rectangle 4"/>
          <p:cNvSpPr/>
          <p:nvPr/>
        </p:nvSpPr>
        <p:spPr>
          <a:xfrm>
            <a:off x="683491" y="5620327"/>
            <a:ext cx="8153400" cy="830997"/>
          </a:xfrm>
          <a:prstGeom prst="rect">
            <a:avLst/>
          </a:prstGeom>
        </p:spPr>
        <p:txBody>
          <a:bodyPr wrap="square">
            <a:spAutoFit/>
          </a:bodyPr>
          <a:lstStyle/>
          <a:p>
            <a:r>
              <a:rPr lang="en-US" sz="1600" dirty="0">
                <a:latin typeface="+mn-lt"/>
              </a:rPr>
              <a:t>An increase in </a:t>
            </a:r>
            <a:r>
              <a:rPr lang="en-US" sz="1600" dirty="0" smtClean="0">
                <a:latin typeface="+mn-lt"/>
              </a:rPr>
              <a:t>government spending </a:t>
            </a:r>
            <a:r>
              <a:rPr lang="en-US" sz="1600" dirty="0">
                <a:latin typeface="+mn-lt"/>
              </a:rPr>
              <a:t>leads to an </a:t>
            </a:r>
            <a:r>
              <a:rPr lang="en-US" sz="1600" dirty="0" smtClean="0">
                <a:latin typeface="+mn-lt"/>
              </a:rPr>
              <a:t>increase in </a:t>
            </a:r>
            <a:r>
              <a:rPr lang="en-US" sz="1600" dirty="0">
                <a:latin typeface="+mn-lt"/>
              </a:rPr>
              <a:t>output. If the central </a:t>
            </a:r>
            <a:r>
              <a:rPr lang="en-US" sz="1600" dirty="0" smtClean="0">
                <a:latin typeface="+mn-lt"/>
              </a:rPr>
              <a:t>bank keeps </a:t>
            </a:r>
            <a:r>
              <a:rPr lang="en-US" sz="1600" dirty="0">
                <a:latin typeface="+mn-lt"/>
              </a:rPr>
              <a:t>the interest rate unchanged</a:t>
            </a:r>
            <a:r>
              <a:rPr lang="en-US" sz="1600" dirty="0" smtClean="0">
                <a:latin typeface="+mn-lt"/>
              </a:rPr>
              <a:t>, the </a:t>
            </a:r>
            <a:r>
              <a:rPr lang="en-US" sz="1600" dirty="0">
                <a:latin typeface="+mn-lt"/>
              </a:rPr>
              <a:t>exchange rate</a:t>
            </a:r>
          </a:p>
          <a:p>
            <a:r>
              <a:rPr lang="en-US" sz="1600" dirty="0">
                <a:latin typeface="+mn-lt"/>
              </a:rPr>
              <a:t>also remains unchanged.</a:t>
            </a:r>
          </a:p>
        </p:txBody>
      </p:sp>
      <p:pic>
        <p:nvPicPr>
          <p:cNvPr id="2" name="Picture 1"/>
          <p:cNvPicPr>
            <a:picLocks noChangeAspect="1"/>
          </p:cNvPicPr>
          <p:nvPr/>
        </p:nvPicPr>
        <p:blipFill>
          <a:blip r:embed="rId2" cstate="print"/>
          <a:stretch>
            <a:fillRect/>
          </a:stretch>
        </p:blipFill>
        <p:spPr>
          <a:xfrm>
            <a:off x="838200" y="1955368"/>
            <a:ext cx="7131579" cy="3664959"/>
          </a:xfrm>
          <a:prstGeom prst="rect">
            <a:avLst/>
          </a:prstGeom>
        </p:spPr>
      </p:pic>
    </p:spTree>
    <p:extLst>
      <p:ext uri="{BB962C8B-B14F-4D97-AF65-F5344CB8AC3E}">
        <p14:creationId xmlns="" xmlns:p14="http://schemas.microsoft.com/office/powerpoint/2010/main" val="2046955984"/>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z="2400" dirty="0" smtClean="0">
                <a:ea typeface="ヒラギノ角ゴ Pro W3" pitchFamily="-65" charset="-128"/>
              </a:rPr>
              <a:t>FOCUS: </a:t>
            </a:r>
            <a:r>
              <a:rPr lang="en-US" sz="2400" dirty="0" smtClean="0">
                <a:ea typeface="ヒラギノ角ゴ Pro W3" pitchFamily="-65" charset="-128"/>
              </a:rPr>
              <a:t>Fiscal and Monetary Policies Coordination in France (2008–2015)</a:t>
            </a:r>
            <a:endParaRPr lang="en-US" sz="2400" dirty="0" smtClean="0">
              <a:ea typeface="ヒラギノ角ゴ Pro W3" pitchFamily="-65" charset="-128"/>
            </a:endParaRPr>
          </a:p>
        </p:txBody>
      </p:sp>
      <p:pic>
        <p:nvPicPr>
          <p:cNvPr id="24579" name="Picture 3" descr="table_01_first.gif"/>
          <p:cNvPicPr>
            <a:picLocks noChangeAspect="1"/>
          </p:cNvPicPr>
          <p:nvPr/>
        </p:nvPicPr>
        <p:blipFill>
          <a:blip r:embed="rId2" cstate="print"/>
          <a:stretch>
            <a:fillRect/>
          </a:stretch>
        </p:blipFill>
        <p:spPr bwMode="auto">
          <a:xfrm>
            <a:off x="1905000" y="2057400"/>
            <a:ext cx="5562600" cy="37557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4580" name="TextBox 4"/>
          <p:cNvSpPr txBox="1">
            <a:spLocks noChangeArrowheads="1"/>
          </p:cNvSpPr>
          <p:nvPr/>
        </p:nvSpPr>
        <p:spPr bwMode="auto">
          <a:xfrm>
            <a:off x="381000" y="1295400"/>
            <a:ext cx="8145463"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a:latin typeface="Verdana" panose="020B0604030504040204" pitchFamily="34" charset="0"/>
              </a:rPr>
              <a:t>Table 1 </a:t>
            </a:r>
            <a:r>
              <a:rPr lang="en-US" sz="1600" dirty="0" smtClean="0">
                <a:latin typeface="Verdana" panose="020B0604030504040204" pitchFamily="34" charset="0"/>
              </a:rPr>
              <a:t>Emergence of Large French Budget Deficits, 1999–2016 (Percentage of GDP)</a:t>
            </a:r>
            <a:endParaRPr lang="en-US" sz="1600" dirty="0">
              <a:latin typeface="Verdana" panose="020B0604030504040204" pitchFamily="34" charset="0"/>
            </a:endParaRPr>
          </a:p>
        </p:txBody>
      </p:sp>
      <p:sp>
        <p:nvSpPr>
          <p:cNvPr id="6" name="Rectangle 5"/>
          <p:cNvSpPr/>
          <p:nvPr/>
        </p:nvSpPr>
        <p:spPr>
          <a:xfrm>
            <a:off x="1905000" y="5867400"/>
            <a:ext cx="5562600" cy="461665"/>
          </a:xfrm>
          <a:prstGeom prst="rect">
            <a:avLst/>
          </a:prstGeom>
        </p:spPr>
        <p:txBody>
          <a:bodyPr wrap="square">
            <a:spAutoFit/>
          </a:bodyPr>
          <a:lstStyle/>
          <a:p>
            <a:r>
              <a:rPr lang="en-US" sz="1200" i="1" dirty="0" smtClean="0">
                <a:latin typeface="+mj-lt"/>
              </a:rPr>
              <a:t>Source: </a:t>
            </a:r>
            <a:r>
              <a:rPr lang="en-US" sz="1200" dirty="0" smtClean="0">
                <a:latin typeface="+mj-lt"/>
              </a:rPr>
              <a:t>OECD STAT. Revenue Statistics OECD </a:t>
            </a:r>
            <a:r>
              <a:rPr lang="en-US" sz="1200" dirty="0" smtClean="0">
                <a:latin typeface="+mj-lt"/>
              </a:rPr>
              <a:t>Member Countries</a:t>
            </a:r>
            <a:r>
              <a:rPr lang="en-US" sz="1200" dirty="0" smtClean="0">
                <a:latin typeface="+mj-lt"/>
              </a:rPr>
              <a:t>. https://stats.oecd.org/Index.aspx?DataSetCode=REV.</a:t>
            </a:r>
            <a:endParaRPr lang="en-US" sz="1200" dirty="0">
              <a:latin typeface="+mj-lt"/>
            </a:endParaRPr>
          </a:p>
        </p:txBody>
      </p:sp>
    </p:spTree>
    <p:extLst>
      <p:ext uri="{BB962C8B-B14F-4D97-AF65-F5344CB8AC3E}">
        <p14:creationId xmlns="" xmlns:p14="http://schemas.microsoft.com/office/powerpoint/2010/main" val="1169899412"/>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2400" dirty="0" smtClean="0">
                <a:ea typeface="ヒラギノ角ゴ Pro W3" pitchFamily="-65" charset="-128"/>
              </a:rPr>
              <a:t>FOCUS: </a:t>
            </a:r>
            <a:r>
              <a:rPr lang="en-US" sz="2400" dirty="0" smtClean="0">
                <a:ea typeface="ヒラギノ角ゴ Pro W3" pitchFamily="-65" charset="-128"/>
              </a:rPr>
              <a:t>Fiscal and Monetary Policies Coordination in France (2008–2015) </a:t>
            </a:r>
            <a:r>
              <a:rPr lang="en-US" sz="2400" dirty="0" smtClean="0">
                <a:ea typeface="ヒラギノ角ゴ Pro W3" pitchFamily="-65" charset="-128"/>
              </a:rPr>
              <a:t>(cont’d)</a:t>
            </a:r>
          </a:p>
        </p:txBody>
      </p:sp>
      <p:sp>
        <p:nvSpPr>
          <p:cNvPr id="25603" name="TextBox 4"/>
          <p:cNvSpPr txBox="1">
            <a:spLocks noChangeArrowheads="1"/>
          </p:cNvSpPr>
          <p:nvPr/>
        </p:nvSpPr>
        <p:spPr bwMode="auto">
          <a:xfrm>
            <a:off x="304800" y="1371600"/>
            <a:ext cx="814546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a:latin typeface="Verdana" panose="020B0604030504040204" pitchFamily="34" charset="0"/>
              </a:rPr>
              <a:t>Table 2  </a:t>
            </a:r>
            <a:r>
              <a:rPr lang="en-US" sz="1600" dirty="0" smtClean="0">
                <a:latin typeface="Verdana" panose="020B0604030504040204" pitchFamily="34" charset="0"/>
              </a:rPr>
              <a:t>Major French Macroeconomic Variables, 1999–2015</a:t>
            </a:r>
            <a:endParaRPr lang="en-US" sz="1600" dirty="0">
              <a:latin typeface="Verdana" panose="020B0604030504040204" pitchFamily="34" charset="0"/>
            </a:endParaRPr>
          </a:p>
        </p:txBody>
      </p:sp>
      <p:pic>
        <p:nvPicPr>
          <p:cNvPr id="25604" name="Picture 6" descr="table_02_first.gif"/>
          <p:cNvPicPr>
            <a:picLocks noChangeAspect="1"/>
          </p:cNvPicPr>
          <p:nvPr/>
        </p:nvPicPr>
        <p:blipFill>
          <a:blip r:embed="rId2" cstate="print"/>
          <a:stretch>
            <a:fillRect/>
          </a:stretch>
        </p:blipFill>
        <p:spPr bwMode="auto">
          <a:xfrm>
            <a:off x="300796" y="1905000"/>
            <a:ext cx="8462204" cy="34096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5"/>
          <p:cNvSpPr/>
          <p:nvPr/>
        </p:nvSpPr>
        <p:spPr>
          <a:xfrm>
            <a:off x="304800" y="5361801"/>
            <a:ext cx="8534400" cy="276999"/>
          </a:xfrm>
          <a:prstGeom prst="rect">
            <a:avLst/>
          </a:prstGeom>
        </p:spPr>
        <p:txBody>
          <a:bodyPr wrap="square">
            <a:spAutoFit/>
          </a:bodyPr>
          <a:lstStyle/>
          <a:p>
            <a:r>
              <a:rPr lang="en-US" sz="1200" i="1" dirty="0" smtClean="0">
                <a:latin typeface="+mj-lt"/>
              </a:rPr>
              <a:t>Source: </a:t>
            </a:r>
            <a:r>
              <a:rPr lang="en-US" sz="1200" dirty="0" smtClean="0">
                <a:latin typeface="+mj-lt"/>
              </a:rPr>
              <a:t>The World Bank Database and the European Central Bank </a:t>
            </a:r>
            <a:r>
              <a:rPr lang="en-US" sz="1200" dirty="0" smtClean="0">
                <a:latin typeface="+mj-lt"/>
              </a:rPr>
              <a:t>STATS. </a:t>
            </a:r>
            <a:endParaRPr lang="en-US" sz="1200" dirty="0">
              <a:latin typeface="+mj-lt"/>
            </a:endParaRPr>
          </a:p>
        </p:txBody>
      </p:sp>
    </p:spTree>
    <p:extLst>
      <p:ext uri="{BB962C8B-B14F-4D97-AF65-F5344CB8AC3E}">
        <p14:creationId xmlns="" xmlns:p14="http://schemas.microsoft.com/office/powerpoint/2010/main" val="802801065"/>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19-5 Fixed Exchange Rates</a:t>
            </a:r>
          </a:p>
        </p:txBody>
      </p:sp>
      <p:sp>
        <p:nvSpPr>
          <p:cNvPr id="4" name="Content Placeholder 2"/>
          <p:cNvSpPr>
            <a:spLocks noGrp="1"/>
          </p:cNvSpPr>
          <p:nvPr>
            <p:ph idx="1"/>
          </p:nvPr>
        </p:nvSpPr>
        <p:spPr>
          <a:xfrm>
            <a:off x="381000" y="1371600"/>
            <a:ext cx="8229600" cy="4648200"/>
          </a:xfrm>
        </p:spPr>
        <p:txBody>
          <a:bodyPr/>
          <a:lstStyle/>
          <a:p>
            <a:r>
              <a:rPr lang="en-US" sz="2200" dirty="0" smtClean="0">
                <a:ea typeface="ヒラギノ角ゴ Pro W3" pitchFamily="-84" charset="-128"/>
              </a:rPr>
              <a:t>Some countries </a:t>
            </a:r>
            <a:r>
              <a:rPr lang="en-US" sz="2200" b="1" dirty="0" smtClean="0">
                <a:ea typeface="ヒラギノ角ゴ Pro W3" pitchFamily="-84" charset="-128"/>
              </a:rPr>
              <a:t>peg</a:t>
            </a:r>
            <a:r>
              <a:rPr lang="en-US" sz="2200" dirty="0" smtClean="0">
                <a:ea typeface="ヒラギノ角ゴ Pro W3" pitchFamily="-84" charset="-128"/>
              </a:rPr>
              <a:t> their currency to the dollar.</a:t>
            </a:r>
          </a:p>
          <a:p>
            <a:r>
              <a:rPr lang="en-US" sz="2200" dirty="0" smtClean="0">
                <a:ea typeface="ヒラギノ角ゴ Pro W3" pitchFamily="-84" charset="-128"/>
              </a:rPr>
              <a:t>Some countries operate under a </a:t>
            </a:r>
            <a:r>
              <a:rPr lang="en-US" sz="2200" b="1" dirty="0" smtClean="0">
                <a:ea typeface="ヒラギノ角ゴ Pro W3" pitchFamily="-84" charset="-128"/>
              </a:rPr>
              <a:t>crawling peg </a:t>
            </a:r>
            <a:r>
              <a:rPr lang="en-US" sz="2200" dirty="0" smtClean="0">
                <a:ea typeface="ヒラギノ角ゴ Pro W3" pitchFamily="-84" charset="-128"/>
              </a:rPr>
              <a:t>by moving to an exchange rate target slowly.</a:t>
            </a:r>
          </a:p>
          <a:p>
            <a:r>
              <a:rPr lang="en-US" sz="2200" dirty="0" smtClean="0">
                <a:ea typeface="ヒラギノ角ゴ Pro W3" pitchFamily="-84" charset="-128"/>
              </a:rPr>
              <a:t>The </a:t>
            </a:r>
            <a:r>
              <a:rPr lang="en-US" sz="2200" b="1" dirty="0" smtClean="0">
                <a:ea typeface="ヒラギノ角ゴ Pro W3" pitchFamily="-84" charset="-128"/>
              </a:rPr>
              <a:t>European Monetary System </a:t>
            </a:r>
            <a:r>
              <a:rPr lang="en-US" sz="2200" dirty="0" smtClean="0">
                <a:ea typeface="ヒラギノ角ゴ Pro W3" pitchFamily="-84" charset="-128"/>
              </a:rPr>
              <a:t>(EMS) determined the movements of exchange rates within the European Union from 1978 and 1998.</a:t>
            </a:r>
          </a:p>
          <a:p>
            <a:r>
              <a:rPr lang="en-US" sz="2200" dirty="0" smtClean="0">
                <a:ea typeface="ヒラギノ角ゴ Pro W3" pitchFamily="-84" charset="-128"/>
              </a:rPr>
              <a:t>In the EMS, member countries agreed to maintain their exchange rate relative to the other currencies in the system within narrow limits or </a:t>
            </a:r>
            <a:r>
              <a:rPr lang="en-US" sz="2200" b="1" dirty="0" smtClean="0">
                <a:ea typeface="ヒラギノ角ゴ Pro W3" pitchFamily="-84" charset="-128"/>
              </a:rPr>
              <a:t>bands</a:t>
            </a:r>
            <a:r>
              <a:rPr lang="en-US" sz="2200" dirty="0" smtClean="0">
                <a:ea typeface="ヒラギノ角ゴ Pro W3" pitchFamily="-84" charset="-128"/>
              </a:rPr>
              <a:t> around a </a:t>
            </a:r>
            <a:r>
              <a:rPr lang="en-US" sz="2200" b="1" dirty="0" smtClean="0">
                <a:ea typeface="ヒラギノ角ゴ Pro W3" pitchFamily="-84" charset="-128"/>
              </a:rPr>
              <a:t>central parity</a:t>
            </a:r>
            <a:r>
              <a:rPr lang="en-US" sz="2200" dirty="0" smtClean="0">
                <a:ea typeface="ヒラギノ角ゴ Pro W3" pitchFamily="-84" charset="-128"/>
              </a:rPr>
              <a:t>—a given value for the exchange rate.</a:t>
            </a:r>
          </a:p>
          <a:p>
            <a:r>
              <a:rPr lang="en-US" sz="2200" dirty="0" smtClean="0">
                <a:ea typeface="ヒラギノ角ゴ Pro W3" pitchFamily="-84" charset="-128"/>
              </a:rPr>
              <a:t>Beginning on January 1, 1999, a number of those European countries adopted a common currency, the </a:t>
            </a:r>
            <a:r>
              <a:rPr lang="en-US" sz="2200" b="1" dirty="0" smtClean="0">
                <a:ea typeface="ヒラギノ角ゴ Pro W3" pitchFamily="-84" charset="-128"/>
              </a:rPr>
              <a:t>euro</a:t>
            </a:r>
            <a:r>
              <a:rPr lang="en-US" sz="2200" dirty="0" smtClean="0">
                <a:ea typeface="ヒラギノ角ゴ Pro W3" pitchFamily="-84" charset="-128"/>
              </a:rPr>
              <a:t>.</a:t>
            </a:r>
          </a:p>
          <a:p>
            <a:endParaRPr lang="en-US" sz="2200" dirty="0" smtClean="0">
              <a:ea typeface="ヒラギノ角ゴ Pro W3" pitchFamily="-84" charset="-128"/>
            </a:endParaRPr>
          </a:p>
          <a:p>
            <a:pPr marL="0" indent="0">
              <a:buNone/>
            </a:pPr>
            <a:endParaRPr lang="en-US" sz="2200" dirty="0" smtClean="0">
              <a:ea typeface="ヒラギノ角ゴ Pro W3" pitchFamily="-84" charset="-128"/>
            </a:endParaRPr>
          </a:p>
        </p:txBody>
      </p:sp>
    </p:spTree>
    <p:extLst>
      <p:ext uri="{BB962C8B-B14F-4D97-AF65-F5344CB8AC3E}">
        <p14:creationId xmlns="" xmlns:p14="http://schemas.microsoft.com/office/powerpoint/2010/main" val="3532939173"/>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19-5 Fixed Exchange Rates</a:t>
            </a:r>
          </a:p>
        </p:txBody>
      </p:sp>
      <p:sp>
        <p:nvSpPr>
          <p:cNvPr id="4" name="Content Placeholder 2"/>
          <p:cNvSpPr>
            <a:spLocks noGrp="1"/>
          </p:cNvSpPr>
          <p:nvPr>
            <p:ph idx="1"/>
          </p:nvPr>
        </p:nvSpPr>
        <p:spPr>
          <a:xfrm>
            <a:off x="381000" y="1447800"/>
            <a:ext cx="8229600" cy="4648200"/>
          </a:xfrm>
        </p:spPr>
        <p:txBody>
          <a:bodyPr/>
          <a:lstStyle/>
          <a:p>
            <a:r>
              <a:rPr lang="en-US" sz="2200" dirty="0" smtClean="0">
                <a:ea typeface="ヒラギノ角ゴ Pro W3" pitchFamily="-84" charset="-128"/>
              </a:rPr>
              <a:t>Recall the interest rate parity condition:</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If the country pegs the exchange rate so that          , which also is the expectation of the future exchange rate, then the interest rate relation becomes: </a:t>
            </a:r>
          </a:p>
          <a:p>
            <a:endParaRPr lang="en-US" sz="2200" dirty="0">
              <a:ea typeface="ヒラギノ角ゴ Pro W3" pitchFamily="-84" charset="-128"/>
            </a:endParaRPr>
          </a:p>
          <a:p>
            <a:pPr>
              <a:spcBef>
                <a:spcPts val="1800"/>
              </a:spcBef>
            </a:pPr>
            <a:r>
              <a:rPr lang="en-US" sz="2200" i="1" dirty="0" smtClean="0">
                <a:ea typeface="ヒラギノ角ゴ Pro W3" pitchFamily="-84" charset="-128"/>
              </a:rPr>
              <a:t>Under a fixed exchange rate and perfect capital mobility, the domestic interest rate must be equal to the foreign interest rate.</a:t>
            </a:r>
          </a:p>
          <a:p>
            <a:r>
              <a:rPr lang="en-US" sz="2200" i="1" dirty="0" smtClean="0">
                <a:ea typeface="ヒラギノ角ゴ Pro W3" pitchFamily="-84" charset="-128"/>
              </a:rPr>
              <a:t>Under fixed exchange rates, the central bank gives up monetary policy as a policy instrument. </a:t>
            </a:r>
          </a:p>
          <a:p>
            <a:endParaRPr lang="en-US" sz="2200" dirty="0" smtClean="0">
              <a:ea typeface="ヒラギノ角ゴ Pro W3" pitchFamily="-84" charset="-128"/>
            </a:endParaRPr>
          </a:p>
          <a:p>
            <a:pPr marL="0" indent="0">
              <a:buNone/>
            </a:pPr>
            <a:endParaRPr lang="en-US" sz="22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2514600" y="1828800"/>
            <a:ext cx="3609975" cy="771525"/>
          </a:xfrm>
          <a:prstGeom prst="rect">
            <a:avLst/>
          </a:prstGeom>
        </p:spPr>
      </p:pic>
      <p:pic>
        <p:nvPicPr>
          <p:cNvPr id="3" name="Picture 2"/>
          <p:cNvPicPr>
            <a:picLocks noChangeAspect="1"/>
          </p:cNvPicPr>
          <p:nvPr/>
        </p:nvPicPr>
        <p:blipFill>
          <a:blip r:embed="rId3" cstate="print"/>
          <a:stretch>
            <a:fillRect/>
          </a:stretch>
        </p:blipFill>
        <p:spPr>
          <a:xfrm>
            <a:off x="7239000" y="2634192"/>
            <a:ext cx="876300" cy="342900"/>
          </a:xfrm>
          <a:prstGeom prst="rect">
            <a:avLst/>
          </a:prstGeom>
        </p:spPr>
      </p:pic>
      <p:pic>
        <p:nvPicPr>
          <p:cNvPr id="5" name="Picture 4"/>
          <p:cNvPicPr>
            <a:picLocks noChangeAspect="1"/>
          </p:cNvPicPr>
          <p:nvPr/>
        </p:nvPicPr>
        <p:blipFill>
          <a:blip r:embed="rId4" cstate="print"/>
          <a:stretch>
            <a:fillRect/>
          </a:stretch>
        </p:blipFill>
        <p:spPr>
          <a:xfrm>
            <a:off x="2514600" y="3771900"/>
            <a:ext cx="3943350" cy="390525"/>
          </a:xfrm>
          <a:prstGeom prst="rect">
            <a:avLst/>
          </a:prstGeom>
        </p:spPr>
      </p:pic>
    </p:spTree>
    <p:extLst>
      <p:ext uri="{BB962C8B-B14F-4D97-AF65-F5344CB8AC3E}">
        <p14:creationId xmlns="" xmlns:p14="http://schemas.microsoft.com/office/powerpoint/2010/main" val="4167896851"/>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z="2800" dirty="0" smtClean="0">
                <a:ea typeface="ヒラギノ角ゴ Pro W3" pitchFamily="-65" charset="-128"/>
              </a:rPr>
              <a:t>FOCUS: German Reunification, Interest Rates, and the EMS</a:t>
            </a:r>
          </a:p>
        </p:txBody>
      </p:sp>
      <p:pic>
        <p:nvPicPr>
          <p:cNvPr id="28675" name="Picture 4" descr="table01_second.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930453" y="3123605"/>
            <a:ext cx="5031402" cy="3168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8676" name="TextBox 5"/>
          <p:cNvSpPr txBox="1">
            <a:spLocks noChangeArrowheads="1"/>
          </p:cNvSpPr>
          <p:nvPr/>
        </p:nvSpPr>
        <p:spPr bwMode="auto">
          <a:xfrm>
            <a:off x="383309" y="2572697"/>
            <a:ext cx="8763000"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a:latin typeface="Verdana" panose="020B0604030504040204" pitchFamily="34" charset="0"/>
              </a:rPr>
              <a:t>Table 1  </a:t>
            </a:r>
            <a:r>
              <a:rPr lang="en-US" sz="1600" dirty="0">
                <a:latin typeface="Verdana" panose="020B0604030504040204" pitchFamily="34" charset="0"/>
              </a:rPr>
              <a:t>German Reunification, Interest Rates, and Output Growth: Germany, France, and Belgium, 1990–1992</a:t>
            </a:r>
          </a:p>
        </p:txBody>
      </p:sp>
      <p:sp>
        <p:nvSpPr>
          <p:cNvPr id="5" name="TextBox 5"/>
          <p:cNvSpPr txBox="1">
            <a:spLocks noChangeArrowheads="1"/>
          </p:cNvSpPr>
          <p:nvPr/>
        </p:nvSpPr>
        <p:spPr bwMode="auto">
          <a:xfrm>
            <a:off x="357909" y="1319239"/>
            <a:ext cx="8176491" cy="1077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1600" dirty="0" smtClean="0">
                <a:latin typeface="Verdana" panose="020B0604030504040204" pitchFamily="34" charset="0"/>
              </a:rPr>
              <a:t>German reunification in 1990 led to large increases in demand and interest rates in Germany. </a:t>
            </a:r>
          </a:p>
          <a:p>
            <a:pPr marL="285750" indent="-285750">
              <a:buFont typeface="Arial" panose="020B0604020202020204" pitchFamily="34" charset="0"/>
              <a:buChar char="•"/>
            </a:pPr>
            <a:r>
              <a:rPr lang="en-US" sz="1600" dirty="0" smtClean="0">
                <a:latin typeface="Verdana" panose="020B0604030504040204" pitchFamily="34" charset="0"/>
              </a:rPr>
              <a:t>To stay in the fixed exchange regime of the EMS, other European members had to match German interest rates, leading to decreases in their output.</a:t>
            </a:r>
            <a:endParaRPr lang="en-US" sz="1600" dirty="0">
              <a:latin typeface="Verdana" panose="020B0604030504040204" pitchFamily="34" charset="0"/>
            </a:endParaRPr>
          </a:p>
        </p:txBody>
      </p:sp>
    </p:spTree>
    <p:extLst>
      <p:ext uri="{BB962C8B-B14F-4D97-AF65-F5344CB8AC3E}">
        <p14:creationId xmlns="" xmlns:p14="http://schemas.microsoft.com/office/powerpoint/2010/main" val="2769060404"/>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smtClean="0">
                <a:ea typeface="ヒラギノ角ゴ Pro W3" pitchFamily="-65" charset="-128"/>
              </a:rPr>
              <a:t>APPENDIX: </a:t>
            </a:r>
            <a:r>
              <a:rPr lang="en-US" dirty="0" smtClean="0">
                <a:ea typeface="ヒラギノ角ゴ Pro W3" pitchFamily="-65" charset="-128"/>
              </a:rPr>
              <a:t>Fixed Exchange Rates, Interest Rates, and Capital Mobility</a:t>
            </a:r>
          </a:p>
        </p:txBody>
      </p:sp>
      <p:sp>
        <p:nvSpPr>
          <p:cNvPr id="29700" name="TextBox 5"/>
          <p:cNvSpPr txBox="1">
            <a:spLocks noChangeArrowheads="1"/>
          </p:cNvSpPr>
          <p:nvPr/>
        </p:nvSpPr>
        <p:spPr bwMode="auto">
          <a:xfrm>
            <a:off x="1524000" y="1524000"/>
            <a:ext cx="5943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1  </a:t>
            </a:r>
            <a:r>
              <a:rPr lang="en-US" sz="1800" dirty="0">
                <a:latin typeface="Verdana" panose="020B0604030504040204" pitchFamily="34" charset="0"/>
              </a:rPr>
              <a:t>Balance Sheet of the Central Bank</a:t>
            </a:r>
          </a:p>
        </p:txBody>
      </p:sp>
      <p:sp>
        <p:nvSpPr>
          <p:cNvPr id="6" name="TextBox 5"/>
          <p:cNvSpPr txBox="1">
            <a:spLocks noChangeArrowheads="1"/>
          </p:cNvSpPr>
          <p:nvPr/>
        </p:nvSpPr>
        <p:spPr bwMode="auto">
          <a:xfrm>
            <a:off x="1400174" y="3857482"/>
            <a:ext cx="59436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2  </a:t>
            </a:r>
            <a:r>
              <a:rPr lang="en-US" sz="1800" dirty="0">
                <a:latin typeface="Verdana" panose="020B0604030504040204" pitchFamily="34" charset="0"/>
              </a:rPr>
              <a:t>Balance Sheet of the Central Bank after an Open Market Operation, and the Induced Intervention in the Foreign Exchange Market</a:t>
            </a:r>
          </a:p>
        </p:txBody>
      </p:sp>
      <p:pic>
        <p:nvPicPr>
          <p:cNvPr id="2" name="Picture 1"/>
          <p:cNvPicPr>
            <a:picLocks noChangeAspect="1"/>
          </p:cNvPicPr>
          <p:nvPr/>
        </p:nvPicPr>
        <p:blipFill>
          <a:blip r:embed="rId2" cstate="print"/>
          <a:stretch>
            <a:fillRect/>
          </a:stretch>
        </p:blipFill>
        <p:spPr>
          <a:xfrm>
            <a:off x="2057400" y="1893888"/>
            <a:ext cx="4629150" cy="1600200"/>
          </a:xfrm>
          <a:prstGeom prst="rect">
            <a:avLst/>
          </a:prstGeom>
        </p:spPr>
      </p:pic>
      <p:pic>
        <p:nvPicPr>
          <p:cNvPr id="3" name="Picture 2"/>
          <p:cNvPicPr>
            <a:picLocks noChangeAspect="1"/>
          </p:cNvPicPr>
          <p:nvPr/>
        </p:nvPicPr>
        <p:blipFill>
          <a:blip r:embed="rId3" cstate="print"/>
          <a:stretch>
            <a:fillRect/>
          </a:stretch>
        </p:blipFill>
        <p:spPr>
          <a:xfrm>
            <a:off x="1738312" y="4809982"/>
            <a:ext cx="5514975" cy="1295400"/>
          </a:xfrm>
          <a:prstGeom prst="rect">
            <a:avLst/>
          </a:prstGeom>
        </p:spPr>
      </p:pic>
    </p:spTree>
    <p:extLst>
      <p:ext uri="{BB962C8B-B14F-4D97-AF65-F5344CB8AC3E}">
        <p14:creationId xmlns="" xmlns:p14="http://schemas.microsoft.com/office/powerpoint/2010/main" val="85321131"/>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smtClean="0">
                <a:ea typeface="ヒラギノ角ゴ Pro W3" pitchFamily="-65" charset="-128"/>
              </a:rPr>
              <a:t>APPENDIX: Fixed Exchange Rates, Interest Rates, and Capital Mobility</a:t>
            </a:r>
          </a:p>
        </p:txBody>
      </p:sp>
      <p:sp>
        <p:nvSpPr>
          <p:cNvPr id="30723" name="TextBox 5"/>
          <p:cNvSpPr txBox="1">
            <a:spLocks noChangeArrowheads="1"/>
          </p:cNvSpPr>
          <p:nvPr/>
        </p:nvSpPr>
        <p:spPr bwMode="auto">
          <a:xfrm>
            <a:off x="381000" y="1371600"/>
            <a:ext cx="8153400" cy="4154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2200" dirty="0" smtClean="0">
                <a:latin typeface="Verdana" panose="020B0604030504040204" pitchFamily="34" charset="0"/>
              </a:rPr>
              <a:t>Under fixed exchange rates and perfect capital mobility, the only effect of the open market operation is to change the composition of the central bank’s balance sheet but not the monetary base, nor the interest rate.</a:t>
            </a:r>
          </a:p>
          <a:p>
            <a:pPr marL="285750" indent="-285750">
              <a:buFont typeface="Arial" panose="020B0604020202020204" pitchFamily="34" charset="0"/>
              <a:buChar char="•"/>
            </a:pPr>
            <a:r>
              <a:rPr lang="en-US" sz="2200" dirty="0" smtClean="0">
                <a:latin typeface="Verdana" panose="020B0604030504040204" pitchFamily="34" charset="0"/>
              </a:rPr>
              <a:t>With imperfect capital mobility, the net effects of the initial open market operation and the following foreign exchange interventions are likely to be </a:t>
            </a:r>
            <a:r>
              <a:rPr lang="en-US" sz="2200" i="1" dirty="0" smtClean="0">
                <a:latin typeface="Verdana" panose="020B0604030504040204" pitchFamily="34" charset="0"/>
              </a:rPr>
              <a:t>an increase in the monetary base; a decrease in the domestic interest rate; an increase in the central bank’s bond holdings; and some loss in reserves of foreign currency.</a:t>
            </a:r>
            <a:endParaRPr lang="en-US" sz="2200" i="1" dirty="0">
              <a:latin typeface="Verdana" panose="020B0604030504040204" pitchFamily="34" charset="0"/>
            </a:endParaRPr>
          </a:p>
        </p:txBody>
      </p:sp>
    </p:spTree>
    <p:extLst>
      <p:ext uri="{BB962C8B-B14F-4D97-AF65-F5344CB8AC3E}">
        <p14:creationId xmlns="" xmlns:p14="http://schemas.microsoft.com/office/powerpoint/2010/main" val="505758734"/>
      </p:ext>
    </p:extLst>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smtClean="0">
                <a:ea typeface="ヒラギノ角ゴ Pro W3" pitchFamily="-65" charset="-128"/>
              </a:rPr>
              <a:t>APPENDIX: Fixed Exchange Rates, Interest Rates, and Capital Mobility</a:t>
            </a:r>
          </a:p>
        </p:txBody>
      </p:sp>
      <p:sp>
        <p:nvSpPr>
          <p:cNvPr id="30723" name="TextBox 5"/>
          <p:cNvSpPr txBox="1">
            <a:spLocks noChangeArrowheads="1"/>
          </p:cNvSpPr>
          <p:nvPr/>
        </p:nvSpPr>
        <p:spPr bwMode="auto">
          <a:xfrm>
            <a:off x="381000" y="1371600"/>
            <a:ext cx="8153400" cy="29854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2200" dirty="0" smtClean="0">
                <a:latin typeface="Verdana" panose="020B0604030504040204" pitchFamily="34" charset="0"/>
              </a:rPr>
              <a:t>With imperfect capital mobility, a country has some freedom to move the domestic interest rate while maintaining its exchange rate.</a:t>
            </a:r>
          </a:p>
          <a:p>
            <a:pPr marL="285750" indent="-285750">
              <a:buFont typeface="Arial" panose="020B0604020202020204" pitchFamily="34" charset="0"/>
              <a:buChar char="•"/>
            </a:pPr>
            <a:r>
              <a:rPr lang="en-US" sz="2200" dirty="0" smtClean="0">
                <a:latin typeface="Verdana" panose="020B0604030504040204" pitchFamily="34" charset="0"/>
              </a:rPr>
              <a:t>That freedom depends on:</a:t>
            </a:r>
          </a:p>
          <a:p>
            <a:pPr marL="684213" indent="-398463">
              <a:buFont typeface="Verdana" panose="020B0604030504040204" pitchFamily="34" charset="0"/>
              <a:buChar char="−"/>
            </a:pPr>
            <a:r>
              <a:rPr lang="en-US" sz="2000" dirty="0" smtClean="0">
                <a:latin typeface="Verdana" panose="020B0604030504040204" pitchFamily="34" charset="0"/>
              </a:rPr>
              <a:t>the degree of development of its financial markets and the willingness of domestic and foreign investors to shift between domestic assets and foreign assets</a:t>
            </a:r>
          </a:p>
          <a:p>
            <a:pPr marL="684213" indent="-398463">
              <a:buFont typeface="Verdana" panose="020B0604030504040204" pitchFamily="34" charset="0"/>
              <a:buChar char="−"/>
            </a:pPr>
            <a:r>
              <a:rPr lang="en-US" sz="2000" dirty="0" smtClean="0">
                <a:latin typeface="Verdana" panose="020B0604030504040204" pitchFamily="34" charset="0"/>
              </a:rPr>
              <a:t>the degree of capital controls</a:t>
            </a:r>
          </a:p>
          <a:p>
            <a:pPr marL="684213" indent="-398463">
              <a:buFont typeface="Verdana" panose="020B0604030504040204" pitchFamily="34" charset="0"/>
              <a:buChar char="−"/>
            </a:pPr>
            <a:r>
              <a:rPr lang="en-US" sz="2000" dirty="0" smtClean="0">
                <a:latin typeface="Verdana" panose="020B0604030504040204" pitchFamily="34" charset="0"/>
              </a:rPr>
              <a:t>the amount of foreign exchange reserves it holds</a:t>
            </a:r>
            <a:endParaRPr lang="en-US" sz="2000" dirty="0">
              <a:latin typeface="Verdana" panose="020B0604030504040204" pitchFamily="34" charset="0"/>
            </a:endParaRPr>
          </a:p>
        </p:txBody>
      </p:sp>
    </p:spTree>
    <p:extLst>
      <p:ext uri="{BB962C8B-B14F-4D97-AF65-F5344CB8AC3E}">
        <p14:creationId xmlns="" xmlns:p14="http://schemas.microsoft.com/office/powerpoint/2010/main" val="1897879086"/>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6022</TotalTime>
  <Words>1104</Words>
  <Application>Microsoft Office PowerPoint</Application>
  <PresentationFormat>On-screen Show (4:3)</PresentationFormat>
  <Paragraphs>99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template_LN01Brooks671956_02_LN01</vt:lpstr>
      <vt:lpstr>Output, the Interest Rate, and the Exchange Rate</vt:lpstr>
      <vt:lpstr>Chapter 19 Outline</vt:lpstr>
      <vt:lpstr>Output, the Interest Rate, and the Exchange Rate</vt:lpstr>
      <vt:lpstr>19-1 Equilibrium in the Goods Market</vt:lpstr>
      <vt:lpstr>19-2 Equilibrium in Financial Markets</vt:lpstr>
      <vt:lpstr>FOCUS: Does the Interest Rate Parity Condition Always Hold for Transitional Economies?</vt:lpstr>
      <vt:lpstr>FOCUS: Does the Interest Rate Parity Condition Always Hold for Transitional Economies? (cont’d)</vt:lpstr>
      <vt:lpstr>19-2 Equilibrium in Financial Markets</vt:lpstr>
      <vt:lpstr>19-3 Putting Goods and Financial Markets Together</vt:lpstr>
      <vt:lpstr>19-3 Putting Goods and Financial Markets Together</vt:lpstr>
      <vt:lpstr>19-4 The Effects of Policy in an Open Economy</vt:lpstr>
      <vt:lpstr>19-4 The Effects of Policy in an Open Economy</vt:lpstr>
      <vt:lpstr>FOCUS: Fiscal and Monetary Policies Coordination in France (2008–2015)</vt:lpstr>
      <vt:lpstr>FOCUS: Fiscal and Monetary Policies Coordination in France (2008–2015) (cont’d)</vt:lpstr>
      <vt:lpstr>19-5 Fixed Exchange Rates</vt:lpstr>
      <vt:lpstr>19-5 Fixed Exchange Rates</vt:lpstr>
      <vt:lpstr>FOCUS: German Reunification, Interest Rates, and the EMS</vt:lpstr>
      <vt:lpstr>APPENDIX: Fixed Exchange Rates, Interest Rates, and Capital Mobility</vt:lpstr>
      <vt:lpstr>APPENDIX: Fixed Exchange Rates, Interest Rates, and Capital Mobility</vt:lpstr>
      <vt:lpstr>APPENDIX: Fixed Exchange Rates, Interest Rates, and Capital Mobility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294</cp:revision>
  <dcterms:created xsi:type="dcterms:W3CDTF">2012-08-09T20:37:31Z</dcterms:created>
  <dcterms:modified xsi:type="dcterms:W3CDTF">2016-10-06T06:14:29Z</dcterms:modified>
</cp:coreProperties>
</file>