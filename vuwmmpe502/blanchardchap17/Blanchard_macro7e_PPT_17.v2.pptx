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31"/>
  </p:notesMasterIdLst>
  <p:sldIdLst>
    <p:sldId id="256" r:id="rId2"/>
    <p:sldId id="269" r:id="rId3"/>
    <p:sldId id="357" r:id="rId4"/>
    <p:sldId id="438" r:id="rId5"/>
    <p:sldId id="424" r:id="rId6"/>
    <p:sldId id="425" r:id="rId7"/>
    <p:sldId id="439" r:id="rId8"/>
    <p:sldId id="426" r:id="rId9"/>
    <p:sldId id="440" r:id="rId10"/>
    <p:sldId id="442" r:id="rId11"/>
    <p:sldId id="441" r:id="rId12"/>
    <p:sldId id="427" r:id="rId13"/>
    <p:sldId id="428" r:id="rId14"/>
    <p:sldId id="443" r:id="rId15"/>
    <p:sldId id="430" r:id="rId16"/>
    <p:sldId id="431" r:id="rId17"/>
    <p:sldId id="432" r:id="rId18"/>
    <p:sldId id="444" r:id="rId19"/>
    <p:sldId id="445" r:id="rId20"/>
    <p:sldId id="446" r:id="rId21"/>
    <p:sldId id="433" r:id="rId22"/>
    <p:sldId id="447" r:id="rId23"/>
    <p:sldId id="434" r:id="rId24"/>
    <p:sldId id="435" r:id="rId25"/>
    <p:sldId id="449" r:id="rId26"/>
    <p:sldId id="450" r:id="rId27"/>
    <p:sldId id="451" r:id="rId28"/>
    <p:sldId id="437" r:id="rId29"/>
    <p:sldId id="452" r:id="rId3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599D"/>
    <a:srgbClr val="BBE5FB"/>
    <a:srgbClr val="BFDC42"/>
    <a:srgbClr val="D8F2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08" autoAdjust="0"/>
    <p:restoredTop sz="94690"/>
  </p:normalViewPr>
  <p:slideViewPr>
    <p:cSldViewPr>
      <p:cViewPr varScale="1">
        <p:scale>
          <a:sx n="72" d="100"/>
          <a:sy n="72" d="100"/>
        </p:scale>
        <p:origin x="-102" y="-9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358A83D-3E8E-422B-A1C7-AED5424569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4106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ヒラギノ角ゴ Pro W3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BBE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gray">
          <a:xfrm>
            <a:off x="0" y="6397625"/>
            <a:ext cx="9144000" cy="457200"/>
          </a:xfrm>
          <a:prstGeom prst="rect">
            <a:avLst/>
          </a:prstGeom>
          <a:solidFill>
            <a:srgbClr val="00599D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endParaRPr lang="en-US" smtClean="0">
              <a:latin typeface="Verdana" panose="020B0604030504040204" pitchFamily="34" charset="0"/>
            </a:endParaRPr>
          </a:p>
        </p:txBody>
      </p:sp>
      <p:pic>
        <p:nvPicPr>
          <p:cNvPr id="3" name="Picture 3" descr="Pearson_Bound_Whi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238" y="6356350"/>
            <a:ext cx="1655762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Pearson_Strap_Bound_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90817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5205590" cy="6400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4108721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4771439"/>
      </p:ext>
    </p:extLst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2352075451"/>
      </p:ext>
    </p:extLst>
  </p:cSld>
  <p:clrMapOvr>
    <a:masterClrMapping/>
  </p:clrMapOvr>
  <p:transition>
    <p:strips dir="l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478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50072493"/>
      </p:ext>
    </p:extLst>
  </p:cSld>
  <p:clrMapOvr>
    <a:masterClrMapping/>
  </p:clrMapOvr>
  <p:transition>
    <p:strips dir="l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87435220"/>
      </p:ext>
    </p:extLst>
  </p:cSld>
  <p:clrMapOvr>
    <a:masterClrMapping/>
  </p:clrMapOvr>
  <p:transition>
    <p:strips dir="l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4062720"/>
      </p:ext>
    </p:extLst>
  </p:cSld>
  <p:clrMapOvr>
    <a:masterClrMapping/>
  </p:clrMapOvr>
  <p:transition>
    <p:strips dir="l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750255790"/>
      </p:ext>
    </p:extLst>
  </p:cSld>
  <p:clrMapOvr>
    <a:masterClrMapping/>
  </p:clrMapOvr>
  <p:transition>
    <p:strips dir="l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2884679804"/>
      </p:ext>
    </p:extLst>
  </p:cSld>
  <p:clrMapOvr>
    <a:masterClrMapping/>
  </p:clrMapOvr>
  <p:transition>
    <p:strips dir="l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3337429884"/>
      </p:ext>
    </p:extLst>
  </p:cSld>
  <p:clrMapOvr>
    <a:masterClrMapping/>
  </p:clrMapOvr>
  <p:transition>
    <p:strips dir="l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38792299"/>
      </p:ext>
    </p:extLst>
  </p:cSld>
  <p:clrMapOvr>
    <a:masterClrMapping/>
  </p:clrMapOvr>
  <p:transition>
    <p:strips dir="l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0"/>
            <a:ext cx="211455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19125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45461388"/>
      </p:ext>
    </p:extLst>
  </p:cSld>
  <p:clrMapOvr>
    <a:masterClrMapping/>
  </p:clrMapOvr>
  <p:transition>
    <p:strips dir="l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itchFamily="-65" charset="0"/>
                <a:ea typeface="ヒラギノ角ゴ Pro W3" pitchFamily="-65" charset="-128"/>
              </a:defRPr>
            </a:lvl1pPr>
          </a:lstStyle>
          <a:p>
            <a:pPr>
              <a:defRPr/>
            </a:pPr>
            <a:fld id="{EF38A850-ADD0-4F7D-99F1-C19676CE30E4}" type="datetime1">
              <a:rPr lang="en-US"/>
              <a:pPr>
                <a:defRPr/>
              </a:pPr>
              <a:t>10/6/2016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itchFamily="-65" charset="0"/>
                <a:ea typeface="ヒラギノ角ゴ Pro W3" pitchFamily="-65" charset="-128"/>
              </a:defRPr>
            </a:lvl1pPr>
          </a:lstStyle>
          <a:p>
            <a:pPr>
              <a:defRPr/>
            </a:pPr>
            <a:r>
              <a:rPr lang="en-US"/>
              <a:t>Copyright © 2013 Pearson Education, Inc.</a:t>
            </a:r>
          </a:p>
          <a:p>
            <a:pPr>
              <a:defRPr/>
            </a:pPr>
            <a:r>
              <a:rPr lang="en-US"/>
              <a:t>Publishing as Prentice Hall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2A68BFA4-ED51-4D11-92C9-125F6EFF37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78001293"/>
      </p:ext>
    </p:extLst>
  </p:cSld>
  <p:clrMapOvr>
    <a:masterClrMapping/>
  </p:clrMapOvr>
  <p:transition>
    <p:strips dir="ld"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 userDrawn="1"/>
        </p:nvSpPr>
        <p:spPr bwMode="gray">
          <a:xfrm>
            <a:off x="0" y="6397625"/>
            <a:ext cx="9144000" cy="457200"/>
          </a:xfrm>
          <a:prstGeom prst="rect">
            <a:avLst/>
          </a:prstGeom>
          <a:solidFill>
            <a:srgbClr val="0060A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8382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0"/>
            <a:ext cx="8458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gray">
          <a:xfrm>
            <a:off x="381000" y="6577013"/>
            <a:ext cx="5399088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r>
              <a:rPr lang="en-US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Copyright ©2017 Pearson Education, Ltd. All rights reserved.</a:t>
            </a:r>
            <a:endParaRPr lang="en-GB" sz="900" dirty="0" smtClean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029" name="Rectangle 7"/>
          <p:cNvSpPr>
            <a:spLocks noChangeArrowheads="1"/>
          </p:cNvSpPr>
          <p:nvPr/>
        </p:nvSpPr>
        <p:spPr bwMode="gray">
          <a:xfrm>
            <a:off x="8402638" y="6577013"/>
            <a:ext cx="360362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r>
              <a:rPr lang="en-GB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17-</a:t>
            </a:r>
            <a:fld id="{604DE8C7-66CF-465F-9818-9F61582FDCEB}" type="slidenum">
              <a:rPr lang="en-GB" sz="900" smtClean="0">
                <a:solidFill>
                  <a:schemeClr val="bg1"/>
                </a:solidFill>
                <a:latin typeface="Verdana" panose="020B0604030504040204" pitchFamily="34" charset="0"/>
              </a:rPr>
              <a:pPr>
                <a:defRPr/>
              </a:pPr>
              <a:t>‹#›</a:t>
            </a:fld>
            <a:r>
              <a:rPr lang="en-GB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40" r:id="rId12"/>
  </p:sldLayoutIdLst>
  <p:transition>
    <p:strips dir="ld"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ヒラギノ角ゴ Pro W3" pitchFamily="-1" charset="-128"/>
          <a:cs typeface="ヒラギノ角ゴ Pro W3" pitchFamily="-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ヒラギノ角ゴ Pro W3" pitchFamily="-1" charset="-128"/>
          <a:cs typeface="ヒラギノ角ゴ Pro W3" pitchFamily="-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ヒラギノ角ゴ Pro W3" pitchFamily="-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ヒラギノ角ゴ Pro W3" pitchFamily="-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ヒラギノ角ゴ Pro W3" pitchFamily="-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257800" y="990600"/>
            <a:ext cx="3733800" cy="2133600"/>
          </a:xfrm>
        </p:spPr>
        <p:txBody>
          <a:bodyPr/>
          <a:lstStyle/>
          <a:p>
            <a:pPr algn="ctr" eaLnBrk="1" hangingPunct="1"/>
            <a:r>
              <a:rPr lang="en-US" sz="2800" dirty="0" smtClean="0">
                <a:ea typeface="ヒラギノ角ゴ Pro W3" pitchFamily="-84" charset="-128"/>
              </a:rPr>
              <a:t>Openness in Goods and Financial Markets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4953000" y="3886200"/>
            <a:ext cx="4191000" cy="17526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 smtClean="0">
                <a:ea typeface="ヒラギノ角ゴ Pro W3" pitchFamily="-84" charset="-128"/>
              </a:rPr>
              <a:t>Chapter 17</a:t>
            </a: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Chapter 17 Outline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200" y="1371600"/>
            <a:ext cx="8382000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ヒラギノ角ゴ Pro W3" pitchFamily="-1" charset="-128"/>
                <a:cs typeface="ヒラギノ角ゴ Pro W3" pitchFamily="-1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9pPr>
          </a:lstStyle>
          <a:p>
            <a:pPr marL="0" indent="0" eaLnBrk="1" hangingPunct="1">
              <a:buFontTx/>
              <a:buNone/>
              <a:defRPr/>
            </a:pPr>
            <a:r>
              <a:rPr lang="en-US" sz="2400" b="1" kern="0" dirty="0">
                <a:ea typeface="ヒラギノ角ゴ Pro W3" pitchFamily="-84" charset="-128"/>
              </a:rPr>
              <a:t>Openness in Goods and Financial </a:t>
            </a:r>
            <a:r>
              <a:rPr lang="en-US" sz="2400" b="1" kern="0" dirty="0" smtClean="0">
                <a:ea typeface="ヒラギノ角ゴ Pro W3" pitchFamily="-84" charset="-128"/>
              </a:rPr>
              <a:t>Markets</a:t>
            </a:r>
          </a:p>
          <a:p>
            <a:pPr marL="0" indent="0" eaLnBrk="1" hangingPunct="1">
              <a:buFontTx/>
              <a:buNone/>
              <a:defRPr/>
            </a:pPr>
            <a:endParaRPr lang="en-US" sz="2400" kern="0" dirty="0" smtClean="0">
              <a:ea typeface="ヒラギノ角ゴ Pro W3" pitchFamily="-84" charset="-128"/>
            </a:endParaRP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17-1	Openness in Goods Markets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17-2	Openness in Financial Markets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17-3	Conclusions and a Look Ahead</a:t>
            </a:r>
          </a:p>
        </p:txBody>
      </p:sp>
    </p:spTree>
  </p:cSld>
  <p:clrMapOvr>
    <a:masterClrMapping/>
  </p:clrMapOvr>
  <p:transition>
    <p:strips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dirty="0">
                <a:ea typeface="ヒラギノ角ゴ Pro W3" pitchFamily="-84" charset="-128"/>
              </a:rPr>
              <a:t>Openness in Goods and Financial Markets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dirty="0" smtClean="0">
                <a:ea typeface="ヒラギノ角ゴ Pro W3" pitchFamily="-84" charset="-128"/>
              </a:rPr>
              <a:t>Openness in goods markets</a:t>
            </a:r>
            <a:r>
              <a:rPr lang="en-US" sz="2200" dirty="0" smtClean="0">
                <a:ea typeface="ヒラギノ角ゴ Pro W3" pitchFamily="-84" charset="-128"/>
              </a:rPr>
              <a:t>: The ability of consumers and firms to choose between domestic goods and foreign goods. Even countries most committed to free trade have </a:t>
            </a:r>
            <a:r>
              <a:rPr lang="en-US" sz="2200" b="1" dirty="0" smtClean="0">
                <a:ea typeface="ヒラギノ角ゴ Pro W3" pitchFamily="-84" charset="-128"/>
              </a:rPr>
              <a:t>tariffs</a:t>
            </a:r>
            <a:r>
              <a:rPr lang="en-US" sz="2200" dirty="0" smtClean="0">
                <a:ea typeface="ヒラギノ角ゴ Pro W3" pitchFamily="-84" charset="-128"/>
              </a:rPr>
              <a:t> (taxes on imported goods) and </a:t>
            </a:r>
            <a:r>
              <a:rPr lang="en-US" sz="2200" b="1" dirty="0" smtClean="0">
                <a:ea typeface="ヒラギノ角ゴ Pro W3" pitchFamily="-84" charset="-128"/>
              </a:rPr>
              <a:t>quotas</a:t>
            </a:r>
            <a:r>
              <a:rPr lang="en-US" sz="2200" dirty="0" smtClean="0">
                <a:ea typeface="ヒラギノ角ゴ Pro W3" pitchFamily="-84" charset="-128"/>
              </a:rPr>
              <a:t> (restrictions on the quantity of goods that can be imported).</a:t>
            </a:r>
          </a:p>
          <a:p>
            <a:r>
              <a:rPr lang="en-US" sz="2200" b="1" dirty="0" smtClean="0">
                <a:ea typeface="ヒラギノ角ゴ Pro W3" pitchFamily="-84" charset="-128"/>
              </a:rPr>
              <a:t>Openness in financial markets: </a:t>
            </a:r>
            <a:r>
              <a:rPr lang="en-US" sz="2200" dirty="0" smtClean="0">
                <a:ea typeface="ヒラギノ角ゴ Pro W3" pitchFamily="-84" charset="-128"/>
              </a:rPr>
              <a:t>The ability of financial investors to choose between domestic assets and foreign assets—until recently, even some rich countries had </a:t>
            </a:r>
            <a:r>
              <a:rPr lang="en-US" sz="2200" b="1" dirty="0" smtClean="0">
                <a:ea typeface="ヒラギノ角ゴ Pro W3" pitchFamily="-84" charset="-128"/>
              </a:rPr>
              <a:t>capital controls</a:t>
            </a:r>
            <a:r>
              <a:rPr lang="en-US" sz="2200" dirty="0" smtClean="0">
                <a:ea typeface="ヒラギノ角ゴ Pro W3" pitchFamily="-84" charset="-128"/>
              </a:rPr>
              <a:t>—restrictions on the foreign assets their domestic residents could hold and the domestic assets foreign could hold.</a:t>
            </a:r>
          </a:p>
        </p:txBody>
      </p:sp>
    </p:spTree>
    <p:extLst>
      <p:ext uri="{BB962C8B-B14F-4D97-AF65-F5344CB8AC3E}">
        <p14:creationId xmlns="" xmlns:p14="http://schemas.microsoft.com/office/powerpoint/2010/main" val="3014208771"/>
      </p:ext>
    </p:extLst>
  </p:cSld>
  <p:clrMapOvr>
    <a:masterClrMapping/>
  </p:clrMapOvr>
  <p:transition>
    <p:strips dir="l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dirty="0">
                <a:ea typeface="ヒラギノ角ゴ Pro W3" pitchFamily="-84" charset="-128"/>
              </a:rPr>
              <a:t>Openness in Goods and Financial Markets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dirty="0" smtClean="0">
                <a:ea typeface="ヒラギノ角ゴ Pro W3" pitchFamily="-84" charset="-128"/>
              </a:rPr>
              <a:t>Openness in factor markets</a:t>
            </a:r>
            <a:r>
              <a:rPr lang="en-US" sz="2200" dirty="0" smtClean="0">
                <a:ea typeface="ヒラギノ角ゴ Pro W3" pitchFamily="-84" charset="-128"/>
              </a:rPr>
              <a:t>: The ability of firms to choose where to locate production, and of workers to choose where to work, e.g., the </a:t>
            </a:r>
            <a:r>
              <a:rPr lang="en-US" sz="2200" b="1" dirty="0" smtClean="0">
                <a:ea typeface="ヒラギノ角ゴ Pro W3" pitchFamily="-84" charset="-128"/>
              </a:rPr>
              <a:t>North American Free Trade Agreement (NAFTA) </a:t>
            </a:r>
            <a:r>
              <a:rPr lang="en-US" sz="2200" dirty="0" smtClean="0">
                <a:ea typeface="ヒラギノ角ゴ Pro W3" pitchFamily="-84" charset="-128"/>
              </a:rPr>
              <a:t>signed in 1993 by the U.S., Canada, and Mexico centered on how it would affect the relocation of U.S. firms to Mexico.</a:t>
            </a:r>
          </a:p>
        </p:txBody>
      </p:sp>
    </p:spTree>
    <p:extLst>
      <p:ext uri="{BB962C8B-B14F-4D97-AF65-F5344CB8AC3E}">
        <p14:creationId xmlns="" xmlns:p14="http://schemas.microsoft.com/office/powerpoint/2010/main" val="497532450"/>
      </p:ext>
    </p:extLst>
  </p:cSld>
  <p:clrMapOvr>
    <a:masterClrMapping/>
  </p:clrMapOvr>
  <p:transition>
    <p:strips dir="l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ea typeface="ヒラギノ角ゴ Pro W3" pitchFamily="-65" charset="-128"/>
              </a:rPr>
              <a:t>Figure 17-1  </a:t>
            </a:r>
            <a:r>
              <a:rPr lang="en-US" sz="2400" b="0" dirty="0" smtClean="0">
                <a:ea typeface="ヒラギノ角ゴ Pro W3" pitchFamily="-65" charset="-128"/>
              </a:rPr>
              <a:t>Growth in Advanced and Emerging Economies since 2005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32760" y="1717040"/>
            <a:ext cx="5638800" cy="30062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400" y="4038600"/>
            <a:ext cx="2009775" cy="3143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1000" y="1752600"/>
            <a:ext cx="26517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The crisis started in the </a:t>
            </a:r>
            <a:r>
              <a:rPr lang="en-US" sz="1600" dirty="0" smtClean="0">
                <a:latin typeface="+mn-lt"/>
              </a:rPr>
              <a:t>United States</a:t>
            </a:r>
            <a:r>
              <a:rPr lang="en-US" sz="1600" dirty="0">
                <a:latin typeface="+mn-lt"/>
              </a:rPr>
              <a:t>, but it affected </a:t>
            </a:r>
            <a:r>
              <a:rPr lang="en-US" sz="1600" dirty="0" smtClean="0">
                <a:latin typeface="+mn-lt"/>
              </a:rPr>
              <a:t>nearly every </a:t>
            </a:r>
            <a:r>
              <a:rPr lang="en-US" sz="1600" dirty="0">
                <a:latin typeface="+mn-lt"/>
              </a:rPr>
              <a:t>country in the world.</a:t>
            </a:r>
          </a:p>
        </p:txBody>
      </p:sp>
    </p:spTree>
    <p:extLst>
      <p:ext uri="{BB962C8B-B14F-4D97-AF65-F5344CB8AC3E}">
        <p14:creationId xmlns="" xmlns:p14="http://schemas.microsoft.com/office/powerpoint/2010/main" val="3486752442"/>
      </p:ext>
    </p:extLst>
  </p:cSld>
  <p:clrMapOvr>
    <a:masterClrMapping/>
  </p:clrMapOvr>
  <p:transition>
    <p:strips dir="l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17-1 Openness in Goods Markets</a:t>
            </a:r>
          </a:p>
        </p:txBody>
      </p:sp>
      <p:sp>
        <p:nvSpPr>
          <p:cNvPr id="17411" name="TextBox 3"/>
          <p:cNvSpPr txBox="1">
            <a:spLocks noChangeArrowheads="1"/>
          </p:cNvSpPr>
          <p:nvPr/>
        </p:nvSpPr>
        <p:spPr bwMode="auto">
          <a:xfrm>
            <a:off x="381000" y="1504652"/>
            <a:ext cx="82245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</a:t>
            </a:r>
            <a:r>
              <a:rPr lang="en-US" sz="1800" b="1" dirty="0" smtClean="0">
                <a:latin typeface="Verdana" panose="020B0604030504040204" pitchFamily="34" charset="0"/>
              </a:rPr>
              <a:t>17-2</a:t>
            </a:r>
            <a:r>
              <a:rPr lang="en-US" sz="1800" dirty="0" smtClean="0">
                <a:latin typeface="Verdana" panose="020B0604030504040204" pitchFamily="34" charset="0"/>
              </a:rPr>
              <a:t>  </a:t>
            </a:r>
            <a:r>
              <a:rPr lang="en-US" sz="1800" dirty="0">
                <a:latin typeface="Verdana" panose="020B0604030504040204" pitchFamily="34" charset="0"/>
              </a:rPr>
              <a:t>U.S. Exports and Imports as Ratios of GDP since 1960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19229" y="2133600"/>
            <a:ext cx="5584411" cy="34099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1320" y="2286000"/>
            <a:ext cx="25908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Since 1960, exports and </a:t>
            </a:r>
            <a:r>
              <a:rPr lang="en-US" sz="1600" dirty="0" smtClean="0">
                <a:latin typeface="+mn-lt"/>
              </a:rPr>
              <a:t>imports have </a:t>
            </a:r>
            <a:r>
              <a:rPr lang="en-US" sz="1600" dirty="0">
                <a:latin typeface="+mn-lt"/>
              </a:rPr>
              <a:t>more than </a:t>
            </a:r>
            <a:r>
              <a:rPr lang="en-US" sz="1600" dirty="0" smtClean="0">
                <a:latin typeface="+mn-lt"/>
              </a:rPr>
              <a:t>tripled in </a:t>
            </a:r>
            <a:r>
              <a:rPr lang="en-US" sz="1600" dirty="0">
                <a:latin typeface="+mn-lt"/>
              </a:rPr>
              <a:t>relation to GDP. The </a:t>
            </a:r>
            <a:r>
              <a:rPr lang="en-US" sz="1600" dirty="0" smtClean="0">
                <a:latin typeface="+mn-lt"/>
              </a:rPr>
              <a:t>United States </a:t>
            </a:r>
            <a:r>
              <a:rPr lang="en-US" sz="1600" dirty="0">
                <a:latin typeface="+mn-lt"/>
              </a:rPr>
              <a:t>has become a </a:t>
            </a:r>
            <a:r>
              <a:rPr lang="en-US" sz="1600" dirty="0" smtClean="0">
                <a:latin typeface="+mn-lt"/>
              </a:rPr>
              <a:t>much more </a:t>
            </a:r>
            <a:r>
              <a:rPr lang="en-US" sz="1600" dirty="0">
                <a:latin typeface="+mn-lt"/>
              </a:rPr>
              <a:t>open economy.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400" y="4648200"/>
            <a:ext cx="1971675" cy="685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63235872"/>
      </p:ext>
    </p:extLst>
  </p:cSld>
  <p:clrMapOvr>
    <a:masterClrMapping/>
  </p:clrMapOvr>
  <p:transition>
    <p:strips dir="l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dirty="0">
                <a:ea typeface="ヒラギノ角ゴ Pro W3" pitchFamily="-65" charset="-128"/>
              </a:rPr>
              <a:t>17-1 Openness in Goods Markets</a:t>
            </a:r>
            <a:endParaRPr lang="en-US" dirty="0">
              <a:ea typeface="ヒラギノ角ゴ Pro W3" pitchFamily="-84" charset="-128"/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ヒラギノ角ゴ Pro W3" pitchFamily="-84" charset="-128"/>
              </a:rPr>
              <a:t>The volume of trade is not necessarily a good measure of openness.</a:t>
            </a:r>
          </a:p>
          <a:p>
            <a:r>
              <a:rPr lang="en-US" sz="2400" b="1" dirty="0" smtClean="0">
                <a:ea typeface="ヒラギノ角ゴ Pro W3" pitchFamily="-84" charset="-128"/>
              </a:rPr>
              <a:t>Tradable goods</a:t>
            </a:r>
            <a:r>
              <a:rPr lang="en-US" sz="2400" dirty="0" smtClean="0">
                <a:ea typeface="ヒラギノ角ゴ Pro W3" pitchFamily="-84" charset="-128"/>
              </a:rPr>
              <a:t>: Goods that compete with foreign goods in either domestic markets or foreign markets.</a:t>
            </a:r>
          </a:p>
          <a:p>
            <a:r>
              <a:rPr lang="en-US" sz="2400" dirty="0" smtClean="0">
                <a:ea typeface="ヒラギノ角ゴ Pro W3" pitchFamily="-84" charset="-128"/>
              </a:rPr>
              <a:t>Tradable goods represent about 60% of aggregate output in the United States today.</a:t>
            </a:r>
          </a:p>
        </p:txBody>
      </p:sp>
    </p:spTree>
    <p:extLst>
      <p:ext uri="{BB962C8B-B14F-4D97-AF65-F5344CB8AC3E}">
        <p14:creationId xmlns="" xmlns:p14="http://schemas.microsoft.com/office/powerpoint/2010/main" val="2813400268"/>
      </p:ext>
    </p:extLst>
  </p:cSld>
  <p:clrMapOvr>
    <a:masterClrMapping/>
  </p:clrMapOvr>
  <p:transition>
    <p:strips dir="l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17-1 Openness in Goods Markets</a:t>
            </a:r>
          </a:p>
        </p:txBody>
      </p:sp>
      <p:sp>
        <p:nvSpPr>
          <p:cNvPr id="18435" name="TextBox 3"/>
          <p:cNvSpPr txBox="1">
            <a:spLocks noChangeArrowheads="1"/>
          </p:cNvSpPr>
          <p:nvPr/>
        </p:nvSpPr>
        <p:spPr bwMode="auto">
          <a:xfrm>
            <a:off x="571500" y="2731869"/>
            <a:ext cx="8077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Table </a:t>
            </a:r>
            <a:r>
              <a:rPr lang="en-US" sz="1800" b="1" dirty="0" smtClean="0">
                <a:latin typeface="Verdana" panose="020B0604030504040204" pitchFamily="34" charset="0"/>
              </a:rPr>
              <a:t>17-</a:t>
            </a:r>
            <a:r>
              <a:rPr lang="en-US" sz="1800" b="1" dirty="0">
                <a:latin typeface="Verdana" panose="020B0604030504040204" pitchFamily="34" charset="0"/>
              </a:rPr>
              <a:t>1  </a:t>
            </a:r>
            <a:r>
              <a:rPr lang="en-US" sz="1800" dirty="0">
                <a:latin typeface="Verdana" panose="020B0604030504040204" pitchFamily="34" charset="0"/>
              </a:rPr>
              <a:t>Ratios of Exports to GDP for Selected OECD Countries, </a:t>
            </a:r>
            <a:r>
              <a:rPr lang="en-US" sz="1800" dirty="0" smtClean="0">
                <a:latin typeface="Verdana" panose="020B0604030504040204" pitchFamily="34" charset="0"/>
              </a:rPr>
              <a:t>2014</a:t>
            </a:r>
            <a:endParaRPr lang="en-US" sz="1800" dirty="0">
              <a:latin typeface="Verdana" panose="020B0604030504040204" pitchFamily="3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1600200"/>
          </a:xfrm>
        </p:spPr>
        <p:txBody>
          <a:bodyPr/>
          <a:lstStyle/>
          <a:p>
            <a:r>
              <a:rPr lang="en-US" sz="2000" dirty="0" smtClean="0">
                <a:ea typeface="ヒラギノ角ゴ Pro W3" pitchFamily="-84" charset="-128"/>
              </a:rPr>
              <a:t>The United States is at the low end of the range of export ratios.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3352800"/>
            <a:ext cx="7664970" cy="1981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89946984"/>
      </p:ext>
    </p:extLst>
  </p:cSld>
  <p:clrMapOvr>
    <a:masterClrMapping/>
  </p:clrMapOvr>
  <p:transition>
    <p:strips dir="l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sz="2800" dirty="0" smtClean="0">
                <a:ea typeface="ヒラギノ角ゴ Pro W3" pitchFamily="-65" charset="-128"/>
              </a:rPr>
              <a:t>FOCUS: Can Exports Exceed GDP?</a:t>
            </a:r>
            <a:endParaRPr lang="en-US" sz="2800" dirty="0">
              <a:ea typeface="ヒラギノ角ゴ Pro W3" pitchFamily="-84" charset="-128"/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ヒラギノ角ゴ Pro W3" pitchFamily="-84" charset="-128"/>
              </a:rPr>
              <a:t>Since a country cannot export more than it produces, the export ratio must be less than one?</a:t>
            </a:r>
          </a:p>
          <a:p>
            <a:r>
              <a:rPr lang="en-US" sz="2400" dirty="0" smtClean="0">
                <a:ea typeface="ヒラギノ角ゴ Pro W3" pitchFamily="-84" charset="-128"/>
              </a:rPr>
              <a:t>No, exports may be larger than GDP because exports and imports may include exports and imports of intermediate goods.</a:t>
            </a:r>
          </a:p>
          <a:p>
            <a:r>
              <a:rPr lang="en-US" sz="2400" dirty="0" smtClean="0">
                <a:ea typeface="ヒラギノ角ゴ Pro W3" pitchFamily="-84" charset="-128"/>
              </a:rPr>
              <a:t>In 2014, the ratio of exports to GDP in Singapore was 188%!</a:t>
            </a:r>
          </a:p>
          <a:p>
            <a:endParaRPr lang="en-US" sz="2400" dirty="0" smtClean="0">
              <a:ea typeface="ヒラギノ角ゴ Pro W3" pitchFamily="-84" charset="-128"/>
            </a:endParaRPr>
          </a:p>
          <a:p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54590796"/>
      </p:ext>
    </p:extLst>
  </p:cSld>
  <p:clrMapOvr>
    <a:masterClrMapping/>
  </p:clrMapOvr>
  <p:transition>
    <p:strips dir="l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dirty="0">
                <a:ea typeface="ヒラギノ角ゴ Pro W3" pitchFamily="-65" charset="-128"/>
              </a:rPr>
              <a:t>17-1 Openness in Goods Markets</a:t>
            </a:r>
            <a:endParaRPr lang="en-US" dirty="0">
              <a:ea typeface="ヒラギノ角ゴ Pro W3" pitchFamily="-84" charset="-128"/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>
                <a:ea typeface="ヒラギノ角ゴ Pro W3" pitchFamily="-84" charset="-128"/>
              </a:rPr>
              <a:t>Real exchange rate</a:t>
            </a:r>
            <a:r>
              <a:rPr lang="en-US" sz="2400" dirty="0" smtClean="0">
                <a:ea typeface="ヒラギノ角ゴ Pro W3" pitchFamily="-84" charset="-128"/>
              </a:rPr>
              <a:t>: The price of domestic goods relative to foreign goods.</a:t>
            </a:r>
          </a:p>
          <a:p>
            <a:r>
              <a:rPr lang="en-US" sz="2400" b="1" dirty="0" smtClean="0">
                <a:ea typeface="ヒラギノ角ゴ Pro W3" pitchFamily="-84" charset="-128"/>
              </a:rPr>
              <a:t>Nominal exchange rate</a:t>
            </a:r>
            <a:r>
              <a:rPr lang="en-US" sz="2400" dirty="0" smtClean="0">
                <a:ea typeface="ヒラギノ角ゴ Pro W3" pitchFamily="-84" charset="-128"/>
              </a:rPr>
              <a:t>: The price of the domestic currency in terms of foreign currency.</a:t>
            </a:r>
          </a:p>
          <a:p>
            <a:r>
              <a:rPr lang="en-US" sz="2400" dirty="0" smtClean="0">
                <a:ea typeface="ヒラギノ角ゴ Pro W3" pitchFamily="-84" charset="-128"/>
              </a:rPr>
              <a:t>(Nominal) </a:t>
            </a:r>
            <a:r>
              <a:rPr lang="en-US" sz="2400" b="1" dirty="0" smtClean="0">
                <a:ea typeface="ヒラギノ角ゴ Pro W3" pitchFamily="-84" charset="-128"/>
              </a:rPr>
              <a:t>appreciation:</a:t>
            </a:r>
            <a:r>
              <a:rPr lang="en-US" sz="2400" dirty="0" smtClean="0">
                <a:ea typeface="ヒラギノ角ゴ Pro W3" pitchFamily="-84" charset="-128"/>
              </a:rPr>
              <a:t> An increase in the price of the domestic currency in terms of a foreign currency, i.e., an increase </a:t>
            </a:r>
            <a:r>
              <a:rPr lang="en-US" sz="2400" dirty="0">
                <a:ea typeface="ヒラギノ角ゴ Pro W3" pitchFamily="-84" charset="-128"/>
              </a:rPr>
              <a:t>in the exchange </a:t>
            </a:r>
            <a:r>
              <a:rPr lang="en-US" sz="2400" dirty="0" smtClean="0">
                <a:ea typeface="ヒラギノ角ゴ Pro W3" pitchFamily="-84" charset="-128"/>
              </a:rPr>
              <a:t>rate.</a:t>
            </a:r>
          </a:p>
          <a:p>
            <a:r>
              <a:rPr lang="en-US" sz="2400" dirty="0">
                <a:ea typeface="ヒラギノ角ゴ Pro W3" pitchFamily="-84" charset="-128"/>
              </a:rPr>
              <a:t>(Nominal) </a:t>
            </a:r>
            <a:r>
              <a:rPr lang="en-US" sz="2400" b="1" dirty="0" smtClean="0">
                <a:ea typeface="ヒラギノ角ゴ Pro W3" pitchFamily="-84" charset="-128"/>
              </a:rPr>
              <a:t>depreciation</a:t>
            </a:r>
            <a:r>
              <a:rPr lang="en-US" sz="2400" b="1" dirty="0">
                <a:ea typeface="ヒラギノ角ゴ Pro W3" pitchFamily="-84" charset="-128"/>
              </a:rPr>
              <a:t>:</a:t>
            </a:r>
            <a:r>
              <a:rPr lang="en-US" sz="2400" dirty="0">
                <a:ea typeface="ヒラギノ角ゴ Pro W3" pitchFamily="-84" charset="-128"/>
              </a:rPr>
              <a:t> </a:t>
            </a:r>
            <a:r>
              <a:rPr lang="en-US" sz="2400" dirty="0" smtClean="0">
                <a:ea typeface="ヒラギノ角ゴ Pro W3" pitchFamily="-84" charset="-128"/>
              </a:rPr>
              <a:t>A decrease </a:t>
            </a:r>
            <a:r>
              <a:rPr lang="en-US" sz="2400" dirty="0">
                <a:ea typeface="ヒラギノ角ゴ Pro W3" pitchFamily="-84" charset="-128"/>
              </a:rPr>
              <a:t>in the price of the domestic currency in terms of a foreign currency, i.e., </a:t>
            </a:r>
            <a:r>
              <a:rPr lang="en-US" sz="2400" dirty="0" smtClean="0">
                <a:ea typeface="ヒラギノ角ゴ Pro W3" pitchFamily="-84" charset="-128"/>
              </a:rPr>
              <a:t>a decrease </a:t>
            </a:r>
            <a:r>
              <a:rPr lang="en-US" sz="2400" dirty="0">
                <a:ea typeface="ヒラギノ角ゴ Pro W3" pitchFamily="-84" charset="-128"/>
              </a:rPr>
              <a:t>in the exchange rate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  <a:p>
            <a:endParaRPr lang="en-US" sz="2400" dirty="0" smtClean="0">
              <a:ea typeface="ヒラギノ角ゴ Pro W3" pitchFamily="-84" charset="-128"/>
            </a:endParaRPr>
          </a:p>
          <a:p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92535485"/>
      </p:ext>
    </p:extLst>
  </p:cSld>
  <p:clrMapOvr>
    <a:masterClrMapping/>
  </p:clrMapOvr>
  <p:transition>
    <p:strips dir="l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dirty="0">
                <a:ea typeface="ヒラギノ角ゴ Pro W3" pitchFamily="-65" charset="-128"/>
              </a:rPr>
              <a:t>17-1 Openness in Goods Markets</a:t>
            </a:r>
            <a:endParaRPr lang="en-US" dirty="0">
              <a:ea typeface="ヒラギノ角ゴ Pro W3" pitchFamily="-84" charset="-128"/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>
                <a:ea typeface="ヒラギノ角ゴ Pro W3" pitchFamily="-84" charset="-128"/>
              </a:rPr>
              <a:t>Fixed exchange rates</a:t>
            </a:r>
            <a:r>
              <a:rPr lang="en-US" sz="2400" dirty="0" smtClean="0">
                <a:ea typeface="ヒラギノ角ゴ Pro W3" pitchFamily="-84" charset="-128"/>
              </a:rPr>
              <a:t>: A system in which two or more countries maintain a constant exchange rate between their currencies.</a:t>
            </a:r>
          </a:p>
          <a:p>
            <a:r>
              <a:rPr lang="en-US" sz="2400" dirty="0" smtClean="0">
                <a:ea typeface="ヒラギノ角ゴ Pro W3" pitchFamily="-84" charset="-128"/>
              </a:rPr>
              <a:t>In the fixed exchange rate system, </a:t>
            </a:r>
            <a:r>
              <a:rPr lang="en-US" sz="2400" b="1" dirty="0" smtClean="0">
                <a:ea typeface="ヒラギノ角ゴ Pro W3" pitchFamily="-84" charset="-128"/>
              </a:rPr>
              <a:t>revaluations</a:t>
            </a:r>
            <a:r>
              <a:rPr lang="en-US" sz="2400" dirty="0" smtClean="0">
                <a:ea typeface="ヒラギノ角ゴ Pro W3" pitchFamily="-84" charset="-128"/>
              </a:rPr>
              <a:t> are increases in the exchange rate, and </a:t>
            </a:r>
            <a:r>
              <a:rPr lang="en-US" sz="2400" b="1" dirty="0" smtClean="0">
                <a:ea typeface="ヒラギノ角ゴ Pro W3" pitchFamily="-84" charset="-128"/>
              </a:rPr>
              <a:t>devaluations</a:t>
            </a:r>
            <a:r>
              <a:rPr lang="en-US" sz="2400" dirty="0" smtClean="0">
                <a:ea typeface="ヒラギノ角ゴ Pro W3" pitchFamily="-84" charset="-128"/>
              </a:rPr>
              <a:t> are decreases in the exchange rate.</a:t>
            </a:r>
            <a:endParaRPr lang="en-US" sz="2400" dirty="0">
              <a:ea typeface="ヒラギノ角ゴ Pro W3" pitchFamily="-84" charset="-128"/>
            </a:endParaRPr>
          </a:p>
          <a:p>
            <a:endParaRPr lang="en-US" sz="2400" dirty="0" smtClean="0">
              <a:ea typeface="ヒラギノ角ゴ Pro W3" pitchFamily="-84" charset="-128"/>
            </a:endParaRPr>
          </a:p>
          <a:p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07146061"/>
      </p:ext>
    </p:extLst>
  </p:cSld>
  <p:clrMapOvr>
    <a:masterClrMapping/>
  </p:clrMapOvr>
  <p:transition>
    <p:strips dir="l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17-1 Openness in Goods Markets</a:t>
            </a:r>
          </a:p>
        </p:txBody>
      </p:sp>
      <p:sp>
        <p:nvSpPr>
          <p:cNvPr id="19459" name="TextBox 3"/>
          <p:cNvSpPr txBox="1">
            <a:spLocks noChangeArrowheads="1"/>
          </p:cNvSpPr>
          <p:nvPr/>
        </p:nvSpPr>
        <p:spPr bwMode="auto">
          <a:xfrm>
            <a:off x="304800" y="12192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</a:t>
            </a:r>
            <a:r>
              <a:rPr lang="en-US" sz="1800" b="1" dirty="0" smtClean="0">
                <a:latin typeface="Verdana" panose="020B0604030504040204" pitchFamily="34" charset="0"/>
              </a:rPr>
              <a:t>17-3  </a:t>
            </a:r>
            <a:r>
              <a:rPr lang="en-US" sz="1800" dirty="0">
                <a:latin typeface="Verdana" panose="020B0604030504040204" pitchFamily="34" charset="0"/>
              </a:rPr>
              <a:t>The Nominal Exchange Rate between the Dollar and the Pound since 1971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67000" y="2133600"/>
            <a:ext cx="6248400" cy="36156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4812" y="5219323"/>
            <a:ext cx="2028825" cy="3429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4812" y="2141934"/>
            <a:ext cx="2286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Although the </a:t>
            </a:r>
            <a:r>
              <a:rPr lang="en-US" sz="1600" dirty="0" smtClean="0">
                <a:latin typeface="+mn-lt"/>
              </a:rPr>
              <a:t>dollar </a:t>
            </a:r>
            <a:r>
              <a:rPr lang="en-US" sz="1600" dirty="0">
                <a:latin typeface="+mn-lt"/>
              </a:rPr>
              <a:t>has appreciated</a:t>
            </a:r>
          </a:p>
          <a:p>
            <a:r>
              <a:rPr lang="en-US" sz="1600" dirty="0">
                <a:latin typeface="+mn-lt"/>
              </a:rPr>
              <a:t>relative to the </a:t>
            </a:r>
            <a:r>
              <a:rPr lang="en-US" sz="1600" dirty="0" smtClean="0">
                <a:latin typeface="+mn-lt"/>
              </a:rPr>
              <a:t>pound over </a:t>
            </a:r>
            <a:r>
              <a:rPr lang="en-US" sz="1600" dirty="0">
                <a:latin typeface="+mn-lt"/>
              </a:rPr>
              <a:t>the past four decades</a:t>
            </a:r>
            <a:r>
              <a:rPr lang="en-US" sz="1600" dirty="0" smtClean="0">
                <a:latin typeface="+mn-lt"/>
              </a:rPr>
              <a:t>, this </a:t>
            </a:r>
            <a:r>
              <a:rPr lang="en-US" sz="1600" dirty="0">
                <a:latin typeface="+mn-lt"/>
              </a:rPr>
              <a:t>appreciation has </a:t>
            </a:r>
            <a:r>
              <a:rPr lang="en-US" sz="1600" dirty="0" smtClean="0">
                <a:latin typeface="+mn-lt"/>
              </a:rPr>
              <a:t>come with </a:t>
            </a:r>
            <a:r>
              <a:rPr lang="en-US" sz="1600" dirty="0">
                <a:latin typeface="+mn-lt"/>
              </a:rPr>
              <a:t>large swings in the </a:t>
            </a:r>
            <a:r>
              <a:rPr lang="en-US" sz="1600" dirty="0" smtClean="0">
                <a:latin typeface="+mn-lt"/>
              </a:rPr>
              <a:t>nominal exchange </a:t>
            </a:r>
            <a:r>
              <a:rPr lang="en-US" sz="1600" dirty="0">
                <a:latin typeface="+mn-lt"/>
              </a:rPr>
              <a:t>rate between </a:t>
            </a:r>
            <a:r>
              <a:rPr lang="en-US" sz="1600" dirty="0" smtClean="0">
                <a:latin typeface="+mn-lt"/>
              </a:rPr>
              <a:t>the two </a:t>
            </a:r>
            <a:r>
              <a:rPr lang="en-US" sz="1600" dirty="0">
                <a:latin typeface="+mn-lt"/>
              </a:rPr>
              <a:t>currencies.</a:t>
            </a:r>
          </a:p>
        </p:txBody>
      </p:sp>
    </p:spTree>
    <p:extLst>
      <p:ext uri="{BB962C8B-B14F-4D97-AF65-F5344CB8AC3E}">
        <p14:creationId xmlns="" xmlns:p14="http://schemas.microsoft.com/office/powerpoint/2010/main" val="39531825"/>
      </p:ext>
    </p:extLst>
  </p:cSld>
  <p:clrMapOvr>
    <a:masterClrMapping/>
  </p:clrMapOvr>
  <p:transition>
    <p:strips dir="l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17-1 Openness in Goods Markets</a:t>
            </a:r>
          </a:p>
        </p:txBody>
      </p:sp>
      <p:sp>
        <p:nvSpPr>
          <p:cNvPr id="20483" name="TextBox 3"/>
          <p:cNvSpPr txBox="1">
            <a:spLocks noChangeArrowheads="1"/>
          </p:cNvSpPr>
          <p:nvPr/>
        </p:nvSpPr>
        <p:spPr bwMode="auto">
          <a:xfrm>
            <a:off x="457200" y="2819400"/>
            <a:ext cx="838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</a:t>
            </a:r>
            <a:r>
              <a:rPr lang="en-US" sz="1800" b="1" dirty="0" smtClean="0">
                <a:latin typeface="Verdana" panose="020B0604030504040204" pitchFamily="34" charset="0"/>
              </a:rPr>
              <a:t>17-4  </a:t>
            </a:r>
            <a:r>
              <a:rPr lang="en-US" sz="1800" dirty="0">
                <a:latin typeface="Verdana" panose="020B0604030504040204" pitchFamily="34" charset="0"/>
              </a:rPr>
              <a:t>The Construction of the Real Exchange Rate</a:t>
            </a:r>
          </a:p>
        </p:txBody>
      </p:sp>
      <p:pic>
        <p:nvPicPr>
          <p:cNvPr id="20484" name="Picture 5" descr="fig18_04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505200"/>
            <a:ext cx="7315200" cy="195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153400" cy="4648200"/>
          </a:xfrm>
        </p:spPr>
        <p:txBody>
          <a:bodyPr/>
          <a:lstStyle/>
          <a:p>
            <a:r>
              <a:rPr lang="en-US" sz="2000" dirty="0" smtClean="0">
                <a:ea typeface="ヒラギノ角ゴ Pro W3" pitchFamily="-84" charset="-128"/>
              </a:rPr>
              <a:t>The real exchange rate, the price of U.S. goods in terms of British goods, is</a:t>
            </a:r>
            <a:endParaRPr lang="en-US" sz="2000" dirty="0">
              <a:ea typeface="ヒラギノ角ゴ Pro W3" pitchFamily="-84" charset="-128"/>
            </a:endParaRPr>
          </a:p>
          <a:p>
            <a:endParaRPr lang="en-US" sz="2000" dirty="0" smtClean="0">
              <a:ea typeface="ヒラギノ角ゴ Pro W3" pitchFamily="-84" charset="-128"/>
            </a:endParaRPr>
          </a:p>
          <a:p>
            <a:endParaRPr lang="en-US" sz="2000" dirty="0" smtClean="0">
              <a:ea typeface="ヒラギノ角ゴ Pro W3" pitchFamily="-8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43225" y="2019300"/>
            <a:ext cx="5895975" cy="6477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59947315"/>
      </p:ext>
    </p:extLst>
  </p:cSld>
  <p:clrMapOvr>
    <a:masterClrMapping/>
  </p:clrMapOvr>
  <p:transition>
    <p:strips dir="l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dirty="0">
                <a:ea typeface="ヒラギノ角ゴ Pro W3" pitchFamily="-65" charset="-128"/>
              </a:rPr>
              <a:t>17-1 Openness in Goods Markets</a:t>
            </a:r>
            <a:endParaRPr lang="en-US" dirty="0">
              <a:ea typeface="ヒラギノ角ゴ Pro W3" pitchFamily="-84" charset="-128"/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>
                <a:ea typeface="ヒラギノ角ゴ Pro W3" pitchFamily="-84" charset="-128"/>
              </a:rPr>
              <a:t>Real appreciation:</a:t>
            </a:r>
            <a:r>
              <a:rPr lang="en-US" sz="2400" dirty="0" smtClean="0">
                <a:ea typeface="ヒラギノ角ゴ Pro W3" pitchFamily="-84" charset="-128"/>
              </a:rPr>
              <a:t> An increase in the real exchange rate, i.e., an increase in the relative price of domestic goods in terms of foreign goods.</a:t>
            </a:r>
          </a:p>
          <a:p>
            <a:r>
              <a:rPr lang="en-US" sz="2400" b="1" dirty="0">
                <a:ea typeface="ヒラギノ角ゴ Pro W3" pitchFamily="-84" charset="-128"/>
              </a:rPr>
              <a:t>Real </a:t>
            </a:r>
            <a:r>
              <a:rPr lang="en-US" sz="2400" b="1" dirty="0" smtClean="0">
                <a:ea typeface="ヒラギノ角ゴ Pro W3" pitchFamily="-84" charset="-128"/>
              </a:rPr>
              <a:t>depreciation</a:t>
            </a:r>
            <a:r>
              <a:rPr lang="en-US" sz="2400" b="1" dirty="0">
                <a:ea typeface="ヒラギノ角ゴ Pro W3" pitchFamily="-84" charset="-128"/>
              </a:rPr>
              <a:t>:</a:t>
            </a:r>
            <a:r>
              <a:rPr lang="en-US" sz="2400" dirty="0">
                <a:ea typeface="ヒラギノ角ゴ Pro W3" pitchFamily="-84" charset="-128"/>
              </a:rPr>
              <a:t> </a:t>
            </a:r>
            <a:r>
              <a:rPr lang="en-US" sz="2400" dirty="0" smtClean="0">
                <a:ea typeface="ヒラギノ角ゴ Pro W3" pitchFamily="-84" charset="-128"/>
              </a:rPr>
              <a:t>A decrease </a:t>
            </a:r>
            <a:r>
              <a:rPr lang="en-US" sz="2400" dirty="0">
                <a:ea typeface="ヒラギノ角ゴ Pro W3" pitchFamily="-84" charset="-128"/>
              </a:rPr>
              <a:t>in the real exchange rate, i.e., </a:t>
            </a:r>
            <a:r>
              <a:rPr lang="en-US" sz="2400" dirty="0" smtClean="0">
                <a:ea typeface="ヒラギノ角ゴ Pro W3" pitchFamily="-84" charset="-128"/>
              </a:rPr>
              <a:t>a decrease </a:t>
            </a:r>
            <a:r>
              <a:rPr lang="en-US" sz="2400" dirty="0">
                <a:ea typeface="ヒラギノ角ゴ Pro W3" pitchFamily="-84" charset="-128"/>
              </a:rPr>
              <a:t>in the relative price of domestic goods in terms of foreign goods.</a:t>
            </a:r>
          </a:p>
          <a:p>
            <a:endParaRPr lang="en-US" sz="2400" dirty="0" smtClean="0">
              <a:ea typeface="ヒラギノ角ゴ Pro W3" pitchFamily="-84" charset="-128"/>
            </a:endParaRPr>
          </a:p>
          <a:p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192376"/>
      </p:ext>
    </p:extLst>
  </p:cSld>
  <p:clrMapOvr>
    <a:masterClrMapping/>
  </p:clrMapOvr>
  <p:transition>
    <p:strips dir="l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17-1 Openness in Goods Markets</a:t>
            </a:r>
          </a:p>
        </p:txBody>
      </p:sp>
      <p:sp>
        <p:nvSpPr>
          <p:cNvPr id="22531" name="TextBox 3"/>
          <p:cNvSpPr txBox="1">
            <a:spLocks noChangeArrowheads="1"/>
          </p:cNvSpPr>
          <p:nvPr/>
        </p:nvSpPr>
        <p:spPr bwMode="auto">
          <a:xfrm>
            <a:off x="381000" y="1185085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 smtClean="0">
                <a:latin typeface="Verdana" panose="020B0604030504040204" pitchFamily="34" charset="0"/>
              </a:rPr>
              <a:t>Figure 17-5  </a:t>
            </a:r>
            <a:r>
              <a:rPr lang="en-US" sz="1800" dirty="0" smtClean="0">
                <a:latin typeface="Verdana" panose="020B0604030504040204" pitchFamily="34" charset="0"/>
              </a:rPr>
              <a:t>Real and Nominal Exchange Rates between the United States and the United Kingdom since 1971</a:t>
            </a:r>
            <a:endParaRPr lang="en-US" sz="1800" dirty="0">
              <a:latin typeface="Verdan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46366" y="2057400"/>
            <a:ext cx="6192834" cy="35528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1160" y="4800600"/>
            <a:ext cx="1933575" cy="8096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0680" y="1948408"/>
            <a:ext cx="2082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+mn-lt"/>
              </a:rPr>
              <a:t>Except for the difference </a:t>
            </a:r>
            <a:r>
              <a:rPr lang="en-US" sz="1400" dirty="0" smtClean="0">
                <a:latin typeface="+mn-lt"/>
              </a:rPr>
              <a:t>in trend </a:t>
            </a:r>
            <a:r>
              <a:rPr lang="en-US" sz="1400" dirty="0">
                <a:latin typeface="+mn-lt"/>
              </a:rPr>
              <a:t>reflecting higher </a:t>
            </a:r>
            <a:r>
              <a:rPr lang="en-US" sz="1400" dirty="0" smtClean="0">
                <a:latin typeface="+mn-lt"/>
              </a:rPr>
              <a:t>average inflation </a:t>
            </a:r>
            <a:r>
              <a:rPr lang="en-US" sz="1400" dirty="0">
                <a:latin typeface="+mn-lt"/>
              </a:rPr>
              <a:t>in the United </a:t>
            </a:r>
            <a:r>
              <a:rPr lang="en-US" sz="1400" dirty="0" smtClean="0">
                <a:latin typeface="+mn-lt"/>
              </a:rPr>
              <a:t>Kingdom than </a:t>
            </a:r>
            <a:r>
              <a:rPr lang="en-US" sz="1400" dirty="0">
                <a:latin typeface="+mn-lt"/>
              </a:rPr>
              <a:t>in the United States </a:t>
            </a:r>
            <a:r>
              <a:rPr lang="en-US" sz="1400" dirty="0" smtClean="0">
                <a:latin typeface="+mn-lt"/>
              </a:rPr>
              <a:t>until the </a:t>
            </a:r>
            <a:r>
              <a:rPr lang="en-US" sz="1400" dirty="0">
                <a:latin typeface="+mn-lt"/>
              </a:rPr>
              <a:t>early 1990s, the nominal</a:t>
            </a:r>
          </a:p>
          <a:p>
            <a:r>
              <a:rPr lang="en-US" sz="1400" dirty="0">
                <a:latin typeface="+mn-lt"/>
              </a:rPr>
              <a:t>and the real exchange </a:t>
            </a:r>
            <a:r>
              <a:rPr lang="en-US" sz="1400" dirty="0" smtClean="0">
                <a:latin typeface="+mn-lt"/>
              </a:rPr>
              <a:t>rates have </a:t>
            </a:r>
            <a:r>
              <a:rPr lang="en-US" sz="1400" dirty="0">
                <a:latin typeface="+mn-lt"/>
              </a:rPr>
              <a:t>moved largely together.</a:t>
            </a:r>
          </a:p>
        </p:txBody>
      </p:sp>
    </p:spTree>
    <p:extLst>
      <p:ext uri="{BB962C8B-B14F-4D97-AF65-F5344CB8AC3E}">
        <p14:creationId xmlns="" xmlns:p14="http://schemas.microsoft.com/office/powerpoint/2010/main" val="3248528560"/>
      </p:ext>
    </p:extLst>
  </p:cSld>
  <p:clrMapOvr>
    <a:masterClrMapping/>
  </p:clrMapOvr>
  <p:transition>
    <p:strips dir="l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17-1 Openness in Goods Markets</a:t>
            </a:r>
          </a:p>
        </p:txBody>
      </p:sp>
      <p:sp>
        <p:nvSpPr>
          <p:cNvPr id="23555" name="TextBox 3"/>
          <p:cNvSpPr txBox="1">
            <a:spLocks noChangeArrowheads="1"/>
          </p:cNvSpPr>
          <p:nvPr/>
        </p:nvSpPr>
        <p:spPr bwMode="auto">
          <a:xfrm>
            <a:off x="393700" y="3316287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Table </a:t>
            </a:r>
            <a:r>
              <a:rPr lang="en-US" sz="1800" b="1" dirty="0" smtClean="0">
                <a:latin typeface="Verdana" panose="020B0604030504040204" pitchFamily="34" charset="0"/>
              </a:rPr>
              <a:t>17-2  </a:t>
            </a:r>
            <a:r>
              <a:rPr lang="en-US" sz="1800" dirty="0">
                <a:latin typeface="Verdana" panose="020B0604030504040204" pitchFamily="34" charset="0"/>
              </a:rPr>
              <a:t>The Country Composition of U.S. Exports and Imports, </a:t>
            </a:r>
            <a:r>
              <a:rPr lang="en-US" sz="1800" dirty="0" smtClean="0">
                <a:latin typeface="Verdana" panose="020B0604030504040204" pitchFamily="34" charset="0"/>
              </a:rPr>
              <a:t>2014</a:t>
            </a:r>
            <a:endParaRPr lang="en-US" sz="1800" dirty="0">
              <a:latin typeface="Verdan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800" y="3953933"/>
            <a:ext cx="6715125" cy="2295525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60680" y="1370013"/>
            <a:ext cx="8249920" cy="1373187"/>
          </a:xfrm>
        </p:spPr>
        <p:txBody>
          <a:bodyPr/>
          <a:lstStyle/>
          <a:p>
            <a:r>
              <a:rPr lang="en-US" sz="2000" dirty="0" smtClean="0">
                <a:ea typeface="ヒラギノ角ゴ Pro W3" pitchFamily="-84" charset="-128"/>
              </a:rPr>
              <a:t>Example of going from </a:t>
            </a:r>
            <a:r>
              <a:rPr lang="en-US" sz="2000" b="1" dirty="0" smtClean="0">
                <a:ea typeface="ヒラギノ角ゴ Pro W3" pitchFamily="-84" charset="-128"/>
              </a:rPr>
              <a:t>bilateral exchange rates</a:t>
            </a:r>
            <a:r>
              <a:rPr lang="en-US" sz="2000" b="1" dirty="0">
                <a:ea typeface="ヒラギノ角ゴ Pro W3" pitchFamily="-84" charset="-128"/>
              </a:rPr>
              <a:t> </a:t>
            </a:r>
            <a:r>
              <a:rPr lang="en-US" sz="2000" dirty="0">
                <a:ea typeface="ヒラギノ角ゴ Pro W3" pitchFamily="-84" charset="-128"/>
              </a:rPr>
              <a:t>(two countries</a:t>
            </a:r>
            <a:r>
              <a:rPr lang="en-US" sz="2000" dirty="0" smtClean="0">
                <a:ea typeface="ヒラギノ角ゴ Pro W3" pitchFamily="-84" charset="-128"/>
              </a:rPr>
              <a:t>) to </a:t>
            </a:r>
            <a:r>
              <a:rPr lang="en-US" sz="2000" b="1" dirty="0" smtClean="0">
                <a:ea typeface="ヒラギノ角ゴ Pro W3" pitchFamily="-84" charset="-128"/>
              </a:rPr>
              <a:t>multilateral exchange rates</a:t>
            </a:r>
            <a:r>
              <a:rPr lang="en-US" sz="2000" dirty="0" smtClean="0">
                <a:ea typeface="ヒラギノ角ゴ Pro W3" pitchFamily="-84" charset="-128"/>
              </a:rPr>
              <a:t>: The </a:t>
            </a:r>
            <a:r>
              <a:rPr lang="en-US" sz="2000" b="1" dirty="0" smtClean="0">
                <a:ea typeface="ヒラギノ角ゴ Pro W3" pitchFamily="-84" charset="-128"/>
              </a:rPr>
              <a:t>Multilateral real U.S. Exchange rate</a:t>
            </a:r>
            <a:r>
              <a:rPr lang="en-US" sz="2000" dirty="0" smtClean="0">
                <a:ea typeface="ヒラギノ角ゴ Pro W3" pitchFamily="-84" charset="-128"/>
              </a:rPr>
              <a:t> (or U.S. real exchange rate) requires data on the geographic composition of U.S. trade for both exports and imports.</a:t>
            </a:r>
          </a:p>
          <a:p>
            <a:endParaRPr lang="en-US" sz="20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05013282"/>
      </p:ext>
    </p:extLst>
  </p:cSld>
  <p:clrMapOvr>
    <a:masterClrMapping/>
  </p:clrMapOvr>
  <p:transition>
    <p:strips dir="l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17-1 Openness in Goods Markets</a:t>
            </a:r>
          </a:p>
        </p:txBody>
      </p:sp>
      <p:sp>
        <p:nvSpPr>
          <p:cNvPr id="24579" name="TextBox 3"/>
          <p:cNvSpPr txBox="1">
            <a:spLocks noChangeArrowheads="1"/>
          </p:cNvSpPr>
          <p:nvPr/>
        </p:nvSpPr>
        <p:spPr bwMode="auto">
          <a:xfrm>
            <a:off x="457200" y="1453356"/>
            <a:ext cx="838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</a:t>
            </a:r>
            <a:r>
              <a:rPr lang="en-US" sz="1800" b="1" dirty="0" smtClean="0">
                <a:latin typeface="Verdana" panose="020B0604030504040204" pitchFamily="34" charset="0"/>
              </a:rPr>
              <a:t>17-6  </a:t>
            </a:r>
            <a:r>
              <a:rPr lang="en-US" sz="1800" dirty="0">
                <a:latin typeface="Verdana" panose="020B0604030504040204" pitchFamily="34" charset="0"/>
              </a:rPr>
              <a:t>The U.S. Multilateral Real Exchange Rate, since 1973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" y="4800600"/>
            <a:ext cx="2038350" cy="6762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23875" y="2286000"/>
            <a:ext cx="22955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Since 1973 there have </a:t>
            </a:r>
            <a:r>
              <a:rPr lang="en-US" sz="1600" dirty="0" smtClean="0">
                <a:latin typeface="+mn-lt"/>
              </a:rPr>
              <a:t>been two </a:t>
            </a:r>
            <a:r>
              <a:rPr lang="en-US" sz="1600" dirty="0">
                <a:latin typeface="+mn-lt"/>
              </a:rPr>
              <a:t>large real appreciations </a:t>
            </a:r>
            <a:r>
              <a:rPr lang="en-US" sz="1600" dirty="0" smtClean="0">
                <a:latin typeface="+mn-lt"/>
              </a:rPr>
              <a:t>of the </a:t>
            </a:r>
            <a:r>
              <a:rPr lang="en-US" sz="1600" dirty="0">
                <a:latin typeface="+mn-lt"/>
              </a:rPr>
              <a:t>U.S. dollar and two </a:t>
            </a:r>
            <a:r>
              <a:rPr lang="en-US" sz="1600" dirty="0" smtClean="0">
                <a:latin typeface="+mn-lt"/>
              </a:rPr>
              <a:t>large real </a:t>
            </a:r>
            <a:r>
              <a:rPr lang="en-US" sz="1600" dirty="0">
                <a:latin typeface="+mn-lt"/>
              </a:rPr>
              <a:t>depreciations.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19400" y="2184022"/>
            <a:ext cx="5677259" cy="33432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98911243"/>
      </p:ext>
    </p:extLst>
  </p:cSld>
  <p:clrMapOvr>
    <a:masterClrMapping/>
  </p:clrMapOvr>
  <p:transition>
    <p:strips dir="l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17-2 Openness in Financial Markets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60680" y="1370013"/>
            <a:ext cx="8249920" cy="4192587"/>
          </a:xfrm>
        </p:spPr>
        <p:txBody>
          <a:bodyPr/>
          <a:lstStyle/>
          <a:p>
            <a:r>
              <a:rPr lang="en-US" sz="2400" b="1" dirty="0" smtClean="0">
                <a:ea typeface="ヒラギノ角ゴ Pro W3" pitchFamily="-84" charset="-128"/>
              </a:rPr>
              <a:t>Foreign exchange</a:t>
            </a:r>
            <a:r>
              <a:rPr lang="en-US" sz="2400" dirty="0" smtClean="0">
                <a:ea typeface="ヒラギノ角ゴ Pro W3" pitchFamily="-84" charset="-128"/>
              </a:rPr>
              <a:t>: Buying and selling foreign currency.</a:t>
            </a:r>
          </a:p>
          <a:p>
            <a:r>
              <a:rPr lang="en-US" sz="2400" b="1" dirty="0" smtClean="0">
                <a:ea typeface="ヒラギノ角ゴ Pro W3" pitchFamily="-84" charset="-128"/>
              </a:rPr>
              <a:t>Balance of payments</a:t>
            </a:r>
            <a:r>
              <a:rPr lang="en-US" sz="2400" dirty="0" smtClean="0">
                <a:ea typeface="ヒラギノ角ゴ Pro W3" pitchFamily="-84" charset="-128"/>
              </a:rPr>
              <a:t>: A set of accounts that summarize a country’s transactions with the rest of the world.</a:t>
            </a:r>
          </a:p>
          <a:p>
            <a:r>
              <a:rPr lang="en-US" sz="2400" b="1" dirty="0" smtClean="0">
                <a:ea typeface="ヒラギノ角ゴ Pro W3" pitchFamily="-84" charset="-128"/>
              </a:rPr>
              <a:t>Current account</a:t>
            </a:r>
            <a:r>
              <a:rPr lang="en-US" sz="2400" dirty="0" smtClean="0">
                <a:ea typeface="ヒラギノ角ゴ Pro W3" pitchFamily="-84" charset="-128"/>
              </a:rPr>
              <a:t>: Transactions </a:t>
            </a:r>
            <a:r>
              <a:rPr lang="en-US" sz="2400" b="1" dirty="0" smtClean="0">
                <a:ea typeface="ヒラギノ角ゴ Pro W3" pitchFamily="-84" charset="-128"/>
              </a:rPr>
              <a:t>above the line</a:t>
            </a:r>
            <a:r>
              <a:rPr lang="en-US" sz="2400" dirty="0" smtClean="0">
                <a:ea typeface="ヒラギノ角ゴ Pro W3" pitchFamily="-84" charset="-128"/>
              </a:rPr>
              <a:t> record payments to and from the rest of the world.</a:t>
            </a:r>
          </a:p>
          <a:p>
            <a:pPr lvl="1"/>
            <a:r>
              <a:rPr lang="en-US" sz="2000" dirty="0" smtClean="0">
                <a:ea typeface="ヒラギノ角ゴ Pro W3" pitchFamily="-84" charset="-128"/>
              </a:rPr>
              <a:t>Exports and imports of goods and services (</a:t>
            </a:r>
            <a:r>
              <a:rPr lang="en-US" sz="2000" i="1" dirty="0" smtClean="0">
                <a:ea typeface="ヒラギノ角ゴ Pro W3" pitchFamily="-84" charset="-128"/>
              </a:rPr>
              <a:t>trade balance</a:t>
            </a:r>
            <a:r>
              <a:rPr lang="en-US" sz="2000" dirty="0" smtClean="0">
                <a:ea typeface="ヒラギノ角ゴ Pro W3" pitchFamily="-84" charset="-128"/>
              </a:rPr>
              <a:t>)</a:t>
            </a:r>
          </a:p>
          <a:p>
            <a:pPr lvl="1"/>
            <a:r>
              <a:rPr lang="en-US" sz="2000" dirty="0" smtClean="0">
                <a:ea typeface="ヒラギノ角ゴ Pro W3" pitchFamily="-84" charset="-128"/>
              </a:rPr>
              <a:t>Net </a:t>
            </a:r>
            <a:r>
              <a:rPr lang="en-US" sz="2000" b="1" dirty="0" smtClean="0">
                <a:ea typeface="ヒラギノ角ゴ Pro W3" pitchFamily="-84" charset="-128"/>
              </a:rPr>
              <a:t>income balance </a:t>
            </a:r>
            <a:r>
              <a:rPr lang="en-US" sz="2000" dirty="0" smtClean="0">
                <a:ea typeface="ヒラギノ角ゴ Pro W3" pitchFamily="-84" charset="-128"/>
              </a:rPr>
              <a:t>between income received from the rest of the world and income paid to foreigners</a:t>
            </a:r>
          </a:p>
          <a:p>
            <a:pPr lvl="1"/>
            <a:r>
              <a:rPr lang="en-US" sz="2000" b="1" dirty="0" smtClean="0">
                <a:ea typeface="ヒラギノ角ゴ Pro W3" pitchFamily="-84" charset="-128"/>
              </a:rPr>
              <a:t>Net transfer received</a:t>
            </a:r>
            <a:r>
              <a:rPr lang="en-US" sz="2000" dirty="0" smtClean="0">
                <a:ea typeface="ヒラギノ角ゴ Pro W3" pitchFamily="-84" charset="-128"/>
              </a:rPr>
              <a:t>—the difference in foreign aid given and received</a:t>
            </a:r>
          </a:p>
          <a:p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02023405"/>
      </p:ext>
    </p:extLst>
  </p:cSld>
  <p:clrMapOvr>
    <a:masterClrMapping/>
  </p:clrMapOvr>
  <p:transition>
    <p:strips dir="l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17-2 Openness in Financial Markets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60680" y="1370013"/>
            <a:ext cx="8249920" cy="4192587"/>
          </a:xfrm>
        </p:spPr>
        <p:txBody>
          <a:bodyPr/>
          <a:lstStyle/>
          <a:p>
            <a:r>
              <a:rPr lang="en-US" sz="2400" b="1" dirty="0" smtClean="0">
                <a:ea typeface="ヒラギノ角ゴ Pro W3" pitchFamily="-84" charset="-128"/>
              </a:rPr>
              <a:t>Current account balance</a:t>
            </a:r>
            <a:r>
              <a:rPr lang="en-US" sz="2400" dirty="0" smtClean="0">
                <a:ea typeface="ヒラギノ角ゴ Pro W3" pitchFamily="-84" charset="-128"/>
              </a:rPr>
              <a:t>: The sum of net payments to and from the rest of the world</a:t>
            </a:r>
          </a:p>
          <a:p>
            <a:r>
              <a:rPr lang="en-US" sz="2400" b="1" dirty="0" smtClean="0">
                <a:ea typeface="ヒラギノ角ゴ Pro W3" pitchFamily="-84" charset="-128"/>
              </a:rPr>
              <a:t>Current account surplus</a:t>
            </a:r>
            <a:r>
              <a:rPr lang="en-US" sz="2400" dirty="0" smtClean="0">
                <a:ea typeface="ヒラギノ角ゴ Pro W3" pitchFamily="-84" charset="-128"/>
              </a:rPr>
              <a:t>: Positive net payments from the rest of the world</a:t>
            </a:r>
          </a:p>
          <a:p>
            <a:r>
              <a:rPr lang="en-US" sz="2400" b="1" dirty="0">
                <a:ea typeface="ヒラギノ角ゴ Pro W3" pitchFamily="-84" charset="-128"/>
              </a:rPr>
              <a:t>Current account </a:t>
            </a:r>
            <a:r>
              <a:rPr lang="en-US" sz="2400" b="1" dirty="0" smtClean="0">
                <a:ea typeface="ヒラギノ角ゴ Pro W3" pitchFamily="-84" charset="-128"/>
              </a:rPr>
              <a:t>deficit</a:t>
            </a:r>
            <a:r>
              <a:rPr lang="en-US" sz="2400" dirty="0" smtClean="0">
                <a:ea typeface="ヒラギノ角ゴ Pro W3" pitchFamily="-84" charset="-128"/>
              </a:rPr>
              <a:t>: Negative </a:t>
            </a:r>
            <a:r>
              <a:rPr lang="en-US" sz="2400" dirty="0">
                <a:ea typeface="ヒラギノ角ゴ Pro W3" pitchFamily="-84" charset="-128"/>
              </a:rPr>
              <a:t>net payments from the rest of the world</a:t>
            </a:r>
          </a:p>
          <a:p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46190404"/>
      </p:ext>
    </p:extLst>
  </p:cSld>
  <p:clrMapOvr>
    <a:masterClrMapping/>
  </p:clrMapOvr>
  <p:transition>
    <p:strips dir="l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17-2 Openness in Financial Markets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60680" y="1370013"/>
            <a:ext cx="8249920" cy="4192587"/>
          </a:xfrm>
        </p:spPr>
        <p:txBody>
          <a:bodyPr/>
          <a:lstStyle/>
          <a:p>
            <a:r>
              <a:rPr lang="en-US" sz="2400" b="1" dirty="0" smtClean="0">
                <a:ea typeface="ヒラギノ角ゴ Pro W3" pitchFamily="-84" charset="-128"/>
              </a:rPr>
              <a:t>Capital account</a:t>
            </a:r>
            <a:r>
              <a:rPr lang="en-US" sz="2400" dirty="0" smtClean="0">
                <a:ea typeface="ヒラギノ角ゴ Pro W3" pitchFamily="-84" charset="-128"/>
              </a:rPr>
              <a:t>: Transactions </a:t>
            </a:r>
            <a:r>
              <a:rPr lang="en-US" sz="2400" b="1" dirty="0" smtClean="0">
                <a:ea typeface="ヒラギノ角ゴ Pro W3" pitchFamily="-84" charset="-128"/>
              </a:rPr>
              <a:t>below the line</a:t>
            </a:r>
            <a:r>
              <a:rPr lang="en-US" sz="2400" dirty="0" smtClean="0">
                <a:ea typeface="ヒラギノ角ゴ Pro W3" pitchFamily="-84" charset="-128"/>
              </a:rPr>
              <a:t> record net foreign holdings of domestic assets</a:t>
            </a:r>
          </a:p>
          <a:p>
            <a:r>
              <a:rPr lang="en-US" sz="2400" b="1" dirty="0" smtClean="0">
                <a:ea typeface="ヒラギノ角ゴ Pro W3" pitchFamily="-84" charset="-128"/>
              </a:rPr>
              <a:t>Net capital flows </a:t>
            </a:r>
            <a:r>
              <a:rPr lang="en-US" sz="2400" dirty="0" smtClean="0">
                <a:ea typeface="ヒラギノ角ゴ Pro W3" pitchFamily="-84" charset="-128"/>
              </a:rPr>
              <a:t>or </a:t>
            </a:r>
            <a:r>
              <a:rPr lang="en-US" sz="2400" b="1" dirty="0" smtClean="0">
                <a:ea typeface="ヒラギノ角ゴ Pro W3" pitchFamily="-84" charset="-128"/>
              </a:rPr>
              <a:t>capital account balance</a:t>
            </a:r>
            <a:r>
              <a:rPr lang="en-US" sz="2400" dirty="0" smtClean="0">
                <a:ea typeface="ヒラギノ角ゴ Pro W3" pitchFamily="-84" charset="-128"/>
              </a:rPr>
              <a:t>: An increase in net foreign indebtedness (holdings of domestic assets minus the increase in domestic holdings of foreign assets)</a:t>
            </a:r>
          </a:p>
          <a:p>
            <a:r>
              <a:rPr lang="en-US" sz="2400" b="1" dirty="0" smtClean="0">
                <a:ea typeface="ヒラギノ角ゴ Pro W3" pitchFamily="-84" charset="-128"/>
              </a:rPr>
              <a:t>Capital account surplus</a:t>
            </a:r>
            <a:r>
              <a:rPr lang="en-US" sz="2400" dirty="0" smtClean="0">
                <a:ea typeface="ヒラギノ角ゴ Pro W3" pitchFamily="-84" charset="-128"/>
              </a:rPr>
              <a:t>: Positive net capital flows</a:t>
            </a:r>
            <a:endParaRPr lang="en-US" sz="2400" dirty="0">
              <a:ea typeface="ヒラギノ角ゴ Pro W3" pitchFamily="-84" charset="-128"/>
            </a:endParaRPr>
          </a:p>
          <a:p>
            <a:r>
              <a:rPr lang="en-US" sz="2400" b="1" dirty="0">
                <a:ea typeface="ヒラギノ角ゴ Pro W3" pitchFamily="-84" charset="-128"/>
              </a:rPr>
              <a:t>Capital account </a:t>
            </a:r>
            <a:r>
              <a:rPr lang="en-US" sz="2400" b="1" dirty="0" smtClean="0">
                <a:ea typeface="ヒラギノ角ゴ Pro W3" pitchFamily="-84" charset="-128"/>
              </a:rPr>
              <a:t>deficit</a:t>
            </a:r>
            <a:r>
              <a:rPr lang="en-US" sz="2400" dirty="0" smtClean="0">
                <a:ea typeface="ヒラギノ角ゴ Pro W3" pitchFamily="-84" charset="-128"/>
              </a:rPr>
              <a:t>: Negative </a:t>
            </a:r>
            <a:r>
              <a:rPr lang="en-US" sz="2400" dirty="0">
                <a:ea typeface="ヒラギノ角ゴ Pro W3" pitchFamily="-84" charset="-128"/>
              </a:rPr>
              <a:t>net capital </a:t>
            </a:r>
            <a:r>
              <a:rPr lang="en-US" sz="2400" dirty="0" smtClean="0">
                <a:ea typeface="ヒラギノ角ゴ Pro W3" pitchFamily="-84" charset="-128"/>
              </a:rPr>
              <a:t>flows</a:t>
            </a:r>
          </a:p>
          <a:p>
            <a:r>
              <a:rPr lang="en-US" sz="2400" b="1" dirty="0" smtClean="0">
                <a:ea typeface="ヒラギノ角ゴ Pro W3" pitchFamily="-84" charset="-128"/>
              </a:rPr>
              <a:t>Statistical discrepancy</a:t>
            </a:r>
            <a:r>
              <a:rPr lang="en-US" sz="2400" dirty="0" smtClean="0">
                <a:ea typeface="ヒラギノ角ゴ Pro W3" pitchFamily="-84" charset="-128"/>
              </a:rPr>
              <a:t>:</a:t>
            </a:r>
            <a:r>
              <a:rPr lang="en-US" sz="2400" b="1" dirty="0" smtClean="0">
                <a:ea typeface="ヒラギノ角ゴ Pro W3" pitchFamily="-84" charset="-128"/>
              </a:rPr>
              <a:t> </a:t>
            </a:r>
            <a:r>
              <a:rPr lang="en-US" sz="2400" dirty="0" smtClean="0">
                <a:ea typeface="ヒラギノ角ゴ Pro W3" pitchFamily="-84" charset="-128"/>
              </a:rPr>
              <a:t>Difference between current and capital account transactions</a:t>
            </a:r>
            <a:endParaRPr lang="en-US" sz="2400" dirty="0">
              <a:ea typeface="ヒラギノ角ゴ Pro W3" pitchFamily="-84" charset="-128"/>
            </a:endParaRPr>
          </a:p>
          <a:p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6774628"/>
      </p:ext>
    </p:extLst>
  </p:cSld>
  <p:clrMapOvr>
    <a:masterClrMapping/>
  </p:clrMapOvr>
  <p:transition>
    <p:strips dir="l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17-2 Openness in Financial Markets</a:t>
            </a:r>
          </a:p>
        </p:txBody>
      </p:sp>
      <p:sp>
        <p:nvSpPr>
          <p:cNvPr id="25604" name="TextBox 4"/>
          <p:cNvSpPr txBox="1">
            <a:spLocks noChangeArrowheads="1"/>
          </p:cNvSpPr>
          <p:nvPr/>
        </p:nvSpPr>
        <p:spPr bwMode="auto">
          <a:xfrm>
            <a:off x="533400" y="1124744"/>
            <a:ext cx="7924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Table </a:t>
            </a:r>
            <a:r>
              <a:rPr lang="en-US" sz="1800" b="1" dirty="0" smtClean="0">
                <a:latin typeface="Verdana" panose="020B0604030504040204" pitchFamily="34" charset="0"/>
              </a:rPr>
              <a:t>17-3  </a:t>
            </a:r>
            <a:r>
              <a:rPr lang="en-US" sz="1800" dirty="0">
                <a:latin typeface="Verdana" panose="020B0604030504040204" pitchFamily="34" charset="0"/>
              </a:rPr>
              <a:t>The U.S. Balance of Payments, </a:t>
            </a:r>
            <a:r>
              <a:rPr lang="en-US" sz="1800" dirty="0" smtClean="0">
                <a:latin typeface="Verdana" panose="020B0604030504040204" pitchFamily="34" charset="0"/>
              </a:rPr>
              <a:t>2014, </a:t>
            </a:r>
            <a:r>
              <a:rPr lang="en-US" sz="1800" dirty="0">
                <a:latin typeface="Verdana" panose="020B0604030504040204" pitchFamily="34" charset="0"/>
              </a:rPr>
              <a:t>in Billions of U.S. Dollars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1752600"/>
            <a:ext cx="6934200" cy="451164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36454974"/>
      </p:ext>
    </p:extLst>
  </p:cSld>
  <p:clrMapOvr>
    <a:masterClrMapping/>
  </p:clrMapOvr>
  <p:transition>
    <p:strips dir="l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17-2 Openness in Financial Markets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60680" y="1370013"/>
            <a:ext cx="8249920" cy="4192587"/>
          </a:xfrm>
        </p:spPr>
        <p:txBody>
          <a:bodyPr/>
          <a:lstStyle/>
          <a:p>
            <a:r>
              <a:rPr lang="en-US" sz="2400" dirty="0" smtClean="0">
                <a:ea typeface="ヒラギノ角ゴ Pro W3" pitchFamily="-84" charset="-128"/>
              </a:rPr>
              <a:t>GDP measures value added domestically.</a:t>
            </a:r>
          </a:p>
          <a:p>
            <a:r>
              <a:rPr lang="en-US" sz="2400" b="1" dirty="0" smtClean="0">
                <a:ea typeface="ヒラギノ角ゴ Pro W3" pitchFamily="-84" charset="-128"/>
              </a:rPr>
              <a:t>Gross national product (GNP) </a:t>
            </a:r>
            <a:r>
              <a:rPr lang="en-US" sz="2400" dirty="0" smtClean="0">
                <a:ea typeface="ヒラギノ角ゴ Pro W3" pitchFamily="-84" charset="-128"/>
              </a:rPr>
              <a:t>measures the value added by domestic factors of production</a:t>
            </a:r>
          </a:p>
          <a:p>
            <a:pPr marL="0" indent="0" algn="ctr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400" i="1" dirty="0" smtClean="0">
                <a:ea typeface="ヒラギノ角ゴ Pro W3" pitchFamily="-84" charset="-128"/>
              </a:rPr>
              <a:t>GNP = GDP + NI</a:t>
            </a:r>
          </a:p>
          <a:p>
            <a:pPr marL="347663" indent="0">
              <a:buNone/>
            </a:pPr>
            <a:r>
              <a:rPr lang="en-US" sz="2400" dirty="0" smtClean="0">
                <a:ea typeface="ヒラギノ角ゴ Pro W3" pitchFamily="-84" charset="-128"/>
              </a:rPr>
              <a:t>where </a:t>
            </a:r>
            <a:r>
              <a:rPr lang="en-US" sz="2400" i="1" dirty="0" smtClean="0">
                <a:ea typeface="ヒラギノ角ゴ Pro W3" pitchFamily="-84" charset="-128"/>
              </a:rPr>
              <a:t>NI</a:t>
            </a:r>
            <a:r>
              <a:rPr lang="en-US" sz="2400" dirty="0" smtClean="0">
                <a:ea typeface="ヒラギノ角ゴ Pro W3" pitchFamily="-84" charset="-128"/>
              </a:rPr>
              <a:t> denotes net income—payments received from the rest of the world less income paid to the rest of the world</a:t>
            </a:r>
            <a:endParaRPr lang="en-US" sz="2400" dirty="0">
              <a:ea typeface="ヒラギノ角ゴ Pro W3" pitchFamily="-84" charset="-128"/>
            </a:endParaRPr>
          </a:p>
          <a:p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68888572"/>
      </p:ext>
    </p:extLst>
  </p:cSld>
  <p:clrMapOvr>
    <a:masterClrMapping/>
  </p:clrMapOvr>
  <p:transition>
    <p:strips dir="l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65" charset="-128"/>
              </a:rPr>
              <a:t>FOCUS: GDP versus GNP: The Example of Kuwait</a:t>
            </a:r>
          </a:p>
        </p:txBody>
      </p:sp>
      <p:sp>
        <p:nvSpPr>
          <p:cNvPr id="26628" name="TextBox 4"/>
          <p:cNvSpPr txBox="1">
            <a:spLocks noChangeArrowheads="1"/>
          </p:cNvSpPr>
          <p:nvPr/>
        </p:nvSpPr>
        <p:spPr bwMode="auto">
          <a:xfrm>
            <a:off x="685800" y="2132013"/>
            <a:ext cx="7543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Table 1  </a:t>
            </a:r>
            <a:r>
              <a:rPr lang="en-US" sz="1800" dirty="0">
                <a:latin typeface="Verdana" panose="020B0604030504040204" pitchFamily="34" charset="0"/>
              </a:rPr>
              <a:t>GDP, GNP, and Net Income in Kuwait, 1989–1994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24100" y="2590800"/>
            <a:ext cx="4572000" cy="3650690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60680" y="1370013"/>
            <a:ext cx="8249920" cy="534987"/>
          </a:xfrm>
        </p:spPr>
        <p:txBody>
          <a:bodyPr/>
          <a:lstStyle/>
          <a:p>
            <a:r>
              <a:rPr lang="en-US" sz="1800" dirty="0" smtClean="0">
                <a:ea typeface="ヒラギノ角ゴ Pro W3" pitchFamily="-84" charset="-128"/>
              </a:rPr>
              <a:t>Kuwait ran a large current account surplus and accumulated large foreign assets, resulting in larger GNP compared to GDP.</a:t>
            </a:r>
            <a:endParaRPr lang="en-US" sz="1800" dirty="0">
              <a:ea typeface="ヒラギノ角ゴ Pro W3" pitchFamily="-84" charset="-128"/>
            </a:endParaRPr>
          </a:p>
          <a:p>
            <a:endParaRPr lang="en-US" sz="18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9423458"/>
      </p:ext>
    </p:extLst>
  </p:cSld>
  <p:clrMapOvr>
    <a:masterClrMapping/>
  </p:clrMapOvr>
  <p:transition>
    <p:strips dir="l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17-2 Openness in Financial Markets</a:t>
            </a:r>
          </a:p>
        </p:txBody>
      </p:sp>
      <p:sp>
        <p:nvSpPr>
          <p:cNvPr id="27651" name="TextBox 4"/>
          <p:cNvSpPr txBox="1">
            <a:spLocks noChangeArrowheads="1"/>
          </p:cNvSpPr>
          <p:nvPr/>
        </p:nvSpPr>
        <p:spPr bwMode="auto">
          <a:xfrm>
            <a:off x="533400" y="2209800"/>
            <a:ext cx="7924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</a:t>
            </a:r>
            <a:r>
              <a:rPr lang="en-US" sz="1800" b="1" dirty="0" smtClean="0">
                <a:latin typeface="Verdana" panose="020B0604030504040204" pitchFamily="34" charset="0"/>
              </a:rPr>
              <a:t>17-7  </a:t>
            </a:r>
            <a:r>
              <a:rPr lang="en-US" sz="1800" dirty="0">
                <a:latin typeface="Verdana" panose="020B0604030504040204" pitchFamily="34" charset="0"/>
              </a:rPr>
              <a:t>Expected Returns from Holding One-Year U.S. Bonds vs. One-Year U.K. Bonds</a:t>
            </a:r>
          </a:p>
        </p:txBody>
      </p:sp>
      <p:pic>
        <p:nvPicPr>
          <p:cNvPr id="27652" name="Picture 5" descr="fig18_07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124200"/>
            <a:ext cx="6553200" cy="2710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81000" y="1157427"/>
            <a:ext cx="7924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Verdana" panose="020B0604030504040204" pitchFamily="34" charset="0"/>
              </a:rPr>
              <a:t>Consider a U.S. investor’s decision between holding U.S. one year bonds and U.S. one-year bonds.</a:t>
            </a:r>
            <a:endParaRPr lang="en-US" sz="20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26788481"/>
      </p:ext>
    </p:extLst>
  </p:cSld>
  <p:clrMapOvr>
    <a:masterClrMapping/>
  </p:clrMapOvr>
  <p:transition>
    <p:strips dir="l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17-2 Openness in Financial Markets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60680" y="1370013"/>
            <a:ext cx="8249920" cy="4192587"/>
          </a:xfrm>
        </p:spPr>
        <p:txBody>
          <a:bodyPr/>
          <a:lstStyle/>
          <a:p>
            <a:r>
              <a:rPr lang="en-US" sz="2400" dirty="0" smtClean="0">
                <a:ea typeface="ヒラギノ角ゴ Pro W3" pitchFamily="-84" charset="-128"/>
              </a:rPr>
              <a:t>Arbitrage implies that:</a:t>
            </a:r>
          </a:p>
          <a:p>
            <a:endParaRPr lang="en-US" sz="3200" dirty="0">
              <a:ea typeface="ヒラギノ角ゴ Pro W3" pitchFamily="-84" charset="-128"/>
            </a:endParaRPr>
          </a:p>
          <a:p>
            <a:pPr marL="0" indent="0">
              <a:buNone/>
            </a:pPr>
            <a:r>
              <a:rPr lang="en-US" sz="2400" dirty="0" smtClean="0">
                <a:ea typeface="ヒラギノ角ゴ Pro W3" pitchFamily="-84" charset="-128"/>
              </a:rPr>
              <a:t>   or</a:t>
            </a:r>
          </a:p>
          <a:p>
            <a:endParaRPr lang="en-US" sz="2400" dirty="0">
              <a:ea typeface="ヒラギノ角ゴ Pro W3" pitchFamily="-84" charset="-128"/>
            </a:endParaRPr>
          </a:p>
          <a:p>
            <a:endParaRPr lang="en-US" sz="2400" dirty="0" smtClean="0">
              <a:ea typeface="ヒラギノ角ゴ Pro W3" pitchFamily="-84" charset="-128"/>
            </a:endParaRPr>
          </a:p>
          <a:p>
            <a:pPr marL="346075" indent="0">
              <a:buNone/>
            </a:pPr>
            <a:r>
              <a:rPr lang="en-US" sz="2400" dirty="0" smtClean="0">
                <a:ea typeface="ヒラギノ角ゴ Pro W3" pitchFamily="-84" charset="-128"/>
              </a:rPr>
              <a:t>which is called the </a:t>
            </a:r>
            <a:r>
              <a:rPr lang="en-US" sz="2400" b="1" dirty="0" smtClean="0">
                <a:ea typeface="ヒラギノ角ゴ Pro W3" pitchFamily="-84" charset="-128"/>
              </a:rPr>
              <a:t>uncovered interest parity </a:t>
            </a:r>
            <a:r>
              <a:rPr lang="en-US" sz="2400" dirty="0" smtClean="0">
                <a:ea typeface="ヒラギノ角ゴ Pro W3" pitchFamily="-84" charset="-128"/>
              </a:rPr>
              <a:t>relation or the </a:t>
            </a:r>
            <a:r>
              <a:rPr lang="en-US" sz="2400" i="1" dirty="0" smtClean="0">
                <a:ea typeface="ヒラギノ角ゴ Pro W3" pitchFamily="-84" charset="-128"/>
              </a:rPr>
              <a:t>interest parity relation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  <a:p>
            <a:r>
              <a:rPr lang="en-US" sz="2400" dirty="0" smtClean="0">
                <a:ea typeface="ヒラギノ角ゴ Pro W3" pitchFamily="-84" charset="-128"/>
              </a:rPr>
              <a:t>The assumption that financial investors hold only the bonds with the highest expected rate of return ignores transactions costs and risk.</a:t>
            </a:r>
          </a:p>
          <a:p>
            <a:endParaRPr lang="en-US" sz="2400" dirty="0" smtClean="0">
              <a:ea typeface="ヒラギノ角ゴ Pro W3" pitchFamily="-8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4599" y="1828800"/>
            <a:ext cx="4072328" cy="762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6400" y="2819400"/>
            <a:ext cx="7162800" cy="7715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32014077"/>
      </p:ext>
    </p:extLst>
  </p:cSld>
  <p:clrMapOvr>
    <a:masterClrMapping/>
  </p:clrMapOvr>
  <p:transition>
    <p:strips dir="l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17-2 Openness in Financial Markets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60680" y="1370013"/>
            <a:ext cx="8249920" cy="4954587"/>
          </a:xfrm>
        </p:spPr>
        <p:txBody>
          <a:bodyPr/>
          <a:lstStyle/>
          <a:p>
            <a:r>
              <a:rPr lang="en-US" sz="2400" dirty="0" smtClean="0">
                <a:ea typeface="ヒラギノ角ゴ Pro W3" pitchFamily="-84" charset="-128"/>
              </a:rPr>
              <a:t>Equation (17.2) implies:</a:t>
            </a:r>
          </a:p>
          <a:p>
            <a:endParaRPr lang="en-US" sz="4000" dirty="0">
              <a:ea typeface="ヒラギノ角ゴ Pro W3" pitchFamily="-84" charset="-128"/>
            </a:endParaRPr>
          </a:p>
          <a:p>
            <a:endParaRPr lang="en-US" sz="2400" dirty="0" smtClean="0">
              <a:ea typeface="ヒラギノ角ゴ Pro W3" pitchFamily="-84" charset="-128"/>
            </a:endParaRPr>
          </a:p>
          <a:p>
            <a:pPr marL="346075" indent="0">
              <a:buNone/>
            </a:pPr>
            <a:r>
              <a:rPr lang="en-US" sz="2400" dirty="0" smtClean="0">
                <a:ea typeface="ヒラギノ角ゴ Pro W3" pitchFamily="-84" charset="-128"/>
              </a:rPr>
              <a:t>which gives a good approximation of the the </a:t>
            </a:r>
            <a:r>
              <a:rPr lang="en-US" sz="2400" i="1" dirty="0" smtClean="0">
                <a:ea typeface="ヒラギノ角ゴ Pro W3" pitchFamily="-84" charset="-128"/>
              </a:rPr>
              <a:t>interest parity condition</a:t>
            </a:r>
            <a:r>
              <a:rPr lang="en-US" sz="2400" dirty="0" smtClean="0">
                <a:ea typeface="ヒラギノ角ゴ Pro W3" pitchFamily="-84" charset="-128"/>
              </a:rPr>
              <a:t>:</a:t>
            </a:r>
          </a:p>
          <a:p>
            <a:endParaRPr lang="en-US" sz="2400" dirty="0">
              <a:ea typeface="ヒラギノ角ゴ Pro W3" pitchFamily="-84" charset="-128"/>
            </a:endParaRPr>
          </a:p>
          <a:p>
            <a:endParaRPr lang="en-US" sz="2400" dirty="0" smtClean="0">
              <a:ea typeface="ヒラギノ角ゴ Pro W3" pitchFamily="-84" charset="-128"/>
            </a:endParaRPr>
          </a:p>
          <a:p>
            <a:r>
              <a:rPr lang="en-US" sz="2400" dirty="0" smtClean="0">
                <a:ea typeface="ヒラギノ角ゴ Pro W3" pitchFamily="-84" charset="-128"/>
              </a:rPr>
              <a:t>Arbitrage by investors implies that the </a:t>
            </a:r>
            <a:r>
              <a:rPr lang="en-US" sz="2400" i="1" dirty="0" smtClean="0">
                <a:ea typeface="ヒラギノ角ゴ Pro W3" pitchFamily="-84" charset="-128"/>
              </a:rPr>
              <a:t>domestic interest rate must be equal to the foreign interest rate minus the expected appreciation rate of the domestic currency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  <a:p>
            <a:endParaRPr lang="en-US" sz="2400" dirty="0" smtClean="0">
              <a:ea typeface="ヒラギノ角ゴ Pro W3" pitchFamily="-84" charset="-12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5400" y="1932622"/>
            <a:ext cx="7543800" cy="828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76450" y="3810000"/>
            <a:ext cx="6762750" cy="762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28678412"/>
      </p:ext>
    </p:extLst>
  </p:cSld>
  <p:clrMapOvr>
    <a:masterClrMapping/>
  </p:clrMapOvr>
  <p:transition>
    <p:strips dir="l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17-2 Openness in Financial Markets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60680" y="1370013"/>
            <a:ext cx="8249920" cy="4954587"/>
          </a:xfrm>
        </p:spPr>
        <p:txBody>
          <a:bodyPr/>
          <a:lstStyle/>
          <a:p>
            <a:r>
              <a:rPr lang="en-US" sz="2400" dirty="0" smtClean="0">
                <a:ea typeface="ヒラギノ角ゴ Pro W3" pitchFamily="-84" charset="-128"/>
              </a:rPr>
              <a:t>Equation (17.4) can also be stated as the condition that the domestic interest rate must be equal to the foreign interest rate minus the expected depreciation of the foreign currency.</a:t>
            </a:r>
          </a:p>
          <a:p>
            <a:r>
              <a:rPr lang="en-US" sz="2400" dirty="0" smtClean="0">
                <a:ea typeface="ヒラギノ角ゴ Pro W3" pitchFamily="-84" charset="-128"/>
              </a:rPr>
              <a:t>If              , then the interest parity condition implies         .</a:t>
            </a:r>
            <a:endParaRPr lang="en-US" sz="4000" dirty="0">
              <a:ea typeface="ヒラギノ角ゴ Pro W3" pitchFamily="-84" charset="-128"/>
            </a:endParaRPr>
          </a:p>
          <a:p>
            <a:endParaRPr lang="en-US" sz="2400" dirty="0" smtClean="0">
              <a:ea typeface="ヒラギノ角ゴ Pro W3" pitchFamily="-84" charset="-128"/>
            </a:endParaRPr>
          </a:p>
          <a:p>
            <a:endParaRPr lang="en-US" sz="2400" dirty="0" smtClean="0">
              <a:ea typeface="ヒラギノ角ゴ Pro W3" pitchFamily="-8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800" y="2943225"/>
            <a:ext cx="1321594" cy="3333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66888" y="3346634"/>
            <a:ext cx="809625" cy="32146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3403748"/>
      </p:ext>
    </p:extLst>
  </p:cSld>
  <p:clrMapOvr>
    <a:masterClrMapping/>
  </p:clrMapOvr>
  <p:transition>
    <p:strips dir="l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17-2 Openness in Financial Markets</a:t>
            </a:r>
          </a:p>
        </p:txBody>
      </p:sp>
      <p:sp>
        <p:nvSpPr>
          <p:cNvPr id="29699" name="TextBox 5"/>
          <p:cNvSpPr txBox="1">
            <a:spLocks noChangeArrowheads="1"/>
          </p:cNvSpPr>
          <p:nvPr/>
        </p:nvSpPr>
        <p:spPr bwMode="auto">
          <a:xfrm>
            <a:off x="381000" y="1340167"/>
            <a:ext cx="8305800" cy="64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smtClean="0">
                <a:latin typeface="Verdana" panose="020B0604030504040204" pitchFamily="34" charset="0"/>
              </a:rPr>
              <a:t>Figure 17-8 </a:t>
            </a:r>
            <a:r>
              <a:rPr lang="en-US" sz="1800" smtClean="0">
                <a:latin typeface="Verdana" panose="020B0604030504040204" pitchFamily="34" charset="0"/>
              </a:rPr>
              <a:t> Three-Month Nominal Interest Rates in the United States and in the United Kingdom since 1970</a:t>
            </a:r>
            <a:endParaRPr lang="en-US" sz="1800" dirty="0">
              <a:latin typeface="Verdan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47925" y="2133600"/>
            <a:ext cx="6391275" cy="35864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4925686"/>
            <a:ext cx="1990725" cy="8096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1160" y="2658453"/>
            <a:ext cx="22193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U.S. and U.K. nominal </a:t>
            </a:r>
            <a:r>
              <a:rPr lang="en-US" sz="1600" dirty="0" smtClean="0">
                <a:latin typeface="+mn-lt"/>
              </a:rPr>
              <a:t>interest rates </a:t>
            </a:r>
            <a:r>
              <a:rPr lang="en-US" sz="1600" dirty="0">
                <a:latin typeface="+mn-lt"/>
              </a:rPr>
              <a:t>have largely moved </a:t>
            </a:r>
            <a:r>
              <a:rPr lang="en-US" sz="1600" dirty="0" smtClean="0">
                <a:latin typeface="+mn-lt"/>
              </a:rPr>
              <a:t>together over </a:t>
            </a:r>
            <a:r>
              <a:rPr lang="en-US" sz="1600" dirty="0">
                <a:latin typeface="+mn-lt"/>
              </a:rPr>
              <a:t>the last 40 years.</a:t>
            </a:r>
          </a:p>
        </p:txBody>
      </p:sp>
    </p:spTree>
    <p:extLst>
      <p:ext uri="{BB962C8B-B14F-4D97-AF65-F5344CB8AC3E}">
        <p14:creationId xmlns="" xmlns:p14="http://schemas.microsoft.com/office/powerpoint/2010/main" val="3293588406"/>
      </p:ext>
    </p:extLst>
  </p:cSld>
  <p:clrMapOvr>
    <a:masterClrMapping/>
  </p:clrMapOvr>
  <p:transition>
    <p:strips dir="l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17-3 Conclusions and a Look Ahead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60680" y="1370013"/>
            <a:ext cx="8249920" cy="4954587"/>
          </a:xfrm>
        </p:spPr>
        <p:txBody>
          <a:bodyPr/>
          <a:lstStyle/>
          <a:p>
            <a:r>
              <a:rPr lang="en-US" sz="2400" dirty="0" smtClean="0">
                <a:ea typeface="ヒラギノ角ゴ Pro W3" pitchFamily="-84" charset="-128"/>
              </a:rPr>
              <a:t>Openness in goods markets allows people and firms to choose between domestic goods and foreign goods. This choice depends primarily on the real exchange rate.</a:t>
            </a:r>
          </a:p>
          <a:p>
            <a:r>
              <a:rPr lang="en-US" sz="2400" dirty="0">
                <a:ea typeface="ヒラギノ角ゴ Pro W3" pitchFamily="-84" charset="-128"/>
              </a:rPr>
              <a:t>Openness in </a:t>
            </a:r>
            <a:r>
              <a:rPr lang="en-US" sz="2400" dirty="0" smtClean="0">
                <a:ea typeface="ヒラギノ角ゴ Pro W3" pitchFamily="-84" charset="-128"/>
              </a:rPr>
              <a:t>financial </a:t>
            </a:r>
            <a:r>
              <a:rPr lang="en-US" sz="2400" dirty="0">
                <a:ea typeface="ヒラギノ角ゴ Pro W3" pitchFamily="-84" charset="-128"/>
              </a:rPr>
              <a:t>markets allows </a:t>
            </a:r>
            <a:r>
              <a:rPr lang="en-US" sz="2400" dirty="0" smtClean="0">
                <a:ea typeface="ヒラギノ角ゴ Pro W3" pitchFamily="-84" charset="-128"/>
              </a:rPr>
              <a:t>investors to choose </a:t>
            </a:r>
            <a:r>
              <a:rPr lang="en-US" sz="2400" dirty="0">
                <a:ea typeface="ヒラギノ角ゴ Pro W3" pitchFamily="-84" charset="-128"/>
              </a:rPr>
              <a:t>between domestic </a:t>
            </a:r>
            <a:r>
              <a:rPr lang="en-US" sz="2400" dirty="0" smtClean="0">
                <a:ea typeface="ヒラギノ角ゴ Pro W3" pitchFamily="-84" charset="-128"/>
              </a:rPr>
              <a:t>assets </a:t>
            </a:r>
            <a:r>
              <a:rPr lang="en-US" sz="2400" dirty="0">
                <a:ea typeface="ヒラギノ角ゴ Pro W3" pitchFamily="-84" charset="-128"/>
              </a:rPr>
              <a:t>and foreign </a:t>
            </a:r>
            <a:r>
              <a:rPr lang="en-US" sz="2400" dirty="0" smtClean="0">
                <a:ea typeface="ヒラギノ角ゴ Pro W3" pitchFamily="-84" charset="-128"/>
              </a:rPr>
              <a:t>assets</a:t>
            </a:r>
            <a:r>
              <a:rPr lang="en-US" sz="2400" dirty="0">
                <a:ea typeface="ヒラギノ角ゴ Pro W3" pitchFamily="-84" charset="-128"/>
              </a:rPr>
              <a:t>. This choice depends </a:t>
            </a:r>
            <a:r>
              <a:rPr lang="en-US" sz="2400" dirty="0" smtClean="0">
                <a:ea typeface="ヒラギノ角ゴ Pro W3" pitchFamily="-84" charset="-128"/>
              </a:rPr>
              <a:t>primarily </a:t>
            </a:r>
            <a:r>
              <a:rPr lang="en-US" sz="2400" dirty="0">
                <a:ea typeface="ヒラギノ角ゴ Pro W3" pitchFamily="-84" charset="-128"/>
              </a:rPr>
              <a:t>on </a:t>
            </a:r>
            <a:r>
              <a:rPr lang="en-US" sz="2400" dirty="0" smtClean="0">
                <a:ea typeface="ヒラギノ角ゴ Pro W3" pitchFamily="-84" charset="-128"/>
              </a:rPr>
              <a:t>their relative rates of return, and on the expected rate of appreciation of the domestic currency.</a:t>
            </a:r>
          </a:p>
          <a:p>
            <a:pPr marL="0" indent="0">
              <a:buNone/>
            </a:pPr>
            <a:endParaRPr lang="en-US" sz="2400" dirty="0" smtClean="0">
              <a:ea typeface="ヒラギノ角ゴ Pro W3" pitchFamily="-84" charset="-128"/>
            </a:endParaRPr>
          </a:p>
          <a:p>
            <a:endParaRPr lang="en-US" sz="4000" dirty="0">
              <a:ea typeface="ヒラギノ角ゴ Pro W3" pitchFamily="-84" charset="-128"/>
            </a:endParaRPr>
          </a:p>
          <a:p>
            <a:endParaRPr lang="en-US" sz="2400" dirty="0" smtClean="0">
              <a:ea typeface="ヒラギノ角ゴ Pro W3" pitchFamily="-84" charset="-128"/>
            </a:endParaRPr>
          </a:p>
          <a:p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65339288"/>
      </p:ext>
    </p:extLst>
  </p:cSld>
  <p:clrMapOvr>
    <a:masterClrMapping/>
  </p:clrMapOvr>
  <p:transition>
    <p:strips dir="ld"/>
  </p:transition>
</p:sld>
</file>

<file path=ppt/theme/theme1.xml><?xml version="1.0" encoding="utf-8"?>
<a:theme xmlns:a="http://schemas.openxmlformats.org/drawingml/2006/main" name="template_LN01Brooks671956_02_LN01">
  <a:themeElements>
    <a:clrScheme name="Pearson_PowerPoint_Template_Bekaer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arson_PowerPoint_Template_Bekaer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earson_PowerPoint_Template_Bekaer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LN01Folland832739_07_LN01.pot</Template>
  <TotalTime>5762</TotalTime>
  <Words>1475</Words>
  <Application>Microsoft Office PowerPoint</Application>
  <PresentationFormat>On-screen Show (4:3)</PresentationFormat>
  <Paragraphs>114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template_LN01Brooks671956_02_LN01</vt:lpstr>
      <vt:lpstr>Openness in Goods and Financial Markets</vt:lpstr>
      <vt:lpstr>Chapter 17 Outline</vt:lpstr>
      <vt:lpstr>Openness in Goods and Financial Markets</vt:lpstr>
      <vt:lpstr>Openness in Goods and Financial Markets</vt:lpstr>
      <vt:lpstr>Figure 17-1  Growth in Advanced and Emerging Economies since 2005</vt:lpstr>
      <vt:lpstr>17-1 Openness in Goods Markets</vt:lpstr>
      <vt:lpstr>17-1 Openness in Goods Markets</vt:lpstr>
      <vt:lpstr>17-1 Openness in Goods Markets</vt:lpstr>
      <vt:lpstr>FOCUS: Can Exports Exceed GDP?</vt:lpstr>
      <vt:lpstr>17-1 Openness in Goods Markets</vt:lpstr>
      <vt:lpstr>17-1 Openness in Goods Markets</vt:lpstr>
      <vt:lpstr>17-1 Openness in Goods Markets</vt:lpstr>
      <vt:lpstr>17-1 Openness in Goods Markets</vt:lpstr>
      <vt:lpstr>17-1 Openness in Goods Markets</vt:lpstr>
      <vt:lpstr>17-1 Openness in Goods Markets</vt:lpstr>
      <vt:lpstr>17-1 Openness in Goods Markets</vt:lpstr>
      <vt:lpstr>17-1 Openness in Goods Markets</vt:lpstr>
      <vt:lpstr>17-2 Openness in Financial Markets</vt:lpstr>
      <vt:lpstr>17-2 Openness in Financial Markets</vt:lpstr>
      <vt:lpstr>17-2 Openness in Financial Markets</vt:lpstr>
      <vt:lpstr>17-2 Openness in Financial Markets</vt:lpstr>
      <vt:lpstr>17-2 Openness in Financial Markets</vt:lpstr>
      <vt:lpstr>FOCUS: GDP versus GNP: The Example of Kuwait</vt:lpstr>
      <vt:lpstr>17-2 Openness in Financial Markets</vt:lpstr>
      <vt:lpstr>17-2 Openness in Financial Markets</vt:lpstr>
      <vt:lpstr>17-2 Openness in Financial Markets</vt:lpstr>
      <vt:lpstr>17-2 Openness in Financial Markets</vt:lpstr>
      <vt:lpstr>17-2 Openness in Financial Markets</vt:lpstr>
      <vt:lpstr>17-3 Conclusions and a Look Ahead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Oliver Blanchard</dc:creator>
  <cp:lastModifiedBy>Paromita</cp:lastModifiedBy>
  <cp:revision>257</cp:revision>
  <dcterms:created xsi:type="dcterms:W3CDTF">2012-08-09T20:37:31Z</dcterms:created>
  <dcterms:modified xsi:type="dcterms:W3CDTF">2016-10-06T05:44:25Z</dcterms:modified>
</cp:coreProperties>
</file>