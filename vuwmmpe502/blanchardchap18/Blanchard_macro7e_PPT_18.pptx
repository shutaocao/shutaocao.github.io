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8"/>
  </p:notesMasterIdLst>
  <p:sldIdLst>
    <p:sldId id="256" r:id="rId2"/>
    <p:sldId id="269" r:id="rId3"/>
    <p:sldId id="357" r:id="rId4"/>
    <p:sldId id="469" r:id="rId5"/>
    <p:sldId id="470" r:id="rId6"/>
    <p:sldId id="454" r:id="rId7"/>
    <p:sldId id="471" r:id="rId8"/>
    <p:sldId id="455" r:id="rId9"/>
    <p:sldId id="456" r:id="rId10"/>
    <p:sldId id="472" r:id="rId11"/>
    <p:sldId id="457" r:id="rId12"/>
    <p:sldId id="458" r:id="rId13"/>
    <p:sldId id="473" r:id="rId14"/>
    <p:sldId id="474" r:id="rId15"/>
    <p:sldId id="468" r:id="rId16"/>
    <p:sldId id="475" r:id="rId17"/>
    <p:sldId id="459" r:id="rId18"/>
    <p:sldId id="460" r:id="rId19"/>
    <p:sldId id="466" r:id="rId20"/>
    <p:sldId id="467" r:id="rId21"/>
    <p:sldId id="476" r:id="rId22"/>
    <p:sldId id="461" r:id="rId23"/>
    <p:sldId id="462" r:id="rId24"/>
    <p:sldId id="463" r:id="rId25"/>
    <p:sldId id="477" r:id="rId26"/>
    <p:sldId id="444" r:id="rId2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90" autoAdjust="0"/>
    <p:restoredTop sz="94690"/>
  </p:normalViewPr>
  <p:slideViewPr>
    <p:cSldViewPr>
      <p:cViewPr varScale="1">
        <p:scale>
          <a:sx n="75" d="100"/>
          <a:sy n="75" d="100"/>
        </p:scale>
        <p:origin x="-84" y="-9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 xmlns:p14="http://schemas.microsoft.com/office/powerpoint/2010/main"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 xmlns:p14="http://schemas.microsoft.com/office/powerpoint/2010/main"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18-</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The Goods Market in an Open Economy</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18</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18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a:ea typeface="ヒラギノ角ゴ Pro W3" pitchFamily="-84" charset="-128"/>
              </a:rPr>
              <a:t>The Goods Market in an Open </a:t>
            </a:r>
            <a:r>
              <a:rPr lang="en-US" sz="2400" b="1" kern="0" dirty="0" smtClean="0">
                <a:ea typeface="ヒラギノ角ゴ Pro W3" pitchFamily="-84" charset="-128"/>
              </a:rPr>
              <a:t>Economy</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18-1	</a:t>
            </a:r>
            <a:r>
              <a:rPr lang="en-US" sz="2400" kern="0" dirty="0">
                <a:ea typeface="ヒラギノ角ゴ Pro W3" pitchFamily="-84" charset="-128"/>
              </a:rPr>
              <a:t>The </a:t>
            </a:r>
            <a:r>
              <a:rPr lang="en-US" sz="2400" i="1" kern="0" dirty="0">
                <a:ea typeface="ヒラギノ角ゴ Pro W3" pitchFamily="-84" charset="-128"/>
              </a:rPr>
              <a:t>IS</a:t>
            </a:r>
            <a:r>
              <a:rPr lang="en-US" sz="2400" kern="0" dirty="0">
                <a:ea typeface="ヒラギノ角ゴ Pro W3" pitchFamily="-84" charset="-128"/>
              </a:rPr>
              <a:t> Relation in the Open Economy</a:t>
            </a: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18-2	Equilibrium Output and the Trade Balance</a:t>
            </a:r>
          </a:p>
          <a:p>
            <a:pPr marL="1714500" indent="-1714500" eaLnBrk="1" hangingPunct="1">
              <a:buFontTx/>
              <a:buNone/>
              <a:defRPr/>
            </a:pPr>
            <a:r>
              <a:rPr lang="en-US" sz="2400" kern="0" dirty="0" smtClean="0">
                <a:ea typeface="ヒラギノ角ゴ Pro W3" pitchFamily="-84" charset="-128"/>
              </a:rPr>
              <a:t>18-3	Increases in Demand−Domestic or Foreign</a:t>
            </a:r>
          </a:p>
          <a:p>
            <a:pPr marL="1714500" indent="-1714500" eaLnBrk="1" hangingPunct="1">
              <a:buFontTx/>
              <a:buNone/>
              <a:defRPr/>
            </a:pPr>
            <a:r>
              <a:rPr lang="en-US" sz="2400" kern="0" dirty="0" smtClean="0">
                <a:ea typeface="ヒラギノ角ゴ Pro W3" pitchFamily="-84" charset="-128"/>
              </a:rPr>
              <a:t>18-4	Depreciation, the Trade Balance, and Output</a:t>
            </a:r>
          </a:p>
          <a:p>
            <a:pPr marL="1714500" indent="-1714500" eaLnBrk="1" hangingPunct="1">
              <a:buFontTx/>
              <a:buNone/>
              <a:defRPr/>
            </a:pPr>
            <a:r>
              <a:rPr lang="en-US" sz="2400" kern="0" dirty="0" smtClean="0">
                <a:ea typeface="ヒラギノ角ゴ Pro W3" pitchFamily="-84" charset="-128"/>
              </a:rPr>
              <a:t>18-5	Looking at Dynamics: The J-Curve</a:t>
            </a:r>
          </a:p>
          <a:p>
            <a:pPr marL="1714500" indent="-1714500" eaLnBrk="1" hangingPunct="1">
              <a:buFontTx/>
              <a:buNone/>
              <a:defRPr/>
            </a:pPr>
            <a:r>
              <a:rPr lang="en-US" sz="2400" kern="0" dirty="0" smtClean="0">
                <a:ea typeface="ヒラギノ角ゴ Pro W3" pitchFamily="-84" charset="-128"/>
              </a:rPr>
              <a:t>18-6	Saving, Investment, and the Current Account Balance</a:t>
            </a: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84" charset="-128"/>
              </a:rPr>
              <a:t>The Goods Market in an Open Economy</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The U.S. recession in 2009 led to a world recession.</a:t>
            </a:r>
          </a:p>
          <a:p>
            <a:r>
              <a:rPr lang="en-US" sz="2400" dirty="0" smtClean="0">
                <a:ea typeface="ヒラギノ角ゴ Pro W3" pitchFamily="-84" charset="-128"/>
              </a:rPr>
              <a:t>To understand what happened, we must expand the treatment of the goods market in Chapter 3 of the core and account for openness in the analysis of goods markets.</a:t>
            </a:r>
          </a:p>
          <a:p>
            <a:r>
              <a:rPr lang="en-US" sz="2400" dirty="0" smtClean="0">
                <a:ea typeface="ヒラギノ角ゴ Pro W3" pitchFamily="-84" charset="-128"/>
              </a:rPr>
              <a:t>This is what we do in this chapter.</a:t>
            </a:r>
          </a:p>
        </p:txBody>
      </p:sp>
    </p:spTree>
    <p:extLst>
      <p:ext uri="{BB962C8B-B14F-4D97-AF65-F5344CB8AC3E}">
        <p14:creationId xmlns="" xmlns:p14="http://schemas.microsoft.com/office/powerpoint/2010/main"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18-1 </a:t>
            </a:r>
            <a:r>
              <a:rPr lang="en-US" dirty="0">
                <a:solidFill>
                  <a:srgbClr val="000000"/>
                </a:solidFill>
                <a:ea typeface="ヒラギノ角ゴ Pro W3" pitchFamily="-65" charset="-128"/>
              </a:rPr>
              <a:t>The </a:t>
            </a:r>
            <a:r>
              <a:rPr lang="en-US" i="1" dirty="0">
                <a:solidFill>
                  <a:srgbClr val="000000"/>
                </a:solidFill>
                <a:ea typeface="ヒラギノ角ゴ Pro W3" pitchFamily="-65" charset="-128"/>
              </a:rPr>
              <a:t>IS </a:t>
            </a:r>
            <a:r>
              <a:rPr lang="en-US" dirty="0">
                <a:solidFill>
                  <a:srgbClr val="000000"/>
                </a:solidFill>
                <a:ea typeface="ヒラギノ角ゴ Pro W3" pitchFamily="-65" charset="-128"/>
              </a:rPr>
              <a:t>Relation in the Open Economy</a:t>
            </a:r>
            <a:endParaRPr lang="en-US" dirty="0" smtClean="0">
              <a:ea typeface="ヒラギノ角ゴ Pro W3" pitchFamily="-65" charset="-128"/>
            </a:endParaRPr>
          </a:p>
        </p:txBody>
      </p:sp>
      <p:sp>
        <p:nvSpPr>
          <p:cNvPr id="4"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In an open economy, the </a:t>
            </a:r>
            <a:r>
              <a:rPr lang="en-US" sz="2200" b="1" dirty="0" smtClean="0">
                <a:ea typeface="ヒラギノ角ゴ Pro W3" pitchFamily="-84" charset="-128"/>
              </a:rPr>
              <a:t>demand for domestic goods</a:t>
            </a:r>
            <a:r>
              <a:rPr lang="en-US" sz="2200" dirty="0" smtClean="0">
                <a:ea typeface="ヒラギノ角ゴ Pro W3" pitchFamily="-84" charset="-128"/>
              </a:rPr>
              <a:t> is</a:t>
            </a:r>
          </a:p>
          <a:p>
            <a:endParaRPr lang="en-US" sz="2200" dirty="0">
              <a:ea typeface="ヒラギノ角ゴ Pro W3" pitchFamily="-84" charset="-128"/>
            </a:endParaRPr>
          </a:p>
          <a:p>
            <a:endParaRPr lang="en-US" sz="2200" dirty="0" smtClean="0">
              <a:ea typeface="ヒラギノ角ゴ Pro W3" pitchFamily="-84" charset="-128"/>
            </a:endParaRPr>
          </a:p>
          <a:p>
            <a:pPr marL="346075" indent="0">
              <a:buNone/>
            </a:pPr>
            <a:r>
              <a:rPr lang="en-US" sz="2200" dirty="0" smtClean="0">
                <a:ea typeface="ヒラギノ角ゴ Pro W3" pitchFamily="-84" charset="-128"/>
              </a:rPr>
              <a:t>where </a:t>
            </a:r>
            <a:r>
              <a:rPr lang="en-US" sz="2200" i="1" dirty="0" smtClean="0">
                <a:ea typeface="ヒラギノ角ゴ Pro W3" pitchFamily="-84" charset="-128"/>
              </a:rPr>
              <a:t>C</a:t>
            </a:r>
            <a:r>
              <a:rPr lang="en-US" sz="2200" dirty="0" smtClean="0">
                <a:ea typeface="ヒラギノ角ゴ Pro W3" pitchFamily="-84" charset="-128"/>
              </a:rPr>
              <a:t>, </a:t>
            </a:r>
            <a:r>
              <a:rPr lang="en-US" sz="2200" i="1" dirty="0" smtClean="0">
                <a:ea typeface="ヒラギノ角ゴ Pro W3" pitchFamily="-84" charset="-128"/>
              </a:rPr>
              <a:t>I</a:t>
            </a:r>
            <a:r>
              <a:rPr lang="en-US" sz="2200" dirty="0" smtClean="0">
                <a:ea typeface="ヒラギノ角ゴ Pro W3" pitchFamily="-84" charset="-128"/>
              </a:rPr>
              <a:t>, and </a:t>
            </a:r>
            <a:r>
              <a:rPr lang="en-US" sz="2200" i="1" dirty="0" smtClean="0">
                <a:ea typeface="ヒラギノ角ゴ Pro W3" pitchFamily="-84" charset="-128"/>
              </a:rPr>
              <a:t>g</a:t>
            </a:r>
            <a:r>
              <a:rPr lang="en-US" sz="2200" dirty="0" smtClean="0">
                <a:ea typeface="ヒラギノ角ゴ Pro W3" pitchFamily="-84" charset="-128"/>
              </a:rPr>
              <a:t> constitute the total </a:t>
            </a:r>
            <a:r>
              <a:rPr lang="en-US" sz="2200" b="1" dirty="0" smtClean="0">
                <a:ea typeface="ヒラギノ角ゴ Pro W3" pitchFamily="-84" charset="-128"/>
              </a:rPr>
              <a:t>domestic demand for goods</a:t>
            </a:r>
            <a:r>
              <a:rPr lang="en-US" sz="2200" dirty="0" smtClean="0">
                <a:ea typeface="ヒラギノ角ゴ Pro W3" pitchFamily="-84" charset="-128"/>
              </a:rPr>
              <a:t>, domestic or foreign.</a:t>
            </a:r>
          </a:p>
        </p:txBody>
      </p:sp>
      <p:pic>
        <p:nvPicPr>
          <p:cNvPr id="2" name="Picture 1"/>
          <p:cNvPicPr>
            <a:picLocks noChangeAspect="1"/>
          </p:cNvPicPr>
          <p:nvPr/>
        </p:nvPicPr>
        <p:blipFill>
          <a:blip r:embed="rId2" cstate="print"/>
          <a:stretch>
            <a:fillRect/>
          </a:stretch>
        </p:blipFill>
        <p:spPr>
          <a:xfrm>
            <a:off x="1474470" y="2409825"/>
            <a:ext cx="7334250" cy="323850"/>
          </a:xfrm>
          <a:prstGeom prst="rect">
            <a:avLst/>
          </a:prstGeom>
        </p:spPr>
      </p:pic>
      <p:pic>
        <p:nvPicPr>
          <p:cNvPr id="3" name="Picture 2"/>
          <p:cNvPicPr>
            <a:picLocks noChangeAspect="1"/>
          </p:cNvPicPr>
          <p:nvPr/>
        </p:nvPicPr>
        <p:blipFill>
          <a:blip r:embed="rId3" cstate="print"/>
          <a:stretch>
            <a:fillRect/>
          </a:stretch>
        </p:blipFill>
        <p:spPr>
          <a:xfrm>
            <a:off x="609600" y="4267200"/>
            <a:ext cx="7391400" cy="781050"/>
          </a:xfrm>
          <a:prstGeom prst="rect">
            <a:avLst/>
          </a:prstGeom>
        </p:spPr>
      </p:pic>
    </p:spTree>
    <p:extLst>
      <p:ext uri="{BB962C8B-B14F-4D97-AF65-F5344CB8AC3E}">
        <p14:creationId xmlns="" xmlns:p14="http://schemas.microsoft.com/office/powerpoint/2010/main" val="2332783903"/>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18-1 </a:t>
            </a:r>
            <a:r>
              <a:rPr lang="en-US" dirty="0">
                <a:solidFill>
                  <a:srgbClr val="000000"/>
                </a:solidFill>
                <a:ea typeface="ヒラギノ角ゴ Pro W3" pitchFamily="-65" charset="-128"/>
              </a:rPr>
              <a:t>The </a:t>
            </a:r>
            <a:r>
              <a:rPr lang="en-US" i="1" dirty="0">
                <a:solidFill>
                  <a:srgbClr val="000000"/>
                </a:solidFill>
                <a:ea typeface="ヒラギノ角ゴ Pro W3" pitchFamily="-65" charset="-128"/>
              </a:rPr>
              <a:t>IS </a:t>
            </a:r>
            <a:r>
              <a:rPr lang="en-US" dirty="0">
                <a:solidFill>
                  <a:srgbClr val="000000"/>
                </a:solidFill>
                <a:ea typeface="ヒラギノ角ゴ Pro W3" pitchFamily="-65" charset="-128"/>
              </a:rPr>
              <a:t>Relation in the Open Economy</a:t>
            </a:r>
            <a:endParaRPr lang="en-US" dirty="0" smtClean="0">
              <a:ea typeface="ヒラギノ角ゴ Pro W3" pitchFamily="-65" charset="-128"/>
            </a:endParaRPr>
          </a:p>
        </p:txBody>
      </p:sp>
      <p:sp>
        <p:nvSpPr>
          <p:cNvPr id="4"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Imports is positively related to domestic income (</a:t>
            </a:r>
            <a:r>
              <a:rPr lang="en-US" sz="2200" i="1" dirty="0" smtClean="0">
                <a:latin typeface="Times New Roman" panose="02020603050405020304" pitchFamily="18" charset="0"/>
                <a:ea typeface="ヒラギノ角ゴ Pro W3" pitchFamily="-84" charset="-128"/>
                <a:cs typeface="Times New Roman" panose="02020603050405020304" pitchFamily="18" charset="0"/>
              </a:rPr>
              <a:t>Y</a:t>
            </a:r>
            <a:r>
              <a:rPr lang="en-US" sz="2200" dirty="0" smtClean="0">
                <a:ea typeface="ヒラギノ角ゴ Pro W3" pitchFamily="-84" charset="-128"/>
              </a:rPr>
              <a:t>) and the real exchange rate (</a:t>
            </a:r>
            <a:r>
              <a:rPr lang="el-GR" sz="2400" i="1" dirty="0" smtClean="0">
                <a:latin typeface="Times New Roman" panose="02020603050405020304" pitchFamily="18" charset="0"/>
                <a:ea typeface="ヒラギノ角ゴ Pro W3" pitchFamily="-84" charset="-128"/>
                <a:cs typeface="Times New Roman" panose="02020603050405020304" pitchFamily="18" charset="0"/>
              </a:rPr>
              <a:t>ε</a:t>
            </a:r>
            <a:r>
              <a:rPr lang="en-US" sz="2200" dirty="0" smtClean="0">
                <a:ea typeface="ヒラギノ角ゴ Pro W3" pitchFamily="-84" charset="-128"/>
              </a:rPr>
              <a:t>):</a:t>
            </a:r>
          </a:p>
          <a:p>
            <a:endParaRPr lang="en-US" sz="2200" dirty="0">
              <a:ea typeface="ヒラギノ角ゴ Pro W3" pitchFamily="-84" charset="-128"/>
            </a:endParaRPr>
          </a:p>
          <a:p>
            <a:endParaRPr lang="en-US" sz="2200" dirty="0" smtClean="0">
              <a:ea typeface="ヒラギノ角ゴ Pro W3" pitchFamily="-84" charset="-128"/>
            </a:endParaRPr>
          </a:p>
          <a:p>
            <a:pPr marL="346075" indent="-346075"/>
            <a:endParaRPr lang="en-US" sz="2200" dirty="0" smtClean="0">
              <a:ea typeface="ヒラギノ角ゴ Pro W3" pitchFamily="-84" charset="-128"/>
            </a:endParaRPr>
          </a:p>
          <a:p>
            <a:pPr marL="346075" indent="-346075"/>
            <a:r>
              <a:rPr lang="en-US" sz="2200" dirty="0" smtClean="0">
                <a:ea typeface="ヒラギノ角ゴ Pro W3" pitchFamily="-84" charset="-128"/>
              </a:rPr>
              <a:t>Exports is positively related to foreign income (</a:t>
            </a:r>
            <a:r>
              <a:rPr lang="en-US" sz="2200" i="1" dirty="0" smtClean="0">
                <a:latin typeface="Times New Roman" panose="02020603050405020304" pitchFamily="18" charset="0"/>
                <a:ea typeface="ヒラギノ角ゴ Pro W3" pitchFamily="-84" charset="-128"/>
                <a:cs typeface="Times New Roman" panose="02020603050405020304" pitchFamily="18" charset="0"/>
              </a:rPr>
              <a:t>Y*</a:t>
            </a:r>
            <a:r>
              <a:rPr lang="en-US" sz="2200" dirty="0" smtClean="0">
                <a:ea typeface="ヒラギノ角ゴ Pro W3" pitchFamily="-84" charset="-128"/>
              </a:rPr>
              <a:t>) and negatively related </a:t>
            </a:r>
            <a:r>
              <a:rPr lang="el-GR" sz="2200" i="1" dirty="0" smtClean="0">
                <a:latin typeface="Times New Roman" panose="02020603050405020304" pitchFamily="18" charset="0"/>
                <a:ea typeface="ヒラギノ角ゴ Pro W3" pitchFamily="-84" charset="-128"/>
                <a:cs typeface="Times New Roman" panose="02020603050405020304" pitchFamily="18" charset="0"/>
              </a:rPr>
              <a:t>ε</a:t>
            </a:r>
            <a:r>
              <a:rPr lang="en-US" sz="2200" dirty="0" smtClean="0">
                <a:ea typeface="ヒラギノ角ゴ Pro W3" pitchFamily="-84" charset="-128"/>
              </a:rPr>
              <a:t>:</a:t>
            </a:r>
          </a:p>
        </p:txBody>
      </p:sp>
      <p:pic>
        <p:nvPicPr>
          <p:cNvPr id="6" name="Picture 5"/>
          <p:cNvPicPr>
            <a:picLocks noChangeAspect="1"/>
          </p:cNvPicPr>
          <p:nvPr/>
        </p:nvPicPr>
        <p:blipFill>
          <a:blip r:embed="rId2" cstate="print"/>
          <a:stretch>
            <a:fillRect/>
          </a:stretch>
        </p:blipFill>
        <p:spPr>
          <a:xfrm>
            <a:off x="2286000" y="2366010"/>
            <a:ext cx="6429375" cy="781050"/>
          </a:xfrm>
          <a:prstGeom prst="rect">
            <a:avLst/>
          </a:prstGeom>
        </p:spPr>
      </p:pic>
      <p:pic>
        <p:nvPicPr>
          <p:cNvPr id="7" name="Picture 6"/>
          <p:cNvPicPr>
            <a:picLocks noChangeAspect="1"/>
          </p:cNvPicPr>
          <p:nvPr/>
        </p:nvPicPr>
        <p:blipFill>
          <a:blip r:embed="rId3" cstate="print"/>
          <a:stretch>
            <a:fillRect/>
          </a:stretch>
        </p:blipFill>
        <p:spPr>
          <a:xfrm>
            <a:off x="2428875" y="4370070"/>
            <a:ext cx="6286500" cy="742950"/>
          </a:xfrm>
          <a:prstGeom prst="rect">
            <a:avLst/>
          </a:prstGeom>
        </p:spPr>
      </p:pic>
    </p:spTree>
    <p:extLst>
      <p:ext uri="{BB962C8B-B14F-4D97-AF65-F5344CB8AC3E}">
        <p14:creationId xmlns="" xmlns:p14="http://schemas.microsoft.com/office/powerpoint/2010/main" val="1046192398"/>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534400" cy="1143000"/>
          </a:xfrm>
        </p:spPr>
        <p:txBody>
          <a:bodyPr/>
          <a:lstStyle/>
          <a:p>
            <a:r>
              <a:rPr lang="en-US" sz="2800" dirty="0" smtClean="0">
                <a:ea typeface="ヒラギノ角ゴ Pro W3" pitchFamily="-65" charset="-128"/>
              </a:rPr>
              <a:t>18-1 The </a:t>
            </a:r>
            <a:r>
              <a:rPr lang="en-US" sz="2800" i="1" dirty="0" smtClean="0">
                <a:ea typeface="ヒラギノ角ゴ Pro W3" pitchFamily="-65" charset="-128"/>
              </a:rPr>
              <a:t>IS </a:t>
            </a:r>
            <a:r>
              <a:rPr lang="en-US" sz="2800" dirty="0" smtClean="0">
                <a:ea typeface="ヒラギノ角ゴ Pro W3" pitchFamily="-65" charset="-128"/>
              </a:rPr>
              <a:t>Relation in the Open Economy</a:t>
            </a:r>
          </a:p>
        </p:txBody>
      </p:sp>
      <p:sp>
        <p:nvSpPr>
          <p:cNvPr id="17411" name="TextBox 6"/>
          <p:cNvSpPr txBox="1">
            <a:spLocks noChangeArrowheads="1"/>
          </p:cNvSpPr>
          <p:nvPr/>
        </p:nvSpPr>
        <p:spPr bwMode="auto">
          <a:xfrm>
            <a:off x="508000" y="1111060"/>
            <a:ext cx="8001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18-1  </a:t>
            </a:r>
            <a:r>
              <a:rPr lang="en-US" sz="1800" dirty="0">
                <a:latin typeface="Verdana" panose="020B0604030504040204" pitchFamily="34" charset="0"/>
              </a:rPr>
              <a:t>The Demand for Domestic Goods and Net Exports</a:t>
            </a:r>
          </a:p>
        </p:txBody>
      </p:sp>
      <p:pic>
        <p:nvPicPr>
          <p:cNvPr id="17412" name="Picture 7" descr="fig19_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52500" y="1533707"/>
            <a:ext cx="6705600" cy="4048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Rectangle 2"/>
          <p:cNvSpPr/>
          <p:nvPr/>
        </p:nvSpPr>
        <p:spPr>
          <a:xfrm>
            <a:off x="609600" y="5410200"/>
            <a:ext cx="7543800" cy="954107"/>
          </a:xfrm>
          <a:prstGeom prst="rect">
            <a:avLst/>
          </a:prstGeom>
        </p:spPr>
        <p:txBody>
          <a:bodyPr wrap="square">
            <a:spAutoFit/>
          </a:bodyPr>
          <a:lstStyle/>
          <a:p>
            <a:r>
              <a:rPr lang="en-US" sz="1400" dirty="0">
                <a:latin typeface="+mn-lt"/>
              </a:rPr>
              <a:t>(a), The domestic demand </a:t>
            </a:r>
            <a:r>
              <a:rPr lang="en-US" sz="1400" dirty="0" smtClean="0">
                <a:latin typeface="+mn-lt"/>
              </a:rPr>
              <a:t>for goods </a:t>
            </a:r>
            <a:r>
              <a:rPr lang="en-US" sz="1400" dirty="0">
                <a:latin typeface="+mn-lt"/>
              </a:rPr>
              <a:t>is an increasing </a:t>
            </a:r>
            <a:r>
              <a:rPr lang="en-US" sz="1400" dirty="0" smtClean="0">
                <a:latin typeface="+mn-lt"/>
              </a:rPr>
              <a:t>function of </a:t>
            </a:r>
            <a:r>
              <a:rPr lang="en-US" sz="1400" dirty="0">
                <a:latin typeface="+mn-lt"/>
              </a:rPr>
              <a:t>income (output).</a:t>
            </a:r>
          </a:p>
          <a:p>
            <a:r>
              <a:rPr lang="en-US" sz="1400" dirty="0">
                <a:latin typeface="+mn-lt"/>
              </a:rPr>
              <a:t>(b) and (c), The demand </a:t>
            </a:r>
            <a:r>
              <a:rPr lang="en-US" sz="1400" dirty="0" smtClean="0">
                <a:latin typeface="+mn-lt"/>
              </a:rPr>
              <a:t>for domestic </a:t>
            </a:r>
            <a:r>
              <a:rPr lang="en-US" sz="1400" dirty="0">
                <a:latin typeface="+mn-lt"/>
              </a:rPr>
              <a:t>goods is </a:t>
            </a:r>
            <a:r>
              <a:rPr lang="en-US" sz="1400" dirty="0" smtClean="0">
                <a:latin typeface="+mn-lt"/>
              </a:rPr>
              <a:t>obtained by </a:t>
            </a:r>
            <a:r>
              <a:rPr lang="en-US" sz="1400" dirty="0">
                <a:latin typeface="+mn-lt"/>
              </a:rPr>
              <a:t>subtracting the value of </a:t>
            </a:r>
            <a:r>
              <a:rPr lang="en-US" sz="1400" dirty="0" smtClean="0">
                <a:latin typeface="+mn-lt"/>
              </a:rPr>
              <a:t>imports from </a:t>
            </a:r>
            <a:r>
              <a:rPr lang="en-US" sz="1400" dirty="0">
                <a:latin typeface="+mn-lt"/>
              </a:rPr>
              <a:t>domestic </a:t>
            </a:r>
            <a:r>
              <a:rPr lang="en-US" sz="1400" dirty="0" smtClean="0">
                <a:latin typeface="+mn-lt"/>
              </a:rPr>
              <a:t>demand and </a:t>
            </a:r>
            <a:r>
              <a:rPr lang="en-US" sz="1400" dirty="0">
                <a:latin typeface="+mn-lt"/>
              </a:rPr>
              <a:t>then adding exports.</a:t>
            </a:r>
          </a:p>
          <a:p>
            <a:r>
              <a:rPr lang="en-US" sz="1400" dirty="0">
                <a:latin typeface="+mn-lt"/>
              </a:rPr>
              <a:t>(d), The trade balance is </a:t>
            </a:r>
            <a:r>
              <a:rPr lang="en-US" sz="1400" dirty="0" smtClean="0">
                <a:latin typeface="+mn-lt"/>
              </a:rPr>
              <a:t>a decreasing </a:t>
            </a:r>
            <a:r>
              <a:rPr lang="en-US" sz="1400" dirty="0">
                <a:latin typeface="+mn-lt"/>
              </a:rPr>
              <a:t>function of output.</a:t>
            </a:r>
          </a:p>
        </p:txBody>
      </p:sp>
    </p:spTree>
    <p:extLst>
      <p:ext uri="{BB962C8B-B14F-4D97-AF65-F5344CB8AC3E}">
        <p14:creationId xmlns="" xmlns:p14="http://schemas.microsoft.com/office/powerpoint/2010/main" val="923467472"/>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18-1 The </a:t>
            </a:r>
            <a:r>
              <a:rPr lang="en-US" i="1" dirty="0" smtClean="0">
                <a:ea typeface="ヒラギノ角ゴ Pro W3" pitchFamily="-65" charset="-128"/>
              </a:rPr>
              <a:t>IS </a:t>
            </a:r>
            <a:r>
              <a:rPr lang="en-US" dirty="0" smtClean="0">
                <a:ea typeface="ヒラギノ角ゴ Pro W3" pitchFamily="-65" charset="-128"/>
              </a:rPr>
              <a:t>Relation in the Open Economy</a:t>
            </a:r>
          </a:p>
        </p:txBody>
      </p:sp>
      <p:sp>
        <p:nvSpPr>
          <p:cNvPr id="6"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The line </a:t>
            </a:r>
            <a:r>
              <a:rPr lang="en-US" sz="2200" i="1" dirty="0" smtClean="0">
                <a:ea typeface="ヒラギノ角ゴ Pro W3" pitchFamily="-84" charset="-128"/>
              </a:rPr>
              <a:t>AA</a:t>
            </a:r>
            <a:r>
              <a:rPr lang="en-US" sz="2200" dirty="0" smtClean="0">
                <a:ea typeface="ヒラギノ角ゴ Pro W3" pitchFamily="-84" charset="-128"/>
              </a:rPr>
              <a:t> represents the domestic demand for domestic goods, and the line </a:t>
            </a:r>
            <a:r>
              <a:rPr lang="en-US" sz="2200" i="1" dirty="0" smtClean="0">
                <a:ea typeface="ヒラギノ角ゴ Pro W3" pitchFamily="-84" charset="-128"/>
              </a:rPr>
              <a:t>DD</a:t>
            </a:r>
            <a:r>
              <a:rPr lang="en-US" sz="2200" dirty="0" smtClean="0">
                <a:ea typeface="ヒラギノ角ゴ Pro W3" pitchFamily="-84" charset="-128"/>
              </a:rPr>
              <a:t> represents domestic demand.</a:t>
            </a:r>
          </a:p>
          <a:p>
            <a:r>
              <a:rPr lang="en-US" sz="2200" i="1" dirty="0" smtClean="0">
                <a:ea typeface="ヒラギノ角ゴ Pro W3" pitchFamily="-84" charset="-128"/>
              </a:rPr>
              <a:t>AA</a:t>
            </a:r>
            <a:r>
              <a:rPr lang="en-US" sz="2200" dirty="0" smtClean="0">
                <a:ea typeface="ヒラギノ角ゴ Pro W3" pitchFamily="-84" charset="-128"/>
              </a:rPr>
              <a:t> is flatter than </a:t>
            </a:r>
            <a:r>
              <a:rPr lang="en-US" sz="2200" i="1" dirty="0" smtClean="0">
                <a:ea typeface="ヒラギノ角ゴ Pro W3" pitchFamily="-84" charset="-128"/>
              </a:rPr>
              <a:t>DD</a:t>
            </a:r>
            <a:r>
              <a:rPr lang="en-US" sz="2200" dirty="0" smtClean="0">
                <a:ea typeface="ヒラギノ角ゴ Pro W3" pitchFamily="-84" charset="-128"/>
              </a:rPr>
              <a:t>.</a:t>
            </a:r>
          </a:p>
          <a:p>
            <a:r>
              <a:rPr lang="en-US" sz="2200" dirty="0" smtClean="0">
                <a:ea typeface="ヒラギノ角ゴ Pro W3" pitchFamily="-84" charset="-128"/>
              </a:rPr>
              <a:t>As long as some of the additional demand falls on domestic goods, </a:t>
            </a:r>
            <a:r>
              <a:rPr lang="en-US" sz="2200" i="1" dirty="0" smtClean="0">
                <a:ea typeface="ヒラギノ角ゴ Pro W3" pitchFamily="-84" charset="-128"/>
              </a:rPr>
              <a:t>AA</a:t>
            </a:r>
            <a:r>
              <a:rPr lang="en-US" sz="2200" dirty="0" smtClean="0">
                <a:ea typeface="ヒラギノ角ゴ Pro W3" pitchFamily="-84" charset="-128"/>
              </a:rPr>
              <a:t> has positive slope.</a:t>
            </a:r>
          </a:p>
          <a:p>
            <a:r>
              <a:rPr lang="en-US" sz="2200" dirty="0" smtClean="0">
                <a:ea typeface="ヒラギノ角ゴ Pro W3" pitchFamily="-84" charset="-128"/>
              </a:rPr>
              <a:t>The line </a:t>
            </a:r>
            <a:r>
              <a:rPr lang="en-US" sz="2200" i="1" dirty="0" smtClean="0">
                <a:ea typeface="ヒラギノ角ゴ Pro W3" pitchFamily="-84" charset="-128"/>
              </a:rPr>
              <a:t>ZZ </a:t>
            </a:r>
            <a:r>
              <a:rPr lang="en-US" sz="2200" dirty="0" smtClean="0">
                <a:ea typeface="ヒラギノ角ゴ Pro W3" pitchFamily="-84" charset="-128"/>
              </a:rPr>
              <a:t>represents the demand for domestic goods (including exports).</a:t>
            </a:r>
          </a:p>
          <a:p>
            <a:r>
              <a:rPr lang="en-US" sz="2200" dirty="0" smtClean="0">
                <a:ea typeface="ヒラギノ角ゴ Pro W3" pitchFamily="-84" charset="-128"/>
              </a:rPr>
              <a:t>The distance between </a:t>
            </a:r>
            <a:r>
              <a:rPr lang="en-US" sz="2200" i="1" dirty="0" smtClean="0">
                <a:ea typeface="ヒラギノ角ゴ Pro W3" pitchFamily="-84" charset="-128"/>
              </a:rPr>
              <a:t>ZZ</a:t>
            </a:r>
            <a:r>
              <a:rPr lang="en-US" sz="2200" dirty="0" smtClean="0">
                <a:ea typeface="ヒラギノ角ゴ Pro W3" pitchFamily="-84" charset="-128"/>
              </a:rPr>
              <a:t> and </a:t>
            </a:r>
            <a:r>
              <a:rPr lang="en-US" sz="2200" i="1" dirty="0" smtClean="0">
                <a:ea typeface="ヒラギノ角ゴ Pro W3" pitchFamily="-84" charset="-128"/>
              </a:rPr>
              <a:t>AA</a:t>
            </a:r>
            <a:r>
              <a:rPr lang="en-US" sz="2200" dirty="0" smtClean="0">
                <a:ea typeface="ヒラギノ角ゴ Pro W3" pitchFamily="-84" charset="-128"/>
              </a:rPr>
              <a:t> is constant because exports do not depend on domestic income but they depend on foreign income.</a:t>
            </a:r>
          </a:p>
        </p:txBody>
      </p:sp>
    </p:spTree>
    <p:extLst>
      <p:ext uri="{BB962C8B-B14F-4D97-AF65-F5344CB8AC3E}">
        <p14:creationId xmlns="" xmlns:p14="http://schemas.microsoft.com/office/powerpoint/2010/main" val="19804529"/>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18-2 Equilibrium Output and the Trade Balance</a:t>
            </a:r>
          </a:p>
        </p:txBody>
      </p:sp>
      <p:sp>
        <p:nvSpPr>
          <p:cNvPr id="4"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Because </a:t>
            </a:r>
            <a:r>
              <a:rPr lang="en-US" sz="2200" i="1" dirty="0" smtClean="0">
                <a:ea typeface="ヒラギノ角ゴ Pro W3" pitchFamily="-84" charset="-128"/>
              </a:rPr>
              <a:t>Y</a:t>
            </a:r>
            <a:r>
              <a:rPr lang="en-US" sz="2200" dirty="0" smtClean="0">
                <a:ea typeface="ヒラギノ角ゴ Pro W3" pitchFamily="-84" charset="-128"/>
              </a:rPr>
              <a:t> = </a:t>
            </a:r>
            <a:r>
              <a:rPr lang="en-US" sz="2200" i="1" dirty="0" smtClean="0">
                <a:ea typeface="ヒラギノ角ゴ Pro W3" pitchFamily="-84" charset="-128"/>
              </a:rPr>
              <a:t>Z</a:t>
            </a:r>
            <a:r>
              <a:rPr lang="en-US" sz="2200" dirty="0" smtClean="0">
                <a:ea typeface="ヒラギノ角ゴ Pro W3" pitchFamily="-84" charset="-128"/>
              </a:rPr>
              <a:t>, the equilibrium condition for output can be expressed as:</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Graphically, equilibrium output is at the point where demand equals output, the intersection of </a:t>
            </a:r>
            <a:r>
              <a:rPr lang="en-US" sz="2200" i="1" dirty="0" smtClean="0">
                <a:ea typeface="ヒラギノ角ゴ Pro W3" pitchFamily="-84" charset="-128"/>
              </a:rPr>
              <a:t>ZZ</a:t>
            </a:r>
            <a:r>
              <a:rPr lang="en-US" sz="2200" dirty="0" smtClean="0">
                <a:ea typeface="ヒラギノ角ゴ Pro W3" pitchFamily="-84" charset="-128"/>
              </a:rPr>
              <a:t> and the 45-degree line.</a:t>
            </a:r>
          </a:p>
        </p:txBody>
      </p:sp>
      <p:pic>
        <p:nvPicPr>
          <p:cNvPr id="8" name="Picture 7"/>
          <p:cNvPicPr>
            <a:picLocks noChangeAspect="1"/>
          </p:cNvPicPr>
          <p:nvPr/>
        </p:nvPicPr>
        <p:blipFill>
          <a:blip r:embed="rId2" cstate="print"/>
          <a:stretch>
            <a:fillRect/>
          </a:stretch>
        </p:blipFill>
        <p:spPr>
          <a:xfrm>
            <a:off x="383309" y="2438400"/>
            <a:ext cx="8496776" cy="316706"/>
          </a:xfrm>
          <a:prstGeom prst="rect">
            <a:avLst/>
          </a:prstGeom>
        </p:spPr>
      </p:pic>
    </p:spTree>
    <p:extLst>
      <p:ext uri="{BB962C8B-B14F-4D97-AF65-F5344CB8AC3E}">
        <p14:creationId xmlns="" xmlns:p14="http://schemas.microsoft.com/office/powerpoint/2010/main" val="3705444033"/>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ea typeface="ヒラギノ角ゴ Pro W3" pitchFamily="-65" charset="-128"/>
              </a:rPr>
              <a:t>18-2 Equilibrium Output and the Trade Balance</a:t>
            </a:r>
          </a:p>
        </p:txBody>
      </p:sp>
      <p:sp>
        <p:nvSpPr>
          <p:cNvPr id="19459" name="TextBox 5"/>
          <p:cNvSpPr txBox="1">
            <a:spLocks noChangeArrowheads="1"/>
          </p:cNvSpPr>
          <p:nvPr/>
        </p:nvSpPr>
        <p:spPr bwMode="auto">
          <a:xfrm>
            <a:off x="457200" y="1371600"/>
            <a:ext cx="34290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18-2  </a:t>
            </a:r>
            <a:r>
              <a:rPr lang="en-US" sz="1800" dirty="0">
                <a:latin typeface="Verdana" panose="020B0604030504040204" pitchFamily="34" charset="0"/>
              </a:rPr>
              <a:t>Equilibrium Output and Net Exports</a:t>
            </a:r>
          </a:p>
        </p:txBody>
      </p:sp>
      <p:pic>
        <p:nvPicPr>
          <p:cNvPr id="19460" name="Picture 6" descr="fig19_02.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267200" y="838200"/>
            <a:ext cx="3962400" cy="54371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457200" y="2438400"/>
            <a:ext cx="2946400" cy="2062103"/>
          </a:xfrm>
          <a:prstGeom prst="rect">
            <a:avLst/>
          </a:prstGeom>
        </p:spPr>
        <p:txBody>
          <a:bodyPr wrap="square">
            <a:spAutoFit/>
          </a:bodyPr>
          <a:lstStyle/>
          <a:p>
            <a:r>
              <a:rPr lang="en-US" sz="1600" dirty="0">
                <a:latin typeface="+mn-lt"/>
              </a:rPr>
              <a:t>The goods market is in </a:t>
            </a:r>
            <a:r>
              <a:rPr lang="en-US" sz="1600" dirty="0" smtClean="0">
                <a:latin typeface="+mn-lt"/>
              </a:rPr>
              <a:t>equilibrium when </a:t>
            </a:r>
            <a:r>
              <a:rPr lang="en-US" sz="1600" dirty="0">
                <a:latin typeface="+mn-lt"/>
              </a:rPr>
              <a:t>domestic </a:t>
            </a:r>
            <a:r>
              <a:rPr lang="en-US" sz="1600" dirty="0" smtClean="0">
                <a:latin typeface="+mn-lt"/>
              </a:rPr>
              <a:t>output is </a:t>
            </a:r>
            <a:r>
              <a:rPr lang="en-US" sz="1600" dirty="0">
                <a:latin typeface="+mn-lt"/>
              </a:rPr>
              <a:t>equal to the demand for </a:t>
            </a:r>
            <a:r>
              <a:rPr lang="en-US" sz="1600" dirty="0" smtClean="0">
                <a:latin typeface="+mn-lt"/>
              </a:rPr>
              <a:t>domestic goods</a:t>
            </a:r>
            <a:r>
              <a:rPr lang="en-US" sz="1600" dirty="0">
                <a:latin typeface="+mn-lt"/>
              </a:rPr>
              <a:t>. At the </a:t>
            </a:r>
            <a:r>
              <a:rPr lang="en-US" sz="1600" dirty="0" smtClean="0">
                <a:latin typeface="+mn-lt"/>
              </a:rPr>
              <a:t>equilibrium level </a:t>
            </a:r>
            <a:r>
              <a:rPr lang="en-US" sz="1600" dirty="0">
                <a:latin typeface="+mn-lt"/>
              </a:rPr>
              <a:t>of output, the trade</a:t>
            </a:r>
          </a:p>
          <a:p>
            <a:r>
              <a:rPr lang="en-US" sz="1600" dirty="0">
                <a:latin typeface="+mn-lt"/>
              </a:rPr>
              <a:t>balance may show a deficit </a:t>
            </a:r>
            <a:r>
              <a:rPr lang="en-US" sz="1600" dirty="0" smtClean="0">
                <a:latin typeface="+mn-lt"/>
              </a:rPr>
              <a:t>or a surplus.</a:t>
            </a:r>
            <a:endParaRPr lang="en-US" sz="1600" dirty="0">
              <a:latin typeface="+mn-lt"/>
            </a:endParaRPr>
          </a:p>
        </p:txBody>
      </p:sp>
    </p:spTree>
    <p:extLst>
      <p:ext uri="{BB962C8B-B14F-4D97-AF65-F5344CB8AC3E}">
        <p14:creationId xmlns="" xmlns:p14="http://schemas.microsoft.com/office/powerpoint/2010/main" val="1405290448"/>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ea typeface="ヒラギノ角ゴ Pro W3" pitchFamily="-65" charset="-128"/>
              </a:rPr>
              <a:t>18-3 Increases in Demand</a:t>
            </a:r>
            <a:r>
              <a:rPr lang="en-US" dirty="0" smtClean="0">
                <a:ea typeface="ヒラギノ角ゴ Pro W3" pitchFamily="-65" charset="-128"/>
              </a:rPr>
              <a:t>− Domestic </a:t>
            </a:r>
            <a:r>
              <a:rPr lang="en-US" dirty="0">
                <a:ea typeface="ヒラギノ角ゴ Pro W3" pitchFamily="-65" charset="-128"/>
              </a:rPr>
              <a:t>or Foreign</a:t>
            </a:r>
            <a:endParaRPr lang="en-US" dirty="0" smtClean="0">
              <a:ea typeface="ヒラギノ角ゴ Pro W3" pitchFamily="-65" charset="-128"/>
            </a:endParaRPr>
          </a:p>
        </p:txBody>
      </p:sp>
      <p:sp>
        <p:nvSpPr>
          <p:cNvPr id="4" name="Content Placeholder 2"/>
          <p:cNvSpPr>
            <a:spLocks noGrp="1"/>
          </p:cNvSpPr>
          <p:nvPr>
            <p:ph idx="1"/>
          </p:nvPr>
        </p:nvSpPr>
        <p:spPr>
          <a:xfrm>
            <a:off x="381000" y="1447800"/>
            <a:ext cx="7848600" cy="4648200"/>
          </a:xfrm>
        </p:spPr>
        <p:txBody>
          <a:bodyPr/>
          <a:lstStyle/>
          <a:p>
            <a:r>
              <a:rPr lang="en-US" sz="2400" dirty="0" smtClean="0">
                <a:ea typeface="ヒラギノ角ゴ Pro W3" pitchFamily="-84" charset="-128"/>
              </a:rPr>
              <a:t>Differences with a closed economy:</a:t>
            </a:r>
          </a:p>
          <a:p>
            <a:pPr lvl="1"/>
            <a:r>
              <a:rPr lang="en-US" sz="2000" dirty="0" smtClean="0">
                <a:ea typeface="ヒラギノ角ゴ Pro W3" pitchFamily="-84" charset="-128"/>
              </a:rPr>
              <a:t>Effect on trade balance: An increase in output leads to a </a:t>
            </a:r>
            <a:r>
              <a:rPr lang="en-US" sz="2000" i="1" dirty="0" smtClean="0">
                <a:ea typeface="ヒラギノ角ゴ Pro W3" pitchFamily="-84" charset="-128"/>
              </a:rPr>
              <a:t>trade deficit</a:t>
            </a:r>
          </a:p>
          <a:p>
            <a:pPr lvl="1"/>
            <a:r>
              <a:rPr lang="en-US" sz="2000" dirty="0" smtClean="0">
                <a:ea typeface="ヒラギノ角ゴ Pro W3" pitchFamily="-84" charset="-128"/>
              </a:rPr>
              <a:t>Smaller effect of government spending on output: Because </a:t>
            </a:r>
            <a:r>
              <a:rPr lang="en-US" sz="2000" i="1" dirty="0" smtClean="0">
                <a:ea typeface="ヒラギノ角ゴ Pro W3" pitchFamily="-84" charset="-128"/>
              </a:rPr>
              <a:t>ZZ</a:t>
            </a:r>
            <a:r>
              <a:rPr lang="en-US" sz="2000" dirty="0" smtClean="0">
                <a:ea typeface="ヒラギノ角ゴ Pro W3" pitchFamily="-84" charset="-128"/>
              </a:rPr>
              <a:t> is flatter than </a:t>
            </a:r>
            <a:r>
              <a:rPr lang="en-US" sz="2000" i="1" dirty="0" smtClean="0">
                <a:ea typeface="ヒラギノ角ゴ Pro W3" pitchFamily="-84" charset="-128"/>
              </a:rPr>
              <a:t>DD</a:t>
            </a:r>
            <a:r>
              <a:rPr lang="en-US" sz="2000" dirty="0" smtClean="0">
                <a:ea typeface="ヒラギノ角ゴ Pro W3" pitchFamily="-84" charset="-128"/>
              </a:rPr>
              <a:t>, the </a:t>
            </a:r>
            <a:r>
              <a:rPr lang="en-US" sz="2000" i="1" dirty="0" smtClean="0">
                <a:ea typeface="ヒラギノ角ゴ Pro W3" pitchFamily="-84" charset="-128"/>
              </a:rPr>
              <a:t>multiplier is smaller in the open economy</a:t>
            </a:r>
            <a:endParaRPr lang="en-US" sz="2000" dirty="0" smtClean="0">
              <a:ea typeface="ヒラギノ角ゴ Pro W3" pitchFamily="-84" charset="-128"/>
            </a:endParaRPr>
          </a:p>
        </p:txBody>
      </p:sp>
    </p:spTree>
    <p:extLst>
      <p:ext uri="{BB962C8B-B14F-4D97-AF65-F5344CB8AC3E}">
        <p14:creationId xmlns="" xmlns:p14="http://schemas.microsoft.com/office/powerpoint/2010/main" val="4188362831"/>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ea typeface="ヒラギノ角ゴ Pro W3" pitchFamily="-65" charset="-128"/>
              </a:rPr>
              <a:t>18-3 Increases in Demand</a:t>
            </a:r>
            <a:r>
              <a:rPr lang="en-US" dirty="0" smtClean="0">
                <a:ea typeface="ヒラギノ角ゴ Pro W3" pitchFamily="-65" charset="-128"/>
              </a:rPr>
              <a:t>−</a:t>
            </a:r>
            <a:br>
              <a:rPr lang="en-US" dirty="0" smtClean="0">
                <a:ea typeface="ヒラギノ角ゴ Pro W3" pitchFamily="-65" charset="-128"/>
              </a:rPr>
            </a:br>
            <a:r>
              <a:rPr lang="en-US" dirty="0" smtClean="0">
                <a:ea typeface="ヒラギノ角ゴ Pro W3" pitchFamily="-65" charset="-128"/>
              </a:rPr>
              <a:t>Domestic </a:t>
            </a:r>
            <a:r>
              <a:rPr lang="en-US" dirty="0">
                <a:ea typeface="ヒラギノ角ゴ Pro W3" pitchFamily="-65" charset="-128"/>
              </a:rPr>
              <a:t>or Foreign</a:t>
            </a:r>
            <a:endParaRPr lang="en-US" dirty="0" smtClean="0">
              <a:ea typeface="ヒラギノ角ゴ Pro W3" pitchFamily="-65" charset="-128"/>
            </a:endParaRPr>
          </a:p>
        </p:txBody>
      </p:sp>
      <p:sp>
        <p:nvSpPr>
          <p:cNvPr id="20483" name="TextBox 3"/>
          <p:cNvSpPr txBox="1">
            <a:spLocks noChangeArrowheads="1"/>
          </p:cNvSpPr>
          <p:nvPr/>
        </p:nvSpPr>
        <p:spPr bwMode="auto">
          <a:xfrm>
            <a:off x="386080" y="1443037"/>
            <a:ext cx="35052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18-3  </a:t>
            </a:r>
            <a:r>
              <a:rPr lang="en-US" sz="1800" dirty="0">
                <a:latin typeface="Verdana" panose="020B0604030504040204" pitchFamily="34" charset="0"/>
              </a:rPr>
              <a:t>The Effects of an Increase in Government Spending</a:t>
            </a:r>
          </a:p>
        </p:txBody>
      </p:sp>
      <p:pic>
        <p:nvPicPr>
          <p:cNvPr id="20484" name="Picture 4" descr="fig19_03.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779963" y="990600"/>
            <a:ext cx="3902075" cy="533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411480" y="2743200"/>
            <a:ext cx="3048000" cy="1077218"/>
          </a:xfrm>
          <a:prstGeom prst="rect">
            <a:avLst/>
          </a:prstGeom>
        </p:spPr>
        <p:txBody>
          <a:bodyPr wrap="square">
            <a:spAutoFit/>
          </a:bodyPr>
          <a:lstStyle/>
          <a:p>
            <a:r>
              <a:rPr lang="en-US" sz="1600" dirty="0">
                <a:latin typeface="+mn-lt"/>
              </a:rPr>
              <a:t>An increase in </a:t>
            </a:r>
            <a:r>
              <a:rPr lang="en-US" sz="1600" dirty="0" smtClean="0">
                <a:latin typeface="+mn-lt"/>
              </a:rPr>
              <a:t>government spending </a:t>
            </a:r>
            <a:r>
              <a:rPr lang="en-US" sz="1600" dirty="0">
                <a:latin typeface="+mn-lt"/>
              </a:rPr>
              <a:t>leads to an </a:t>
            </a:r>
            <a:r>
              <a:rPr lang="en-US" sz="1600" dirty="0" smtClean="0">
                <a:latin typeface="+mn-lt"/>
              </a:rPr>
              <a:t>increase in </a:t>
            </a:r>
            <a:r>
              <a:rPr lang="en-US" sz="1600" dirty="0">
                <a:latin typeface="+mn-lt"/>
              </a:rPr>
              <a:t>output and to a trade deficit.</a:t>
            </a:r>
          </a:p>
        </p:txBody>
      </p:sp>
    </p:spTree>
    <p:extLst>
      <p:ext uri="{BB962C8B-B14F-4D97-AF65-F5344CB8AC3E}">
        <p14:creationId xmlns="" xmlns:p14="http://schemas.microsoft.com/office/powerpoint/2010/main" val="2466345665"/>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18-3 Increases in Demand−</a:t>
            </a:r>
            <a:br>
              <a:rPr lang="en-US" dirty="0" smtClean="0">
                <a:ea typeface="ヒラギノ角ゴ Pro W3" pitchFamily="-65" charset="-128"/>
              </a:rPr>
            </a:br>
            <a:r>
              <a:rPr lang="en-US" dirty="0" smtClean="0">
                <a:ea typeface="ヒラギノ角ゴ Pro W3" pitchFamily="-65" charset="-128"/>
              </a:rPr>
              <a:t>Domestic or Foreign</a:t>
            </a:r>
          </a:p>
        </p:txBody>
      </p:sp>
      <p:sp>
        <p:nvSpPr>
          <p:cNvPr id="21507" name="TextBox 3"/>
          <p:cNvSpPr txBox="1">
            <a:spLocks noChangeArrowheads="1"/>
          </p:cNvSpPr>
          <p:nvPr/>
        </p:nvSpPr>
        <p:spPr bwMode="auto">
          <a:xfrm>
            <a:off x="381000" y="1447800"/>
            <a:ext cx="35052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18-4  </a:t>
            </a:r>
            <a:r>
              <a:rPr lang="en-US" sz="1800" dirty="0">
                <a:latin typeface="Verdana" panose="020B0604030504040204" pitchFamily="34" charset="0"/>
              </a:rPr>
              <a:t>The Effects of an Increase in Foreign Demand</a:t>
            </a:r>
          </a:p>
        </p:txBody>
      </p:sp>
      <p:pic>
        <p:nvPicPr>
          <p:cNvPr id="21508" name="Picture 5" descr="fig19_04.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876800" y="1143000"/>
            <a:ext cx="3705225" cy="52244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391160" y="3048000"/>
            <a:ext cx="3342640" cy="830997"/>
          </a:xfrm>
          <a:prstGeom prst="rect">
            <a:avLst/>
          </a:prstGeom>
        </p:spPr>
        <p:txBody>
          <a:bodyPr wrap="square">
            <a:spAutoFit/>
          </a:bodyPr>
          <a:lstStyle/>
          <a:p>
            <a:r>
              <a:rPr lang="en-US" sz="1600" dirty="0">
                <a:latin typeface="+mn-lt"/>
              </a:rPr>
              <a:t>An increase in foreign </a:t>
            </a:r>
            <a:r>
              <a:rPr lang="en-US" sz="1600" dirty="0" smtClean="0">
                <a:latin typeface="+mn-lt"/>
              </a:rPr>
              <a:t>demand leads </a:t>
            </a:r>
            <a:r>
              <a:rPr lang="en-US" sz="1600" dirty="0">
                <a:latin typeface="+mn-lt"/>
              </a:rPr>
              <a:t>to an increase in </a:t>
            </a:r>
            <a:r>
              <a:rPr lang="en-US" sz="1600" dirty="0" smtClean="0">
                <a:latin typeface="+mn-lt"/>
              </a:rPr>
              <a:t>output and </a:t>
            </a:r>
            <a:r>
              <a:rPr lang="en-US" sz="1600" dirty="0">
                <a:latin typeface="+mn-lt"/>
              </a:rPr>
              <a:t>to a trade surplus.</a:t>
            </a:r>
          </a:p>
        </p:txBody>
      </p:sp>
    </p:spTree>
    <p:extLst>
      <p:ext uri="{BB962C8B-B14F-4D97-AF65-F5344CB8AC3E}">
        <p14:creationId xmlns="" xmlns:p14="http://schemas.microsoft.com/office/powerpoint/2010/main" val="3521234717"/>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ea typeface="ヒラギノ角ゴ Pro W3" pitchFamily="-65" charset="-128"/>
              </a:rPr>
              <a:t>18-3 Increases in Demand</a:t>
            </a:r>
            <a:r>
              <a:rPr lang="en-US" dirty="0" smtClean="0">
                <a:ea typeface="ヒラギノ角ゴ Pro W3" pitchFamily="-65" charset="-128"/>
              </a:rPr>
              <a:t>− Domestic </a:t>
            </a:r>
            <a:r>
              <a:rPr lang="en-US" dirty="0">
                <a:ea typeface="ヒラギノ角ゴ Pro W3" pitchFamily="-65" charset="-128"/>
              </a:rPr>
              <a:t>or Foreign</a:t>
            </a:r>
            <a:endParaRPr lang="en-US" dirty="0" smtClean="0">
              <a:ea typeface="ヒラギノ角ゴ Pro W3" pitchFamily="-65" charset="-128"/>
            </a:endParaRPr>
          </a:p>
        </p:txBody>
      </p:sp>
      <p:sp>
        <p:nvSpPr>
          <p:cNvPr id="4" name="Content Placeholder 2"/>
          <p:cNvSpPr>
            <a:spLocks noGrp="1"/>
          </p:cNvSpPr>
          <p:nvPr>
            <p:ph idx="1"/>
          </p:nvPr>
        </p:nvSpPr>
        <p:spPr>
          <a:xfrm>
            <a:off x="381000" y="1447800"/>
            <a:ext cx="7848600" cy="4648200"/>
          </a:xfrm>
        </p:spPr>
        <p:txBody>
          <a:bodyPr/>
          <a:lstStyle/>
          <a:p>
            <a:r>
              <a:rPr lang="en-US" sz="2400" dirty="0" smtClean="0">
                <a:ea typeface="ヒラギノ角ゴ Pro W3" pitchFamily="-84" charset="-128"/>
              </a:rPr>
              <a:t>Summary:</a:t>
            </a:r>
          </a:p>
          <a:p>
            <a:pPr lvl="1"/>
            <a:r>
              <a:rPr lang="en-US" sz="2000" dirty="0" smtClean="0">
                <a:ea typeface="ヒラギノ角ゴ Pro W3" pitchFamily="-84" charset="-128"/>
              </a:rPr>
              <a:t>An increase in domestic demand leads to an increase in domestic output but leads also to a deterioration of the trade balance.</a:t>
            </a:r>
          </a:p>
          <a:p>
            <a:pPr lvl="1"/>
            <a:r>
              <a:rPr lang="en-US" sz="2000" dirty="0" smtClean="0">
                <a:ea typeface="ヒラギノ角ゴ Pro W3" pitchFamily="-84" charset="-128"/>
              </a:rPr>
              <a:t>An increase in foreign demand leads to an increase in domestic output and an improvement in the trade balance.</a:t>
            </a:r>
          </a:p>
          <a:p>
            <a:r>
              <a:rPr lang="en-US" sz="2400" dirty="0" smtClean="0">
                <a:ea typeface="ヒラギノ角ゴ Pro W3" pitchFamily="-84" charset="-128"/>
              </a:rPr>
              <a:t>Implications:</a:t>
            </a:r>
          </a:p>
          <a:p>
            <a:pPr lvl="1"/>
            <a:r>
              <a:rPr lang="en-US" sz="2000" dirty="0" smtClean="0">
                <a:ea typeface="ヒラギノ角ゴ Pro W3" pitchFamily="-84" charset="-128"/>
              </a:rPr>
              <a:t>Shocks to demand in one country affect all other countries.</a:t>
            </a:r>
          </a:p>
          <a:p>
            <a:pPr lvl="1"/>
            <a:r>
              <a:rPr lang="en-US" sz="2000" dirty="0" smtClean="0">
                <a:ea typeface="ヒラギノ角ゴ Pro W3" pitchFamily="-84" charset="-128"/>
              </a:rPr>
              <a:t>Economic interactions complicate the task of policy makers. </a:t>
            </a:r>
            <a:r>
              <a:rPr lang="en-US" sz="2000" b="1" dirty="0" smtClean="0">
                <a:ea typeface="ヒラギノ角ゴ Pro W3" pitchFamily="-84" charset="-128"/>
              </a:rPr>
              <a:t>Policy coordination </a:t>
            </a:r>
            <a:r>
              <a:rPr lang="en-US" sz="2000" dirty="0" smtClean="0">
                <a:ea typeface="ヒラギノ角ゴ Pro W3" pitchFamily="-84" charset="-128"/>
              </a:rPr>
              <a:t>is not so easy to achieve.</a:t>
            </a:r>
          </a:p>
        </p:txBody>
      </p:sp>
    </p:spTree>
    <p:extLst>
      <p:ext uri="{BB962C8B-B14F-4D97-AF65-F5344CB8AC3E}">
        <p14:creationId xmlns="" xmlns:p14="http://schemas.microsoft.com/office/powerpoint/2010/main" val="4070770374"/>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FOCUS: </a:t>
            </a:r>
            <a:r>
              <a:rPr lang="en-US" sz="2800" dirty="0" smtClean="0">
                <a:ea typeface="ヒラギノ角ゴ Pro W3" pitchFamily="-65" charset="-128"/>
              </a:rPr>
              <a:t>Fiscal Stimulus and Structural Reforms amid Negative Interest Rates</a:t>
            </a:r>
            <a:endParaRPr lang="en-US" sz="2800" dirty="0" smtClean="0">
              <a:ea typeface="ヒラギノ角ゴ Pro W3" pitchFamily="-65" charset="-128"/>
            </a:endParaRPr>
          </a:p>
        </p:txBody>
      </p:sp>
      <p:sp>
        <p:nvSpPr>
          <p:cNvPr id="4"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To </a:t>
            </a:r>
            <a:r>
              <a:rPr lang="en-US" sz="2200" dirty="0" smtClean="0">
                <a:ea typeface="ヒラギノ角ゴ Pro W3" pitchFamily="-84" charset="-128"/>
              </a:rPr>
              <a:t>fight the </a:t>
            </a:r>
            <a:r>
              <a:rPr lang="en-US" sz="2200" dirty="0" smtClean="0">
                <a:ea typeface="ヒラギノ角ゴ Pro W3" pitchFamily="-84" charset="-128"/>
              </a:rPr>
              <a:t>ills of the global financial crisis, 2007–2008, </a:t>
            </a:r>
            <a:r>
              <a:rPr lang="en-US" sz="2200" dirty="0" smtClean="0">
                <a:ea typeface="ヒラギノ角ゴ Pro W3" pitchFamily="-84" charset="-128"/>
              </a:rPr>
              <a:t>global fiscal </a:t>
            </a:r>
            <a:r>
              <a:rPr lang="en-US" sz="2200" dirty="0" smtClean="0">
                <a:ea typeface="ヒラギノ角ゴ Pro W3" pitchFamily="-84" charset="-128"/>
              </a:rPr>
              <a:t>and monetary agents </a:t>
            </a:r>
            <a:r>
              <a:rPr lang="en-US" sz="2200" dirty="0" smtClean="0">
                <a:ea typeface="ヒラギノ角ゴ Pro W3" pitchFamily="-84" charset="-128"/>
              </a:rPr>
              <a:t>successfully </a:t>
            </a:r>
            <a:r>
              <a:rPr lang="en-US" sz="2200" dirty="0" smtClean="0">
                <a:ea typeface="ヒラギノ角ゴ Pro W3" pitchFamily="-84" charset="-128"/>
              </a:rPr>
              <a:t>implemented stimulus packages that helped the international economy to emerge </a:t>
            </a:r>
            <a:r>
              <a:rPr lang="en-US" sz="2200" dirty="0" smtClean="0">
                <a:ea typeface="ヒラギノ角ゴ Pro W3" pitchFamily="-84" charset="-128"/>
              </a:rPr>
              <a:t>from one of </a:t>
            </a:r>
            <a:r>
              <a:rPr lang="en-US" sz="2200" dirty="0" smtClean="0">
                <a:ea typeface="ヒラギノ角ゴ Pro W3" pitchFamily="-84" charset="-128"/>
              </a:rPr>
              <a:t>the worst global </a:t>
            </a:r>
            <a:r>
              <a:rPr lang="en-US" sz="2200" dirty="0" smtClean="0">
                <a:ea typeface="ヒラギノ角ゴ Pro W3" pitchFamily="-84" charset="-128"/>
              </a:rPr>
              <a:t>recessions.</a:t>
            </a:r>
          </a:p>
          <a:p>
            <a:r>
              <a:rPr lang="en-US" sz="2200" dirty="0" smtClean="0">
                <a:ea typeface="ヒラギノ角ゴ Pro W3" pitchFamily="-84" charset="-128"/>
              </a:rPr>
              <a:t>To </a:t>
            </a:r>
            <a:r>
              <a:rPr lang="en-US" sz="2200" dirty="0" smtClean="0">
                <a:ea typeface="ヒラギノ角ゴ Pro W3" pitchFamily="-84" charset="-128"/>
              </a:rPr>
              <a:t>prevent the </a:t>
            </a:r>
            <a:r>
              <a:rPr lang="en-US" sz="2200" dirty="0" err="1" smtClean="0">
                <a:ea typeface="ヒラギノ角ゴ Pro W3" pitchFamily="-84" charset="-128"/>
              </a:rPr>
              <a:t>Eurozone</a:t>
            </a:r>
            <a:r>
              <a:rPr lang="en-US" sz="2200" dirty="0" smtClean="0">
                <a:ea typeface="ヒラギノ角ゴ Pro W3" pitchFamily="-84" charset="-128"/>
              </a:rPr>
              <a:t> from falling into a deflationary spiral, in </a:t>
            </a:r>
            <a:r>
              <a:rPr lang="en-US" sz="2200" dirty="0" smtClean="0">
                <a:ea typeface="ヒラギノ角ゴ Pro W3" pitchFamily="-84" charset="-128"/>
              </a:rPr>
              <a:t>mid-2015</a:t>
            </a:r>
            <a:r>
              <a:rPr lang="en-US" sz="2200" dirty="0" smtClean="0">
                <a:ea typeface="ヒラギノ角ゴ Pro W3" pitchFamily="-84" charset="-128"/>
              </a:rPr>
              <a:t>, the </a:t>
            </a:r>
            <a:r>
              <a:rPr lang="en-US" sz="2200" dirty="0" smtClean="0">
                <a:ea typeface="ヒラギノ角ゴ Pro W3" pitchFamily="-84" charset="-128"/>
              </a:rPr>
              <a:t>ECB </a:t>
            </a:r>
            <a:r>
              <a:rPr lang="en-US" sz="2200" dirty="0" smtClean="0">
                <a:ea typeface="ヒラギノ角ゴ Pro W3" pitchFamily="-84" charset="-128"/>
              </a:rPr>
              <a:t>took the lead in applying a negative interest rate (NIR) to some amounts of the legal reserve balances that central banks hold with the ECB.</a:t>
            </a:r>
            <a:r>
              <a:rPr lang="en-US" sz="2200" dirty="0" smtClean="0">
                <a:ea typeface="ヒラギノ角ゴ Pro W3" pitchFamily="-84" charset="-128"/>
              </a:rPr>
              <a:t> </a:t>
            </a:r>
            <a:endParaRPr lang="en-US" sz="2200" dirty="0" smtClean="0">
              <a:ea typeface="ヒラギノ角ゴ Pro W3" pitchFamily="-84" charset="-128"/>
            </a:endParaRPr>
          </a:p>
          <a:p>
            <a:r>
              <a:rPr lang="en-US" sz="2200" dirty="0" smtClean="0">
                <a:ea typeface="ヒラギノ角ゴ Pro W3" pitchFamily="-84" charset="-128"/>
              </a:rPr>
              <a:t>With </a:t>
            </a:r>
            <a:r>
              <a:rPr lang="en-US" sz="2200" dirty="0" smtClean="0">
                <a:ea typeface="ヒラギノ角ゴ Pro W3" pitchFamily="-84" charset="-128"/>
              </a:rPr>
              <a:t>the mounting criticism of </a:t>
            </a:r>
            <a:r>
              <a:rPr lang="en-US" sz="2200" dirty="0" smtClean="0">
                <a:ea typeface="ヒラギノ角ゴ Pro W3" pitchFamily="-84" charset="-128"/>
              </a:rPr>
              <a:t>NIR policies</a:t>
            </a:r>
            <a:r>
              <a:rPr lang="en-US" sz="2200" dirty="0" smtClean="0">
                <a:ea typeface="ヒラギノ角ゴ Pro W3" pitchFamily="-84" charset="-128"/>
              </a:rPr>
              <a:t>, central bankers are pressurizing their fiscal agent counterparts to rapidly reverse NIR </a:t>
            </a:r>
            <a:r>
              <a:rPr lang="en-US" sz="2200" dirty="0" smtClean="0">
                <a:ea typeface="ヒラギノ角ゴ Pro W3" pitchFamily="-84" charset="-128"/>
              </a:rPr>
              <a:t>policies.</a:t>
            </a:r>
            <a:endParaRPr lang="en-US" sz="2200" dirty="0" smtClean="0">
              <a:ea typeface="ヒラギノ角ゴ Pro W3" pitchFamily="-84" charset="-128"/>
            </a:endParaRPr>
          </a:p>
        </p:txBody>
      </p:sp>
    </p:spTree>
    <p:extLst>
      <p:ext uri="{BB962C8B-B14F-4D97-AF65-F5344CB8AC3E}">
        <p14:creationId xmlns="" xmlns:p14="http://schemas.microsoft.com/office/powerpoint/2010/main" val="857944572"/>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18-4 Depreciation, the Trade Balance, and Output</a:t>
            </a:r>
          </a:p>
        </p:txBody>
      </p:sp>
      <p:sp>
        <p:nvSpPr>
          <p:cNvPr id="4"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Recall the real exchange rate equation:</a:t>
            </a: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and the definition of net exports:</a:t>
            </a:r>
          </a:p>
          <a:p>
            <a:r>
              <a:rPr lang="en-US" sz="2200" dirty="0" smtClean="0">
                <a:ea typeface="ヒラギノ角ゴ Pro W3" pitchFamily="-84" charset="-128"/>
              </a:rPr>
              <a:t>Given the expressions from equations (18.2) and (18.3):</a:t>
            </a:r>
          </a:p>
          <a:p>
            <a:endParaRPr lang="en-US" sz="2200" dirty="0">
              <a:ea typeface="ヒラギノ角ゴ Pro W3" pitchFamily="-84" charset="-128"/>
            </a:endParaRPr>
          </a:p>
          <a:p>
            <a:endParaRPr lang="en-US" sz="2200" dirty="0" smtClean="0">
              <a:ea typeface="ヒラギノ角ゴ Pro W3" pitchFamily="-84" charset="-128"/>
            </a:endParaRPr>
          </a:p>
        </p:txBody>
      </p:sp>
      <p:pic>
        <p:nvPicPr>
          <p:cNvPr id="13" name="Picture 12"/>
          <p:cNvPicPr>
            <a:picLocks noChangeAspect="1"/>
          </p:cNvPicPr>
          <p:nvPr/>
        </p:nvPicPr>
        <p:blipFill>
          <a:blip r:embed="rId2" cstate="print"/>
          <a:stretch>
            <a:fillRect/>
          </a:stretch>
        </p:blipFill>
        <p:spPr>
          <a:xfrm>
            <a:off x="3086100" y="1828800"/>
            <a:ext cx="1257300" cy="695325"/>
          </a:xfrm>
          <a:prstGeom prst="rect">
            <a:avLst/>
          </a:prstGeom>
        </p:spPr>
      </p:pic>
      <p:pic>
        <p:nvPicPr>
          <p:cNvPr id="2" name="Picture 1"/>
          <p:cNvPicPr>
            <a:picLocks noChangeAspect="1"/>
          </p:cNvPicPr>
          <p:nvPr/>
        </p:nvPicPr>
        <p:blipFill>
          <a:blip r:embed="rId3" cstate="print"/>
          <a:stretch>
            <a:fillRect/>
          </a:stretch>
        </p:blipFill>
        <p:spPr>
          <a:xfrm>
            <a:off x="5486398" y="2638424"/>
            <a:ext cx="2390299" cy="380048"/>
          </a:xfrm>
          <a:prstGeom prst="rect">
            <a:avLst/>
          </a:prstGeom>
        </p:spPr>
      </p:pic>
      <p:pic>
        <p:nvPicPr>
          <p:cNvPr id="3" name="Picture 2"/>
          <p:cNvPicPr>
            <a:picLocks noChangeAspect="1"/>
          </p:cNvPicPr>
          <p:nvPr/>
        </p:nvPicPr>
        <p:blipFill>
          <a:blip r:embed="rId4" cstate="print"/>
          <a:stretch>
            <a:fillRect/>
          </a:stretch>
        </p:blipFill>
        <p:spPr>
          <a:xfrm>
            <a:off x="1981199" y="3958213"/>
            <a:ext cx="3950494" cy="340043"/>
          </a:xfrm>
          <a:prstGeom prst="rect">
            <a:avLst/>
          </a:prstGeom>
        </p:spPr>
      </p:pic>
    </p:spTree>
    <p:extLst>
      <p:ext uri="{BB962C8B-B14F-4D97-AF65-F5344CB8AC3E}">
        <p14:creationId xmlns="" xmlns:p14="http://schemas.microsoft.com/office/powerpoint/2010/main" val="3984483886"/>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18-4 Depreciation, the Trade Balance, and Output</a:t>
            </a:r>
          </a:p>
        </p:txBody>
      </p:sp>
      <p:sp>
        <p:nvSpPr>
          <p:cNvPr id="4" name="Content Placeholder 2"/>
          <p:cNvSpPr>
            <a:spLocks noGrp="1"/>
          </p:cNvSpPr>
          <p:nvPr>
            <p:ph idx="1"/>
          </p:nvPr>
        </p:nvSpPr>
        <p:spPr>
          <a:xfrm>
            <a:off x="381000" y="1447800"/>
            <a:ext cx="8153400" cy="4648200"/>
          </a:xfrm>
        </p:spPr>
        <p:txBody>
          <a:bodyPr/>
          <a:lstStyle/>
          <a:p>
            <a:r>
              <a:rPr lang="en-US" sz="2200" dirty="0" smtClean="0">
                <a:ea typeface="ヒラギノ角ゴ Pro W3" pitchFamily="-84" charset="-128"/>
              </a:rPr>
              <a:t>Real deprecation affects the trade balance through three separate channels:</a:t>
            </a:r>
          </a:p>
          <a:p>
            <a:pPr lvl="1"/>
            <a:r>
              <a:rPr lang="en-US" sz="2000" i="1" dirty="0" smtClean="0">
                <a:ea typeface="ヒラギノ角ゴ Pro W3" pitchFamily="-84" charset="-128"/>
              </a:rPr>
              <a:t>Exports, X, increase.</a:t>
            </a:r>
          </a:p>
          <a:p>
            <a:pPr lvl="1"/>
            <a:r>
              <a:rPr lang="en-US" sz="2000" i="1" dirty="0" smtClean="0">
                <a:ea typeface="ヒラギノ角ゴ Pro W3" pitchFamily="-84" charset="-128"/>
              </a:rPr>
              <a:t>Imports, IM, decrease.</a:t>
            </a:r>
          </a:p>
          <a:p>
            <a:pPr lvl="1"/>
            <a:r>
              <a:rPr lang="en-US" sz="2000" i="1" dirty="0" smtClean="0">
                <a:ea typeface="ヒラギノ角ゴ Pro W3" pitchFamily="-84" charset="-128"/>
              </a:rPr>
              <a:t>The relative price of foreign goods in terms of domestic goods, 1/</a:t>
            </a:r>
            <a:r>
              <a:rPr lang="el-GR" i="1" dirty="0" smtClean="0">
                <a:latin typeface="Times New Roman" panose="02020603050405020304" pitchFamily="18" charset="0"/>
                <a:ea typeface="ヒラギノ角ゴ Pro W3" pitchFamily="-84" charset="-128"/>
                <a:cs typeface="Times New Roman" panose="02020603050405020304" pitchFamily="18" charset="0"/>
              </a:rPr>
              <a:t>ε</a:t>
            </a:r>
            <a:r>
              <a:rPr lang="en-US" sz="2000" i="1" dirty="0" smtClean="0">
                <a:ea typeface="ヒラギノ角ゴ Pro W3" pitchFamily="-84" charset="-128"/>
              </a:rPr>
              <a:t> , increases.</a:t>
            </a:r>
          </a:p>
          <a:p>
            <a:r>
              <a:rPr lang="en-US" sz="2200" b="1" dirty="0" smtClean="0">
                <a:ea typeface="ヒラギノ角ゴ Pro W3" pitchFamily="-84" charset="-128"/>
              </a:rPr>
              <a:t>Marshall-Lerner condition</a:t>
            </a:r>
            <a:r>
              <a:rPr lang="en-US" sz="2200" dirty="0" smtClean="0">
                <a:ea typeface="ヒラギノ角ゴ Pro W3" pitchFamily="-84" charset="-128"/>
              </a:rPr>
              <a:t>: A real depreciation leads to an increase in net exports.</a:t>
            </a:r>
          </a:p>
          <a:p>
            <a:r>
              <a:rPr lang="en-US" sz="2200" i="1" dirty="0" smtClean="0">
                <a:ea typeface="ヒラギノ角ゴ Pro W3" pitchFamily="-84" charset="-128"/>
              </a:rPr>
              <a:t>Depreciation leads to a shift in demand, both foreign and domestic, toward domestic goods. The shift in demand leads, in turn, to both an increase in domestic output and an improvement in their trade balance.</a:t>
            </a:r>
          </a:p>
          <a:p>
            <a:endParaRPr lang="en-US" sz="2200" dirty="0">
              <a:ea typeface="ヒラギノ角ゴ Pro W3" pitchFamily="-84" charset="-128"/>
            </a:endParaRPr>
          </a:p>
          <a:p>
            <a:endParaRPr lang="en-US" sz="2200" dirty="0" smtClean="0">
              <a:ea typeface="ヒラギノ角ゴ Pro W3" pitchFamily="-84" charset="-128"/>
            </a:endParaRPr>
          </a:p>
        </p:txBody>
      </p:sp>
    </p:spTree>
    <p:extLst>
      <p:ext uri="{BB962C8B-B14F-4D97-AF65-F5344CB8AC3E}">
        <p14:creationId xmlns="" xmlns:p14="http://schemas.microsoft.com/office/powerpoint/2010/main" val="3871751137"/>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6" descr="fig19_05.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105400" y="838200"/>
            <a:ext cx="3683000" cy="54784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531" name="Title 1"/>
          <p:cNvSpPr>
            <a:spLocks noGrp="1"/>
          </p:cNvSpPr>
          <p:nvPr>
            <p:ph type="title"/>
          </p:nvPr>
        </p:nvSpPr>
        <p:spPr/>
        <p:txBody>
          <a:bodyPr/>
          <a:lstStyle/>
          <a:p>
            <a:r>
              <a:rPr lang="en-US" dirty="0" smtClean="0">
                <a:ea typeface="ヒラギノ角ゴ Pro W3" pitchFamily="-65" charset="-128"/>
              </a:rPr>
              <a:t>18-4 Depreciation, the Trade Balance, and Output</a:t>
            </a:r>
          </a:p>
        </p:txBody>
      </p:sp>
      <p:sp>
        <p:nvSpPr>
          <p:cNvPr id="22532" name="TextBox 4"/>
          <p:cNvSpPr txBox="1">
            <a:spLocks noChangeArrowheads="1"/>
          </p:cNvSpPr>
          <p:nvPr/>
        </p:nvSpPr>
        <p:spPr bwMode="auto">
          <a:xfrm>
            <a:off x="381000" y="1447800"/>
            <a:ext cx="39624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smtClean="0">
                <a:latin typeface="Verdana" panose="020B0604030504040204" pitchFamily="34" charset="0"/>
              </a:rPr>
              <a:t>Figure 18-5  </a:t>
            </a:r>
            <a:r>
              <a:rPr lang="en-US" sz="1800" smtClean="0">
                <a:latin typeface="Verdana" panose="020B0604030504040204" pitchFamily="34" charset="0"/>
              </a:rPr>
              <a:t>Reducing the Trade Deficit without Changing Output</a:t>
            </a:r>
            <a:endParaRPr lang="en-US" sz="1800" dirty="0">
              <a:latin typeface="Verdana" panose="020B0604030504040204" pitchFamily="34" charset="0"/>
            </a:endParaRPr>
          </a:p>
        </p:txBody>
      </p:sp>
      <p:sp>
        <p:nvSpPr>
          <p:cNvPr id="2" name="Rectangle 1"/>
          <p:cNvSpPr/>
          <p:nvPr/>
        </p:nvSpPr>
        <p:spPr>
          <a:xfrm>
            <a:off x="381000" y="2819400"/>
            <a:ext cx="3403600" cy="1323439"/>
          </a:xfrm>
          <a:prstGeom prst="rect">
            <a:avLst/>
          </a:prstGeom>
        </p:spPr>
        <p:txBody>
          <a:bodyPr wrap="square">
            <a:spAutoFit/>
          </a:bodyPr>
          <a:lstStyle/>
          <a:p>
            <a:r>
              <a:rPr lang="en-US" sz="1600" dirty="0">
                <a:latin typeface="+mn-lt"/>
              </a:rPr>
              <a:t>To reduce the trade </a:t>
            </a:r>
            <a:r>
              <a:rPr lang="en-US" sz="1600" dirty="0" smtClean="0">
                <a:latin typeface="+mn-lt"/>
              </a:rPr>
              <a:t>deficit without </a:t>
            </a:r>
            <a:r>
              <a:rPr lang="en-US" sz="1600" dirty="0">
                <a:latin typeface="+mn-lt"/>
              </a:rPr>
              <a:t>changing output, </a:t>
            </a:r>
            <a:r>
              <a:rPr lang="en-US" sz="1600" dirty="0" smtClean="0">
                <a:latin typeface="+mn-lt"/>
              </a:rPr>
              <a:t>the government </a:t>
            </a:r>
            <a:r>
              <a:rPr lang="en-US" sz="1600" dirty="0">
                <a:latin typeface="+mn-lt"/>
              </a:rPr>
              <a:t>must both </a:t>
            </a:r>
            <a:r>
              <a:rPr lang="en-US" sz="1600" dirty="0" smtClean="0">
                <a:latin typeface="+mn-lt"/>
              </a:rPr>
              <a:t>achieve a </a:t>
            </a:r>
            <a:r>
              <a:rPr lang="en-US" sz="1600" dirty="0">
                <a:latin typeface="+mn-lt"/>
              </a:rPr>
              <a:t>depreciation and decrease</a:t>
            </a:r>
          </a:p>
          <a:p>
            <a:r>
              <a:rPr lang="en-US" sz="1600" dirty="0">
                <a:latin typeface="+mn-lt"/>
              </a:rPr>
              <a:t>government spending.</a:t>
            </a:r>
          </a:p>
        </p:txBody>
      </p:sp>
    </p:spTree>
    <p:extLst>
      <p:ext uri="{BB962C8B-B14F-4D97-AF65-F5344CB8AC3E}">
        <p14:creationId xmlns="" xmlns:p14="http://schemas.microsoft.com/office/powerpoint/2010/main" val="2815593042"/>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ea typeface="ヒラギノ角ゴ Pro W3" pitchFamily="-65" charset="-128"/>
              </a:rPr>
              <a:t>18-4 Depreciation, the Trade Balance, and Output</a:t>
            </a:r>
          </a:p>
        </p:txBody>
      </p:sp>
      <p:sp>
        <p:nvSpPr>
          <p:cNvPr id="23555" name="TextBox 5"/>
          <p:cNvSpPr txBox="1">
            <a:spLocks noChangeArrowheads="1"/>
          </p:cNvSpPr>
          <p:nvPr/>
        </p:nvSpPr>
        <p:spPr bwMode="auto">
          <a:xfrm>
            <a:off x="533400" y="3570606"/>
            <a:ext cx="861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Table </a:t>
            </a:r>
            <a:r>
              <a:rPr lang="en-US" sz="1800" b="1" dirty="0" smtClean="0">
                <a:latin typeface="Verdana" panose="020B0604030504040204" pitchFamily="34" charset="0"/>
              </a:rPr>
              <a:t>18-1  </a:t>
            </a:r>
            <a:r>
              <a:rPr lang="en-US" sz="1800" dirty="0">
                <a:latin typeface="Verdana" panose="020B0604030504040204" pitchFamily="34" charset="0"/>
              </a:rPr>
              <a:t>Exchange Rate and Fiscal Policy Combinations</a:t>
            </a:r>
          </a:p>
        </p:txBody>
      </p:sp>
      <p:pic>
        <p:nvPicPr>
          <p:cNvPr id="23556" name="Picture 7" descr="tbl19_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90600" y="4038600"/>
            <a:ext cx="6337300" cy="159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Content Placeholder 2"/>
          <p:cNvSpPr>
            <a:spLocks noGrp="1"/>
          </p:cNvSpPr>
          <p:nvPr>
            <p:ph idx="1"/>
          </p:nvPr>
        </p:nvSpPr>
        <p:spPr>
          <a:xfrm>
            <a:off x="381000" y="1447800"/>
            <a:ext cx="8077200" cy="1741488"/>
          </a:xfrm>
        </p:spPr>
        <p:txBody>
          <a:bodyPr/>
          <a:lstStyle/>
          <a:p>
            <a:r>
              <a:rPr lang="en-US" sz="2200" dirty="0" smtClean="0">
                <a:ea typeface="ヒラギノ角ゴ Pro W3" pitchFamily="-84" charset="-128"/>
              </a:rPr>
              <a:t>If the government wants to eliminate the trade deficit without changing output, it must do two things:</a:t>
            </a:r>
          </a:p>
          <a:p>
            <a:pPr lvl="1"/>
            <a:r>
              <a:rPr lang="en-US" sz="1800" dirty="0" smtClean="0">
                <a:ea typeface="ヒラギノ角ゴ Pro W3" pitchFamily="-84" charset="-128"/>
              </a:rPr>
              <a:t>achieve a depreciation sufficient to eliminate the trade deficit</a:t>
            </a:r>
          </a:p>
          <a:p>
            <a:pPr lvl="1"/>
            <a:r>
              <a:rPr lang="en-US" sz="1800" dirty="0" smtClean="0">
                <a:ea typeface="ヒラギノ角ゴ Pro W3" pitchFamily="-84" charset="-128"/>
              </a:rPr>
              <a:t>reduce government spending so as to shift </a:t>
            </a:r>
            <a:r>
              <a:rPr lang="en-US" sz="1800" i="1" dirty="0" smtClean="0">
                <a:ea typeface="ヒラギノ角ゴ Pro W3" pitchFamily="-84" charset="-128"/>
              </a:rPr>
              <a:t>ZZ</a:t>
            </a:r>
            <a:r>
              <a:rPr lang="en-US" sz="1800" dirty="0" smtClean="0">
                <a:ea typeface="ヒラギノ角ゴ Pro W3" pitchFamily="-84" charset="-128"/>
              </a:rPr>
              <a:t> back</a:t>
            </a:r>
          </a:p>
          <a:p>
            <a:endParaRPr lang="en-US" sz="2200" dirty="0">
              <a:ea typeface="ヒラギノ角ゴ Pro W3" pitchFamily="-84" charset="-128"/>
            </a:endParaRPr>
          </a:p>
          <a:p>
            <a:endParaRPr lang="en-US" sz="2200" dirty="0" smtClean="0">
              <a:ea typeface="ヒラギノ角ゴ Pro W3" pitchFamily="-84" charset="-128"/>
            </a:endParaRPr>
          </a:p>
        </p:txBody>
      </p:sp>
    </p:spTree>
    <p:extLst>
      <p:ext uri="{BB962C8B-B14F-4D97-AF65-F5344CB8AC3E}">
        <p14:creationId xmlns="" xmlns:p14="http://schemas.microsoft.com/office/powerpoint/2010/main" val="4139889679"/>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ea typeface="ヒラギノ角ゴ Pro W3" pitchFamily="-65" charset="-128"/>
              </a:rPr>
              <a:t>FOCUS: The Disappearance of Current Account Deficits in Euro Periphery Countries: Good News or Bad News?</a:t>
            </a:r>
          </a:p>
        </p:txBody>
      </p:sp>
      <p:sp>
        <p:nvSpPr>
          <p:cNvPr id="6" name="Content Placeholder 2"/>
          <p:cNvSpPr>
            <a:spLocks noGrp="1"/>
          </p:cNvSpPr>
          <p:nvPr>
            <p:ph idx="1"/>
          </p:nvPr>
        </p:nvSpPr>
        <p:spPr>
          <a:xfrm>
            <a:off x="537210" y="2362200"/>
            <a:ext cx="7848600" cy="4648200"/>
          </a:xfrm>
        </p:spPr>
        <p:txBody>
          <a:bodyPr/>
          <a:lstStyle/>
          <a:p>
            <a:pPr marL="0" indent="0">
              <a:buNone/>
            </a:pPr>
            <a:r>
              <a:rPr lang="en-US" sz="1800" b="1" dirty="0" smtClean="0">
                <a:ea typeface="ヒラギノ角ゴ Pro W3" pitchFamily="-84" charset="-128"/>
              </a:rPr>
              <a:t>Figure 1 </a:t>
            </a:r>
            <a:r>
              <a:rPr lang="en-US" sz="1800" dirty="0" smtClean="0">
                <a:ea typeface="ヒラギノ角ゴ Pro W3" pitchFamily="-84" charset="-128"/>
              </a:rPr>
              <a:t>Euro Periphery Current Account Deficits since 2000</a:t>
            </a:r>
          </a:p>
        </p:txBody>
      </p:sp>
      <p:pic>
        <p:nvPicPr>
          <p:cNvPr id="3" name="Picture 2"/>
          <p:cNvPicPr>
            <a:picLocks noChangeAspect="1"/>
          </p:cNvPicPr>
          <p:nvPr/>
        </p:nvPicPr>
        <p:blipFill>
          <a:blip r:embed="rId2" cstate="print"/>
          <a:stretch>
            <a:fillRect/>
          </a:stretch>
        </p:blipFill>
        <p:spPr>
          <a:xfrm>
            <a:off x="1600200" y="2743200"/>
            <a:ext cx="5867400" cy="3552217"/>
          </a:xfrm>
          <a:prstGeom prst="rect">
            <a:avLst/>
          </a:prstGeom>
        </p:spPr>
      </p:pic>
      <p:sp>
        <p:nvSpPr>
          <p:cNvPr id="5" name="Content Placeholder 2"/>
          <p:cNvSpPr txBox="1">
            <a:spLocks/>
          </p:cNvSpPr>
          <p:nvPr/>
        </p:nvSpPr>
        <p:spPr bwMode="auto">
          <a:xfrm>
            <a:off x="358140" y="1418616"/>
            <a:ext cx="8404860" cy="867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r>
              <a:rPr lang="en-US" sz="2000" b="1" kern="0" dirty="0" smtClean="0">
                <a:ea typeface="ヒラギノ角ゴ Pro W3" pitchFamily="-84" charset="-128"/>
              </a:rPr>
              <a:t>Import compression</a:t>
            </a:r>
            <a:r>
              <a:rPr lang="en-US" sz="2000" kern="0" dirty="0" smtClean="0">
                <a:ea typeface="ヒラギノ角ゴ Pro W3" pitchFamily="-84" charset="-128"/>
              </a:rPr>
              <a:t>: A decrease in imports (improved current account balance)  triggered by a decrease in output.</a:t>
            </a:r>
            <a:endParaRPr lang="en-US" sz="1800" kern="0" dirty="0" smtClean="0">
              <a:ea typeface="ヒラギノ角ゴ Pro W3" pitchFamily="-84" charset="-128"/>
            </a:endParaRPr>
          </a:p>
          <a:p>
            <a:endParaRPr lang="en-US" sz="2000" kern="0" dirty="0" smtClean="0">
              <a:ea typeface="ヒラギノ角ゴ Pro W3" pitchFamily="-84" charset="-128"/>
            </a:endParaRPr>
          </a:p>
          <a:p>
            <a:endParaRPr lang="en-US" sz="2000" kern="0" dirty="0" smtClean="0">
              <a:ea typeface="ヒラギノ角ゴ Pro W3" pitchFamily="-84" charset="-128"/>
            </a:endParaRPr>
          </a:p>
        </p:txBody>
      </p:sp>
    </p:spTree>
    <p:extLst>
      <p:ext uri="{BB962C8B-B14F-4D97-AF65-F5344CB8AC3E}">
        <p14:creationId xmlns="" xmlns:p14="http://schemas.microsoft.com/office/powerpoint/2010/main" val="3503980449"/>
      </p:ext>
    </p:extLst>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ea typeface="ヒラギノ角ゴ Pro W3" pitchFamily="-65" charset="-128"/>
              </a:rPr>
              <a:t>FOCUS: The Disappearance of Current Account Deficits in Euro Periphery Countries: Good News or Bad News (continued)</a:t>
            </a:r>
          </a:p>
        </p:txBody>
      </p:sp>
      <p:sp>
        <p:nvSpPr>
          <p:cNvPr id="6" name="Content Placeholder 2"/>
          <p:cNvSpPr>
            <a:spLocks noGrp="1"/>
          </p:cNvSpPr>
          <p:nvPr>
            <p:ph idx="1"/>
          </p:nvPr>
        </p:nvSpPr>
        <p:spPr>
          <a:xfrm>
            <a:off x="533400" y="2362200"/>
            <a:ext cx="7848600" cy="457200"/>
          </a:xfrm>
        </p:spPr>
        <p:txBody>
          <a:bodyPr/>
          <a:lstStyle/>
          <a:p>
            <a:pPr marL="0" indent="0">
              <a:buNone/>
            </a:pPr>
            <a:r>
              <a:rPr lang="en-US" sz="1800" b="1" dirty="0" smtClean="0">
                <a:ea typeface="ヒラギノ角ゴ Pro W3" pitchFamily="-84" charset="-128"/>
              </a:rPr>
              <a:t>Figure 2  </a:t>
            </a:r>
            <a:r>
              <a:rPr lang="en-US" sz="1800" dirty="0" smtClean="0">
                <a:ea typeface="ヒラギノ角ゴ Pro W3" pitchFamily="-84" charset="-128"/>
              </a:rPr>
              <a:t>Imports, Exports and GDP in Greece since 2000</a:t>
            </a:r>
          </a:p>
        </p:txBody>
      </p:sp>
      <p:pic>
        <p:nvPicPr>
          <p:cNvPr id="4" name="Picture 3"/>
          <p:cNvPicPr>
            <a:picLocks noChangeAspect="1"/>
          </p:cNvPicPr>
          <p:nvPr/>
        </p:nvPicPr>
        <p:blipFill>
          <a:blip r:embed="rId2" cstate="print"/>
          <a:stretch>
            <a:fillRect/>
          </a:stretch>
        </p:blipFill>
        <p:spPr>
          <a:xfrm>
            <a:off x="1524000" y="2752725"/>
            <a:ext cx="6076950" cy="3495675"/>
          </a:xfrm>
          <a:prstGeom prst="rect">
            <a:avLst/>
          </a:prstGeom>
        </p:spPr>
      </p:pic>
      <p:sp>
        <p:nvSpPr>
          <p:cNvPr id="5" name="Content Placeholder 2"/>
          <p:cNvSpPr txBox="1">
            <a:spLocks/>
          </p:cNvSpPr>
          <p:nvPr/>
        </p:nvSpPr>
        <p:spPr bwMode="auto">
          <a:xfrm>
            <a:off x="358140" y="1295400"/>
            <a:ext cx="8404860" cy="867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r>
              <a:rPr lang="en-US" sz="2000" kern="0" dirty="0" smtClean="0">
                <a:ea typeface="ヒラギノ角ゴ Pro W3" pitchFamily="-84" charset="-128"/>
              </a:rPr>
              <a:t>Greece’s real GDP, imports and exports all declined after 2008.</a:t>
            </a:r>
            <a:endParaRPr lang="en-US" sz="1800" kern="0" dirty="0" smtClean="0">
              <a:ea typeface="ヒラギノ角ゴ Pro W3" pitchFamily="-84" charset="-128"/>
            </a:endParaRPr>
          </a:p>
          <a:p>
            <a:endParaRPr lang="en-US" sz="2000" kern="0" dirty="0" smtClean="0">
              <a:ea typeface="ヒラギノ角ゴ Pro W3" pitchFamily="-84" charset="-128"/>
            </a:endParaRPr>
          </a:p>
          <a:p>
            <a:endParaRPr lang="en-US" sz="2000" kern="0" dirty="0" smtClean="0">
              <a:ea typeface="ヒラギノ角ゴ Pro W3" pitchFamily="-84" charset="-128"/>
            </a:endParaRPr>
          </a:p>
        </p:txBody>
      </p:sp>
    </p:spTree>
    <p:extLst>
      <p:ext uri="{BB962C8B-B14F-4D97-AF65-F5344CB8AC3E}">
        <p14:creationId xmlns="" xmlns:p14="http://schemas.microsoft.com/office/powerpoint/2010/main" val="4203486019"/>
      </p:ext>
    </p:extLst>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ea typeface="ヒラギノ角ゴ Pro W3" pitchFamily="-65" charset="-128"/>
              </a:rPr>
              <a:t>18-5 Looking at Dynamics: The J-Curve</a:t>
            </a:r>
            <a:endParaRPr lang="en-US" dirty="0" smtClean="0">
              <a:ea typeface="ヒラギノ角ゴ Pro W3" pitchFamily="-65" charset="-128"/>
            </a:endParaRPr>
          </a:p>
        </p:txBody>
      </p:sp>
      <p:sp>
        <p:nvSpPr>
          <p:cNvPr id="4" name="Content Placeholder 2"/>
          <p:cNvSpPr>
            <a:spLocks noGrp="1"/>
          </p:cNvSpPr>
          <p:nvPr>
            <p:ph idx="1"/>
          </p:nvPr>
        </p:nvSpPr>
        <p:spPr>
          <a:xfrm>
            <a:off x="381000" y="1447800"/>
            <a:ext cx="8153400" cy="4648200"/>
          </a:xfrm>
        </p:spPr>
        <p:txBody>
          <a:bodyPr/>
          <a:lstStyle/>
          <a:p>
            <a:r>
              <a:rPr lang="en-US" sz="2400" b="1" dirty="0" smtClean="0">
                <a:ea typeface="ヒラギノ角ゴ Pro W3" pitchFamily="-84" charset="-128"/>
              </a:rPr>
              <a:t>J-curve: </a:t>
            </a:r>
            <a:r>
              <a:rPr lang="en-US" sz="2400" dirty="0" smtClean="0">
                <a:ea typeface="ヒラギノ角ゴ Pro W3" pitchFamily="-84" charset="-128"/>
              </a:rPr>
              <a:t>The adjustment process in the trade balance in response to a real depreciation.</a:t>
            </a:r>
          </a:p>
          <a:p>
            <a:r>
              <a:rPr lang="en-US" sz="2400" dirty="0" smtClean="0">
                <a:ea typeface="ヒラギノ角ゴ Pro W3" pitchFamily="-84" charset="-128"/>
              </a:rPr>
              <a:t>A depreciation initially increases the trade deficit and, over time, exports increase and import decrease, reducing the trade deficit.</a:t>
            </a:r>
          </a:p>
          <a:p>
            <a:endParaRPr lang="en-US" sz="2400" i="1" dirty="0" smtClean="0">
              <a:ea typeface="ヒラギノ角ゴ Pro W3" pitchFamily="-84" charset="-128"/>
            </a:endParaRPr>
          </a:p>
          <a:p>
            <a:endParaRPr lang="en-US" sz="2400" dirty="0">
              <a:ea typeface="ヒラギノ角ゴ Pro W3" pitchFamily="-84" charset="-128"/>
            </a:endParaRPr>
          </a:p>
          <a:p>
            <a:endParaRPr lang="en-US" sz="2400" dirty="0" smtClean="0">
              <a:ea typeface="ヒラギノ角ゴ Pro W3" pitchFamily="-84" charset="-128"/>
            </a:endParaRPr>
          </a:p>
        </p:txBody>
      </p:sp>
    </p:spTree>
    <p:extLst>
      <p:ext uri="{BB962C8B-B14F-4D97-AF65-F5344CB8AC3E}">
        <p14:creationId xmlns="" xmlns:p14="http://schemas.microsoft.com/office/powerpoint/2010/main" val="1641423757"/>
      </p:ext>
    </p:extLst>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ea typeface="ヒラギノ角ゴ Pro W3" pitchFamily="-65" charset="-128"/>
              </a:rPr>
              <a:t>18-5 Looking at Dynamics: The J-Curve</a:t>
            </a:r>
          </a:p>
        </p:txBody>
      </p:sp>
      <p:sp>
        <p:nvSpPr>
          <p:cNvPr id="24579" name="TextBox 3"/>
          <p:cNvSpPr txBox="1">
            <a:spLocks noChangeArrowheads="1"/>
          </p:cNvSpPr>
          <p:nvPr/>
        </p:nvSpPr>
        <p:spPr bwMode="auto">
          <a:xfrm>
            <a:off x="3200400" y="1524000"/>
            <a:ext cx="673893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18-6</a:t>
            </a:r>
            <a:r>
              <a:rPr lang="en-US" sz="1800" dirty="0" smtClean="0">
                <a:latin typeface="Verdana" panose="020B0604030504040204" pitchFamily="34" charset="0"/>
              </a:rPr>
              <a:t>  </a:t>
            </a:r>
            <a:r>
              <a:rPr lang="en-US" sz="1800" dirty="0">
                <a:latin typeface="Verdana" panose="020B0604030504040204" pitchFamily="34" charset="0"/>
              </a:rPr>
              <a:t>The J-Curve</a:t>
            </a:r>
          </a:p>
        </p:txBody>
      </p:sp>
      <p:pic>
        <p:nvPicPr>
          <p:cNvPr id="24580" name="Picture 4" descr="fig19_06.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505200" y="1981200"/>
            <a:ext cx="5084766" cy="3198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411480" y="2422208"/>
            <a:ext cx="2788920" cy="1323439"/>
          </a:xfrm>
          <a:prstGeom prst="rect">
            <a:avLst/>
          </a:prstGeom>
        </p:spPr>
        <p:txBody>
          <a:bodyPr wrap="square">
            <a:spAutoFit/>
          </a:bodyPr>
          <a:lstStyle/>
          <a:p>
            <a:r>
              <a:rPr lang="en-US" sz="1600" dirty="0" smtClean="0">
                <a:latin typeface="+mn-lt"/>
              </a:rPr>
              <a:t>A real depreciation leads initially to a deterioration and then to an improvement of the trade balance.</a:t>
            </a:r>
            <a:endParaRPr lang="en-US" sz="1600" dirty="0">
              <a:latin typeface="+mn-lt"/>
            </a:endParaRPr>
          </a:p>
        </p:txBody>
      </p:sp>
    </p:spTree>
    <p:extLst>
      <p:ext uri="{BB962C8B-B14F-4D97-AF65-F5344CB8AC3E}">
        <p14:creationId xmlns="" xmlns:p14="http://schemas.microsoft.com/office/powerpoint/2010/main" val="80628599"/>
      </p:ext>
    </p:extLst>
  </p:cSld>
  <p:clrMapOvr>
    <a:masterClrMapping/>
  </p:clrMapOvr>
  <p:transition>
    <p:strips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smtClean="0">
                <a:ea typeface="ヒラギノ角ゴ Pro W3" pitchFamily="-65" charset="-128"/>
              </a:rPr>
              <a:t>18-5 Looking at Dynamics: The J-Curve</a:t>
            </a:r>
          </a:p>
        </p:txBody>
      </p:sp>
      <p:sp>
        <p:nvSpPr>
          <p:cNvPr id="25603" name="TextBox 3"/>
          <p:cNvSpPr txBox="1">
            <a:spLocks noChangeArrowheads="1"/>
          </p:cNvSpPr>
          <p:nvPr/>
        </p:nvSpPr>
        <p:spPr bwMode="auto">
          <a:xfrm>
            <a:off x="381000" y="1200834"/>
            <a:ext cx="82296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18-7 </a:t>
            </a:r>
            <a:r>
              <a:rPr lang="en-US" sz="1800" dirty="0">
                <a:latin typeface="Verdana" panose="020B0604030504040204" pitchFamily="34" charset="0"/>
              </a:rPr>
              <a:t>The Real Exchange Rate and the Ratio of the Trade Deficit to GDP: United States, 1980–1990</a:t>
            </a:r>
          </a:p>
        </p:txBody>
      </p:sp>
      <p:pic>
        <p:nvPicPr>
          <p:cNvPr id="25604" name="Picture 5" descr="fig19_07.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23856" y="1981200"/>
            <a:ext cx="5815344" cy="41310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457200" y="2286000"/>
            <a:ext cx="2362200" cy="2308324"/>
          </a:xfrm>
          <a:prstGeom prst="rect">
            <a:avLst/>
          </a:prstGeom>
        </p:spPr>
        <p:txBody>
          <a:bodyPr wrap="square">
            <a:spAutoFit/>
          </a:bodyPr>
          <a:lstStyle/>
          <a:p>
            <a:r>
              <a:rPr lang="en-US" sz="1600" dirty="0">
                <a:latin typeface="+mn-lt"/>
              </a:rPr>
              <a:t>The large real </a:t>
            </a:r>
            <a:r>
              <a:rPr lang="en-US" sz="1600" dirty="0" smtClean="0">
                <a:latin typeface="+mn-lt"/>
              </a:rPr>
              <a:t>appreciation and </a:t>
            </a:r>
            <a:r>
              <a:rPr lang="en-US" sz="1600" dirty="0">
                <a:latin typeface="+mn-lt"/>
              </a:rPr>
              <a:t>subsequent real </a:t>
            </a:r>
            <a:r>
              <a:rPr lang="en-US" sz="1600" dirty="0" smtClean="0">
                <a:latin typeface="+mn-lt"/>
              </a:rPr>
              <a:t>depreciation from </a:t>
            </a:r>
            <a:r>
              <a:rPr lang="en-US" sz="1600" dirty="0">
                <a:latin typeface="+mn-lt"/>
              </a:rPr>
              <a:t>1980 to 1990 </a:t>
            </a:r>
            <a:r>
              <a:rPr lang="en-US" sz="1600" dirty="0" smtClean="0">
                <a:latin typeface="+mn-lt"/>
              </a:rPr>
              <a:t>were mirrored</a:t>
            </a:r>
            <a:r>
              <a:rPr lang="en-US" sz="1600" dirty="0">
                <a:latin typeface="+mn-lt"/>
              </a:rPr>
              <a:t>, with a lag, by </a:t>
            </a:r>
            <a:r>
              <a:rPr lang="en-US" sz="1600" dirty="0" smtClean="0">
                <a:latin typeface="+mn-lt"/>
              </a:rPr>
              <a:t>an increase </a:t>
            </a:r>
            <a:r>
              <a:rPr lang="en-US" sz="1600" dirty="0">
                <a:latin typeface="+mn-lt"/>
              </a:rPr>
              <a:t>and then a decrease</a:t>
            </a:r>
          </a:p>
          <a:p>
            <a:r>
              <a:rPr lang="en-US" sz="1600" dirty="0">
                <a:latin typeface="+mn-lt"/>
              </a:rPr>
              <a:t>in the trade deficit.</a:t>
            </a:r>
          </a:p>
        </p:txBody>
      </p:sp>
    </p:spTree>
    <p:extLst>
      <p:ext uri="{BB962C8B-B14F-4D97-AF65-F5344CB8AC3E}">
        <p14:creationId xmlns="" xmlns:p14="http://schemas.microsoft.com/office/powerpoint/2010/main" val="1718982270"/>
      </p:ext>
    </p:extLst>
  </p:cSld>
  <p:clrMapOvr>
    <a:masterClrMapping/>
  </p:clrMapOvr>
  <p:transition>
    <p:strips dir="l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18-6 Saving, Investment, and the</a:t>
            </a:r>
            <a:br>
              <a:rPr lang="en-US" dirty="0" smtClean="0">
                <a:ea typeface="ヒラギノ角ゴ Pro W3" pitchFamily="-65" charset="-128"/>
              </a:rPr>
            </a:br>
            <a:r>
              <a:rPr lang="en-US" dirty="0" smtClean="0">
                <a:ea typeface="ヒラギノ角ゴ Pro W3" pitchFamily="-65" charset="-128"/>
              </a:rPr>
              <a:t>Current Account Balance</a:t>
            </a:r>
          </a:p>
        </p:txBody>
      </p:sp>
      <p:sp>
        <p:nvSpPr>
          <p:cNvPr id="4" name="Content Placeholder 2"/>
          <p:cNvSpPr>
            <a:spLocks noGrp="1"/>
          </p:cNvSpPr>
          <p:nvPr>
            <p:ph idx="1"/>
          </p:nvPr>
        </p:nvSpPr>
        <p:spPr>
          <a:xfrm>
            <a:off x="381000" y="1447800"/>
            <a:ext cx="8153400" cy="4648200"/>
          </a:xfrm>
        </p:spPr>
        <p:txBody>
          <a:bodyPr/>
          <a:lstStyle/>
          <a:p>
            <a:r>
              <a:rPr lang="en-US" sz="2200" dirty="0" smtClean="0">
                <a:ea typeface="ヒラギノ角ゴ Pro W3" pitchFamily="-84" charset="-128"/>
              </a:rPr>
              <a:t>Recall the income of domestic residents in an open economy:</a:t>
            </a:r>
          </a:p>
          <a:p>
            <a:endParaRPr lang="en-US" sz="2200" dirty="0">
              <a:ea typeface="ヒラギノ角ゴ Pro W3" pitchFamily="-84" charset="-128"/>
            </a:endParaRPr>
          </a:p>
          <a:p>
            <a:pPr>
              <a:spcBef>
                <a:spcPts val="1800"/>
              </a:spcBef>
            </a:pPr>
            <a:r>
              <a:rPr lang="en-US" sz="2200" dirty="0" smtClean="0">
                <a:ea typeface="ヒラギノ角ゴ Pro W3" pitchFamily="-84" charset="-128"/>
              </a:rPr>
              <a:t>Denote the current account by </a:t>
            </a:r>
            <a:r>
              <a:rPr lang="en-US" sz="2200" i="1" dirty="0" smtClean="0">
                <a:ea typeface="ヒラギノ角ゴ Pro W3" pitchFamily="-84" charset="-128"/>
              </a:rPr>
              <a:t>CA</a:t>
            </a:r>
            <a:r>
              <a:rPr lang="en-US" sz="2200" dirty="0" smtClean="0">
                <a:ea typeface="ヒラギノ角ゴ Pro W3" pitchFamily="-84" charset="-128"/>
              </a:rPr>
              <a:t>, so that the above equation becomes:</a:t>
            </a:r>
          </a:p>
          <a:p>
            <a:endParaRPr lang="en-US" sz="2200" dirty="0" smtClean="0">
              <a:ea typeface="ヒラギノ角ゴ Pro W3" pitchFamily="-84" charset="-128"/>
            </a:endParaRPr>
          </a:p>
          <a:p>
            <a:pPr marL="285750" indent="0">
              <a:spcBef>
                <a:spcPts val="1200"/>
              </a:spcBef>
              <a:buNone/>
            </a:pPr>
            <a:r>
              <a:rPr lang="en-US" sz="2200" dirty="0" smtClean="0">
                <a:ea typeface="ヒラギノ角ゴ Pro W3" pitchFamily="-84" charset="-128"/>
              </a:rPr>
              <a:t>meaning that the current account balance equal to saving minus investment:</a:t>
            </a:r>
          </a:p>
          <a:p>
            <a:pPr marL="0" indent="0">
              <a:buNone/>
            </a:pPr>
            <a:endParaRPr lang="en-US" sz="2200" dirty="0">
              <a:ea typeface="ヒラギノ角ゴ Pro W3" pitchFamily="-84" charset="-128"/>
            </a:endParaRPr>
          </a:p>
          <a:p>
            <a:endParaRPr lang="en-US" sz="22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690562" y="2286000"/>
            <a:ext cx="7839075" cy="352425"/>
          </a:xfrm>
          <a:prstGeom prst="rect">
            <a:avLst/>
          </a:prstGeom>
        </p:spPr>
      </p:pic>
      <p:pic>
        <p:nvPicPr>
          <p:cNvPr id="3" name="Picture 2"/>
          <p:cNvPicPr>
            <a:picLocks noChangeAspect="1"/>
          </p:cNvPicPr>
          <p:nvPr/>
        </p:nvPicPr>
        <p:blipFill>
          <a:blip r:embed="rId3" cstate="print"/>
          <a:stretch>
            <a:fillRect/>
          </a:stretch>
        </p:blipFill>
        <p:spPr>
          <a:xfrm>
            <a:off x="2362200" y="3523981"/>
            <a:ext cx="2981325" cy="333375"/>
          </a:xfrm>
          <a:prstGeom prst="rect">
            <a:avLst/>
          </a:prstGeom>
        </p:spPr>
      </p:pic>
      <p:pic>
        <p:nvPicPr>
          <p:cNvPr id="5" name="Picture 4"/>
          <p:cNvPicPr>
            <a:picLocks noChangeAspect="1"/>
          </p:cNvPicPr>
          <p:nvPr/>
        </p:nvPicPr>
        <p:blipFill>
          <a:blip r:embed="rId4" cstate="print"/>
          <a:stretch>
            <a:fillRect/>
          </a:stretch>
        </p:blipFill>
        <p:spPr>
          <a:xfrm>
            <a:off x="1905000" y="4796761"/>
            <a:ext cx="7000875" cy="342900"/>
          </a:xfrm>
          <a:prstGeom prst="rect">
            <a:avLst/>
          </a:prstGeom>
        </p:spPr>
      </p:pic>
    </p:spTree>
    <p:extLst>
      <p:ext uri="{BB962C8B-B14F-4D97-AF65-F5344CB8AC3E}">
        <p14:creationId xmlns="" xmlns:p14="http://schemas.microsoft.com/office/powerpoint/2010/main" val="4100325365"/>
      </p:ext>
    </p:extLst>
  </p:cSld>
  <p:clrMapOvr>
    <a:masterClrMapping/>
  </p:clrMapOvr>
  <p:transition>
    <p:strips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18-6 Saving, Investment, and the</a:t>
            </a:r>
            <a:br>
              <a:rPr lang="en-US" dirty="0" smtClean="0">
                <a:ea typeface="ヒラギノ角ゴ Pro W3" pitchFamily="-65" charset="-128"/>
              </a:rPr>
            </a:br>
            <a:r>
              <a:rPr lang="en-US" dirty="0" smtClean="0">
                <a:ea typeface="ヒラギノ角ゴ Pro W3" pitchFamily="-65" charset="-128"/>
              </a:rPr>
              <a:t>Current Account Balance</a:t>
            </a:r>
          </a:p>
        </p:txBody>
      </p:sp>
      <p:sp>
        <p:nvSpPr>
          <p:cNvPr id="4" name="Content Placeholder 2"/>
          <p:cNvSpPr>
            <a:spLocks noGrp="1"/>
          </p:cNvSpPr>
          <p:nvPr>
            <p:ph idx="1"/>
          </p:nvPr>
        </p:nvSpPr>
        <p:spPr>
          <a:xfrm>
            <a:off x="381000" y="1447800"/>
            <a:ext cx="8153400" cy="4648200"/>
          </a:xfrm>
        </p:spPr>
        <p:txBody>
          <a:bodyPr/>
          <a:lstStyle/>
          <a:p>
            <a:r>
              <a:rPr lang="en-US" sz="2400" dirty="0" smtClean="0">
                <a:ea typeface="ヒラギノ角ゴ Pro W3" pitchFamily="-84" charset="-128"/>
              </a:rPr>
              <a:t>An increase in investment must be reflected either an increase in private saving or public saving, or in a deterioration of the current account balance.</a:t>
            </a:r>
          </a:p>
          <a:p>
            <a:r>
              <a:rPr lang="en-US" sz="2400" dirty="0" smtClean="0">
                <a:ea typeface="ヒラギノ角ゴ Pro W3" pitchFamily="-84" charset="-128"/>
              </a:rPr>
              <a:t>A deterioration in the government budget balance must be reflected in an increase in either private saving, or in a decrease in investment, or else in a deterioration of the current account balance.</a:t>
            </a:r>
          </a:p>
          <a:p>
            <a:r>
              <a:rPr lang="en-US" sz="2400" dirty="0" smtClean="0">
                <a:ea typeface="ヒラギノ角ゴ Pro W3" pitchFamily="-84" charset="-128"/>
              </a:rPr>
              <a:t>A country with a high saving rate must have either a high investment rate or a large current account surplus.</a:t>
            </a:r>
          </a:p>
          <a:p>
            <a:pPr marL="0" indent="0">
              <a:buNone/>
            </a:pPr>
            <a:endParaRPr lang="en-US" sz="2400" dirty="0">
              <a:ea typeface="ヒラギノ角ゴ Pro W3" pitchFamily="-84" charset="-128"/>
            </a:endParaRPr>
          </a:p>
          <a:p>
            <a:endParaRPr lang="en-US" sz="2400" dirty="0" smtClean="0">
              <a:ea typeface="ヒラギノ角ゴ Pro W3" pitchFamily="-84" charset="-128"/>
            </a:endParaRPr>
          </a:p>
        </p:txBody>
      </p:sp>
    </p:spTree>
    <p:extLst>
      <p:ext uri="{BB962C8B-B14F-4D97-AF65-F5344CB8AC3E}">
        <p14:creationId xmlns="" xmlns:p14="http://schemas.microsoft.com/office/powerpoint/2010/main" val="2101528150"/>
      </p:ext>
    </p:extLst>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ea typeface="ヒラギノ角ゴ Pro W3" pitchFamily="-65" charset="-128"/>
              </a:rPr>
              <a:t>APPENDIX: Derivation of the Marshall-Lerner Condition</a:t>
            </a:r>
          </a:p>
        </p:txBody>
      </p:sp>
      <p:sp>
        <p:nvSpPr>
          <p:cNvPr id="6" name="Content Placeholder 2"/>
          <p:cNvSpPr>
            <a:spLocks noGrp="1"/>
          </p:cNvSpPr>
          <p:nvPr>
            <p:ph idx="1"/>
          </p:nvPr>
        </p:nvSpPr>
        <p:spPr>
          <a:xfrm>
            <a:off x="360680" y="1370013"/>
            <a:ext cx="8249920" cy="4878387"/>
          </a:xfrm>
        </p:spPr>
        <p:txBody>
          <a:bodyPr/>
          <a:lstStyle/>
          <a:p>
            <a:r>
              <a:rPr lang="en-US" sz="2200" dirty="0" smtClean="0">
                <a:ea typeface="ヒラギノ角ゴ Pro W3" pitchFamily="-84" charset="-128"/>
              </a:rPr>
              <a:t>The Marshall-Lerner condition is the condition under which a real depreciation (lower </a:t>
            </a:r>
            <a:r>
              <a:rPr lang="en-US" sz="2200" i="1" dirty="0" smtClean="0">
                <a:ea typeface="ヒラギノ角ゴ Pro W3" pitchFamily="-84" charset="-128"/>
              </a:rPr>
              <a:t>U</a:t>
            </a:r>
            <a:r>
              <a:rPr lang="en-US" sz="2200" dirty="0" smtClean="0">
                <a:ea typeface="ヒラギノ角ゴ Pro W3" pitchFamily="-84" charset="-128"/>
              </a:rPr>
              <a:t>) leads to an increase in net exports.</a:t>
            </a:r>
          </a:p>
          <a:p>
            <a:r>
              <a:rPr lang="en-US" sz="2200" dirty="0" smtClean="0">
                <a:ea typeface="ヒラギノ角ゴ Pro W3" pitchFamily="-84" charset="-128"/>
              </a:rPr>
              <a:t>Given the definition of net exports: </a:t>
            </a:r>
            <a:r>
              <a:rPr lang="en-US" sz="2400" i="1" dirty="0" smtClean="0">
                <a:latin typeface="Times New Roman" panose="02020603050405020304" pitchFamily="18" charset="0"/>
                <a:ea typeface="ヒラギノ角ゴ Pro W3" pitchFamily="-84" charset="-128"/>
                <a:cs typeface="Times New Roman" panose="02020603050405020304" pitchFamily="18" charset="0"/>
              </a:rPr>
              <a:t>NX = X – IM</a:t>
            </a:r>
            <a:r>
              <a:rPr lang="en-US" sz="2400" dirty="0" smtClean="0">
                <a:latin typeface="Times New Roman" panose="02020603050405020304" pitchFamily="18" charset="0"/>
                <a:ea typeface="ヒラギノ角ゴ Pro W3" pitchFamily="-84" charset="-128"/>
                <a:cs typeface="Times New Roman" panose="02020603050405020304" pitchFamily="18" charset="0"/>
              </a:rPr>
              <a:t>/</a:t>
            </a:r>
            <a:r>
              <a:rPr lang="el-GR" sz="2400" i="1" dirty="0" smtClean="0">
                <a:latin typeface="Times New Roman" panose="02020603050405020304" pitchFamily="18" charset="0"/>
                <a:ea typeface="ヒラギノ角ゴ Pro W3" pitchFamily="-84" charset="-128"/>
                <a:cs typeface="Times New Roman" panose="02020603050405020304" pitchFamily="18" charset="0"/>
              </a:rPr>
              <a:t>ε</a:t>
            </a:r>
            <a:endParaRPr lang="en-US" sz="2400" i="1" dirty="0" smtClean="0">
              <a:latin typeface="Times New Roman" panose="02020603050405020304" pitchFamily="18" charset="0"/>
              <a:ea typeface="ヒラギノ角ゴ Pro W3" pitchFamily="-84" charset="-128"/>
              <a:cs typeface="Times New Roman" panose="02020603050405020304" pitchFamily="18" charset="0"/>
            </a:endParaRPr>
          </a:p>
          <a:p>
            <a:pPr lvl="0"/>
            <a:r>
              <a:rPr lang="en-US" sz="2200" dirty="0" smtClean="0">
                <a:ea typeface="ヒラギノ角ゴ Pro W3" pitchFamily="-84" charset="-128"/>
              </a:rPr>
              <a:t>Multiply both sides by </a:t>
            </a:r>
            <a:r>
              <a:rPr lang="el-GR" sz="2400" i="1" dirty="0" smtClean="0">
                <a:latin typeface="Times New Roman" panose="02020603050405020304" pitchFamily="18" charset="0"/>
                <a:ea typeface="ヒラギノ角ゴ Pro W3" pitchFamily="-84" charset="-128"/>
                <a:cs typeface="Times New Roman" panose="02020603050405020304" pitchFamily="18" charset="0"/>
              </a:rPr>
              <a:t>ε</a:t>
            </a:r>
            <a:r>
              <a:rPr lang="en-US" sz="2200" dirty="0" smtClean="0">
                <a:ea typeface="ヒラギノ角ゴ Pro W3" pitchFamily="-84" charset="-128"/>
              </a:rPr>
              <a:t> to get: </a:t>
            </a:r>
            <a:r>
              <a:rPr lang="el-GR" sz="24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n-US"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NX </a:t>
            </a:r>
            <a:r>
              <a:rPr lang="en-US" sz="24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 </a:t>
            </a:r>
            <a:r>
              <a:rPr lang="el-GR"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n-US"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X </a:t>
            </a:r>
            <a:r>
              <a:rPr lang="en-US" sz="24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 </a:t>
            </a:r>
            <a:r>
              <a:rPr lang="en-US"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IM</a:t>
            </a:r>
            <a:r>
              <a:rPr lang="en-US" sz="2200" dirty="0">
                <a:ea typeface="ヒラギノ角ゴ Pro W3" pitchFamily="-84" charset="-128"/>
              </a:rPr>
              <a:t>, which can be written as</a:t>
            </a:r>
            <a:r>
              <a:rPr lang="en-US" sz="2200" dirty="0" smtClean="0">
                <a:ea typeface="ヒラギノ角ゴ Pro W3" pitchFamily="-84" charset="-128"/>
              </a:rPr>
              <a:t>:</a:t>
            </a:r>
            <a:r>
              <a:rPr lang="el-GR" sz="20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 </a:t>
            </a:r>
            <a:r>
              <a:rPr lang="el-GR"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n-US" sz="2000"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a:t>
            </a:r>
            <a:r>
              <a:rPr lang="en-US" sz="20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NX )= </a:t>
            </a:r>
            <a:r>
              <a:rPr lang="en-US" sz="2000"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a:t>
            </a:r>
            <a:r>
              <a:rPr lang="el-GR"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n-US" sz="2000"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a:t>
            </a:r>
            <a:r>
              <a:rPr lang="en-US" sz="20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X + </a:t>
            </a:r>
            <a:r>
              <a:rPr lang="el-GR" sz="24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l-GR" sz="20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 </a:t>
            </a:r>
            <a:r>
              <a:rPr lang="en-US" sz="2000"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a:t>
            </a:r>
            <a:r>
              <a:rPr lang="en-US" sz="20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X</a:t>
            </a:r>
            <a:r>
              <a:rPr lang="en-US" sz="2000" dirty="0">
                <a:solidFill>
                  <a:srgbClr val="000000"/>
                </a:solidFill>
                <a:latin typeface="Times New Roman" panose="02020603050405020304" pitchFamily="18" charset="0"/>
                <a:ea typeface="ヒラギノ角ゴ Pro W3" pitchFamily="-84" charset="-128"/>
                <a:cs typeface="Times New Roman" panose="02020603050405020304" pitchFamily="18" charset="0"/>
              </a:rPr>
              <a:t>)</a:t>
            </a:r>
            <a:r>
              <a:rPr lang="en-US" sz="20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 – </a:t>
            </a:r>
            <a:r>
              <a:rPr lang="en-US" sz="2000"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a:t>
            </a:r>
            <a:r>
              <a:rPr lang="en-US" sz="20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IM</a:t>
            </a:r>
            <a:r>
              <a:rPr lang="en-US" sz="2400" dirty="0">
                <a:solidFill>
                  <a:srgbClr val="000000"/>
                </a:solidFill>
                <a:latin typeface="Times New Roman" panose="02020603050405020304" pitchFamily="18" charset="0"/>
                <a:ea typeface="ヒラギノ角ゴ Pro W3" pitchFamily="-84" charset="-128"/>
                <a:cs typeface="Times New Roman" panose="02020603050405020304" pitchFamily="18" charset="0"/>
              </a:rPr>
              <a:t>)</a:t>
            </a:r>
            <a:endParaRPr lang="en-US" sz="2200" dirty="0">
              <a:ea typeface="ヒラギノ角ゴ Pro W3" pitchFamily="-84" charset="-128"/>
            </a:endParaRPr>
          </a:p>
          <a:p>
            <a:r>
              <a:rPr lang="en-US" sz="2200" dirty="0" smtClean="0">
                <a:ea typeface="ヒラギノ角ゴ Pro W3" pitchFamily="-84" charset="-128"/>
              </a:rPr>
              <a:t>Divide both sides by </a:t>
            </a:r>
            <a:r>
              <a:rPr lang="el-GR"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n-US" sz="20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X</a:t>
            </a:r>
            <a:r>
              <a:rPr lang="en-US"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 </a:t>
            </a:r>
            <a:r>
              <a:rPr lang="en-US" sz="2200" dirty="0">
                <a:ea typeface="ヒラギノ角ゴ Pro W3" pitchFamily="-84" charset="-128"/>
              </a:rPr>
              <a:t>to get</a:t>
            </a:r>
            <a:r>
              <a:rPr lang="en-US" sz="2200" dirty="0" smtClean="0">
                <a:ea typeface="ヒラギノ角ゴ Pro W3" pitchFamily="-84" charset="-128"/>
              </a:rPr>
              <a:t>:</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If trade is initially balanced (</a:t>
            </a:r>
            <a:r>
              <a:rPr lang="el-GR" sz="24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ε</a:t>
            </a:r>
            <a:r>
              <a:rPr lang="en-US" sz="2400" i="1" dirty="0">
                <a:solidFill>
                  <a:srgbClr val="000000"/>
                </a:solidFill>
                <a:latin typeface="Times New Roman" panose="02020603050405020304" pitchFamily="18" charset="0"/>
                <a:ea typeface="ヒラギノ角ゴ Pro W3" pitchFamily="-84" charset="-128"/>
                <a:cs typeface="Times New Roman" panose="02020603050405020304" pitchFamily="18" charset="0"/>
              </a:rPr>
              <a:t>X </a:t>
            </a:r>
            <a:r>
              <a:rPr lang="en-US" sz="2400" i="1" dirty="0" smtClean="0">
                <a:solidFill>
                  <a:srgbClr val="000000"/>
                </a:solidFill>
                <a:latin typeface="Times New Roman" panose="02020603050405020304" pitchFamily="18" charset="0"/>
                <a:ea typeface="ヒラギノ角ゴ Pro W3" pitchFamily="-84" charset="-128"/>
                <a:cs typeface="Times New Roman" panose="02020603050405020304" pitchFamily="18" charset="0"/>
              </a:rPr>
              <a:t>= IM</a:t>
            </a:r>
            <a:r>
              <a:rPr lang="en-US" sz="2200" dirty="0">
                <a:ea typeface="ヒラギノ角ゴ Pro W3" pitchFamily="-84" charset="-128"/>
              </a:rPr>
              <a:t>), then:</a:t>
            </a:r>
          </a:p>
        </p:txBody>
      </p:sp>
      <p:pic>
        <p:nvPicPr>
          <p:cNvPr id="2" name="Picture 1"/>
          <p:cNvPicPr>
            <a:picLocks noChangeAspect="1"/>
          </p:cNvPicPr>
          <p:nvPr/>
        </p:nvPicPr>
        <p:blipFill>
          <a:blip r:embed="rId2" cstate="print"/>
          <a:stretch>
            <a:fillRect/>
          </a:stretch>
        </p:blipFill>
        <p:spPr>
          <a:xfrm>
            <a:off x="1571625" y="4114800"/>
            <a:ext cx="6076950" cy="685800"/>
          </a:xfrm>
          <a:prstGeom prst="rect">
            <a:avLst/>
          </a:prstGeom>
        </p:spPr>
      </p:pic>
      <p:pic>
        <p:nvPicPr>
          <p:cNvPr id="3" name="Picture 2"/>
          <p:cNvPicPr>
            <a:picLocks noChangeAspect="1"/>
          </p:cNvPicPr>
          <p:nvPr/>
        </p:nvPicPr>
        <p:blipFill>
          <a:blip r:embed="rId3" cstate="print"/>
          <a:stretch>
            <a:fillRect/>
          </a:stretch>
        </p:blipFill>
        <p:spPr>
          <a:xfrm>
            <a:off x="1923415" y="5486400"/>
            <a:ext cx="5124450" cy="266700"/>
          </a:xfrm>
          <a:prstGeom prst="rect">
            <a:avLst/>
          </a:prstGeom>
        </p:spPr>
      </p:pic>
    </p:spTree>
    <p:extLst>
      <p:ext uri="{BB962C8B-B14F-4D97-AF65-F5344CB8AC3E}">
        <p14:creationId xmlns="" xmlns:p14="http://schemas.microsoft.com/office/powerpoint/2010/main" val="2502023405"/>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6330</TotalTime>
  <Words>1427</Words>
  <Application>Microsoft Office PowerPoint</Application>
  <PresentationFormat>On-screen Show (4:3)</PresentationFormat>
  <Paragraphs>124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template_LN01Brooks671956_02_LN01</vt:lpstr>
      <vt:lpstr>The Goods Market in an Open Economy</vt:lpstr>
      <vt:lpstr>Chapter 18 Outline</vt:lpstr>
      <vt:lpstr>The Goods Market in an Open Economy</vt:lpstr>
      <vt:lpstr>18-1 The IS Relation in the Open Economy</vt:lpstr>
      <vt:lpstr>18-1 The IS Relation in the Open Economy</vt:lpstr>
      <vt:lpstr>18-1 The IS Relation in the Open Economy</vt:lpstr>
      <vt:lpstr>18-1 The IS Relation in the Open Economy</vt:lpstr>
      <vt:lpstr>18-2 Equilibrium Output and the Trade Balance</vt:lpstr>
      <vt:lpstr>18-2 Equilibrium Output and the Trade Balance</vt:lpstr>
      <vt:lpstr>18-3 Increases in Demand− Domestic or Foreign</vt:lpstr>
      <vt:lpstr>18-3 Increases in Demand− Domestic or Foreign</vt:lpstr>
      <vt:lpstr>18-3 Increases in Demand− Domestic or Foreign</vt:lpstr>
      <vt:lpstr>18-3 Increases in Demand− Domestic or Foreign</vt:lpstr>
      <vt:lpstr>FOCUS: Fiscal Stimulus and Structural Reforms amid Negative Interest Rates</vt:lpstr>
      <vt:lpstr>18-4 Depreciation, the Trade Balance, and Output</vt:lpstr>
      <vt:lpstr>18-4 Depreciation, the Trade Balance, and Output</vt:lpstr>
      <vt:lpstr>18-4 Depreciation, the Trade Balance, and Output</vt:lpstr>
      <vt:lpstr>18-4 Depreciation, the Trade Balance, and Output</vt:lpstr>
      <vt:lpstr>FOCUS: The Disappearance of Current Account Deficits in Euro Periphery Countries: Good News or Bad News?</vt:lpstr>
      <vt:lpstr>FOCUS: The Disappearance of Current Account Deficits in Euro Periphery Countries: Good News or Bad News (continued)</vt:lpstr>
      <vt:lpstr>18-5 Looking at Dynamics: The J-Curve</vt:lpstr>
      <vt:lpstr>18-5 Looking at Dynamics: The J-Curve</vt:lpstr>
      <vt:lpstr>18-5 Looking at Dynamics: The J-Curve</vt:lpstr>
      <vt:lpstr>18-6 Saving, Investment, and the Current Account Balance</vt:lpstr>
      <vt:lpstr>18-6 Saving, Investment, and the Current Account Balance</vt:lpstr>
      <vt:lpstr>APPENDIX: Derivation of the Marshall-Lerner Condition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275</cp:revision>
  <dcterms:created xsi:type="dcterms:W3CDTF">2012-08-09T20:37:31Z</dcterms:created>
  <dcterms:modified xsi:type="dcterms:W3CDTF">2016-10-06T05:50:20Z</dcterms:modified>
</cp:coreProperties>
</file>